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59" r:id="rId1"/>
  </p:sldMasterIdLst>
  <p:notesMasterIdLst>
    <p:notesMasterId r:id="rId11"/>
  </p:notesMasterIdLst>
  <p:sldIdLst>
    <p:sldId id="503" r:id="rId2"/>
    <p:sldId id="504" r:id="rId3"/>
    <p:sldId id="435" r:id="rId4"/>
    <p:sldId id="576" r:id="rId5"/>
    <p:sldId id="577" r:id="rId6"/>
    <p:sldId id="578" r:id="rId7"/>
    <p:sldId id="579" r:id="rId8"/>
    <p:sldId id="580" r:id="rId9"/>
    <p:sldId id="575" r:id="rId10"/>
  </p:sldIdLst>
  <p:sldSz cx="9144000" cy="5143500" type="screen16x9"/>
  <p:notesSz cx="6858000" cy="9144000"/>
  <p:embeddedFontLst>
    <p:embeddedFont>
      <p:font typeface="Helvetica Neue" panose="020B0604020202020204" charset="0"/>
      <p:regular r:id="rId12"/>
      <p:bold r:id="rId13"/>
      <p:italic r:id="rId14"/>
      <p:boldItalic r:id="rId1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D806A02D-9255-4416-AC49-59535D0934EA}">
  <a:tblStyle styleId="{D806A02D-9255-4416-AC49-59535D0934EA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6416" autoAdjust="0"/>
  </p:normalViewPr>
  <p:slideViewPr>
    <p:cSldViewPr snapToGrid="0">
      <p:cViewPr varScale="1">
        <p:scale>
          <a:sx n="85" d="100"/>
          <a:sy n="85" d="100"/>
        </p:scale>
        <p:origin x="738" y="48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0" d="100"/>
        <a:sy n="130" d="100"/>
      </p:scale>
      <p:origin x="0" y="-1368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">
          <a:extLst>
            <a:ext uri="{FF2B5EF4-FFF2-40B4-BE49-F238E27FC236}">
              <a16:creationId xmlns:a16="http://schemas.microsoft.com/office/drawing/2014/main" id="{6D6F4C5A-0F16-CAEB-F9A0-89E07EFC72C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2b9728a67a9_0_0:notes">
            <a:extLst>
              <a:ext uri="{FF2B5EF4-FFF2-40B4-BE49-F238E27FC236}">
                <a16:creationId xmlns:a16="http://schemas.microsoft.com/office/drawing/2014/main" id="{D6E07447-48E4-F260-B870-FFDC4E2B1B5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2b9728a67a9_0_0:notes">
            <a:extLst>
              <a:ext uri="{FF2B5EF4-FFF2-40B4-BE49-F238E27FC236}">
                <a16:creationId xmlns:a16="http://schemas.microsoft.com/office/drawing/2014/main" id="{7E91C570-1A55-E508-774F-CB038559387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/>
          </a:p>
        </p:txBody>
      </p:sp>
    </p:spTree>
    <p:extLst>
      <p:ext uri="{BB962C8B-B14F-4D97-AF65-F5344CB8AC3E}">
        <p14:creationId xmlns:p14="http://schemas.microsoft.com/office/powerpoint/2010/main" val="284443048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">
          <a:extLst>
            <a:ext uri="{FF2B5EF4-FFF2-40B4-BE49-F238E27FC236}">
              <a16:creationId xmlns:a16="http://schemas.microsoft.com/office/drawing/2014/main" id="{FE10BB8C-A210-A88B-1AF8-904B7B7B86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2c7c36cb48a_0_0:notes">
            <a:extLst>
              <a:ext uri="{FF2B5EF4-FFF2-40B4-BE49-F238E27FC236}">
                <a16:creationId xmlns:a16="http://schemas.microsoft.com/office/drawing/2014/main" id="{207DA01F-7914-DC61-3B8B-9938FA1AB16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2c7c36cb48a_0_0:notes">
            <a:extLst>
              <a:ext uri="{FF2B5EF4-FFF2-40B4-BE49-F238E27FC236}">
                <a16:creationId xmlns:a16="http://schemas.microsoft.com/office/drawing/2014/main" id="{A639CAB8-FC7B-8843-F55C-48EBBDEF5EB2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428841327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>
          <a:extLst>
            <a:ext uri="{FF2B5EF4-FFF2-40B4-BE49-F238E27FC236}">
              <a16:creationId xmlns:a16="http://schemas.microsoft.com/office/drawing/2014/main" id="{81E2BE6B-7942-2DD5-1388-497BD2101A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314fda3170b_0_2:notes">
            <a:extLst>
              <a:ext uri="{FF2B5EF4-FFF2-40B4-BE49-F238E27FC236}">
                <a16:creationId xmlns:a16="http://schemas.microsoft.com/office/drawing/2014/main" id="{7AFAEE14-4196-06EA-5C2A-81C99AEA47E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314fda3170b_0_2:notes">
            <a:extLst>
              <a:ext uri="{FF2B5EF4-FFF2-40B4-BE49-F238E27FC236}">
                <a16:creationId xmlns:a16="http://schemas.microsoft.com/office/drawing/2014/main" id="{72DC28A9-5352-9EF8-9BFD-FDB34B748FA5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65030988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091D6EE-AD7C-B43E-6EBF-0B4A5C39F7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2c7c36cb48a_0_385:notes">
            <a:extLst>
              <a:ext uri="{FF2B5EF4-FFF2-40B4-BE49-F238E27FC236}">
                <a16:creationId xmlns:a16="http://schemas.microsoft.com/office/drawing/2014/main" id="{C1AC57D6-B898-DA50-56B9-B0E81946F74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2c7c36cb48a_0_385:notes">
            <a:extLst>
              <a:ext uri="{FF2B5EF4-FFF2-40B4-BE49-F238E27FC236}">
                <a16:creationId xmlns:a16="http://schemas.microsoft.com/office/drawing/2014/main" id="{9983218A-2FFB-E795-496F-E2CADAA5A7C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55788492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grpSp>
        <p:nvGrpSpPr>
          <p:cNvPr id="14" name="Google Shape;14;p3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15" name="Google Shape;15;p3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6" name="Google Shape;16;p3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17" name="Google Shape;17;p3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18" name="Google Shape;18;p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1" name="Google Shape;21;p4"/>
          <p:cNvSpPr txBox="1">
            <a:spLocks noGrp="1"/>
          </p:cNvSpPr>
          <p:nvPr>
            <p:ph type="body" idx="1"/>
          </p:nvPr>
        </p:nvSpPr>
        <p:spPr>
          <a:xfrm>
            <a:off x="311700" y="1056538"/>
            <a:ext cx="8520600" cy="351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22" name="Google Shape;22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23" name="Google Shape;23;p4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24" name="Google Shape;24;p4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5" name="Google Shape;25;p4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26" name="Google Shape;26;p4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27" name="Google Shape;27;p4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82" name="Google Shape;82;p11"/>
          <p:cNvSpPr txBox="1">
            <a:spLocks noGrp="1"/>
          </p:cNvSpPr>
          <p:nvPr>
            <p:ph type="body" idx="1"/>
          </p:nvPr>
        </p:nvSpPr>
        <p:spPr>
          <a:xfrm>
            <a:off x="311700" y="3069625"/>
            <a:ext cx="8520600" cy="1383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 algn="ctr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Char char="■"/>
              <a:defRPr/>
            </a:lvl3pPr>
            <a:lvl4pPr marL="1828800" lvl="3" indent="-29845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 algn="ctr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 algn="ctr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83" name="Google Shape;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84" name="Google Shape;84;p11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85" name="Google Shape;85;p11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6" name="Google Shape;86;p11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87" name="Google Shape;87;p11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88" name="Google Shape;88;p11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 slid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000"/>
              <a:buNone/>
              <a:defRPr sz="2000" b="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316882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 column tex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body" idx="1"/>
          </p:nvPr>
        </p:nvSpPr>
        <p:spPr>
          <a:xfrm>
            <a:off x="311700" y="1208738"/>
            <a:ext cx="4270500" cy="336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marL="914400" lvl="1" indent="-311150">
              <a:spcBef>
                <a:spcPts val="0"/>
              </a:spcBef>
              <a:spcAft>
                <a:spcPts val="0"/>
              </a:spcAft>
              <a:buSzPts val="1300"/>
              <a:buChar char="○"/>
              <a:defRPr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marL="2286000" lvl="4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5pPr>
            <a:lvl6pPr marL="2743200" lvl="5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marL="3200400" lvl="6" indent="-2921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7pPr>
            <a:lvl8pPr marL="3657600" lvl="7" indent="-292100">
              <a:spcBef>
                <a:spcPts val="0"/>
              </a:spcBef>
              <a:spcAft>
                <a:spcPts val="0"/>
              </a:spcAft>
              <a:buSzPts val="1000"/>
              <a:buChar char="○"/>
              <a:defRPr/>
            </a:lvl8pPr>
            <a:lvl9pPr marL="4114800" lvl="8" indent="-2921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lvl="2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lvl="3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lvl="4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lvl="5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lvl="6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lvl="7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lvl="8">
              <a:buNone/>
              <a:defRPr sz="900"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49" name="Google Shape;49;p7"/>
          <p:cNvGrpSpPr/>
          <p:nvPr/>
        </p:nvGrpSpPr>
        <p:grpSpPr>
          <a:xfrm>
            <a:off x="120215" y="4919656"/>
            <a:ext cx="457214" cy="137173"/>
            <a:chOff x="50186" y="6314714"/>
            <a:chExt cx="977580" cy="288300"/>
          </a:xfrm>
        </p:grpSpPr>
        <p:sp>
          <p:nvSpPr>
            <p:cNvPr id="50" name="Google Shape;50;p7"/>
            <p:cNvSpPr/>
            <p:nvPr/>
          </p:nvSpPr>
          <p:spPr>
            <a:xfrm>
              <a:off x="394826" y="6314714"/>
              <a:ext cx="288300" cy="288300"/>
            </a:xfrm>
            <a:prstGeom prst="ellipse">
              <a:avLst/>
            </a:prstGeom>
            <a:solidFill>
              <a:srgbClr val="EB343A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1" name="Google Shape;51;p7"/>
            <p:cNvSpPr/>
            <p:nvPr/>
          </p:nvSpPr>
          <p:spPr>
            <a:xfrm>
              <a:off x="739466" y="6314714"/>
              <a:ext cx="288300" cy="288300"/>
            </a:xfrm>
            <a:prstGeom prst="ellipse">
              <a:avLst/>
            </a:prstGeom>
            <a:solidFill>
              <a:srgbClr val="C0AE00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  <p:sp>
          <p:nvSpPr>
            <p:cNvPr id="52" name="Google Shape;52;p7"/>
            <p:cNvSpPr/>
            <p:nvPr/>
          </p:nvSpPr>
          <p:spPr>
            <a:xfrm>
              <a:off x="50186" y="6314714"/>
              <a:ext cx="288300" cy="288300"/>
            </a:xfrm>
            <a:prstGeom prst="ellipse">
              <a:avLst/>
            </a:prstGeom>
            <a:solidFill>
              <a:srgbClr val="1D466B"/>
            </a:solidFill>
            <a:ln>
              <a:noFill/>
            </a:ln>
          </p:spPr>
          <p:txBody>
            <a:bodyPr spcFirstLastPara="1" wrap="square" lIns="68575" tIns="34275" rIns="68575" bIns="34275" anchor="ctr" anchorCtr="0">
              <a:noAutofit/>
            </a:bodyPr>
            <a:lstStyle/>
            <a:p>
              <a:pPr marL="0" marR="0" lvl="0" indent="0" algn="ctr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endParaRPr sz="1100" b="0" i="0" u="none" strike="noStrike" cap="non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endParaRPr>
            </a:p>
          </p:txBody>
        </p:sp>
      </p:grpSp>
      <p:pic>
        <p:nvPicPr>
          <p:cNvPr id="53" name="Google Shape;53;p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360201" y="246300"/>
            <a:ext cx="472100" cy="476907"/>
          </a:xfrm>
          <a:prstGeom prst="rect">
            <a:avLst/>
          </a:prstGeom>
          <a:noFill/>
          <a:ln>
            <a:noFill/>
          </a:ln>
        </p:spPr>
      </p:pic>
      <p:sp>
        <p:nvSpPr>
          <p:cNvPr id="54" name="Google Shape;54;p7"/>
          <p:cNvSpPr txBox="1">
            <a:spLocks noGrp="1"/>
          </p:cNvSpPr>
          <p:nvPr>
            <p:ph type="title"/>
          </p:nvPr>
        </p:nvSpPr>
        <p:spPr>
          <a:xfrm>
            <a:off x="311700" y="88000"/>
            <a:ext cx="42705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None/>
              <a:defRPr>
                <a:solidFill>
                  <a:srgbClr val="1D466B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5251225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bg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238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500"/>
              <a:buFont typeface="Helvetica Neue"/>
              <a:buChar char="●"/>
              <a:defRPr sz="15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lvl="1" indent="-3111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300"/>
              <a:buFont typeface="Helvetica Neue"/>
              <a:buChar char="○"/>
              <a:defRPr sz="13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lvl="2" indent="-30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Helvetica Neue"/>
              <a:buChar char="■"/>
              <a:defRPr sz="12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lvl="3" indent="-29845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100"/>
              <a:buFont typeface="Helvetica Neue"/>
              <a:buChar char="●"/>
              <a:defRPr sz="11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lvl="4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lvl="5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lvl="6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●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lvl="7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○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lvl="8" indent="-2921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000"/>
              <a:buFont typeface="Helvetica Neue"/>
              <a:buChar char="■"/>
              <a:defRPr sz="1000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7" r:id="rId3"/>
    <p:sldLayoutId id="2147483660" r:id="rId4"/>
    <p:sldLayoutId id="2147483663" r:id="rId5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9">
          <a:extLst>
            <a:ext uri="{FF2B5EF4-FFF2-40B4-BE49-F238E27FC236}">
              <a16:creationId xmlns:a16="http://schemas.microsoft.com/office/drawing/2014/main" id="{7F8CCE8A-313F-6E36-7C5B-32B2DCBCB2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B94CAC84-5A4B-F67B-5393-ADA47A8208BD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9CB5876-1344-2B3D-88CD-A01C4EB051A6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10" name="Google Shape;100;p13">
            <a:extLst>
              <a:ext uri="{FF2B5EF4-FFF2-40B4-BE49-F238E27FC236}">
                <a16:creationId xmlns:a16="http://schemas.microsoft.com/office/drawing/2014/main" id="{11AC39AB-8187-B2C4-BCE2-25603F316607}"/>
              </a:ext>
            </a:extLst>
          </p:cNvPr>
          <p:cNvSpPr txBox="1">
            <a:spLocks noGrp="1"/>
          </p:cNvSpPr>
          <p:nvPr>
            <p:ph type="ctrTitle"/>
          </p:nvPr>
        </p:nvSpPr>
        <p:spPr>
          <a:xfrm>
            <a:off x="311700" y="875425"/>
            <a:ext cx="8520600" cy="1526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latin typeface="Aptos Display" panose="020B0004020202020204" pitchFamily="34" charset="0"/>
              </a:rPr>
              <a:t>NPTEL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sp>
        <p:nvSpPr>
          <p:cNvPr id="11" name="Google Shape;101;p13">
            <a:extLst>
              <a:ext uri="{FF2B5EF4-FFF2-40B4-BE49-F238E27FC236}">
                <a16:creationId xmlns:a16="http://schemas.microsoft.com/office/drawing/2014/main" id="{9BC1CA05-7B56-F729-7729-976FFD62408E}"/>
              </a:ext>
            </a:extLst>
          </p:cNvPr>
          <p:cNvSpPr txBox="1">
            <a:spLocks noGrp="1"/>
          </p:cNvSpPr>
          <p:nvPr>
            <p:ph type="subTitle" idx="1"/>
          </p:nvPr>
        </p:nvSpPr>
        <p:spPr>
          <a:xfrm>
            <a:off x="311700" y="2401525"/>
            <a:ext cx="8520600" cy="600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/>
            <a:r>
              <a:rPr lang="en" dirty="0">
                <a:solidFill>
                  <a:schemeClr val="tx1"/>
                </a:solidFill>
                <a:latin typeface="Aptos Display" panose="020B0004020202020204" pitchFamily="34" charset="0"/>
              </a:rPr>
              <a:t>Applied Accelerated Artificial Intelligence</a:t>
            </a:r>
            <a:endParaRPr dirty="0">
              <a:solidFill>
                <a:schemeClr val="tx1"/>
              </a:solidFill>
              <a:latin typeface="Aptos Display" panose="020B0004020202020204" pitchFamily="34" charset="0"/>
            </a:endParaRPr>
          </a:p>
        </p:txBody>
      </p:sp>
      <p:cxnSp>
        <p:nvCxnSpPr>
          <p:cNvPr id="13" name="Google Shape;103;p13">
            <a:extLst>
              <a:ext uri="{FF2B5EF4-FFF2-40B4-BE49-F238E27FC236}">
                <a16:creationId xmlns:a16="http://schemas.microsoft.com/office/drawing/2014/main" id="{8F67DB8A-D21C-4952-D794-E5E62719C58A}"/>
              </a:ext>
            </a:extLst>
          </p:cNvPr>
          <p:cNvCxnSpPr/>
          <p:nvPr/>
        </p:nvCxnSpPr>
        <p:spPr>
          <a:xfrm>
            <a:off x="790550" y="4169500"/>
            <a:ext cx="72531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4" name="Google Shape;104;p13">
            <a:extLst>
              <a:ext uri="{FF2B5EF4-FFF2-40B4-BE49-F238E27FC236}">
                <a16:creationId xmlns:a16="http://schemas.microsoft.com/office/drawing/2014/main" id="{60B22ADA-D87B-5B41-C735-9F7F595D022A}"/>
              </a:ext>
            </a:extLst>
          </p:cNvPr>
          <p:cNvSpPr txBox="1">
            <a:spLocks/>
          </p:cNvSpPr>
          <p:nvPr/>
        </p:nvSpPr>
        <p:spPr>
          <a:xfrm>
            <a:off x="311700" y="3315925"/>
            <a:ext cx="8520600" cy="60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L="457200" marR="0" lvl="0" indent="-3238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D466B"/>
              </a:buClr>
              <a:buSzPts val="2400"/>
              <a:buFont typeface="Helvetica Neue"/>
              <a:buNone/>
              <a:defRPr sz="2400" b="1" i="0" u="none" strike="noStrike" cap="none">
                <a:solidFill>
                  <a:srgbClr val="1D466B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1pPr>
            <a:lvl2pPr marL="914400" marR="0" lvl="1" indent="-3111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2pPr>
            <a:lvl3pPr marL="1371600" marR="0" lvl="2" indent="-3048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3pPr>
            <a:lvl4pPr marL="1828800" marR="0" lvl="3" indent="-29845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4pPr>
            <a:lvl5pPr marL="2286000" marR="0" lvl="4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5pPr>
            <a:lvl6pPr marL="2743200" marR="0" lvl="5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6pPr>
            <a:lvl7pPr marL="3200400" marR="0" lvl="6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7pPr>
            <a:lvl8pPr marL="3657600" marR="0" lvl="7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8pPr>
            <a:lvl9pPr marL="4114800" marR="0" lvl="8" indent="-29210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800"/>
              <a:buFont typeface="Helvetica Neue"/>
              <a:buNone/>
              <a:defRPr sz="2800" b="0" i="0" u="none" strike="noStrike" cap="none">
                <a:solidFill>
                  <a:srgbClr val="434343"/>
                </a:solidFill>
                <a:latin typeface="Helvetica Neue"/>
                <a:ea typeface="Helvetica Neue"/>
                <a:cs typeface="Helvetica Neue"/>
                <a:sym typeface="Helvetica Neue"/>
              </a:defRPr>
            </a:lvl9pPr>
          </a:lstStyle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Instructor: Dr. Satyajit Das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Dept. of Computer Science and Engineering</a:t>
            </a:r>
          </a:p>
          <a:p>
            <a:pPr marL="0" indent="0"/>
            <a:r>
              <a:rPr lang="en-US" sz="1200" b="0" dirty="0">
                <a:solidFill>
                  <a:schemeClr val="tx1"/>
                </a:solidFill>
                <a:latin typeface="Aptos Display" panose="020B0004020202020204" pitchFamily="34" charset="0"/>
              </a:rPr>
              <a:t>Indian Institute of Technology Guwahati, Assam, India</a:t>
            </a:r>
          </a:p>
        </p:txBody>
      </p:sp>
      <p:pic>
        <p:nvPicPr>
          <p:cNvPr id="15" name="Picture 14" descr="A logo with a symbol in the middle  AI-generated content may be incorrect.">
            <a:extLst>
              <a:ext uri="{FF2B5EF4-FFF2-40B4-BE49-F238E27FC236}">
                <a16:creationId xmlns:a16="http://schemas.microsoft.com/office/drawing/2014/main" id="{A76A753D-76B9-B3B1-958A-E7E9C98CF9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5824" y="275125"/>
            <a:ext cx="1512351" cy="1526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10962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100" dirty="0">
                <a:solidFill>
                  <a:schemeClr val="tx1"/>
                </a:solidFill>
              </a:rPr>
              <a:t>Week 05: TensorFlow Acceleration and Interoperability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 algn="l"/>
            <a:r>
              <a:rPr lang="en-US" b="0" dirty="0">
                <a:solidFill>
                  <a:schemeClr val="tx1"/>
                </a:solidFill>
              </a:rPr>
              <a:t>Segment 1: TensorFlow Execution Models &amp; Performance Basics
Segment 2: Optimizing Input Pipelines with tf.data
Segment 3: Graph Execution &amp; TensorFlow Optimization
Segment 4: Introduction to XLA Compilation
Segment 5: Model Interoperability: SavedModel vs ONNX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>
          <a:extLst>
            <a:ext uri="{FF2B5EF4-FFF2-40B4-BE49-F238E27FC236}">
              <a16:creationId xmlns:a16="http://schemas.microsoft.com/office/drawing/2014/main" id="{BF8F311D-BBD2-2952-AE29-D46EAB5D0D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>
            <a:extLst>
              <a:ext uri="{FF2B5EF4-FFF2-40B4-BE49-F238E27FC236}">
                <a16:creationId xmlns:a16="http://schemas.microsoft.com/office/drawing/2014/main" id="{9F8ACED4-AC99-BB53-6668-2DA675DE5A71}"/>
              </a:ext>
            </a:extLst>
          </p:cNvPr>
          <p:cNvSpPr txBox="1"/>
          <p:nvPr/>
        </p:nvSpPr>
        <p:spPr>
          <a:xfrm>
            <a:off x="824742" y="1149552"/>
            <a:ext cx="5872707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 TensorFlow’s eager and graph execution modes</a:t>
            </a:r>
            <a:endParaRPr sz="1500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17" name="Google Shape;117;p15">
            <a:extLst>
              <a:ext uri="{FF2B5EF4-FFF2-40B4-BE49-F238E27FC236}">
                <a16:creationId xmlns:a16="http://schemas.microsoft.com/office/drawing/2014/main" id="{AE635300-ACCC-9D7D-0461-DAA9032D26BD}"/>
              </a:ext>
            </a:extLst>
          </p:cNvPr>
          <p:cNvSpPr txBox="1"/>
          <p:nvPr/>
        </p:nvSpPr>
        <p:spPr>
          <a:xfrm>
            <a:off x="824742" y="1590779"/>
            <a:ext cx="78000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Explain how computation graphs improve performance</a:t>
            </a:r>
          </a:p>
        </p:txBody>
      </p:sp>
      <p:sp>
        <p:nvSpPr>
          <p:cNvPr id="118" name="Google Shape;118;p15">
            <a:extLst>
              <a:ext uri="{FF2B5EF4-FFF2-40B4-BE49-F238E27FC236}">
                <a16:creationId xmlns:a16="http://schemas.microsoft.com/office/drawing/2014/main" id="{0FDC188F-6008-19C2-BE91-C58B72215025}"/>
              </a:ext>
            </a:extLst>
          </p:cNvPr>
          <p:cNvSpPr txBox="1"/>
          <p:nvPr/>
        </p:nvSpPr>
        <p:spPr>
          <a:xfrm>
            <a:off x="824742" y="2032006"/>
            <a:ext cx="7308602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Build efficient data pipelines using the tf.data API</a:t>
            </a:r>
          </a:p>
        </p:txBody>
      </p:sp>
      <p:sp>
        <p:nvSpPr>
          <p:cNvPr id="119" name="Google Shape;119;p15">
            <a:extLst>
              <a:ext uri="{FF2B5EF4-FFF2-40B4-BE49-F238E27FC236}">
                <a16:creationId xmlns:a16="http://schemas.microsoft.com/office/drawing/2014/main" id="{527E82BD-82A8-3242-8742-F6968F77D51B}"/>
              </a:ext>
            </a:extLst>
          </p:cNvPr>
          <p:cNvSpPr txBox="1"/>
          <p:nvPr/>
        </p:nvSpPr>
        <p:spPr>
          <a:xfrm>
            <a:off x="824742" y="2473234"/>
            <a:ext cx="8265863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Apply @tf.function and AutoGraph for graph optimization</a:t>
            </a:r>
          </a:p>
        </p:txBody>
      </p:sp>
      <p:sp>
        <p:nvSpPr>
          <p:cNvPr id="120" name="Google Shape;120;p15">
            <a:extLst>
              <a:ext uri="{FF2B5EF4-FFF2-40B4-BE49-F238E27FC236}">
                <a16:creationId xmlns:a16="http://schemas.microsoft.com/office/drawing/2014/main" id="{23D0499C-8BFB-9B05-B76C-DF569496955B}"/>
              </a:ext>
            </a:extLst>
          </p:cNvPr>
          <p:cNvSpPr txBox="1"/>
          <p:nvPr/>
        </p:nvSpPr>
        <p:spPr>
          <a:xfrm>
            <a:off x="824762" y="2914457"/>
            <a:ext cx="7308602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Profile TF workloads with TensorBoard</a:t>
            </a:r>
          </a:p>
        </p:txBody>
      </p:sp>
      <p:sp>
        <p:nvSpPr>
          <p:cNvPr id="121" name="Google Shape;121;p15">
            <a:extLst>
              <a:ext uri="{FF2B5EF4-FFF2-40B4-BE49-F238E27FC236}">
                <a16:creationId xmlns:a16="http://schemas.microsoft.com/office/drawing/2014/main" id="{D7868882-A0A9-5262-AE52-665D0B414A3F}"/>
              </a:ext>
            </a:extLst>
          </p:cNvPr>
          <p:cNvSpPr txBox="1"/>
          <p:nvPr/>
        </p:nvSpPr>
        <p:spPr>
          <a:xfrm>
            <a:off x="366025" y="1149552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01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2" name="Google Shape;122;p15">
            <a:extLst>
              <a:ext uri="{FF2B5EF4-FFF2-40B4-BE49-F238E27FC236}">
                <a16:creationId xmlns:a16="http://schemas.microsoft.com/office/drawing/2014/main" id="{92A97168-71D9-8CF6-DC8A-97D9C401339D}"/>
              </a:ext>
            </a:extLst>
          </p:cNvPr>
          <p:cNvSpPr txBox="1"/>
          <p:nvPr/>
        </p:nvSpPr>
        <p:spPr>
          <a:xfrm>
            <a:off x="366025" y="1590779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02</a:t>
            </a:r>
            <a:endParaRPr sz="1500" b="1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3" name="Google Shape;123;p15">
            <a:extLst>
              <a:ext uri="{FF2B5EF4-FFF2-40B4-BE49-F238E27FC236}">
                <a16:creationId xmlns:a16="http://schemas.microsoft.com/office/drawing/2014/main" id="{C8EFD8EC-9F8B-20B3-CBD9-AC61EF092C1B}"/>
              </a:ext>
            </a:extLst>
          </p:cNvPr>
          <p:cNvSpPr txBox="1"/>
          <p:nvPr/>
        </p:nvSpPr>
        <p:spPr>
          <a:xfrm>
            <a:off x="366025" y="2032006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03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4" name="Google Shape;124;p15">
            <a:extLst>
              <a:ext uri="{FF2B5EF4-FFF2-40B4-BE49-F238E27FC236}">
                <a16:creationId xmlns:a16="http://schemas.microsoft.com/office/drawing/2014/main" id="{9CBA9839-A752-4C90-85E6-418D290F1EAC}"/>
              </a:ext>
            </a:extLst>
          </p:cNvPr>
          <p:cNvSpPr txBox="1"/>
          <p:nvPr/>
        </p:nvSpPr>
        <p:spPr>
          <a:xfrm>
            <a:off x="366025" y="2473234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04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25" name="Google Shape;125;p15">
            <a:extLst>
              <a:ext uri="{FF2B5EF4-FFF2-40B4-BE49-F238E27FC236}">
                <a16:creationId xmlns:a16="http://schemas.microsoft.com/office/drawing/2014/main" id="{5A57ED76-E162-DA2B-7910-A7D1EE5E4897}"/>
              </a:ext>
            </a:extLst>
          </p:cNvPr>
          <p:cNvSpPr txBox="1"/>
          <p:nvPr/>
        </p:nvSpPr>
        <p:spPr>
          <a:xfrm>
            <a:off x="366025" y="2914461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05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3" name="Google Shape;118;p15">
            <a:extLst>
              <a:ext uri="{FF2B5EF4-FFF2-40B4-BE49-F238E27FC236}">
                <a16:creationId xmlns:a16="http://schemas.microsoft.com/office/drawing/2014/main" id="{B5B3A0CF-C4A4-457C-A220-6D7ACABEB223}"/>
              </a:ext>
            </a:extLst>
          </p:cNvPr>
          <p:cNvSpPr txBox="1"/>
          <p:nvPr/>
        </p:nvSpPr>
        <p:spPr>
          <a:xfrm>
            <a:off x="830304" y="3325735"/>
            <a:ext cx="7308602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Understand XLA compilation and how to enable it</a:t>
            </a:r>
          </a:p>
        </p:txBody>
      </p:sp>
      <p:sp>
        <p:nvSpPr>
          <p:cNvPr id="14" name="Google Shape;119;p15">
            <a:extLst>
              <a:ext uri="{FF2B5EF4-FFF2-40B4-BE49-F238E27FC236}">
                <a16:creationId xmlns:a16="http://schemas.microsoft.com/office/drawing/2014/main" id="{AFA9FDAF-BBA1-4AE6-8EEE-C22C51598C93}"/>
              </a:ext>
            </a:extLst>
          </p:cNvPr>
          <p:cNvSpPr txBox="1"/>
          <p:nvPr/>
        </p:nvSpPr>
        <p:spPr>
          <a:xfrm>
            <a:off x="830304" y="3766963"/>
            <a:ext cx="8265863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lvl="0"/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Export and load models using TensorFlow SavedModel format</a:t>
            </a:r>
          </a:p>
        </p:txBody>
      </p:sp>
      <p:sp>
        <p:nvSpPr>
          <p:cNvPr id="15" name="Google Shape;120;p15">
            <a:extLst>
              <a:ext uri="{FF2B5EF4-FFF2-40B4-BE49-F238E27FC236}">
                <a16:creationId xmlns:a16="http://schemas.microsoft.com/office/drawing/2014/main" id="{14336FEB-0F74-4225-B2D8-73A9D528C57E}"/>
              </a:ext>
            </a:extLst>
          </p:cNvPr>
          <p:cNvSpPr txBox="1"/>
          <p:nvPr/>
        </p:nvSpPr>
        <p:spPr>
          <a:xfrm>
            <a:off x="830323" y="4208186"/>
            <a:ext cx="6211225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r>
              <a:rPr lang="en-IN" sz="1500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Convert and deploy models across frameworks using ONNX</a:t>
            </a:r>
          </a:p>
        </p:txBody>
      </p:sp>
      <p:sp>
        <p:nvSpPr>
          <p:cNvPr id="16" name="Google Shape;123;p15">
            <a:extLst>
              <a:ext uri="{FF2B5EF4-FFF2-40B4-BE49-F238E27FC236}">
                <a16:creationId xmlns:a16="http://schemas.microsoft.com/office/drawing/2014/main" id="{A61F8C25-C2F3-4C2F-92C7-BA6CAD9889F4}"/>
              </a:ext>
            </a:extLst>
          </p:cNvPr>
          <p:cNvSpPr txBox="1"/>
          <p:nvPr/>
        </p:nvSpPr>
        <p:spPr>
          <a:xfrm>
            <a:off x="371587" y="3325735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06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7" name="Google Shape;124;p15">
            <a:extLst>
              <a:ext uri="{FF2B5EF4-FFF2-40B4-BE49-F238E27FC236}">
                <a16:creationId xmlns:a16="http://schemas.microsoft.com/office/drawing/2014/main" id="{7690CF1A-8ADD-422C-987A-72FB59EAFDF4}"/>
              </a:ext>
            </a:extLst>
          </p:cNvPr>
          <p:cNvSpPr txBox="1"/>
          <p:nvPr/>
        </p:nvSpPr>
        <p:spPr>
          <a:xfrm>
            <a:off x="371587" y="3766963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07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18" name="Google Shape;125;p15">
            <a:extLst>
              <a:ext uri="{FF2B5EF4-FFF2-40B4-BE49-F238E27FC236}">
                <a16:creationId xmlns:a16="http://schemas.microsoft.com/office/drawing/2014/main" id="{6B884B01-CC40-4453-BFDD-B95DA8148CC6}"/>
              </a:ext>
            </a:extLst>
          </p:cNvPr>
          <p:cNvSpPr txBox="1"/>
          <p:nvPr/>
        </p:nvSpPr>
        <p:spPr>
          <a:xfrm>
            <a:off x="371587" y="4208190"/>
            <a:ext cx="3711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dirty="0">
                <a:solidFill>
                  <a:schemeClr val="tx1"/>
                </a:solidFill>
                <a:latin typeface="Helvetica Neue"/>
                <a:ea typeface="Helvetica Neue"/>
                <a:cs typeface="Helvetica Neue"/>
                <a:sym typeface="Helvetica Neue"/>
              </a:rPr>
              <a:t>08</a:t>
            </a:r>
            <a:endParaRPr sz="1500" b="1" dirty="0">
              <a:solidFill>
                <a:schemeClr val="tx1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0234D445-F045-354C-35CE-9879578C81FE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523C4E1-4B86-C5BC-633D-5405EB406B5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1" name="Google Shape;130;p16">
            <a:extLst>
              <a:ext uri="{FF2B5EF4-FFF2-40B4-BE49-F238E27FC236}">
                <a16:creationId xmlns:a16="http://schemas.microsoft.com/office/drawing/2014/main" id="{85DC8004-1404-492B-B372-305A1B843F7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lvl="0" algn="l"/>
            <a:r>
              <a:rPr lang="en-US" dirty="0">
                <a:solidFill>
                  <a:schemeClr val="tx1"/>
                </a:solidFill>
              </a:rPr>
              <a:t>Learning Objectives</a:t>
            </a:r>
          </a:p>
        </p:txBody>
      </p:sp>
      <p:sp>
        <p:nvSpPr>
          <p:cNvPr id="22" name="Google Shape;131;p16">
            <a:extLst>
              <a:ext uri="{FF2B5EF4-FFF2-40B4-BE49-F238E27FC236}">
                <a16:creationId xmlns:a16="http://schemas.microsoft.com/office/drawing/2014/main" id="{6478E0F0-683D-489C-987E-6E83290C1C93}"/>
              </a:ext>
            </a:extLst>
          </p:cNvPr>
          <p:cNvSpPr txBox="1">
            <a:spLocks/>
          </p:cNvSpPr>
          <p:nvPr/>
        </p:nvSpPr>
        <p:spPr>
          <a:xfrm>
            <a:off x="311700" y="1056537"/>
            <a:ext cx="8520600" cy="3778109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3178817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">
          <a:extLst>
            <a:ext uri="{FF2B5EF4-FFF2-40B4-BE49-F238E27FC236}">
              <a16:creationId xmlns:a16="http://schemas.microsoft.com/office/drawing/2014/main" id="{6704C46D-92A0-6E4D-62E7-CA436F4E00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4">
            <a:extLst>
              <a:ext uri="{FF2B5EF4-FFF2-40B4-BE49-F238E27FC236}">
                <a16:creationId xmlns:a16="http://schemas.microsoft.com/office/drawing/2014/main" id="{06FF1FD8-B614-F6CD-4DF8-9A8799BC37A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IN" sz="3100" dirty="0">
                <a:solidFill>
                  <a:schemeClr val="tx1"/>
                </a:solidFill>
              </a:rPr>
              <a:t>Segment</a:t>
            </a:r>
            <a:r>
              <a:rPr lang="en" sz="3100" dirty="0">
                <a:solidFill>
                  <a:schemeClr val="tx1"/>
                </a:solidFill>
              </a:rPr>
              <a:t> 1: TensorFlow Execution Models &amp; Performance Basics</a:t>
            </a:r>
            <a:br>
              <a:rPr lang="en" sz="3100" dirty="0">
                <a:solidFill>
                  <a:schemeClr val="tx1"/>
                </a:solidFill>
              </a:rPr>
            </a:br>
            <a:endParaRPr dirty="0">
              <a:solidFill>
                <a:schemeClr val="tx1"/>
              </a:solidFill>
            </a:endParaRPr>
          </a:p>
          <a:p>
            <a:pPr lvl="0"/>
            <a:r>
              <a:rPr lang="en-US" b="0" dirty="0">
                <a:solidFill>
                  <a:schemeClr val="tx1"/>
                </a:solidFill>
              </a:rPr>
              <a:t>What is TensorFlow? | Eager vs Graph Mode | The Computation Graph | Performance Basics</a:t>
            </a:r>
            <a:endParaRPr b="0" dirty="0">
              <a:solidFill>
                <a:schemeClr val="tx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b="0" dirty="0">
              <a:solidFill>
                <a:schemeClr val="tx1"/>
              </a:solidFill>
            </a:endParaRPr>
          </a:p>
        </p:txBody>
      </p:sp>
      <p:sp>
        <p:nvSpPr>
          <p:cNvPr id="110" name="Google Shape;110;p14">
            <a:extLst>
              <a:ext uri="{FF2B5EF4-FFF2-40B4-BE49-F238E27FC236}">
                <a16:creationId xmlns:a16="http://schemas.microsoft.com/office/drawing/2014/main" id="{F91E413B-EC13-582A-065F-7FAC406CE36C}"/>
              </a:ext>
            </a:extLst>
          </p:cNvPr>
          <p:cNvSpPr txBox="1"/>
          <p:nvPr/>
        </p:nvSpPr>
        <p:spPr>
          <a:xfrm>
            <a:off x="3260300" y="629100"/>
            <a:ext cx="2387400" cy="95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rgbClr val="434343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CAAD68C3-E61A-3E8D-4D02-56CDC310BA04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618E3DA-8905-A4D7-C499-32F90B13DFE3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649226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What is TensorFlow?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An Open-Source Machine Learning Framework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Developed by Google Brain team; released publicly in 2015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Designed for numerical computation using data flow graphs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Supports CPU, GPU, TPU and distributed execution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Two Levels of API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High-level: Keras API for rapid model building and training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Low-level: tf.Tensor, tf.Variable, tf.GradientTape for fine control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Core Concept: Tensors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Multi-dimensional arrays (scalars, vectors, matrices, higher dims)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All operations in TF operate on and return tensors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Tensors are immutable; operations create new tensors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Why TensorFlow for Accelerated AI?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Built-in GPU/TPU support with automatic device placement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Rich ecosystem: TF Serving, TF Lite, TF.js, TFX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Eager vs. Graph Execution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Eager Execution (Default since TF 2.x)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Operations execute immediately, line-by-line, like regular Python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Easy to debug: print tensors, use Python control flow directly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Example: result = tf.matmul(a, b) runs instantly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Drawback: Cannot be serialized easily; less opportunity for optimization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Graph Execution (TF 1.x style, now via @tf.function)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Builds a symbolic computation graph first, then executes it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Enables whole-graph optimizations: operator fusion, constant folding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Better performance for production and repeated operations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Supports serialization, export, and cross-platform deployment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Key Insight: Best of Both Worlds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TF 2.x: use eager mode for development, @tf.function for production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Seamlessly convert eager code to graph with a single decorator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The Computation Graph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What is a Computation Graph?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A directed acyclic graph (DAG) of operations (nodes) and tensors (edges)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Nodes represent operations: tf.matmul, tf.nn.relu, tf.add, etc.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Edges represent tensors flowing between operations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Advantages of Graph Representation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Portability: graphs can be saved and deployed on any platform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Parallelism: independent subgraphs can run concurrently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Optimization: TF runtime can reorder, fuse, and prune operations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Distributed execution: partition graph across devices and machines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Graph Building with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First call: TF traces the Python function and builds a graph (tracing)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Subsequent calls: TF executes the cached graph (no Python overhead)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Concrete functions created per unique input signature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6">
          <a:extLst>
            <a:ext uri="{FF2B5EF4-FFF2-40B4-BE49-F238E27FC236}">
              <a16:creationId xmlns:a16="http://schemas.microsoft.com/office/drawing/2014/main" id="{5678FD33-734A-0151-E240-66C19B549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17">
            <a:extLst>
              <a:ext uri="{FF2B5EF4-FFF2-40B4-BE49-F238E27FC236}">
                <a16:creationId xmlns:a16="http://schemas.microsoft.com/office/drawing/2014/main" id="{FEEF8E01-78F3-E064-1EF2-1096A31BE495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EDA24D5-DFA4-969F-0241-0C224B0687D0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7F70451-B973-DEBF-E4B7-8E3F81126B94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  <p:sp>
        <p:nvSpPr>
          <p:cNvPr id="2" name="Google Shape;130;p16">
            <a:extLst>
              <a:ext uri="{FF2B5EF4-FFF2-40B4-BE49-F238E27FC236}">
                <a16:creationId xmlns:a16="http://schemas.microsoft.com/office/drawing/2014/main" id="{4EA40659-9880-2A0D-BA61-9B348F591E3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7100"/>
            <a:ext cx="8520600" cy="555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solidFill>
                  <a:schemeClr val="tx1"/>
                </a:solidFill>
              </a:rPr>
              <a:t>TensorFlow Performance Basics</a:t>
            </a:r>
            <a:endParaRPr dirty="0">
              <a:solidFill>
                <a:schemeClr val="tx1"/>
              </a:solidFill>
            </a:endParaRP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E45BAC36-16F6-C078-FD65-A616568F11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The AI Training Performance Stack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Hardware: GPU/TPU compute throughput (FLOPS, memory bandwidth)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Data pipeline: feeding batches to GPU fast enough (I/O bound)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Model computation: forward pass, loss, backward pass (compute bound)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Common Performance Bottlenecks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CPU-GPU data starvation: GPU idle while waiting for next batch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Frequent Python/C++ boundary crossings without @tf.function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Suboptimal batch sizes and memory layout (non-contiguous tensors)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Unnecessary device copies: CPU-to-GPU data transfers mid-graph</a:t>
            </a:r>
          </a:p>
          <a:p>
            <a:pPr algn="l">
              <a:spcBef>
                <a:spcPts val="200"/>
              </a:spcBef>
              <a:buChar char="•"/>
            </a:pPr>
            <a:r>
              <a:rPr lang="en-US" sz="1700" b="1" dirty="0">
                <a:solidFill>
                  <a:srgbClr val="000000"/>
                </a:solidFill>
                <a:latin typeface="Helvetica Neue"/>
              </a:rPr>
              <a:t>Profiling First, Optimize Second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Use TensorBoard Profiler to identify where time is being spent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Check Step Time, Input Pipeline Analysis, and Trace Viewer</a:t>
            </a:r>
          </a:p>
          <a:p>
            <a:pPr marL="457200" indent="0" algn="l">
              <a:spcBef>
                <a:spcPts val="100"/>
              </a:spcBef>
              <a:buChar char="–"/>
            </a:pPr>
            <a:r>
              <a:rPr lang="en-US" sz="1400" dirty="0">
                <a:solidFill>
                  <a:srgbClr val="333333"/>
                </a:solidFill>
                <a:latin typeface="Helvetica Neue"/>
              </a:rPr>
              <a:t>Target: maximize GPU utilization and minimize idle time</a:t>
            </a:r>
          </a:p>
        </p:txBody>
      </p:sp>
    </p:spTree>
    <p:extLst>
      <p:ext uri="{BB962C8B-B14F-4D97-AF65-F5344CB8AC3E}">
        <p14:creationId xmlns:p14="http://schemas.microsoft.com/office/powerpoint/2010/main" val="270499767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>
          <a:extLst>
            <a:ext uri="{FF2B5EF4-FFF2-40B4-BE49-F238E27FC236}">
              <a16:creationId xmlns:a16="http://schemas.microsoft.com/office/drawing/2014/main" id="{9504B2B0-47A9-5698-7076-399DA624B5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9">
            <a:extLst>
              <a:ext uri="{FF2B5EF4-FFF2-40B4-BE49-F238E27FC236}">
                <a16:creationId xmlns:a16="http://schemas.microsoft.com/office/drawing/2014/main" id="{6700D62D-DE44-5D7A-F6DF-775832F9F0A2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sp>
        <p:nvSpPr>
          <p:cNvPr id="229" name="Google Shape;229;p29">
            <a:extLst>
              <a:ext uri="{FF2B5EF4-FFF2-40B4-BE49-F238E27FC236}">
                <a16:creationId xmlns:a16="http://schemas.microsoft.com/office/drawing/2014/main" id="{F57A4D2D-D148-6EE2-C13A-BC1246C5047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11700" y="2069200"/>
            <a:ext cx="6960900" cy="793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 dirty="0">
                <a:solidFill>
                  <a:schemeClr val="tx1"/>
                </a:solidFill>
              </a:rPr>
              <a:t>Thank you!</a:t>
            </a:r>
            <a:endParaRPr sz="3000" dirty="0">
              <a:solidFill>
                <a:schemeClr val="tx1"/>
              </a:solidFill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56BFD1A3-5B60-8A3A-F97E-BFFA2CFDD522}"/>
              </a:ext>
            </a:extLst>
          </p:cNvPr>
          <p:cNvSpPr/>
          <p:nvPr/>
        </p:nvSpPr>
        <p:spPr>
          <a:xfrm>
            <a:off x="0" y="0"/>
            <a:ext cx="9144000" cy="21017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1200" dirty="0">
              <a:latin typeface="Aptos Display" panose="020B0004020202020204" pitchFamily="34" charset="0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43C280A-6A21-7E17-A33F-575D64C1EB37}"/>
              </a:ext>
            </a:extLst>
          </p:cNvPr>
          <p:cNvSpPr/>
          <p:nvPr/>
        </p:nvSpPr>
        <p:spPr>
          <a:xfrm>
            <a:off x="0" y="5103529"/>
            <a:ext cx="9144000" cy="67092"/>
          </a:xfrm>
          <a:prstGeom prst="rect">
            <a:avLst/>
          </a:prstGeom>
          <a:solidFill>
            <a:srgbClr val="00206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sz="500" dirty="0">
              <a:latin typeface="Aptos Display" panose="020B00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82198134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1636</TotalTime>
  <Words>727</Words>
  <Application>Microsoft Office PowerPoint</Application>
  <PresentationFormat>On-screen Show (16:9)</PresentationFormat>
  <Paragraphs>89</Paragraphs>
  <Slides>9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Aptos Display</vt:lpstr>
      <vt:lpstr>Helvetica Neue</vt:lpstr>
      <vt:lpstr>Arial</vt:lpstr>
      <vt:lpstr>Simple Light</vt:lpstr>
      <vt:lpstr>NPTEL</vt:lpstr>
      <vt:lpstr>Week 05: TensorFlow Acceleration and Interoperability  Segment 1: TensorFlow Execution Models &amp; Performance Basics
Segment 2: Optimizing Input Pipelines with tf.data
Segment 3: Graph Execution &amp; TensorFlow Optimization
Segment 4: Introduction to XLA Compilation
Segment 5: Model Interoperability: SavedModel vs ONNX </vt:lpstr>
      <vt:lpstr>Learning Objectives</vt:lpstr>
      <vt:lpstr>Segment 1: TensorFlow Execution Models &amp; Performance Basics  What is TensorFlow? | Eager vs Graph Mode | The Computation Graph | Performance Basics </vt:lpstr>
      <vt:lpstr>What is TensorFlow?</vt:lpstr>
      <vt:lpstr>Eager vs. Graph Execution</vt:lpstr>
      <vt:lpstr>The Computation Graph</vt:lpstr>
      <vt:lpstr>TensorFlow Performance Basics</vt:lpstr>
      <vt:lpstr>Thank you!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Bachelor of Science (Honours) in Data Science and Artificial Intelligence</dc:title>
  <dc:creator>satyajit das</dc:creator>
  <cp:lastModifiedBy>satyajit das</cp:lastModifiedBy>
  <cp:revision>52</cp:revision>
  <dcterms:modified xsi:type="dcterms:W3CDTF">2026-03-30T07:36:35Z</dcterms:modified>
</cp:coreProperties>
</file>