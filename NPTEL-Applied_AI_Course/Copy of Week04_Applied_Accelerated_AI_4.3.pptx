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503" r:id="rId2"/>
    <p:sldId id="591" r:id="rId3"/>
    <p:sldId id="592" r:id="rId4"/>
    <p:sldId id="593" r:id="rId5"/>
    <p:sldId id="598" r:id="rId6"/>
    <p:sldId id="594" r:id="rId7"/>
    <p:sldId id="599" r:id="rId8"/>
    <p:sldId id="595" r:id="rId9"/>
    <p:sldId id="596" r:id="rId10"/>
    <p:sldId id="600" r:id="rId11"/>
    <p:sldId id="597" r:id="rId12"/>
    <p:sldId id="575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3: The Standard Training Loop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heartbeat of AI training — forward pass, loss, backward pass, optimiser step — repeated millions of times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3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Write a complete PyTorch training loop from scratch: forward, loss, backward, step, zero_grad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Select and configure optimisers: SGD with momentum, Adam, AdamW — and explain when to use each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the most common loss functions: CrossEntropyLoss, MSELoss, BCEWithLogitsLoss — and match each to the right task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Use a learning rate scheduler (CosineAnnealingLR, OneCycleLR) to improve convergence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Implement a validation loop, track best model, and save checkpoints with full training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Training Loop: Step by Step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62400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Six Lines Every PyTorch Training Loop Must Have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epoch in range(num_epochs):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model.train()                              # 1. Set training mode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for batch_x, batch_y in train_loader: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batch_x = batch_x.to(device)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batch_y = batch_y.to(device)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optimizer.zero_grad()                  # 2. Clear old gradients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predictions = model(batch_x)           # 3. Forward pass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loss = criterion(predictions, batch_y) # 4. Compute 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loss.backward()                        # 5. Compute gradients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optimizer.step()                       # 6. Update weights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Each Step Matters — Common Mistakes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zero_grad() BEFORE backward: gradients accumulate. Without clearing, step N uses gradients from steps 1 through N combined.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model.train() at the start of each epoch: Dropout and BatchNorm behave differently in train vs eval — forgetting this gives misleading results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loss.backward() before optimizer.step(): the optimiser needs the gradients that backward just computed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Move data to device BEFORE the forward pass: if model is on CUDA and data is on CPU, you get a runtime error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Training Loop Tutorial; Goodfellow et al., Deep Learning (2016), Chapter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>
          <a:extLst>
            <a:ext uri="{FF2B5EF4-FFF2-40B4-BE49-F238E27FC236}">
              <a16:creationId xmlns:a16="http://schemas.microsoft.com/office/drawing/2014/main" id="{165091A9-8A69-A2F8-116E-4FBF22C77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>
            <a:extLst>
              <a:ext uri="{FF2B5EF4-FFF2-40B4-BE49-F238E27FC236}">
                <a16:creationId xmlns:a16="http://schemas.microsoft.com/office/drawing/2014/main" id="{358150C8-CE26-B6D0-D5F7-503C860CFF6B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>
            <a:extLst>
              <a:ext uri="{FF2B5EF4-FFF2-40B4-BE49-F238E27FC236}">
                <a16:creationId xmlns:a16="http://schemas.microsoft.com/office/drawing/2014/main" id="{2F892C72-8C74-035D-5694-88DF022EA1D0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>
            <a:extLst>
              <a:ext uri="{FF2B5EF4-FFF2-40B4-BE49-F238E27FC236}">
                <a16:creationId xmlns:a16="http://schemas.microsoft.com/office/drawing/2014/main" id="{F30FDF3A-1157-DBA9-6F85-C37BE80799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The Training Loop: Step by Step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6C4EF6B9-C715-B6D0-4741-73310E858B92}"/>
              </a:ext>
            </a:extLst>
          </p:cNvPr>
          <p:cNvSpPr txBox="1"/>
          <p:nvPr/>
        </p:nvSpPr>
        <p:spPr>
          <a:xfrm>
            <a:off x="311700" y="762400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Complete Training Step — Annotated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optimizer.zero_grad(set_to_none=True)   # faster than zero_grad()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with torch.cuda.amp.autocast():          # optional: mixed precision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logits = model(x)                    # forward pass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loss   = F.cross_entropy(logits, y)  # loss function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scaler.scale(loss).backward()            # backward through scaled 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torch.nn.utils.clip_grad_norm_(          # gradient clipping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 max_norm=1.0)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scaler.step(optimizer)                   # optimiser step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scaler.update()                          # update loss scale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This pattern — AMP + clipping + scaler — is the production-grade training step used in LLM training.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DFF881FA-E63A-EC92-4405-681DBABD7A57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Training Loop Tutorial; Goodfellow et al., Deep Learning (2016), Chapter 8</a:t>
            </a:r>
          </a:p>
        </p:txBody>
      </p:sp>
    </p:spTree>
    <p:extLst>
      <p:ext uri="{BB962C8B-B14F-4D97-AF65-F5344CB8AC3E}">
        <p14:creationId xmlns:p14="http://schemas.microsoft.com/office/powerpoint/2010/main" val="737338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Optimisers: How Weights Are Updated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Kingma &amp; Ba, Adam: A Method for Stochastic Optimisation, ICLR 2015; Loshchilov, Decoupled Weight Decay, ICLR 2019</a:t>
            </a:r>
          </a:p>
        </p:txBody>
      </p:sp>
      <p:sp>
        <p:nvSpPr>
          <p:cNvPr id="4" name="L">
            <a:extLst>
              <a:ext uri="{FF2B5EF4-FFF2-40B4-BE49-F238E27FC236}">
                <a16:creationId xmlns:a16="http://schemas.microsoft.com/office/drawing/2014/main" id="{B52CA7DE-2AE0-170E-3ECE-474628D65816}"/>
              </a:ext>
            </a:extLst>
          </p:cNvPr>
          <p:cNvSpPr txBox="1"/>
          <p:nvPr/>
        </p:nvSpPr>
        <p:spPr>
          <a:xfrm>
            <a:off x="484207" y="76240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Stochastic Gradient Descent (SGD)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</a:t>
            </a:r>
            <a:r>
              <a:rPr lang="en-US" sz="1050" b="0" i="1" dirty="0" err="1">
                <a:solidFill>
                  <a:srgbClr val="1F3864"/>
                </a:solidFill>
                <a:latin typeface="Consolas"/>
              </a:rPr>
              <a:t>torch.optim.SGD</a:t>
            </a: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</a:t>
            </a:r>
            <a:r>
              <a:rPr lang="en-US" sz="1050" b="0" i="1" dirty="0" err="1">
                <a:solidFill>
                  <a:srgbClr val="1F3864"/>
                </a:solidFill>
                <a:latin typeface="Consolas"/>
              </a:rPr>
              <a:t>model.parameters</a:t>
            </a: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</a:t>
            </a:r>
            <a:r>
              <a:rPr lang="en-US" sz="1050" b="0" i="1" dirty="0" err="1">
                <a:solidFill>
                  <a:srgbClr val="1F3864"/>
                </a:solidFill>
                <a:latin typeface="Consolas"/>
              </a:rPr>
              <a:t>lr</a:t>
            </a: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=0.01,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momentum=0.9,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</a:t>
            </a:r>
            <a:r>
              <a:rPr lang="en-US" sz="1050" b="0" i="1" dirty="0" err="1">
                <a:solidFill>
                  <a:srgbClr val="1F3864"/>
                </a:solidFill>
                <a:latin typeface="Consolas"/>
              </a:rPr>
              <a:t>weight_decay</a:t>
            </a: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=1e-4,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</a:t>
            </a:r>
            <a:r>
              <a:rPr lang="en-US" sz="1050" b="0" i="1" dirty="0" err="1">
                <a:solidFill>
                  <a:srgbClr val="1F3864"/>
                </a:solidFill>
                <a:latin typeface="Consolas"/>
              </a:rPr>
              <a:t>nesterov</a:t>
            </a: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Update rule: w = w - 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lr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* (grad + momentum * 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prev_update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momentum=0.9: carries 90% of the previous update — smooths noisy gradients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weight_decay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: L2 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regularisation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— adds 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lr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* 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weight_decay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* w to the gradient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Good for: CNNs on vision tasks with careful LR tuning (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ResNet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 ImageNet = SGD + </a:t>
            </a:r>
            <a:r>
              <a:rPr lang="en-US" sz="1250" b="0" dirty="0" err="1">
                <a:solidFill>
                  <a:srgbClr val="000000"/>
                </a:solidFill>
                <a:latin typeface="Helvetica Neue"/>
              </a:rPr>
              <a:t>OneCycle</a:t>
            </a: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)</a:t>
            </a:r>
          </a:p>
        </p:txBody>
      </p:sp>
      <p:sp>
        <p:nvSpPr>
          <p:cNvPr id="5" name="L">
            <a:extLst>
              <a:ext uri="{FF2B5EF4-FFF2-40B4-BE49-F238E27FC236}">
                <a16:creationId xmlns:a16="http://schemas.microsoft.com/office/drawing/2014/main" id="{FB71D5F4-1AE9-A1CF-F3E8-23E586BEB19E}"/>
              </a:ext>
            </a:extLst>
          </p:cNvPr>
          <p:cNvSpPr txBox="1"/>
          <p:nvPr/>
        </p:nvSpPr>
        <p:spPr>
          <a:xfrm>
            <a:off x="4720553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Adam: Adaptive Learning Rates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torch.optim.Adam(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lr=1e-3,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betas=(0.9, 0.999),   # momentum decay rates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eps=1e-8,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weight_decay=1e-2,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Maintains per-parameter adaptive learning rates based on gradient history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betas=(0.9, 0.999): first/second moment decay; rarely changed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Usually works well without tuning — the default for NLP, generative models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>
          <a:extLst>
            <a:ext uri="{FF2B5EF4-FFF2-40B4-BE49-F238E27FC236}">
              <a16:creationId xmlns:a16="http://schemas.microsoft.com/office/drawing/2014/main" id="{5EBF0C4F-E273-0C89-E2B1-ED8EDA194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>
            <a:extLst>
              <a:ext uri="{FF2B5EF4-FFF2-40B4-BE49-F238E27FC236}">
                <a16:creationId xmlns:a16="http://schemas.microsoft.com/office/drawing/2014/main" id="{CEA4C50A-1137-E28A-FAE3-1D8E9E7FA459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>
            <a:extLst>
              <a:ext uri="{FF2B5EF4-FFF2-40B4-BE49-F238E27FC236}">
                <a16:creationId xmlns:a16="http://schemas.microsoft.com/office/drawing/2014/main" id="{A3D7281A-8659-E31B-FA95-DE5FBB5BEFFC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>
            <a:extLst>
              <a:ext uri="{FF2B5EF4-FFF2-40B4-BE49-F238E27FC236}">
                <a16:creationId xmlns:a16="http://schemas.microsoft.com/office/drawing/2014/main" id="{953F0F48-8EE8-9DC6-FDD8-194B4F1769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Optimisers: How Weights Are Updated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B7B30029-7308-8F2B-6F73-C27991B47862}"/>
              </a:ext>
            </a:extLst>
          </p:cNvPr>
          <p:cNvSpPr txBox="1"/>
          <p:nvPr/>
        </p:nvSpPr>
        <p:spPr>
          <a:xfrm>
            <a:off x="471100" y="8656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AdamW: The Standard for Modern Deep Learning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 = torch.optim.AdamW(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model.parameters(),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lr=3e-4,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weight_decay=0.1,  # higher than Adam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fused=True,        # faster on CUDA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Difference from Adam: weight decay is applied directly to weights, not added to gradients — this is the mathematically correct form of L2 regularisation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Use AdamW by default for: LLMs, ViT, BERT, diffusion models — almost everything modern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Typical LR: 1e-4 to 3e-4; weight_decay: 0.01 to 0.1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5DCFA204-B603-DD7E-4B94-09BAD296B390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Kingma &amp; Ba, Adam: A Method for Stochastic Optimisation, ICLR 2015; Loshchilov, Decoupled Weight Decay, ICLR 2019</a:t>
            </a: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6DCF7402-774A-E150-9D58-B6D518357C2A}"/>
              </a:ext>
            </a:extLst>
          </p:cNvPr>
          <p:cNvSpPr txBox="1"/>
          <p:nvPr/>
        </p:nvSpPr>
        <p:spPr>
          <a:xfrm>
            <a:off x="4651700" y="8656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Learning Rate Schedulers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Cosine Annealing: smoothly decays LR to 0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 = torch.optim.lr_scheduler.CosineAnnealingLR(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optimizer, T_max=num_epochs)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OneCycleLR: warm up then cosine decay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 = torch.optim.lr_scheduler.OneCycleLR(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optimizer,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max_lr=3e-4,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total_steps=len(loader)*epochs)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Call after each step (not each epoch for OneCycle)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scheduler.step()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Linear warmup + cosine decay: standard for Transformer training</a:t>
            </a:r>
          </a:p>
        </p:txBody>
      </p:sp>
    </p:spTree>
    <p:extLst>
      <p:ext uri="{BB962C8B-B14F-4D97-AF65-F5344CB8AC3E}">
        <p14:creationId xmlns:p14="http://schemas.microsoft.com/office/powerpoint/2010/main" val="317908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Loss Functions: Matching the Task to the Criterion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29436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Classification: CrossEntropyLoss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nn.CrossEntropyLoss()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logits = model(x)          # shape (B, num_classes), raw scores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   = criterion(logits, labels)  # labels: (B,) integers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Takes raw logits (not softmax output) — applies log_softmax internally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label_smoothing=0.1: softens hard labels, reduces overconfidence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weight parameter: up-weights rare classes for imbalanced datasets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Binary Classification: BCEWithLogitsLoss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nn.BCEWithLogitsLoss()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logits = model(x).squeeze()   # shape (B,)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labels = labels.float()       # must be float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   = criterion(logits, labels)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Numerically stable: combines sigmoid + BCE in one operation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Use when output is a single probability (yes/no, real/fake)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Regression: MSELoss and L1Loss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nn.MSELoss()    # mean squared error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nn.L1Loss()     # mean absolute error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nn.HuberLoss()  # smooth L1 (robust to outliers)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MSE: penalises large errors heavily — sensitive to outliers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L1 (MAE): more robust to outliers; non-differentiable at 0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Huber: L2 near zero, L1 for large errors — best of both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12954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Sequence Modelling: Cross-Entropy with Ignore Index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criterion = nn.CrossEntropyLoss(ignore_index=0)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ignore_index=0: padding tokens do not contribute to 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logits = model(input_ids)  # (B, T, vocab_size)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Reshape for criterion: (B*T, vocab) and (B*T,)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loss = criterion(logits.view(-1, V), targets.view(-1))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Custom Loss Functions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def focal_loss(logits, targets, gamma=2.0):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      = torch.sigmoid(logits)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ce     = F.binary_cross_entropy_with_logits(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  logits, targets, reduction='none')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weight = (1 - p)**gamma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return (weight * ce).mean()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Any differentiable function of tensors works as a loss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can backpropagate through it automatically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Loss Function Selection Guide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Task                    Loss function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Multi-class classify    CrossEntropyLoss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Binary classify         BCEWithLogitsLoss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Regression              MSELoss or HuberLoss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Language modelling      CrossEntropyLoss + ignore_index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Contrastive (CLIP)      InfoNCE / cosine similarity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Object detection        FocalLoss + GIoU + L1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Loss Functions Reference (pytorch.org/docs/stable/nn.html#loss-functions)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Validation Loop, Checkpointing &amp; Complete Training Template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Validation Loop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def evaluate(model, loader, criterion, device):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model.eval()                         # CRITICAL: disable Dropout/BatchNorm train mode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total_loss, correct, total = 0, 0, 0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with torch.no_grad():                # CRITICAL: no gradient computation needed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for x, y in 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x, y = x.to(device), 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logits = model(x)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total_loss += criterion(logits, y).item() * x.size(0)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correct    += (logits.argmax(1) == y).sum().item()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total      += x.size(0)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return total_loss/total, correct/total   # avg loss, accuracy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Checkpointing: Saving Full Training State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checkpoint = {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'epoch'     : epoch,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'model'     : model.state_dict(),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'optimizer' : optimizer.state_dict(),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'scheduler' : scheduler.state_dict(),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'scaler'    : scaler.state_dict(),    # AMP loss scale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'val_loss'  : val_loss,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'val_acc'   : val_acc,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}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torch.save(checkpoint, f'checkpoint_epoch{epoch:03d}.</a:t>
            </a:r>
            <a:r>
              <a:rPr lang="en-US" sz="1050" b="0" i="1" dirty="0" err="1">
                <a:solidFill>
                  <a:srgbClr val="1F3864"/>
                </a:solidFill>
                <a:latin typeface="Consolas"/>
              </a:rPr>
              <a:t>pth</a:t>
            </a: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')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Checkpointing Tutorial; He et al., Deep Residual Learning for Image Recognition, CVPR 2016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>
          <a:extLst>
            <a:ext uri="{FF2B5EF4-FFF2-40B4-BE49-F238E27FC236}">
              <a16:creationId xmlns:a16="http://schemas.microsoft.com/office/drawing/2014/main" id="{105ED3AC-78FA-716B-4FCB-60EB7ABB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>
            <a:extLst>
              <a:ext uri="{FF2B5EF4-FFF2-40B4-BE49-F238E27FC236}">
                <a16:creationId xmlns:a16="http://schemas.microsoft.com/office/drawing/2014/main" id="{D5CE65E9-C230-217E-32DE-2AAA64F17377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>
            <a:extLst>
              <a:ext uri="{FF2B5EF4-FFF2-40B4-BE49-F238E27FC236}">
                <a16:creationId xmlns:a16="http://schemas.microsoft.com/office/drawing/2014/main" id="{E0C68708-8ABC-E73E-27C8-D0B5C126ADE5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>
            <a:extLst>
              <a:ext uri="{FF2B5EF4-FFF2-40B4-BE49-F238E27FC236}">
                <a16:creationId xmlns:a16="http://schemas.microsoft.com/office/drawing/2014/main" id="{28F489A3-2163-B203-13F4-5907D5C35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Validation Loop, Checkpointing &amp; Complete Training Template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434A98B0-3D57-946D-CBDF-0CA44B2C324E}"/>
              </a:ext>
            </a:extLst>
          </p:cNvPr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Resuming from Checkpoint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ckpt = torch.load('checkpoint_epoch005.pth', map_location=device)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model.load_state_dict(ckpt['model'])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optimizer.load_state_dict(ckpt['optimizer'])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scheduler.load_state_dict(ckpt['scheduler'])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start_epoch = ckpt['epoch'] + 1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Tracking Best Model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Save a separate checkpoint whenever validation loss improves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Load best checkpoint at the end of training for final evaluation and deployment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if val_loss &lt; best_val_loss: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best_val_loss = val_loss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torch.save(model.state_dict(), 'best_model.pth')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592EE161-E07F-3772-D130-19AE314E34A3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Checkpointing Tutorial; He et al., Deep Residual Learning for Image Recognition, CVPR 2016</a:t>
            </a:r>
          </a:p>
        </p:txBody>
      </p:sp>
    </p:spTree>
    <p:extLst>
      <p:ext uri="{BB962C8B-B14F-4D97-AF65-F5344CB8AC3E}">
        <p14:creationId xmlns:p14="http://schemas.microsoft.com/office/powerpoint/2010/main" val="105374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3 Summary: The Training Loop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six required training steps are: model.train() → zero_grad() → forward pass → loss computation → loss.backward() → optimizer.step(). Missing or reordering any step produces silently wrong results.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AdamW is the default optimiser for modern deep learning: it correctly decouples weight decay from the gradient update. Use lr=3e-4 and weight_decay=0.1 as starting points.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Match loss to task: CrossEntropyLoss for multi-class classification; BCEWithLogitsLoss for binary; MSELoss for regression; CrossEntropyLoss with ignore_index for language modelling.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The validation loop requires model.eval() and torch.no_grad() — without these, Dropout is active and gradients consume memory unnecessarily, giving wrong metrics.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Save a full checkpoint dictionary containing model, optimizer, scheduler, and scaler state — not just model weights — to enable exact training resumption after interruption.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2109</Words>
  <Application>Microsoft Office PowerPoint</Application>
  <PresentationFormat>On-screen Show (16:9)</PresentationFormat>
  <Paragraphs>204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Display</vt:lpstr>
      <vt:lpstr>Consolas</vt:lpstr>
      <vt:lpstr>Helvetica Neue</vt:lpstr>
      <vt:lpstr>Arial</vt:lpstr>
      <vt:lpstr>Simple Light</vt:lpstr>
      <vt:lpstr>NPTEL</vt:lpstr>
      <vt:lpstr>Segment 3: The Standard Training Loop The heartbeat of AI training — forward pass, loss, backward pass, optimiser step — repeated millions of times</vt:lpstr>
      <vt:lpstr>Learning Objectives — Segment 3</vt:lpstr>
      <vt:lpstr>The Training Loop: Step by Step</vt:lpstr>
      <vt:lpstr>The Training Loop: Step by Step</vt:lpstr>
      <vt:lpstr>Optimisers: How Weights Are Updated</vt:lpstr>
      <vt:lpstr>Optimisers: How Weights Are Updated</vt:lpstr>
      <vt:lpstr>Loss Functions: Matching the Task to the Criterion</vt:lpstr>
      <vt:lpstr>Validation Loop, Checkpointing &amp; Complete Training Template</vt:lpstr>
      <vt:lpstr>Validation Loop, Checkpointing &amp; Complete Training Template</vt:lpstr>
      <vt:lpstr>Segment 3 Summary: The Training Loop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64</cp:revision>
  <dcterms:modified xsi:type="dcterms:W3CDTF">2026-03-24T07:50:25Z</dcterms:modified>
</cp:coreProperties>
</file>