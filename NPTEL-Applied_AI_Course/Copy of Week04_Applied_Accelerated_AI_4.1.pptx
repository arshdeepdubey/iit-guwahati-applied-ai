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503" r:id="rId2"/>
    <p:sldId id="576" r:id="rId3"/>
    <p:sldId id="577" r:id="rId4"/>
    <p:sldId id="578" r:id="rId5"/>
    <p:sldId id="579" r:id="rId6"/>
    <p:sldId id="257" r:id="rId7"/>
    <p:sldId id="258" r:id="rId8"/>
    <p:sldId id="580" r:id="rId9"/>
    <p:sldId id="581" r:id="rId10"/>
    <p:sldId id="582" r:id="rId11"/>
    <p:sldId id="583" r:id="rId12"/>
    <p:sldId id="575" r:id="rId13"/>
  </p:sldIdLst>
  <p:sldSz cx="9144000" cy="5143500" type="screen16x9"/>
  <p:notesSz cx="6858000" cy="9144000"/>
  <p:embeddedFontLst>
    <p:embeddedFont>
      <p:font typeface="Aptos Mono" panose="020B0009020202020204" pitchFamily="49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Helvetica Neue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06A02D-9255-4416-AC49-59535D0934EA}">
  <a:tblStyle styleId="{D806A02D-9255-4416-AC49-59535D0934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16" autoAdjust="0"/>
  </p:normalViewPr>
  <p:slideViewPr>
    <p:cSldViewPr snapToGrid="0">
      <p:cViewPr varScale="1">
        <p:scale>
          <a:sx n="85" d="100"/>
          <a:sy n="85" d="100"/>
        </p:scale>
        <p:origin x="73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3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D6F4C5A-0F16-CAEB-F9A0-89E07EFC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9728a67a9_0_0:notes">
            <a:extLst>
              <a:ext uri="{FF2B5EF4-FFF2-40B4-BE49-F238E27FC236}">
                <a16:creationId xmlns:a16="http://schemas.microsoft.com/office/drawing/2014/main" id="{D6E07447-48E4-F260-B870-FFDC4E2B1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9728a67a9_0_0:notes">
            <a:extLst>
              <a:ext uri="{FF2B5EF4-FFF2-40B4-BE49-F238E27FC236}">
                <a16:creationId xmlns:a16="http://schemas.microsoft.com/office/drawing/2014/main" id="{7E91C570-1A55-E508-774F-CB0385593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844430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PyTorch Tensor.view docs: https://docs.pytorch.org/docs/stable/generated/torch.Tensor.view.html
- PyTorch Tensor.reshape docs: https://docs.pytorch.org/docs/stable/generated/torch.Tensor.reshape.html
- PyTorch unsqueeze docs: https://docs.pytorch.org/docs/stable/generated/torch.unsqueeze.html
- PyTorch squeeze docs: https://docs.pytorch.org/docs/stable/generated/torch.squeeze.html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PyTorch permute docs: https://docs.pytorch.org/docs/stable/generated/torch.permute.html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091D6EE-AD7C-B43E-6EBF-0B4A5C39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c36cb48a_0_385:notes">
            <a:extLst>
              <a:ext uri="{FF2B5EF4-FFF2-40B4-BE49-F238E27FC236}">
                <a16:creationId xmlns:a16="http://schemas.microsoft.com/office/drawing/2014/main" id="{C1AC57D6-B898-DA50-56B9-B0E81946F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c36cb48a_0_385:notes">
            <a:extLst>
              <a:ext uri="{FF2B5EF4-FFF2-40B4-BE49-F238E27FC236}">
                <a16:creationId xmlns:a16="http://schemas.microsoft.com/office/drawing/2014/main" id="{9983218A-2FFB-E795-496F-E2CADAA5A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88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31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122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0038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60" r:id="rId4"/>
    <p:sldLayoutId id="2147483663" r:id="rId5"/>
    <p:sldLayoutId id="214748366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F8CCE8A-313F-6E36-7C5B-32B2DCBC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4CAC84-5A4B-F67B-5393-ADA47A8208BD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CB5876-1344-2B3D-88CD-A01C4EB051A6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10" name="Google Shape;100;p13">
            <a:extLst>
              <a:ext uri="{FF2B5EF4-FFF2-40B4-BE49-F238E27FC236}">
                <a16:creationId xmlns:a16="http://schemas.microsoft.com/office/drawing/2014/main" id="{11AC39AB-8187-B2C4-BCE2-25603F3166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NPTEL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Google Shape;101;p13">
            <a:extLst>
              <a:ext uri="{FF2B5EF4-FFF2-40B4-BE49-F238E27FC236}">
                <a16:creationId xmlns:a16="http://schemas.microsoft.com/office/drawing/2014/main" id="{9BC1CA05-7B56-F729-7729-976FFD6240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>
                <a:solidFill>
                  <a:schemeClr val="tx1"/>
                </a:solidFill>
                <a:latin typeface="Aptos Display" panose="020B0004020202020204" pitchFamily="34" charset="0"/>
              </a:rPr>
              <a:t>Applied Accelerated Artificial Intelligence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13" name="Google Shape;103;p13">
            <a:extLst>
              <a:ext uri="{FF2B5EF4-FFF2-40B4-BE49-F238E27FC236}">
                <a16:creationId xmlns:a16="http://schemas.microsoft.com/office/drawing/2014/main" id="{8F67DB8A-D21C-4952-D794-E5E62719C58A}"/>
              </a:ext>
            </a:extLst>
          </p:cNvPr>
          <p:cNvCxnSpPr/>
          <p:nvPr/>
        </p:nvCxnSpPr>
        <p:spPr>
          <a:xfrm>
            <a:off x="790550" y="4169500"/>
            <a:ext cx="725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4;p13">
            <a:extLst>
              <a:ext uri="{FF2B5EF4-FFF2-40B4-BE49-F238E27FC236}">
                <a16:creationId xmlns:a16="http://schemas.microsoft.com/office/drawing/2014/main" id="{60B22ADA-D87B-5B41-C735-9F7F595D022A}"/>
              </a:ext>
            </a:extLst>
          </p:cNvPr>
          <p:cNvSpPr txBox="1">
            <a:spLocks/>
          </p:cNvSpPr>
          <p:nvPr/>
        </p:nvSpPr>
        <p:spPr>
          <a:xfrm>
            <a:off x="311700" y="331592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Instructor: Dr. Satyajit Das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Dept. of Computer Science and Engineering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Indian Institute of Technology Guwahati, Assam, India</a:t>
            </a:r>
          </a:p>
        </p:txBody>
      </p:sp>
      <p:pic>
        <p:nvPicPr>
          <p:cNvPr id="15" name="Picture 14" descr="A logo with a symbol in the middle  AI-generated content may be incorrect.">
            <a:extLst>
              <a:ext uri="{FF2B5EF4-FFF2-40B4-BE49-F238E27FC236}">
                <a16:creationId xmlns:a16="http://schemas.microsoft.com/office/drawing/2014/main" id="{A76A753D-76B9-B3B1-958A-E7E9C98C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24" y="275125"/>
            <a:ext cx="1512351" cy="15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9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tl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Week 04: PyTorch for Accelerated Training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Seg 1: Tensors &amp; Autograd | Seg 2: Building Models with nn.Module | Seg 3: The Training Loop | Seg 4: DataLoader &amp; Data Pipeline | Seg 5: First Steps in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tl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Segment 1: PyTorch Tensors, Autograd &amp; the Computational Graph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The mathematical building block of every neural network — and how PyTorch tracks every operation to compute gradients automatically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Learning Objectives — Segment 1</a:t>
            </a:r>
          </a:p>
        </p:txBody>
      </p:sp>
      <p:sp>
        <p:nvSpPr>
          <p:cNvPr id="202" name="N1"/>
          <p:cNvSpPr txBox="1"/>
          <p:nvPr/>
        </p:nvSpPr>
        <p:spPr>
          <a:xfrm>
            <a:off x="366025" y="1149552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01</a:t>
            </a:r>
          </a:p>
        </p:txBody>
      </p:sp>
      <p:sp>
        <p:nvSpPr>
          <p:cNvPr id="203" name="T1"/>
          <p:cNvSpPr txBox="1"/>
          <p:nvPr/>
        </p:nvSpPr>
        <p:spPr>
          <a:xfrm>
            <a:off x="824742" y="1149552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Create tensors of any shape, dtype, and device using torch.tensor, torch.zeros, torch.randn, and torch.arange</a:t>
            </a:r>
          </a:p>
        </p:txBody>
      </p:sp>
      <p:sp>
        <p:nvSpPr>
          <p:cNvPr id="204" name="N2"/>
          <p:cNvSpPr txBox="1"/>
          <p:nvPr/>
        </p:nvSpPr>
        <p:spPr>
          <a:xfrm>
            <a:off x="366025" y="1590779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02</a:t>
            </a:r>
          </a:p>
        </p:txBody>
      </p:sp>
      <p:sp>
        <p:nvSpPr>
          <p:cNvPr id="205" name="T2"/>
          <p:cNvSpPr txBox="1"/>
          <p:nvPr/>
        </p:nvSpPr>
        <p:spPr>
          <a:xfrm>
            <a:off x="824742" y="1590779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Perform arithmetic, broadcasting, slicing, reshaping, and reduction operations on tensors</a:t>
            </a:r>
          </a:p>
        </p:txBody>
      </p:sp>
      <p:sp>
        <p:nvSpPr>
          <p:cNvPr id="206" name="N3"/>
          <p:cNvSpPr txBox="1"/>
          <p:nvPr/>
        </p:nvSpPr>
        <p:spPr>
          <a:xfrm>
            <a:off x="366025" y="2032006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03</a:t>
            </a:r>
          </a:p>
        </p:txBody>
      </p:sp>
      <p:sp>
        <p:nvSpPr>
          <p:cNvPr id="207" name="T3"/>
          <p:cNvSpPr txBox="1"/>
          <p:nvPr/>
        </p:nvSpPr>
        <p:spPr>
          <a:xfrm>
            <a:off x="824742" y="2032006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Explain what requires_grad=True does and how PyTorch builds a dynamic computational graph during the forward pass</a:t>
            </a:r>
          </a:p>
        </p:txBody>
      </p:sp>
      <p:sp>
        <p:nvSpPr>
          <p:cNvPr id="208" name="N4"/>
          <p:cNvSpPr txBox="1"/>
          <p:nvPr/>
        </p:nvSpPr>
        <p:spPr>
          <a:xfrm>
            <a:off x="366025" y="2473233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04</a:t>
            </a:r>
          </a:p>
        </p:txBody>
      </p:sp>
      <p:sp>
        <p:nvSpPr>
          <p:cNvPr id="209" name="T4"/>
          <p:cNvSpPr txBox="1"/>
          <p:nvPr/>
        </p:nvSpPr>
        <p:spPr>
          <a:xfrm>
            <a:off x="824742" y="2473233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Call .backward() on a scalar loss and read per-parameter gradients from .grad attributes</a:t>
            </a:r>
          </a:p>
        </p:txBody>
      </p:sp>
      <p:sp>
        <p:nvSpPr>
          <p:cNvPr id="210" name="N5"/>
          <p:cNvSpPr txBox="1"/>
          <p:nvPr/>
        </p:nvSpPr>
        <p:spPr>
          <a:xfrm>
            <a:off x="366025" y="2914460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05</a:t>
            </a:r>
          </a:p>
        </p:txBody>
      </p:sp>
      <p:sp>
        <p:nvSpPr>
          <p:cNvPr id="211" name="T5"/>
          <p:cNvSpPr txBox="1"/>
          <p:nvPr/>
        </p:nvSpPr>
        <p:spPr>
          <a:xfrm>
            <a:off x="824742" y="291446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Distinguish between leaf tensors, non-leaf tensors, and detached tensors; understand when to use torch.no_grad()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PyTorch Tensors: The N-Dimensional Array at the Core of AI</a:t>
            </a:r>
          </a:p>
        </p:txBody>
      </p:sp>
      <p:sp>
        <p:nvSpPr>
          <p:cNvPr id="10" name="L"/>
          <p:cNvSpPr txBox="1"/>
          <p:nvPr/>
        </p:nvSpPr>
        <p:spPr>
          <a:xfrm>
            <a:off x="311700" y="729436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Creating Tensors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torch.tensor([1,2,3]): from Python list — copies data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torch.zeros(3, 4): 3×4 matrix of zeros (float32 default)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torch.ones(2, 3, 4): 2×3×4 tensor of ones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torch.randn(B, C, H, W): standard normal — used to initialise weights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torch.arange(0, 10, 2): [0, 2, 4, 6, 8] — like Python range()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torch.linspace(0, 1, 100): 100 evenly spaced values between 0 and 1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Data Types (dtype)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torch.float32: default for model weights — 4 bytes per element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torch.float16 / torch.bfloat16: half precision — for GPU training (2 bytes)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torch.int64: default for integer tensors — used for class labels and indices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torch.bool: True/False masks — used in attention masking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Convert: x.to(torch.float16) or x.float() / x.long() / x.bool()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Device Placement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 = torch.randn(3,3)  # lives in CPU RAM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 = x.to('cuda')      # move to GPU HBM — returns NEW tensor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 = x.cuda()          # shorthand equivalent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 = x.to('cuda:1')    # specific GPU index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x.device              # shows current device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torch.device('cuda' if torch.cuda.is_available() else 'cpu')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1700" y="656850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Shape, Stride, and Contiguity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x.shape  or  x.size(): returns torch.Size([...])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x.ndim: number of dimensions (same as len(x.shape))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x.numel(): total number of elements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x.dtype, x.device: inspect dtype and device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Essential Tensor Operations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 + y, x - y, x * y: elementwise (broadcast if shapes differ)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 @ y  or  torch.matmul(x,y): matrix multiplication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torch.sum(x), x.mean(), x.max(), x.min()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torch.sum(x, dim=0): reduce along a specific dimension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x.T  or  x.transpose(0,1): transpose (2D or n-D)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Reshaping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x.view(2, -1): reshape; -1 infers the size; shares memory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x.reshape(2, -1): like view but copies if needed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x.unsqueeze(0): adds a dimension at position 0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x.squeeze(): removes all dimensions of size 1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x.permute(2, 0, 1): rearrange dimensions — critical for image (H,W,C) to (C,H,W)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Indexing and Slicing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x[0]: first row; x[-1]: last row; x[1:3]: slice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x[x &gt; 0]: boolean mask — selects elements satisfying condition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x[:, 0]: all rows, first column (like NumPy)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Documentation: torch.Tensor (pytorch.org/docs/stable/tensors.html)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1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1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1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102870"/>
          </a:xfrm>
          <a:prstGeom prst="rect">
            <a:avLst/>
          </a:prstGeom>
          <a:solidFill>
            <a:srgbClr val="173F7A"/>
          </a:solidFill>
          <a:ln w="12700">
            <a:solidFill>
              <a:srgbClr val="173F7A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" name="Text 1"/>
          <p:cNvSpPr/>
          <p:nvPr/>
        </p:nvSpPr>
        <p:spPr>
          <a:xfrm>
            <a:off x="425196" y="240030"/>
            <a:ext cx="60350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0F2F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Reshaping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25196" y="562356"/>
            <a:ext cx="7886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3" dirty="0">
                <a:solidFill>
                  <a:srgbClr val="7D8798"/>
                </a:solidFill>
              </a:rPr>
              <a:t>Same elements, new shape or new axis interpretation</a:t>
            </a:r>
            <a:endParaRPr lang="en-US" sz="863" dirty="0"/>
          </a:p>
        </p:txBody>
      </p:sp>
      <p:sp>
        <p:nvSpPr>
          <p:cNvPr id="5" name="Shape 3"/>
          <p:cNvSpPr/>
          <p:nvPr/>
        </p:nvSpPr>
        <p:spPr>
          <a:xfrm>
            <a:off x="445770" y="809244"/>
            <a:ext cx="1248156" cy="288036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500634" y="843534"/>
            <a:ext cx="1330452" cy="142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1E243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x.view(2, -1)</a:t>
            </a:r>
            <a:endParaRPr lang="en-US" sz="1163" dirty="0"/>
          </a:p>
        </p:txBody>
      </p:sp>
      <p:sp>
        <p:nvSpPr>
          <p:cNvPr id="7" name="Shape 5"/>
          <p:cNvSpPr/>
          <p:nvPr/>
        </p:nvSpPr>
        <p:spPr>
          <a:xfrm>
            <a:off x="720090" y="1138428"/>
            <a:ext cx="1110996" cy="706374"/>
          </a:xfrm>
          <a:prstGeom prst="roundRect">
            <a:avLst>
              <a:gd name="adj" fmla="val 4854"/>
            </a:avLst>
          </a:prstGeom>
          <a:solidFill>
            <a:srgbClr val="F4F6F9"/>
          </a:solidFill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" name="Shape 6"/>
          <p:cNvSpPr/>
          <p:nvPr/>
        </p:nvSpPr>
        <p:spPr>
          <a:xfrm>
            <a:off x="754380" y="1172718"/>
            <a:ext cx="260604" cy="212598"/>
          </a:xfrm>
          <a:prstGeom prst="rect">
            <a:avLst/>
          </a:prstGeom>
          <a:solidFill>
            <a:srgbClr val="F4A340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Text 7"/>
          <p:cNvSpPr/>
          <p:nvPr/>
        </p:nvSpPr>
        <p:spPr>
          <a:xfrm>
            <a:off x="754380" y="1198230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014984" y="1172718"/>
            <a:ext cx="260604" cy="212598"/>
          </a:xfrm>
          <a:prstGeom prst="rect">
            <a:avLst/>
          </a:prstGeom>
          <a:solidFill>
            <a:srgbClr val="65C18C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" name="Text 9"/>
          <p:cNvSpPr/>
          <p:nvPr/>
        </p:nvSpPr>
        <p:spPr>
          <a:xfrm>
            <a:off x="1014984" y="1198230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14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275588" y="1172718"/>
            <a:ext cx="260604" cy="212598"/>
          </a:xfrm>
          <a:prstGeom prst="rect">
            <a:avLst/>
          </a:prstGeom>
          <a:solidFill>
            <a:srgbClr val="5DA9E9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" name="Text 11"/>
          <p:cNvSpPr/>
          <p:nvPr/>
        </p:nvSpPr>
        <p:spPr>
          <a:xfrm>
            <a:off x="1275588" y="1198230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15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536192" y="1172718"/>
            <a:ext cx="260604" cy="212598"/>
          </a:xfrm>
          <a:prstGeom prst="rect">
            <a:avLst/>
          </a:prstGeom>
          <a:solidFill>
            <a:srgbClr val="F2D5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" name="Text 13"/>
          <p:cNvSpPr/>
          <p:nvPr/>
        </p:nvSpPr>
        <p:spPr>
          <a:xfrm>
            <a:off x="1536192" y="1198230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16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54380" y="1385316"/>
            <a:ext cx="260604" cy="212598"/>
          </a:xfrm>
          <a:prstGeom prst="rect">
            <a:avLst/>
          </a:prstGeom>
          <a:solidFill>
            <a:srgbClr val="F4A340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7" name="Text 15"/>
          <p:cNvSpPr/>
          <p:nvPr/>
        </p:nvSpPr>
        <p:spPr>
          <a:xfrm>
            <a:off x="754380" y="1410828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17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014984" y="1385316"/>
            <a:ext cx="260604" cy="212598"/>
          </a:xfrm>
          <a:prstGeom prst="rect">
            <a:avLst/>
          </a:prstGeom>
          <a:solidFill>
            <a:srgbClr val="65C18C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9" name="Text 17"/>
          <p:cNvSpPr/>
          <p:nvPr/>
        </p:nvSpPr>
        <p:spPr>
          <a:xfrm>
            <a:off x="1014984" y="1410828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18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275588" y="1385316"/>
            <a:ext cx="260604" cy="212598"/>
          </a:xfrm>
          <a:prstGeom prst="rect">
            <a:avLst/>
          </a:prstGeom>
          <a:solidFill>
            <a:srgbClr val="5DA9E9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1" name="Text 19"/>
          <p:cNvSpPr/>
          <p:nvPr/>
        </p:nvSpPr>
        <p:spPr>
          <a:xfrm>
            <a:off x="1275588" y="1410828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19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536192" y="1385316"/>
            <a:ext cx="260604" cy="212598"/>
          </a:xfrm>
          <a:prstGeom prst="rect">
            <a:avLst/>
          </a:prstGeom>
          <a:solidFill>
            <a:srgbClr val="F2D5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3" name="Text 21"/>
          <p:cNvSpPr/>
          <p:nvPr/>
        </p:nvSpPr>
        <p:spPr>
          <a:xfrm>
            <a:off x="1536192" y="1410828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20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54380" y="1597914"/>
            <a:ext cx="260604" cy="212598"/>
          </a:xfrm>
          <a:prstGeom prst="rect">
            <a:avLst/>
          </a:prstGeom>
          <a:solidFill>
            <a:srgbClr val="F4A340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5" name="Text 23"/>
          <p:cNvSpPr/>
          <p:nvPr/>
        </p:nvSpPr>
        <p:spPr>
          <a:xfrm>
            <a:off x="754380" y="1623426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21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014984" y="1597914"/>
            <a:ext cx="260604" cy="212598"/>
          </a:xfrm>
          <a:prstGeom prst="rect">
            <a:avLst/>
          </a:prstGeom>
          <a:solidFill>
            <a:srgbClr val="65C18C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7" name="Text 25"/>
          <p:cNvSpPr/>
          <p:nvPr/>
        </p:nvSpPr>
        <p:spPr>
          <a:xfrm>
            <a:off x="1014984" y="1623426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22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275588" y="1597914"/>
            <a:ext cx="260604" cy="212598"/>
          </a:xfrm>
          <a:prstGeom prst="rect">
            <a:avLst/>
          </a:prstGeom>
          <a:solidFill>
            <a:srgbClr val="5DA9E9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9" name="Text 27"/>
          <p:cNvSpPr/>
          <p:nvPr/>
        </p:nvSpPr>
        <p:spPr>
          <a:xfrm>
            <a:off x="1275588" y="1623426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23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536192" y="1597914"/>
            <a:ext cx="260604" cy="212598"/>
          </a:xfrm>
          <a:prstGeom prst="rect">
            <a:avLst/>
          </a:prstGeom>
          <a:solidFill>
            <a:srgbClr val="F2D5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1" name="Text 29"/>
          <p:cNvSpPr/>
          <p:nvPr/>
        </p:nvSpPr>
        <p:spPr>
          <a:xfrm>
            <a:off x="1536192" y="1623426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24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96646" y="1241298"/>
            <a:ext cx="1110996" cy="706374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016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3" name="Shape 31"/>
          <p:cNvSpPr/>
          <p:nvPr/>
        </p:nvSpPr>
        <p:spPr>
          <a:xfrm>
            <a:off x="630936" y="1275588"/>
            <a:ext cx="260604" cy="212598"/>
          </a:xfrm>
          <a:prstGeom prst="rect">
            <a:avLst/>
          </a:prstGeom>
          <a:solidFill>
            <a:srgbClr val="F4A340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4" name="Text 32"/>
          <p:cNvSpPr/>
          <p:nvPr/>
        </p:nvSpPr>
        <p:spPr>
          <a:xfrm>
            <a:off x="630936" y="1301100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91540" y="1275588"/>
            <a:ext cx="260604" cy="212598"/>
          </a:xfrm>
          <a:prstGeom prst="rect">
            <a:avLst/>
          </a:prstGeom>
          <a:solidFill>
            <a:srgbClr val="65C18C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6" name="Text 34"/>
          <p:cNvSpPr/>
          <p:nvPr/>
        </p:nvSpPr>
        <p:spPr>
          <a:xfrm>
            <a:off x="891540" y="1301100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152144" y="1275588"/>
            <a:ext cx="260604" cy="212598"/>
          </a:xfrm>
          <a:prstGeom prst="rect">
            <a:avLst/>
          </a:prstGeom>
          <a:solidFill>
            <a:srgbClr val="5DA9E9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8" name="Text 36"/>
          <p:cNvSpPr/>
          <p:nvPr/>
        </p:nvSpPr>
        <p:spPr>
          <a:xfrm>
            <a:off x="1152144" y="1301100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412748" y="1275588"/>
            <a:ext cx="260604" cy="212598"/>
          </a:xfrm>
          <a:prstGeom prst="rect">
            <a:avLst/>
          </a:prstGeom>
          <a:solidFill>
            <a:srgbClr val="F2D5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0" name="Text 38"/>
          <p:cNvSpPr/>
          <p:nvPr/>
        </p:nvSpPr>
        <p:spPr>
          <a:xfrm>
            <a:off x="1412748" y="1301100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30936" y="1488186"/>
            <a:ext cx="260604" cy="212598"/>
          </a:xfrm>
          <a:prstGeom prst="rect">
            <a:avLst/>
          </a:prstGeom>
          <a:solidFill>
            <a:srgbClr val="F4A340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2" name="Text 40"/>
          <p:cNvSpPr/>
          <p:nvPr/>
        </p:nvSpPr>
        <p:spPr>
          <a:xfrm>
            <a:off x="630936" y="1513698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91540" y="1488186"/>
            <a:ext cx="260604" cy="212598"/>
          </a:xfrm>
          <a:prstGeom prst="rect">
            <a:avLst/>
          </a:prstGeom>
          <a:solidFill>
            <a:srgbClr val="65C18C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4" name="Text 42"/>
          <p:cNvSpPr/>
          <p:nvPr/>
        </p:nvSpPr>
        <p:spPr>
          <a:xfrm>
            <a:off x="891540" y="1513698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152144" y="1488186"/>
            <a:ext cx="260604" cy="212598"/>
          </a:xfrm>
          <a:prstGeom prst="rect">
            <a:avLst/>
          </a:prstGeom>
          <a:solidFill>
            <a:srgbClr val="5DA9E9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6" name="Text 44"/>
          <p:cNvSpPr/>
          <p:nvPr/>
        </p:nvSpPr>
        <p:spPr>
          <a:xfrm>
            <a:off x="1152144" y="1513698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412748" y="1488186"/>
            <a:ext cx="260604" cy="212598"/>
          </a:xfrm>
          <a:prstGeom prst="rect">
            <a:avLst/>
          </a:prstGeom>
          <a:solidFill>
            <a:srgbClr val="F2D5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8" name="Text 46"/>
          <p:cNvSpPr/>
          <p:nvPr/>
        </p:nvSpPr>
        <p:spPr>
          <a:xfrm>
            <a:off x="1412748" y="1513698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8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30936" y="1700784"/>
            <a:ext cx="260604" cy="212598"/>
          </a:xfrm>
          <a:prstGeom prst="rect">
            <a:avLst/>
          </a:prstGeom>
          <a:solidFill>
            <a:srgbClr val="F4A340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0" name="Text 48"/>
          <p:cNvSpPr/>
          <p:nvPr/>
        </p:nvSpPr>
        <p:spPr>
          <a:xfrm>
            <a:off x="630936" y="1726296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9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91540" y="1700784"/>
            <a:ext cx="260604" cy="212598"/>
          </a:xfrm>
          <a:prstGeom prst="rect">
            <a:avLst/>
          </a:prstGeom>
          <a:solidFill>
            <a:srgbClr val="65C18C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2" name="Text 50"/>
          <p:cNvSpPr/>
          <p:nvPr/>
        </p:nvSpPr>
        <p:spPr>
          <a:xfrm>
            <a:off x="891540" y="1726296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152144" y="1700784"/>
            <a:ext cx="260604" cy="212598"/>
          </a:xfrm>
          <a:prstGeom prst="rect">
            <a:avLst/>
          </a:prstGeom>
          <a:solidFill>
            <a:srgbClr val="5DA9E9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4" name="Text 52"/>
          <p:cNvSpPr/>
          <p:nvPr/>
        </p:nvSpPr>
        <p:spPr>
          <a:xfrm>
            <a:off x="1152144" y="1726296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11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412748" y="1700784"/>
            <a:ext cx="260604" cy="212598"/>
          </a:xfrm>
          <a:prstGeom prst="rect">
            <a:avLst/>
          </a:prstGeom>
          <a:solidFill>
            <a:srgbClr val="F2D5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6" name="Text 54"/>
          <p:cNvSpPr/>
          <p:nvPr/>
        </p:nvSpPr>
        <p:spPr>
          <a:xfrm>
            <a:off x="1412748" y="1726296"/>
            <a:ext cx="260604" cy="1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FFFFFF"/>
                </a:solidFill>
              </a:rPr>
              <a:t>12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77824" y="2112264"/>
            <a:ext cx="576072" cy="192024"/>
          </a:xfrm>
          <a:prstGeom prst="roundRect">
            <a:avLst>
              <a:gd name="adj" fmla="val 17857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8" name="Text 56"/>
          <p:cNvSpPr/>
          <p:nvPr/>
        </p:nvSpPr>
        <p:spPr>
          <a:xfrm>
            <a:off x="877824" y="2132838"/>
            <a:ext cx="57607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(2,3,4)</a:t>
            </a:r>
            <a:endParaRPr lang="en-US" sz="788" dirty="0"/>
          </a:p>
        </p:txBody>
      </p:sp>
      <p:sp>
        <p:nvSpPr>
          <p:cNvPr id="59" name="Shape 57"/>
          <p:cNvSpPr/>
          <p:nvPr/>
        </p:nvSpPr>
        <p:spPr>
          <a:xfrm>
            <a:off x="1680210" y="1632204"/>
            <a:ext cx="480060" cy="0"/>
          </a:xfrm>
          <a:prstGeom prst="line">
            <a:avLst/>
          </a:prstGeom>
          <a:noFill/>
          <a:ln w="17780">
            <a:solidFill>
              <a:srgbClr val="7D879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 sz="1050"/>
          </a:p>
        </p:txBody>
      </p:sp>
      <p:sp>
        <p:nvSpPr>
          <p:cNvPr id="60" name="Shape 58"/>
          <p:cNvSpPr/>
          <p:nvPr/>
        </p:nvSpPr>
        <p:spPr>
          <a:xfrm>
            <a:off x="2208276" y="132359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1" name="Text 59"/>
          <p:cNvSpPr/>
          <p:nvPr/>
        </p:nvSpPr>
        <p:spPr>
          <a:xfrm>
            <a:off x="2208276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</a:t>
            </a:r>
            <a:endParaRPr lang="en-US" sz="713" dirty="0"/>
          </a:p>
        </p:txBody>
      </p:sp>
      <p:sp>
        <p:nvSpPr>
          <p:cNvPr id="62" name="Shape 60"/>
          <p:cNvSpPr/>
          <p:nvPr/>
        </p:nvSpPr>
        <p:spPr>
          <a:xfrm>
            <a:off x="2407158" y="132359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3" name="Text 61"/>
          <p:cNvSpPr/>
          <p:nvPr/>
        </p:nvSpPr>
        <p:spPr>
          <a:xfrm>
            <a:off x="2407158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</a:t>
            </a:r>
            <a:endParaRPr lang="en-US" sz="713" dirty="0"/>
          </a:p>
        </p:txBody>
      </p:sp>
      <p:sp>
        <p:nvSpPr>
          <p:cNvPr id="64" name="Shape 62"/>
          <p:cNvSpPr/>
          <p:nvPr/>
        </p:nvSpPr>
        <p:spPr>
          <a:xfrm>
            <a:off x="2606040" y="132359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5" name="Text 63"/>
          <p:cNvSpPr/>
          <p:nvPr/>
        </p:nvSpPr>
        <p:spPr>
          <a:xfrm>
            <a:off x="2606040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3</a:t>
            </a:r>
            <a:endParaRPr lang="en-US" sz="713" dirty="0"/>
          </a:p>
        </p:txBody>
      </p:sp>
      <p:sp>
        <p:nvSpPr>
          <p:cNvPr id="66" name="Shape 64"/>
          <p:cNvSpPr/>
          <p:nvPr/>
        </p:nvSpPr>
        <p:spPr>
          <a:xfrm>
            <a:off x="2804922" y="132359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7" name="Text 65"/>
          <p:cNvSpPr/>
          <p:nvPr/>
        </p:nvSpPr>
        <p:spPr>
          <a:xfrm>
            <a:off x="2804922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4</a:t>
            </a:r>
            <a:endParaRPr lang="en-US" sz="713" dirty="0"/>
          </a:p>
        </p:txBody>
      </p:sp>
      <p:sp>
        <p:nvSpPr>
          <p:cNvPr id="68" name="Shape 66"/>
          <p:cNvSpPr/>
          <p:nvPr/>
        </p:nvSpPr>
        <p:spPr>
          <a:xfrm>
            <a:off x="3003804" y="132359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9" name="Text 67"/>
          <p:cNvSpPr/>
          <p:nvPr/>
        </p:nvSpPr>
        <p:spPr>
          <a:xfrm>
            <a:off x="3003804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5</a:t>
            </a:r>
            <a:endParaRPr lang="en-US" sz="713" dirty="0"/>
          </a:p>
        </p:txBody>
      </p:sp>
      <p:sp>
        <p:nvSpPr>
          <p:cNvPr id="70" name="Shape 68"/>
          <p:cNvSpPr/>
          <p:nvPr/>
        </p:nvSpPr>
        <p:spPr>
          <a:xfrm>
            <a:off x="3202686" y="132359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71" name="Text 69"/>
          <p:cNvSpPr/>
          <p:nvPr/>
        </p:nvSpPr>
        <p:spPr>
          <a:xfrm>
            <a:off x="3202686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6</a:t>
            </a:r>
            <a:endParaRPr lang="en-US" sz="713" dirty="0"/>
          </a:p>
        </p:txBody>
      </p:sp>
      <p:sp>
        <p:nvSpPr>
          <p:cNvPr id="72" name="Shape 70"/>
          <p:cNvSpPr/>
          <p:nvPr/>
        </p:nvSpPr>
        <p:spPr>
          <a:xfrm>
            <a:off x="3401568" y="132359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73" name="Text 71"/>
          <p:cNvSpPr/>
          <p:nvPr/>
        </p:nvSpPr>
        <p:spPr>
          <a:xfrm>
            <a:off x="3401568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7</a:t>
            </a:r>
            <a:endParaRPr lang="en-US" sz="713" dirty="0"/>
          </a:p>
        </p:txBody>
      </p:sp>
      <p:sp>
        <p:nvSpPr>
          <p:cNvPr id="74" name="Shape 72"/>
          <p:cNvSpPr/>
          <p:nvPr/>
        </p:nvSpPr>
        <p:spPr>
          <a:xfrm>
            <a:off x="3600450" y="132359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75" name="Text 73"/>
          <p:cNvSpPr/>
          <p:nvPr/>
        </p:nvSpPr>
        <p:spPr>
          <a:xfrm>
            <a:off x="3600450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8</a:t>
            </a:r>
            <a:endParaRPr lang="en-US" sz="713" dirty="0"/>
          </a:p>
        </p:txBody>
      </p:sp>
      <p:sp>
        <p:nvSpPr>
          <p:cNvPr id="76" name="Shape 74"/>
          <p:cNvSpPr/>
          <p:nvPr/>
        </p:nvSpPr>
        <p:spPr>
          <a:xfrm>
            <a:off x="3799332" y="132359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77" name="Text 75"/>
          <p:cNvSpPr/>
          <p:nvPr/>
        </p:nvSpPr>
        <p:spPr>
          <a:xfrm>
            <a:off x="3799332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9</a:t>
            </a:r>
            <a:endParaRPr lang="en-US" sz="713" dirty="0"/>
          </a:p>
        </p:txBody>
      </p:sp>
      <p:sp>
        <p:nvSpPr>
          <p:cNvPr id="78" name="Shape 76"/>
          <p:cNvSpPr/>
          <p:nvPr/>
        </p:nvSpPr>
        <p:spPr>
          <a:xfrm>
            <a:off x="3998214" y="132359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79" name="Text 77"/>
          <p:cNvSpPr/>
          <p:nvPr/>
        </p:nvSpPr>
        <p:spPr>
          <a:xfrm>
            <a:off x="3998214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10</a:t>
            </a:r>
            <a:endParaRPr lang="en-US" sz="713" dirty="0"/>
          </a:p>
        </p:txBody>
      </p:sp>
      <p:sp>
        <p:nvSpPr>
          <p:cNvPr id="80" name="Shape 78"/>
          <p:cNvSpPr/>
          <p:nvPr/>
        </p:nvSpPr>
        <p:spPr>
          <a:xfrm>
            <a:off x="4197096" y="132359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1" name="Text 79"/>
          <p:cNvSpPr/>
          <p:nvPr/>
        </p:nvSpPr>
        <p:spPr>
          <a:xfrm>
            <a:off x="4197096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11</a:t>
            </a:r>
            <a:endParaRPr lang="en-US" sz="713" dirty="0"/>
          </a:p>
        </p:txBody>
      </p:sp>
      <p:sp>
        <p:nvSpPr>
          <p:cNvPr id="82" name="Shape 80"/>
          <p:cNvSpPr/>
          <p:nvPr/>
        </p:nvSpPr>
        <p:spPr>
          <a:xfrm>
            <a:off x="4395978" y="132359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3" name="Text 81"/>
          <p:cNvSpPr/>
          <p:nvPr/>
        </p:nvSpPr>
        <p:spPr>
          <a:xfrm>
            <a:off x="4395978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12</a:t>
            </a:r>
            <a:endParaRPr lang="en-US" sz="713" dirty="0"/>
          </a:p>
        </p:txBody>
      </p:sp>
      <p:sp>
        <p:nvSpPr>
          <p:cNvPr id="84" name="Shape 82"/>
          <p:cNvSpPr/>
          <p:nvPr/>
        </p:nvSpPr>
        <p:spPr>
          <a:xfrm>
            <a:off x="2208276" y="152933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5" name="Text 83"/>
          <p:cNvSpPr/>
          <p:nvPr/>
        </p:nvSpPr>
        <p:spPr>
          <a:xfrm>
            <a:off x="2208276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13</a:t>
            </a:r>
            <a:endParaRPr lang="en-US" sz="713" dirty="0"/>
          </a:p>
        </p:txBody>
      </p:sp>
      <p:sp>
        <p:nvSpPr>
          <p:cNvPr id="86" name="Shape 84"/>
          <p:cNvSpPr/>
          <p:nvPr/>
        </p:nvSpPr>
        <p:spPr>
          <a:xfrm>
            <a:off x="2407158" y="152933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7" name="Text 85"/>
          <p:cNvSpPr/>
          <p:nvPr/>
        </p:nvSpPr>
        <p:spPr>
          <a:xfrm>
            <a:off x="2407158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14</a:t>
            </a:r>
            <a:endParaRPr lang="en-US" sz="713" dirty="0"/>
          </a:p>
        </p:txBody>
      </p:sp>
      <p:sp>
        <p:nvSpPr>
          <p:cNvPr id="88" name="Shape 86"/>
          <p:cNvSpPr/>
          <p:nvPr/>
        </p:nvSpPr>
        <p:spPr>
          <a:xfrm>
            <a:off x="2606040" y="152933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9" name="Text 87"/>
          <p:cNvSpPr/>
          <p:nvPr/>
        </p:nvSpPr>
        <p:spPr>
          <a:xfrm>
            <a:off x="2606040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15</a:t>
            </a:r>
            <a:endParaRPr lang="en-US" sz="713" dirty="0"/>
          </a:p>
        </p:txBody>
      </p:sp>
      <p:sp>
        <p:nvSpPr>
          <p:cNvPr id="90" name="Shape 88"/>
          <p:cNvSpPr/>
          <p:nvPr/>
        </p:nvSpPr>
        <p:spPr>
          <a:xfrm>
            <a:off x="2804922" y="152933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1" name="Text 89"/>
          <p:cNvSpPr/>
          <p:nvPr/>
        </p:nvSpPr>
        <p:spPr>
          <a:xfrm>
            <a:off x="2804922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16</a:t>
            </a:r>
            <a:endParaRPr lang="en-US" sz="713" dirty="0"/>
          </a:p>
        </p:txBody>
      </p:sp>
      <p:sp>
        <p:nvSpPr>
          <p:cNvPr id="92" name="Shape 90"/>
          <p:cNvSpPr/>
          <p:nvPr/>
        </p:nvSpPr>
        <p:spPr>
          <a:xfrm>
            <a:off x="3003804" y="152933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3" name="Text 91"/>
          <p:cNvSpPr/>
          <p:nvPr/>
        </p:nvSpPr>
        <p:spPr>
          <a:xfrm>
            <a:off x="3003804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17</a:t>
            </a:r>
            <a:endParaRPr lang="en-US" sz="713" dirty="0"/>
          </a:p>
        </p:txBody>
      </p:sp>
      <p:sp>
        <p:nvSpPr>
          <p:cNvPr id="94" name="Shape 92"/>
          <p:cNvSpPr/>
          <p:nvPr/>
        </p:nvSpPr>
        <p:spPr>
          <a:xfrm>
            <a:off x="3202686" y="152933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5" name="Text 93"/>
          <p:cNvSpPr/>
          <p:nvPr/>
        </p:nvSpPr>
        <p:spPr>
          <a:xfrm>
            <a:off x="3202686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18</a:t>
            </a:r>
            <a:endParaRPr lang="en-US" sz="713" dirty="0"/>
          </a:p>
        </p:txBody>
      </p:sp>
      <p:sp>
        <p:nvSpPr>
          <p:cNvPr id="96" name="Shape 94"/>
          <p:cNvSpPr/>
          <p:nvPr/>
        </p:nvSpPr>
        <p:spPr>
          <a:xfrm>
            <a:off x="3401568" y="152933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7" name="Text 95"/>
          <p:cNvSpPr/>
          <p:nvPr/>
        </p:nvSpPr>
        <p:spPr>
          <a:xfrm>
            <a:off x="3401568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19</a:t>
            </a:r>
            <a:endParaRPr lang="en-US" sz="713" dirty="0"/>
          </a:p>
        </p:txBody>
      </p:sp>
      <p:sp>
        <p:nvSpPr>
          <p:cNvPr id="98" name="Shape 96"/>
          <p:cNvSpPr/>
          <p:nvPr/>
        </p:nvSpPr>
        <p:spPr>
          <a:xfrm>
            <a:off x="3600450" y="152933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9" name="Text 97"/>
          <p:cNvSpPr/>
          <p:nvPr/>
        </p:nvSpPr>
        <p:spPr>
          <a:xfrm>
            <a:off x="3600450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20</a:t>
            </a:r>
            <a:endParaRPr lang="en-US" sz="713" dirty="0"/>
          </a:p>
        </p:txBody>
      </p:sp>
      <p:sp>
        <p:nvSpPr>
          <p:cNvPr id="100" name="Shape 98"/>
          <p:cNvSpPr/>
          <p:nvPr/>
        </p:nvSpPr>
        <p:spPr>
          <a:xfrm>
            <a:off x="3799332" y="152933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1" name="Text 99"/>
          <p:cNvSpPr/>
          <p:nvPr/>
        </p:nvSpPr>
        <p:spPr>
          <a:xfrm>
            <a:off x="3799332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21</a:t>
            </a:r>
            <a:endParaRPr lang="en-US" sz="713" dirty="0"/>
          </a:p>
        </p:txBody>
      </p:sp>
      <p:sp>
        <p:nvSpPr>
          <p:cNvPr id="102" name="Shape 100"/>
          <p:cNvSpPr/>
          <p:nvPr/>
        </p:nvSpPr>
        <p:spPr>
          <a:xfrm>
            <a:off x="3998214" y="152933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3" name="Text 101"/>
          <p:cNvSpPr/>
          <p:nvPr/>
        </p:nvSpPr>
        <p:spPr>
          <a:xfrm>
            <a:off x="3998214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22</a:t>
            </a:r>
            <a:endParaRPr lang="en-US" sz="713" dirty="0"/>
          </a:p>
        </p:txBody>
      </p:sp>
      <p:sp>
        <p:nvSpPr>
          <p:cNvPr id="104" name="Shape 102"/>
          <p:cNvSpPr/>
          <p:nvPr/>
        </p:nvSpPr>
        <p:spPr>
          <a:xfrm>
            <a:off x="4197096" y="152933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5" name="Text 103"/>
          <p:cNvSpPr/>
          <p:nvPr/>
        </p:nvSpPr>
        <p:spPr>
          <a:xfrm>
            <a:off x="4197096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23</a:t>
            </a:r>
            <a:endParaRPr lang="en-US" sz="713" dirty="0"/>
          </a:p>
        </p:txBody>
      </p:sp>
      <p:sp>
        <p:nvSpPr>
          <p:cNvPr id="106" name="Shape 104"/>
          <p:cNvSpPr/>
          <p:nvPr/>
        </p:nvSpPr>
        <p:spPr>
          <a:xfrm>
            <a:off x="4395978" y="152933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7" name="Text 105"/>
          <p:cNvSpPr/>
          <p:nvPr/>
        </p:nvSpPr>
        <p:spPr>
          <a:xfrm>
            <a:off x="4395978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24</a:t>
            </a:r>
            <a:endParaRPr lang="en-US" sz="713" dirty="0"/>
          </a:p>
        </p:txBody>
      </p:sp>
      <p:sp>
        <p:nvSpPr>
          <p:cNvPr id="108" name="Shape 106"/>
          <p:cNvSpPr/>
          <p:nvPr/>
        </p:nvSpPr>
        <p:spPr>
          <a:xfrm>
            <a:off x="3099816" y="1803654"/>
            <a:ext cx="521208" cy="192024"/>
          </a:xfrm>
          <a:prstGeom prst="roundRect">
            <a:avLst>
              <a:gd name="adj" fmla="val 17857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9" name="Text 107"/>
          <p:cNvSpPr/>
          <p:nvPr/>
        </p:nvSpPr>
        <p:spPr>
          <a:xfrm>
            <a:off x="3099816" y="1824228"/>
            <a:ext cx="52120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(2,12)</a:t>
            </a:r>
            <a:endParaRPr lang="en-US" sz="788" dirty="0"/>
          </a:p>
        </p:txBody>
      </p:sp>
      <p:sp>
        <p:nvSpPr>
          <p:cNvPr id="110" name="Shape 108"/>
          <p:cNvSpPr/>
          <p:nvPr/>
        </p:nvSpPr>
        <p:spPr>
          <a:xfrm>
            <a:off x="2057400" y="2057400"/>
            <a:ext cx="1817370" cy="562356"/>
          </a:xfrm>
          <a:prstGeom prst="roundRect">
            <a:avLst>
              <a:gd name="adj" fmla="val 8537"/>
            </a:avLst>
          </a:prstGeom>
          <a:solidFill>
            <a:srgbClr val="DDEEFE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1" name="Text 109"/>
          <p:cNvSpPr/>
          <p:nvPr/>
        </p:nvSpPr>
        <p:spPr>
          <a:xfrm>
            <a:off x="2139696" y="2112264"/>
            <a:ext cx="165277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1E2430"/>
                </a:solidFill>
              </a:rPr>
              <a:t>-1 infers the missing size</a:t>
            </a:r>
            <a:endParaRPr lang="en-US" sz="938" dirty="0"/>
          </a:p>
          <a:p>
            <a:r>
              <a:rPr lang="en-US" sz="938" dirty="0">
                <a:solidFill>
                  <a:srgbClr val="1E2430"/>
                </a:solidFill>
              </a:rPr>
              <a:t>view shares data when the layout is compatible</a:t>
            </a:r>
            <a:endParaRPr lang="en-US" sz="938" dirty="0"/>
          </a:p>
        </p:txBody>
      </p:sp>
      <p:sp>
        <p:nvSpPr>
          <p:cNvPr id="112" name="Shape 110"/>
          <p:cNvSpPr/>
          <p:nvPr/>
        </p:nvSpPr>
        <p:spPr>
          <a:xfrm>
            <a:off x="4608576" y="809244"/>
            <a:ext cx="1426464" cy="288036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3" name="Text 111"/>
          <p:cNvSpPr/>
          <p:nvPr/>
        </p:nvSpPr>
        <p:spPr>
          <a:xfrm>
            <a:off x="4663440" y="843534"/>
            <a:ext cx="1536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1E243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x.reshape(2, -1)</a:t>
            </a:r>
            <a:endParaRPr lang="en-US" sz="1163" dirty="0"/>
          </a:p>
        </p:txBody>
      </p:sp>
      <p:sp>
        <p:nvSpPr>
          <p:cNvPr id="114" name="Shape 112"/>
          <p:cNvSpPr/>
          <p:nvPr/>
        </p:nvSpPr>
        <p:spPr>
          <a:xfrm>
            <a:off x="4786884" y="132359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5" name="Text 113"/>
          <p:cNvSpPr/>
          <p:nvPr/>
        </p:nvSpPr>
        <p:spPr>
          <a:xfrm>
            <a:off x="4786884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</a:t>
            </a:r>
            <a:endParaRPr lang="en-US" sz="713" dirty="0"/>
          </a:p>
        </p:txBody>
      </p:sp>
      <p:sp>
        <p:nvSpPr>
          <p:cNvPr id="116" name="Shape 114"/>
          <p:cNvSpPr/>
          <p:nvPr/>
        </p:nvSpPr>
        <p:spPr>
          <a:xfrm>
            <a:off x="4985766" y="132359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7" name="Text 115"/>
          <p:cNvSpPr/>
          <p:nvPr/>
        </p:nvSpPr>
        <p:spPr>
          <a:xfrm>
            <a:off x="4985766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</a:t>
            </a:r>
            <a:endParaRPr lang="en-US" sz="713" dirty="0"/>
          </a:p>
        </p:txBody>
      </p:sp>
      <p:sp>
        <p:nvSpPr>
          <p:cNvPr id="118" name="Shape 116"/>
          <p:cNvSpPr/>
          <p:nvPr/>
        </p:nvSpPr>
        <p:spPr>
          <a:xfrm>
            <a:off x="5184648" y="132359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9" name="Text 117"/>
          <p:cNvSpPr/>
          <p:nvPr/>
        </p:nvSpPr>
        <p:spPr>
          <a:xfrm>
            <a:off x="5184648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3</a:t>
            </a:r>
            <a:endParaRPr lang="en-US" sz="713" dirty="0"/>
          </a:p>
        </p:txBody>
      </p:sp>
      <p:sp>
        <p:nvSpPr>
          <p:cNvPr id="120" name="Shape 118"/>
          <p:cNvSpPr/>
          <p:nvPr/>
        </p:nvSpPr>
        <p:spPr>
          <a:xfrm>
            <a:off x="5383530" y="132359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1" name="Text 119"/>
          <p:cNvSpPr/>
          <p:nvPr/>
        </p:nvSpPr>
        <p:spPr>
          <a:xfrm>
            <a:off x="5383530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4</a:t>
            </a:r>
            <a:endParaRPr lang="en-US" sz="713" dirty="0"/>
          </a:p>
        </p:txBody>
      </p:sp>
      <p:sp>
        <p:nvSpPr>
          <p:cNvPr id="122" name="Shape 120"/>
          <p:cNvSpPr/>
          <p:nvPr/>
        </p:nvSpPr>
        <p:spPr>
          <a:xfrm>
            <a:off x="5582412" y="132359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3" name="Text 121"/>
          <p:cNvSpPr/>
          <p:nvPr/>
        </p:nvSpPr>
        <p:spPr>
          <a:xfrm>
            <a:off x="5582412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5</a:t>
            </a:r>
            <a:endParaRPr lang="en-US" sz="713" dirty="0"/>
          </a:p>
        </p:txBody>
      </p:sp>
      <p:sp>
        <p:nvSpPr>
          <p:cNvPr id="124" name="Shape 122"/>
          <p:cNvSpPr/>
          <p:nvPr/>
        </p:nvSpPr>
        <p:spPr>
          <a:xfrm>
            <a:off x="5781294" y="132359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5" name="Text 123"/>
          <p:cNvSpPr/>
          <p:nvPr/>
        </p:nvSpPr>
        <p:spPr>
          <a:xfrm>
            <a:off x="5781294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6</a:t>
            </a:r>
            <a:endParaRPr lang="en-US" sz="713" dirty="0"/>
          </a:p>
        </p:txBody>
      </p:sp>
      <p:sp>
        <p:nvSpPr>
          <p:cNvPr id="126" name="Shape 124"/>
          <p:cNvSpPr/>
          <p:nvPr/>
        </p:nvSpPr>
        <p:spPr>
          <a:xfrm>
            <a:off x="5980176" y="132359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7" name="Text 125"/>
          <p:cNvSpPr/>
          <p:nvPr/>
        </p:nvSpPr>
        <p:spPr>
          <a:xfrm>
            <a:off x="5980176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7</a:t>
            </a:r>
            <a:endParaRPr lang="en-US" sz="713" dirty="0"/>
          </a:p>
        </p:txBody>
      </p:sp>
      <p:sp>
        <p:nvSpPr>
          <p:cNvPr id="128" name="Shape 126"/>
          <p:cNvSpPr/>
          <p:nvPr/>
        </p:nvSpPr>
        <p:spPr>
          <a:xfrm>
            <a:off x="6179058" y="132359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9" name="Text 127"/>
          <p:cNvSpPr/>
          <p:nvPr/>
        </p:nvSpPr>
        <p:spPr>
          <a:xfrm>
            <a:off x="6179058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8</a:t>
            </a:r>
            <a:endParaRPr lang="en-US" sz="713" dirty="0"/>
          </a:p>
        </p:txBody>
      </p:sp>
      <p:sp>
        <p:nvSpPr>
          <p:cNvPr id="130" name="Shape 128"/>
          <p:cNvSpPr/>
          <p:nvPr/>
        </p:nvSpPr>
        <p:spPr>
          <a:xfrm>
            <a:off x="6377940" y="132359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1" name="Text 129"/>
          <p:cNvSpPr/>
          <p:nvPr/>
        </p:nvSpPr>
        <p:spPr>
          <a:xfrm>
            <a:off x="6377940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9</a:t>
            </a:r>
            <a:endParaRPr lang="en-US" sz="713" dirty="0"/>
          </a:p>
        </p:txBody>
      </p:sp>
      <p:sp>
        <p:nvSpPr>
          <p:cNvPr id="132" name="Shape 130"/>
          <p:cNvSpPr/>
          <p:nvPr/>
        </p:nvSpPr>
        <p:spPr>
          <a:xfrm>
            <a:off x="6576822" y="132359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3" name="Text 131"/>
          <p:cNvSpPr/>
          <p:nvPr/>
        </p:nvSpPr>
        <p:spPr>
          <a:xfrm>
            <a:off x="6576822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10</a:t>
            </a:r>
            <a:endParaRPr lang="en-US" sz="713" dirty="0"/>
          </a:p>
        </p:txBody>
      </p:sp>
      <p:sp>
        <p:nvSpPr>
          <p:cNvPr id="134" name="Shape 132"/>
          <p:cNvSpPr/>
          <p:nvPr/>
        </p:nvSpPr>
        <p:spPr>
          <a:xfrm>
            <a:off x="6775704" y="132359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5" name="Text 133"/>
          <p:cNvSpPr/>
          <p:nvPr/>
        </p:nvSpPr>
        <p:spPr>
          <a:xfrm>
            <a:off x="6775704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11</a:t>
            </a:r>
            <a:endParaRPr lang="en-US" sz="713" dirty="0"/>
          </a:p>
        </p:txBody>
      </p:sp>
      <p:sp>
        <p:nvSpPr>
          <p:cNvPr id="136" name="Shape 134"/>
          <p:cNvSpPr/>
          <p:nvPr/>
        </p:nvSpPr>
        <p:spPr>
          <a:xfrm>
            <a:off x="6974586" y="132359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7" name="Text 135"/>
          <p:cNvSpPr/>
          <p:nvPr/>
        </p:nvSpPr>
        <p:spPr>
          <a:xfrm>
            <a:off x="6974586" y="134828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12</a:t>
            </a:r>
            <a:endParaRPr lang="en-US" sz="713" dirty="0"/>
          </a:p>
        </p:txBody>
      </p:sp>
      <p:sp>
        <p:nvSpPr>
          <p:cNvPr id="138" name="Shape 136"/>
          <p:cNvSpPr/>
          <p:nvPr/>
        </p:nvSpPr>
        <p:spPr>
          <a:xfrm>
            <a:off x="4786884" y="152933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9" name="Text 137"/>
          <p:cNvSpPr/>
          <p:nvPr/>
        </p:nvSpPr>
        <p:spPr>
          <a:xfrm>
            <a:off x="4786884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13</a:t>
            </a:r>
            <a:endParaRPr lang="en-US" sz="713" dirty="0"/>
          </a:p>
        </p:txBody>
      </p:sp>
      <p:sp>
        <p:nvSpPr>
          <p:cNvPr id="140" name="Shape 138"/>
          <p:cNvSpPr/>
          <p:nvPr/>
        </p:nvSpPr>
        <p:spPr>
          <a:xfrm>
            <a:off x="4985766" y="152933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1" name="Text 139"/>
          <p:cNvSpPr/>
          <p:nvPr/>
        </p:nvSpPr>
        <p:spPr>
          <a:xfrm>
            <a:off x="4985766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14</a:t>
            </a:r>
            <a:endParaRPr lang="en-US" sz="713" dirty="0"/>
          </a:p>
        </p:txBody>
      </p:sp>
      <p:sp>
        <p:nvSpPr>
          <p:cNvPr id="142" name="Shape 140"/>
          <p:cNvSpPr/>
          <p:nvPr/>
        </p:nvSpPr>
        <p:spPr>
          <a:xfrm>
            <a:off x="5184648" y="1529334"/>
            <a:ext cx="198882" cy="205740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3" name="Text 141"/>
          <p:cNvSpPr/>
          <p:nvPr/>
        </p:nvSpPr>
        <p:spPr>
          <a:xfrm>
            <a:off x="5184648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15</a:t>
            </a:r>
            <a:endParaRPr lang="en-US" sz="713" dirty="0"/>
          </a:p>
        </p:txBody>
      </p:sp>
      <p:sp>
        <p:nvSpPr>
          <p:cNvPr id="144" name="Shape 142"/>
          <p:cNvSpPr/>
          <p:nvPr/>
        </p:nvSpPr>
        <p:spPr>
          <a:xfrm>
            <a:off x="5383530" y="152933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5" name="Text 143"/>
          <p:cNvSpPr/>
          <p:nvPr/>
        </p:nvSpPr>
        <p:spPr>
          <a:xfrm>
            <a:off x="5383530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16</a:t>
            </a:r>
            <a:endParaRPr lang="en-US" sz="713" dirty="0"/>
          </a:p>
        </p:txBody>
      </p:sp>
      <p:sp>
        <p:nvSpPr>
          <p:cNvPr id="146" name="Shape 144"/>
          <p:cNvSpPr/>
          <p:nvPr/>
        </p:nvSpPr>
        <p:spPr>
          <a:xfrm>
            <a:off x="5582412" y="152933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7" name="Text 145"/>
          <p:cNvSpPr/>
          <p:nvPr/>
        </p:nvSpPr>
        <p:spPr>
          <a:xfrm>
            <a:off x="5582412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17</a:t>
            </a:r>
            <a:endParaRPr lang="en-US" sz="713" dirty="0"/>
          </a:p>
        </p:txBody>
      </p:sp>
      <p:sp>
        <p:nvSpPr>
          <p:cNvPr id="148" name="Shape 146"/>
          <p:cNvSpPr/>
          <p:nvPr/>
        </p:nvSpPr>
        <p:spPr>
          <a:xfrm>
            <a:off x="5781294" y="1529334"/>
            <a:ext cx="198882" cy="205740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9" name="Text 147"/>
          <p:cNvSpPr/>
          <p:nvPr/>
        </p:nvSpPr>
        <p:spPr>
          <a:xfrm>
            <a:off x="5781294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18</a:t>
            </a:r>
            <a:endParaRPr lang="en-US" sz="713" dirty="0"/>
          </a:p>
        </p:txBody>
      </p:sp>
      <p:sp>
        <p:nvSpPr>
          <p:cNvPr id="150" name="Shape 148"/>
          <p:cNvSpPr/>
          <p:nvPr/>
        </p:nvSpPr>
        <p:spPr>
          <a:xfrm>
            <a:off x="5980176" y="152933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1" name="Text 149"/>
          <p:cNvSpPr/>
          <p:nvPr/>
        </p:nvSpPr>
        <p:spPr>
          <a:xfrm>
            <a:off x="5980176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19</a:t>
            </a:r>
            <a:endParaRPr lang="en-US" sz="713" dirty="0"/>
          </a:p>
        </p:txBody>
      </p:sp>
      <p:sp>
        <p:nvSpPr>
          <p:cNvPr id="152" name="Shape 150"/>
          <p:cNvSpPr/>
          <p:nvPr/>
        </p:nvSpPr>
        <p:spPr>
          <a:xfrm>
            <a:off x="6179058" y="152933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3" name="Text 151"/>
          <p:cNvSpPr/>
          <p:nvPr/>
        </p:nvSpPr>
        <p:spPr>
          <a:xfrm>
            <a:off x="6179058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20</a:t>
            </a:r>
            <a:endParaRPr lang="en-US" sz="713" dirty="0"/>
          </a:p>
        </p:txBody>
      </p:sp>
      <p:sp>
        <p:nvSpPr>
          <p:cNvPr id="154" name="Shape 152"/>
          <p:cNvSpPr/>
          <p:nvPr/>
        </p:nvSpPr>
        <p:spPr>
          <a:xfrm>
            <a:off x="6377940" y="1529334"/>
            <a:ext cx="198882" cy="205740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5" name="Text 153"/>
          <p:cNvSpPr/>
          <p:nvPr/>
        </p:nvSpPr>
        <p:spPr>
          <a:xfrm>
            <a:off x="6377940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21</a:t>
            </a:r>
            <a:endParaRPr lang="en-US" sz="713" dirty="0"/>
          </a:p>
        </p:txBody>
      </p:sp>
      <p:sp>
        <p:nvSpPr>
          <p:cNvPr id="156" name="Shape 154"/>
          <p:cNvSpPr/>
          <p:nvPr/>
        </p:nvSpPr>
        <p:spPr>
          <a:xfrm>
            <a:off x="6576822" y="152933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7" name="Text 155"/>
          <p:cNvSpPr/>
          <p:nvPr/>
        </p:nvSpPr>
        <p:spPr>
          <a:xfrm>
            <a:off x="6576822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22</a:t>
            </a:r>
            <a:endParaRPr lang="en-US" sz="713" dirty="0"/>
          </a:p>
        </p:txBody>
      </p:sp>
      <p:sp>
        <p:nvSpPr>
          <p:cNvPr id="158" name="Shape 156"/>
          <p:cNvSpPr/>
          <p:nvPr/>
        </p:nvSpPr>
        <p:spPr>
          <a:xfrm>
            <a:off x="6775704" y="152933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9" name="Text 157"/>
          <p:cNvSpPr/>
          <p:nvPr/>
        </p:nvSpPr>
        <p:spPr>
          <a:xfrm>
            <a:off x="6775704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23</a:t>
            </a:r>
            <a:endParaRPr lang="en-US" sz="713" dirty="0"/>
          </a:p>
        </p:txBody>
      </p:sp>
      <p:sp>
        <p:nvSpPr>
          <p:cNvPr id="160" name="Shape 158"/>
          <p:cNvSpPr/>
          <p:nvPr/>
        </p:nvSpPr>
        <p:spPr>
          <a:xfrm>
            <a:off x="6974586" y="1529334"/>
            <a:ext cx="198882" cy="205740"/>
          </a:xfrm>
          <a:prstGeom prst="rect">
            <a:avLst/>
          </a:prstGeom>
          <a:solidFill>
            <a:srgbClr val="E7E1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61" name="Text 159"/>
          <p:cNvSpPr/>
          <p:nvPr/>
        </p:nvSpPr>
        <p:spPr>
          <a:xfrm>
            <a:off x="6974586" y="1554022"/>
            <a:ext cx="198882" cy="13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430"/>
                </a:solidFill>
              </a:rPr>
              <a:t>24</a:t>
            </a:r>
            <a:endParaRPr lang="en-US" sz="713" dirty="0"/>
          </a:p>
        </p:txBody>
      </p:sp>
      <p:sp>
        <p:nvSpPr>
          <p:cNvPr id="162" name="Shape 160"/>
          <p:cNvSpPr/>
          <p:nvPr/>
        </p:nvSpPr>
        <p:spPr>
          <a:xfrm>
            <a:off x="5678424" y="1803654"/>
            <a:ext cx="521208" cy="192024"/>
          </a:xfrm>
          <a:prstGeom prst="roundRect">
            <a:avLst>
              <a:gd name="adj" fmla="val 17857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63" name="Text 161"/>
          <p:cNvSpPr/>
          <p:nvPr/>
        </p:nvSpPr>
        <p:spPr>
          <a:xfrm>
            <a:off x="5678424" y="1824228"/>
            <a:ext cx="52120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(2,12)</a:t>
            </a:r>
            <a:endParaRPr lang="en-US" sz="788" dirty="0"/>
          </a:p>
        </p:txBody>
      </p:sp>
      <p:sp>
        <p:nvSpPr>
          <p:cNvPr id="164" name="Shape 162"/>
          <p:cNvSpPr/>
          <p:nvPr/>
        </p:nvSpPr>
        <p:spPr>
          <a:xfrm>
            <a:off x="4663440" y="2057400"/>
            <a:ext cx="1988820" cy="562356"/>
          </a:xfrm>
          <a:prstGeom prst="roundRect">
            <a:avLst>
              <a:gd name="adj" fmla="val 8537"/>
            </a:avLst>
          </a:prstGeom>
          <a:solidFill>
            <a:srgbClr val="F8F3EA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65" name="Text 163"/>
          <p:cNvSpPr/>
          <p:nvPr/>
        </p:nvSpPr>
        <p:spPr>
          <a:xfrm>
            <a:off x="4745736" y="2112264"/>
            <a:ext cx="182422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1E2430"/>
                </a:solidFill>
              </a:rPr>
              <a:t>Same reshaping goal as view</a:t>
            </a:r>
            <a:endParaRPr lang="en-US" sz="938" dirty="0"/>
          </a:p>
          <a:p>
            <a:r>
              <a:rPr lang="en-US" sz="938" dirty="0">
                <a:solidFill>
                  <a:srgbClr val="1E2430"/>
                </a:solidFill>
              </a:rPr>
              <a:t>If needed, reshape can make a copy</a:t>
            </a:r>
            <a:endParaRPr lang="en-US" sz="938" dirty="0"/>
          </a:p>
        </p:txBody>
      </p:sp>
      <p:sp>
        <p:nvSpPr>
          <p:cNvPr id="166" name="Shape 164"/>
          <p:cNvSpPr/>
          <p:nvPr/>
        </p:nvSpPr>
        <p:spPr>
          <a:xfrm>
            <a:off x="6899148" y="1268730"/>
            <a:ext cx="1543050" cy="877824"/>
          </a:xfrm>
          <a:prstGeom prst="roundRect">
            <a:avLst>
              <a:gd name="adj" fmla="val 546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67" name="Text 165"/>
          <p:cNvSpPr/>
          <p:nvPr/>
        </p:nvSpPr>
        <p:spPr>
          <a:xfrm>
            <a:off x="6981444" y="1323594"/>
            <a:ext cx="137845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1E2430"/>
                </a:solidFill>
              </a:rPr>
              <a:t>Mental model:</a:t>
            </a:r>
            <a:endParaRPr lang="en-US" sz="938" dirty="0"/>
          </a:p>
          <a:p>
            <a:r>
              <a:rPr lang="en-US" sz="938" dirty="0">
                <a:solidFill>
                  <a:srgbClr val="1E2430"/>
                </a:solidFill>
              </a:rPr>
              <a:t>view = reinterpret storage</a:t>
            </a:r>
            <a:endParaRPr lang="en-US" sz="938" dirty="0"/>
          </a:p>
          <a:p>
            <a:r>
              <a:rPr lang="en-US" sz="938" dirty="0">
                <a:solidFill>
                  <a:srgbClr val="1E2430"/>
                </a:solidFill>
              </a:rPr>
              <a:t>reshape = view if possible, otherwise copy</a:t>
            </a:r>
            <a:endParaRPr lang="en-US" sz="938" dirty="0"/>
          </a:p>
        </p:txBody>
      </p:sp>
      <p:sp>
        <p:nvSpPr>
          <p:cNvPr id="168" name="Shape 166"/>
          <p:cNvSpPr/>
          <p:nvPr/>
        </p:nvSpPr>
        <p:spPr>
          <a:xfrm>
            <a:off x="445770" y="3003804"/>
            <a:ext cx="1234440" cy="288036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69" name="Text 167"/>
          <p:cNvSpPr/>
          <p:nvPr/>
        </p:nvSpPr>
        <p:spPr>
          <a:xfrm>
            <a:off x="500634" y="3038094"/>
            <a:ext cx="1556766" cy="185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1E243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x.unsqueeze(0)</a:t>
            </a:r>
            <a:endParaRPr lang="en-US" sz="1163" dirty="0"/>
          </a:p>
        </p:txBody>
      </p:sp>
      <p:sp>
        <p:nvSpPr>
          <p:cNvPr id="170" name="Shape 168"/>
          <p:cNvSpPr/>
          <p:nvPr/>
        </p:nvSpPr>
        <p:spPr>
          <a:xfrm>
            <a:off x="651510" y="3415284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71" name="Text 169"/>
          <p:cNvSpPr/>
          <p:nvPr/>
        </p:nvSpPr>
        <p:spPr>
          <a:xfrm>
            <a:off x="651510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</a:t>
            </a:r>
            <a:endParaRPr lang="en-US" sz="863" dirty="0"/>
          </a:p>
        </p:txBody>
      </p:sp>
      <p:sp>
        <p:nvSpPr>
          <p:cNvPr id="172" name="Shape 170"/>
          <p:cNvSpPr/>
          <p:nvPr/>
        </p:nvSpPr>
        <p:spPr>
          <a:xfrm>
            <a:off x="946404" y="3415284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73" name="Text 171"/>
          <p:cNvSpPr/>
          <p:nvPr/>
        </p:nvSpPr>
        <p:spPr>
          <a:xfrm>
            <a:off x="946404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2</a:t>
            </a:r>
            <a:endParaRPr lang="en-US" sz="863" dirty="0"/>
          </a:p>
        </p:txBody>
      </p:sp>
      <p:sp>
        <p:nvSpPr>
          <p:cNvPr id="174" name="Shape 172"/>
          <p:cNvSpPr/>
          <p:nvPr/>
        </p:nvSpPr>
        <p:spPr>
          <a:xfrm>
            <a:off x="1241298" y="3415284"/>
            <a:ext cx="294894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75" name="Text 173"/>
          <p:cNvSpPr/>
          <p:nvPr/>
        </p:nvSpPr>
        <p:spPr>
          <a:xfrm>
            <a:off x="1241298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3</a:t>
            </a:r>
            <a:endParaRPr lang="en-US" sz="863" dirty="0"/>
          </a:p>
        </p:txBody>
      </p:sp>
      <p:sp>
        <p:nvSpPr>
          <p:cNvPr id="176" name="Shape 174"/>
          <p:cNvSpPr/>
          <p:nvPr/>
        </p:nvSpPr>
        <p:spPr>
          <a:xfrm>
            <a:off x="1536192" y="3415284"/>
            <a:ext cx="294894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77" name="Text 175"/>
          <p:cNvSpPr/>
          <p:nvPr/>
        </p:nvSpPr>
        <p:spPr>
          <a:xfrm>
            <a:off x="1536192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4</a:t>
            </a:r>
            <a:endParaRPr lang="en-US" sz="863" dirty="0"/>
          </a:p>
        </p:txBody>
      </p:sp>
      <p:sp>
        <p:nvSpPr>
          <p:cNvPr id="178" name="Shape 176"/>
          <p:cNvSpPr/>
          <p:nvPr/>
        </p:nvSpPr>
        <p:spPr>
          <a:xfrm>
            <a:off x="651510" y="3662172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79" name="Text 177"/>
          <p:cNvSpPr/>
          <p:nvPr/>
        </p:nvSpPr>
        <p:spPr>
          <a:xfrm>
            <a:off x="651510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5</a:t>
            </a:r>
            <a:endParaRPr lang="en-US" sz="863" dirty="0"/>
          </a:p>
        </p:txBody>
      </p:sp>
      <p:sp>
        <p:nvSpPr>
          <p:cNvPr id="180" name="Shape 178"/>
          <p:cNvSpPr/>
          <p:nvPr/>
        </p:nvSpPr>
        <p:spPr>
          <a:xfrm>
            <a:off x="946404" y="3662172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81" name="Text 179"/>
          <p:cNvSpPr/>
          <p:nvPr/>
        </p:nvSpPr>
        <p:spPr>
          <a:xfrm>
            <a:off x="946404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6</a:t>
            </a:r>
            <a:endParaRPr lang="en-US" sz="863" dirty="0"/>
          </a:p>
        </p:txBody>
      </p:sp>
      <p:sp>
        <p:nvSpPr>
          <p:cNvPr id="182" name="Shape 180"/>
          <p:cNvSpPr/>
          <p:nvPr/>
        </p:nvSpPr>
        <p:spPr>
          <a:xfrm>
            <a:off x="1241298" y="3662172"/>
            <a:ext cx="294894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83" name="Text 181"/>
          <p:cNvSpPr/>
          <p:nvPr/>
        </p:nvSpPr>
        <p:spPr>
          <a:xfrm>
            <a:off x="1241298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7</a:t>
            </a:r>
            <a:endParaRPr lang="en-US" sz="863" dirty="0"/>
          </a:p>
        </p:txBody>
      </p:sp>
      <p:sp>
        <p:nvSpPr>
          <p:cNvPr id="184" name="Shape 182"/>
          <p:cNvSpPr/>
          <p:nvPr/>
        </p:nvSpPr>
        <p:spPr>
          <a:xfrm>
            <a:off x="1536192" y="3662172"/>
            <a:ext cx="294894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85" name="Text 183"/>
          <p:cNvSpPr/>
          <p:nvPr/>
        </p:nvSpPr>
        <p:spPr>
          <a:xfrm>
            <a:off x="1536192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8</a:t>
            </a:r>
            <a:endParaRPr lang="en-US" sz="863" dirty="0"/>
          </a:p>
        </p:txBody>
      </p:sp>
      <p:sp>
        <p:nvSpPr>
          <p:cNvPr id="186" name="Shape 184"/>
          <p:cNvSpPr/>
          <p:nvPr/>
        </p:nvSpPr>
        <p:spPr>
          <a:xfrm>
            <a:off x="651510" y="3909060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87" name="Text 185"/>
          <p:cNvSpPr/>
          <p:nvPr/>
        </p:nvSpPr>
        <p:spPr>
          <a:xfrm>
            <a:off x="651510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9</a:t>
            </a:r>
            <a:endParaRPr lang="en-US" sz="863" dirty="0"/>
          </a:p>
        </p:txBody>
      </p:sp>
      <p:sp>
        <p:nvSpPr>
          <p:cNvPr id="188" name="Shape 186"/>
          <p:cNvSpPr/>
          <p:nvPr/>
        </p:nvSpPr>
        <p:spPr>
          <a:xfrm>
            <a:off x="946404" y="3909060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89" name="Text 187"/>
          <p:cNvSpPr/>
          <p:nvPr/>
        </p:nvSpPr>
        <p:spPr>
          <a:xfrm>
            <a:off x="946404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10</a:t>
            </a:r>
            <a:endParaRPr lang="en-US" sz="863" dirty="0"/>
          </a:p>
        </p:txBody>
      </p:sp>
      <p:sp>
        <p:nvSpPr>
          <p:cNvPr id="190" name="Shape 188"/>
          <p:cNvSpPr/>
          <p:nvPr/>
        </p:nvSpPr>
        <p:spPr>
          <a:xfrm>
            <a:off x="1241298" y="3909060"/>
            <a:ext cx="294894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91" name="Text 189"/>
          <p:cNvSpPr/>
          <p:nvPr/>
        </p:nvSpPr>
        <p:spPr>
          <a:xfrm>
            <a:off x="1241298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11</a:t>
            </a:r>
            <a:endParaRPr lang="en-US" sz="863" dirty="0"/>
          </a:p>
        </p:txBody>
      </p:sp>
      <p:sp>
        <p:nvSpPr>
          <p:cNvPr id="192" name="Shape 190"/>
          <p:cNvSpPr/>
          <p:nvPr/>
        </p:nvSpPr>
        <p:spPr>
          <a:xfrm>
            <a:off x="1536192" y="3909060"/>
            <a:ext cx="294894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93" name="Text 191"/>
          <p:cNvSpPr/>
          <p:nvPr/>
        </p:nvSpPr>
        <p:spPr>
          <a:xfrm>
            <a:off x="1536192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12</a:t>
            </a:r>
            <a:endParaRPr lang="en-US" sz="863" dirty="0"/>
          </a:p>
        </p:txBody>
      </p:sp>
      <p:sp>
        <p:nvSpPr>
          <p:cNvPr id="194" name="Shape 192"/>
          <p:cNvSpPr/>
          <p:nvPr/>
        </p:nvSpPr>
        <p:spPr>
          <a:xfrm>
            <a:off x="946404" y="4203954"/>
            <a:ext cx="452628" cy="192024"/>
          </a:xfrm>
          <a:prstGeom prst="roundRect">
            <a:avLst>
              <a:gd name="adj" fmla="val 17857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95" name="Text 193"/>
          <p:cNvSpPr/>
          <p:nvPr/>
        </p:nvSpPr>
        <p:spPr>
          <a:xfrm>
            <a:off x="946404" y="4224528"/>
            <a:ext cx="45262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(3,4)</a:t>
            </a:r>
            <a:endParaRPr lang="en-US" sz="788" dirty="0"/>
          </a:p>
        </p:txBody>
      </p:sp>
      <p:sp>
        <p:nvSpPr>
          <p:cNvPr id="196" name="Shape 194"/>
          <p:cNvSpPr/>
          <p:nvPr/>
        </p:nvSpPr>
        <p:spPr>
          <a:xfrm>
            <a:off x="1940814" y="3799332"/>
            <a:ext cx="493776" cy="0"/>
          </a:xfrm>
          <a:prstGeom prst="line">
            <a:avLst/>
          </a:prstGeom>
          <a:noFill/>
          <a:ln w="17780">
            <a:solidFill>
              <a:srgbClr val="7D879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 sz="1050"/>
          </a:p>
        </p:txBody>
      </p:sp>
      <p:sp>
        <p:nvSpPr>
          <p:cNvPr id="197" name="Shape 195"/>
          <p:cNvSpPr/>
          <p:nvPr/>
        </p:nvSpPr>
        <p:spPr>
          <a:xfrm>
            <a:off x="2619756" y="3415284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98" name="Text 196"/>
          <p:cNvSpPr/>
          <p:nvPr/>
        </p:nvSpPr>
        <p:spPr>
          <a:xfrm>
            <a:off x="2619756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</a:t>
            </a:r>
            <a:endParaRPr lang="en-US" sz="863" dirty="0"/>
          </a:p>
        </p:txBody>
      </p:sp>
      <p:sp>
        <p:nvSpPr>
          <p:cNvPr id="199" name="Shape 197"/>
          <p:cNvSpPr/>
          <p:nvPr/>
        </p:nvSpPr>
        <p:spPr>
          <a:xfrm>
            <a:off x="2914650" y="3415284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00" name="Text 198"/>
          <p:cNvSpPr/>
          <p:nvPr/>
        </p:nvSpPr>
        <p:spPr>
          <a:xfrm>
            <a:off x="2914650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2</a:t>
            </a:r>
            <a:endParaRPr lang="en-US" sz="863" dirty="0"/>
          </a:p>
        </p:txBody>
      </p:sp>
      <p:sp>
        <p:nvSpPr>
          <p:cNvPr id="201" name="Shape 199"/>
          <p:cNvSpPr/>
          <p:nvPr/>
        </p:nvSpPr>
        <p:spPr>
          <a:xfrm>
            <a:off x="3209544" y="3415284"/>
            <a:ext cx="294894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02" name="Text 200"/>
          <p:cNvSpPr/>
          <p:nvPr/>
        </p:nvSpPr>
        <p:spPr>
          <a:xfrm>
            <a:off x="3209544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3</a:t>
            </a:r>
            <a:endParaRPr lang="en-US" sz="863" dirty="0"/>
          </a:p>
        </p:txBody>
      </p:sp>
      <p:sp>
        <p:nvSpPr>
          <p:cNvPr id="203" name="Shape 201"/>
          <p:cNvSpPr/>
          <p:nvPr/>
        </p:nvSpPr>
        <p:spPr>
          <a:xfrm>
            <a:off x="3504438" y="3415284"/>
            <a:ext cx="294894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04" name="Text 202"/>
          <p:cNvSpPr/>
          <p:nvPr/>
        </p:nvSpPr>
        <p:spPr>
          <a:xfrm>
            <a:off x="3504438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4</a:t>
            </a:r>
            <a:endParaRPr lang="en-US" sz="863" dirty="0"/>
          </a:p>
        </p:txBody>
      </p:sp>
      <p:sp>
        <p:nvSpPr>
          <p:cNvPr id="205" name="Shape 203"/>
          <p:cNvSpPr/>
          <p:nvPr/>
        </p:nvSpPr>
        <p:spPr>
          <a:xfrm>
            <a:off x="2619756" y="3662172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06" name="Text 204"/>
          <p:cNvSpPr/>
          <p:nvPr/>
        </p:nvSpPr>
        <p:spPr>
          <a:xfrm>
            <a:off x="2619756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5</a:t>
            </a:r>
            <a:endParaRPr lang="en-US" sz="863" dirty="0"/>
          </a:p>
        </p:txBody>
      </p:sp>
      <p:sp>
        <p:nvSpPr>
          <p:cNvPr id="207" name="Shape 205"/>
          <p:cNvSpPr/>
          <p:nvPr/>
        </p:nvSpPr>
        <p:spPr>
          <a:xfrm>
            <a:off x="2914650" y="3662172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08" name="Text 206"/>
          <p:cNvSpPr/>
          <p:nvPr/>
        </p:nvSpPr>
        <p:spPr>
          <a:xfrm>
            <a:off x="2914650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6</a:t>
            </a:r>
            <a:endParaRPr lang="en-US" sz="863" dirty="0"/>
          </a:p>
        </p:txBody>
      </p:sp>
      <p:sp>
        <p:nvSpPr>
          <p:cNvPr id="209" name="Shape 207"/>
          <p:cNvSpPr/>
          <p:nvPr/>
        </p:nvSpPr>
        <p:spPr>
          <a:xfrm>
            <a:off x="3209544" y="3662172"/>
            <a:ext cx="294894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10" name="Text 208"/>
          <p:cNvSpPr/>
          <p:nvPr/>
        </p:nvSpPr>
        <p:spPr>
          <a:xfrm>
            <a:off x="3209544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7</a:t>
            </a:r>
            <a:endParaRPr lang="en-US" sz="863" dirty="0"/>
          </a:p>
        </p:txBody>
      </p:sp>
      <p:sp>
        <p:nvSpPr>
          <p:cNvPr id="211" name="Shape 209"/>
          <p:cNvSpPr/>
          <p:nvPr/>
        </p:nvSpPr>
        <p:spPr>
          <a:xfrm>
            <a:off x="3504438" y="3662172"/>
            <a:ext cx="294894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12" name="Text 210"/>
          <p:cNvSpPr/>
          <p:nvPr/>
        </p:nvSpPr>
        <p:spPr>
          <a:xfrm>
            <a:off x="3504438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8</a:t>
            </a:r>
            <a:endParaRPr lang="en-US" sz="863" dirty="0"/>
          </a:p>
        </p:txBody>
      </p:sp>
      <p:sp>
        <p:nvSpPr>
          <p:cNvPr id="213" name="Shape 211"/>
          <p:cNvSpPr/>
          <p:nvPr/>
        </p:nvSpPr>
        <p:spPr>
          <a:xfrm>
            <a:off x="2619756" y="3909060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14" name="Text 212"/>
          <p:cNvSpPr/>
          <p:nvPr/>
        </p:nvSpPr>
        <p:spPr>
          <a:xfrm>
            <a:off x="2619756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9</a:t>
            </a:r>
            <a:endParaRPr lang="en-US" sz="863" dirty="0"/>
          </a:p>
        </p:txBody>
      </p:sp>
      <p:sp>
        <p:nvSpPr>
          <p:cNvPr id="215" name="Shape 213"/>
          <p:cNvSpPr/>
          <p:nvPr/>
        </p:nvSpPr>
        <p:spPr>
          <a:xfrm>
            <a:off x="2914650" y="3909060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16" name="Text 214"/>
          <p:cNvSpPr/>
          <p:nvPr/>
        </p:nvSpPr>
        <p:spPr>
          <a:xfrm>
            <a:off x="2914650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10</a:t>
            </a:r>
            <a:endParaRPr lang="en-US" sz="863" dirty="0"/>
          </a:p>
        </p:txBody>
      </p:sp>
      <p:sp>
        <p:nvSpPr>
          <p:cNvPr id="217" name="Shape 215"/>
          <p:cNvSpPr/>
          <p:nvPr/>
        </p:nvSpPr>
        <p:spPr>
          <a:xfrm>
            <a:off x="3209544" y="3909060"/>
            <a:ext cx="294894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18" name="Text 216"/>
          <p:cNvSpPr/>
          <p:nvPr/>
        </p:nvSpPr>
        <p:spPr>
          <a:xfrm>
            <a:off x="3209544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11</a:t>
            </a:r>
            <a:endParaRPr lang="en-US" sz="863" dirty="0"/>
          </a:p>
        </p:txBody>
      </p:sp>
      <p:sp>
        <p:nvSpPr>
          <p:cNvPr id="219" name="Shape 217"/>
          <p:cNvSpPr/>
          <p:nvPr/>
        </p:nvSpPr>
        <p:spPr>
          <a:xfrm>
            <a:off x="3504438" y="3909060"/>
            <a:ext cx="294894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20" name="Text 218"/>
          <p:cNvSpPr/>
          <p:nvPr/>
        </p:nvSpPr>
        <p:spPr>
          <a:xfrm>
            <a:off x="3504438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12</a:t>
            </a:r>
            <a:endParaRPr lang="en-US" sz="863" dirty="0"/>
          </a:p>
        </p:txBody>
      </p:sp>
      <p:sp>
        <p:nvSpPr>
          <p:cNvPr id="221" name="Shape 219"/>
          <p:cNvSpPr/>
          <p:nvPr/>
        </p:nvSpPr>
        <p:spPr>
          <a:xfrm>
            <a:off x="2516886" y="3374136"/>
            <a:ext cx="0" cy="795528"/>
          </a:xfrm>
          <a:prstGeom prst="line">
            <a:avLst/>
          </a:prstGeom>
          <a:noFill/>
          <a:ln w="15240">
            <a:solidFill>
              <a:srgbClr val="173F7A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22" name="Shape 220"/>
          <p:cNvSpPr/>
          <p:nvPr/>
        </p:nvSpPr>
        <p:spPr>
          <a:xfrm>
            <a:off x="2516886" y="3374136"/>
            <a:ext cx="82296" cy="0"/>
          </a:xfrm>
          <a:prstGeom prst="line">
            <a:avLst/>
          </a:prstGeom>
          <a:noFill/>
          <a:ln w="15240">
            <a:solidFill>
              <a:srgbClr val="173F7A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23" name="Shape 221"/>
          <p:cNvSpPr/>
          <p:nvPr/>
        </p:nvSpPr>
        <p:spPr>
          <a:xfrm>
            <a:off x="2516886" y="4169664"/>
            <a:ext cx="82296" cy="0"/>
          </a:xfrm>
          <a:prstGeom prst="line">
            <a:avLst/>
          </a:prstGeom>
          <a:noFill/>
          <a:ln w="15240">
            <a:solidFill>
              <a:srgbClr val="173F7A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24" name="Text 222"/>
          <p:cNvSpPr/>
          <p:nvPr/>
        </p:nvSpPr>
        <p:spPr>
          <a:xfrm>
            <a:off x="2019681" y="3490722"/>
            <a:ext cx="28803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73F7A"/>
                </a:solidFill>
              </a:rPr>
              <a:t>new</a:t>
            </a:r>
            <a:endParaRPr lang="en-US" sz="750" dirty="0"/>
          </a:p>
          <a:p>
            <a:pPr algn="ctr"/>
            <a:r>
              <a:rPr lang="en-US" sz="750" b="1" dirty="0">
                <a:solidFill>
                  <a:srgbClr val="173F7A"/>
                </a:solidFill>
              </a:rPr>
              <a:t>axis</a:t>
            </a:r>
            <a:endParaRPr lang="en-US" sz="750" dirty="0"/>
          </a:p>
        </p:txBody>
      </p:sp>
      <p:sp>
        <p:nvSpPr>
          <p:cNvPr id="225" name="Shape 223"/>
          <p:cNvSpPr/>
          <p:nvPr/>
        </p:nvSpPr>
        <p:spPr>
          <a:xfrm>
            <a:off x="2948940" y="4203954"/>
            <a:ext cx="576072" cy="192024"/>
          </a:xfrm>
          <a:prstGeom prst="roundRect">
            <a:avLst>
              <a:gd name="adj" fmla="val 17857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26" name="Text 224"/>
          <p:cNvSpPr/>
          <p:nvPr/>
        </p:nvSpPr>
        <p:spPr>
          <a:xfrm>
            <a:off x="2948940" y="4224528"/>
            <a:ext cx="57607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(1,3,4)</a:t>
            </a:r>
            <a:endParaRPr lang="en-US" sz="788" dirty="0"/>
          </a:p>
        </p:txBody>
      </p:sp>
      <p:sp>
        <p:nvSpPr>
          <p:cNvPr id="227" name="Shape 225"/>
          <p:cNvSpPr/>
          <p:nvPr/>
        </p:nvSpPr>
        <p:spPr>
          <a:xfrm>
            <a:off x="4608576" y="3003804"/>
            <a:ext cx="1028700" cy="288036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28" name="Text 226"/>
          <p:cNvSpPr/>
          <p:nvPr/>
        </p:nvSpPr>
        <p:spPr>
          <a:xfrm>
            <a:off x="4663440" y="3038094"/>
            <a:ext cx="11864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1E243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x.squeeze()</a:t>
            </a:r>
            <a:endParaRPr lang="en-US" sz="1163" dirty="0"/>
          </a:p>
        </p:txBody>
      </p:sp>
      <p:sp>
        <p:nvSpPr>
          <p:cNvPr id="229" name="Shape 227"/>
          <p:cNvSpPr/>
          <p:nvPr/>
        </p:nvSpPr>
        <p:spPr>
          <a:xfrm>
            <a:off x="4786884" y="3415284"/>
            <a:ext cx="205740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30" name="Text 228"/>
          <p:cNvSpPr/>
          <p:nvPr/>
        </p:nvSpPr>
        <p:spPr>
          <a:xfrm>
            <a:off x="4786884" y="3444911"/>
            <a:ext cx="205740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</a:t>
            </a:r>
            <a:endParaRPr lang="en-US" sz="863" dirty="0"/>
          </a:p>
        </p:txBody>
      </p:sp>
      <p:sp>
        <p:nvSpPr>
          <p:cNvPr id="231" name="Shape 229"/>
          <p:cNvSpPr/>
          <p:nvPr/>
        </p:nvSpPr>
        <p:spPr>
          <a:xfrm>
            <a:off x="4786884" y="3662172"/>
            <a:ext cx="205740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32" name="Text 230"/>
          <p:cNvSpPr/>
          <p:nvPr/>
        </p:nvSpPr>
        <p:spPr>
          <a:xfrm>
            <a:off x="4786884" y="3691799"/>
            <a:ext cx="205740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5</a:t>
            </a:r>
            <a:endParaRPr lang="en-US" sz="863" dirty="0"/>
          </a:p>
        </p:txBody>
      </p:sp>
      <p:sp>
        <p:nvSpPr>
          <p:cNvPr id="233" name="Shape 231"/>
          <p:cNvSpPr/>
          <p:nvPr/>
        </p:nvSpPr>
        <p:spPr>
          <a:xfrm>
            <a:off x="4786884" y="3909060"/>
            <a:ext cx="205740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34" name="Text 232"/>
          <p:cNvSpPr/>
          <p:nvPr/>
        </p:nvSpPr>
        <p:spPr>
          <a:xfrm>
            <a:off x="4786884" y="3938687"/>
            <a:ext cx="205740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9</a:t>
            </a:r>
            <a:endParaRPr lang="en-US" sz="863" dirty="0"/>
          </a:p>
        </p:txBody>
      </p:sp>
      <p:sp>
        <p:nvSpPr>
          <p:cNvPr id="235" name="Shape 233"/>
          <p:cNvSpPr/>
          <p:nvPr/>
        </p:nvSpPr>
        <p:spPr>
          <a:xfrm>
            <a:off x="5047488" y="3415284"/>
            <a:ext cx="267462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36" name="Text 234"/>
          <p:cNvSpPr/>
          <p:nvPr/>
        </p:nvSpPr>
        <p:spPr>
          <a:xfrm>
            <a:off x="5047488" y="3444911"/>
            <a:ext cx="267462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2</a:t>
            </a:r>
            <a:endParaRPr lang="en-US" sz="863" dirty="0"/>
          </a:p>
        </p:txBody>
      </p:sp>
      <p:sp>
        <p:nvSpPr>
          <p:cNvPr id="237" name="Shape 235"/>
          <p:cNvSpPr/>
          <p:nvPr/>
        </p:nvSpPr>
        <p:spPr>
          <a:xfrm>
            <a:off x="5314950" y="3415284"/>
            <a:ext cx="267462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38" name="Text 236"/>
          <p:cNvSpPr/>
          <p:nvPr/>
        </p:nvSpPr>
        <p:spPr>
          <a:xfrm>
            <a:off x="5314950" y="3444911"/>
            <a:ext cx="267462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3</a:t>
            </a:r>
            <a:endParaRPr lang="en-US" sz="863" dirty="0"/>
          </a:p>
        </p:txBody>
      </p:sp>
      <p:sp>
        <p:nvSpPr>
          <p:cNvPr id="239" name="Shape 237"/>
          <p:cNvSpPr/>
          <p:nvPr/>
        </p:nvSpPr>
        <p:spPr>
          <a:xfrm>
            <a:off x="5582412" y="3415284"/>
            <a:ext cx="267462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40" name="Text 238"/>
          <p:cNvSpPr/>
          <p:nvPr/>
        </p:nvSpPr>
        <p:spPr>
          <a:xfrm>
            <a:off x="5582412" y="3444911"/>
            <a:ext cx="267462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4</a:t>
            </a:r>
            <a:endParaRPr lang="en-US" sz="863" dirty="0"/>
          </a:p>
        </p:txBody>
      </p:sp>
      <p:sp>
        <p:nvSpPr>
          <p:cNvPr id="241" name="Shape 239"/>
          <p:cNvSpPr/>
          <p:nvPr/>
        </p:nvSpPr>
        <p:spPr>
          <a:xfrm>
            <a:off x="5047488" y="3662172"/>
            <a:ext cx="267462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42" name="Text 240"/>
          <p:cNvSpPr/>
          <p:nvPr/>
        </p:nvSpPr>
        <p:spPr>
          <a:xfrm>
            <a:off x="5047488" y="3691799"/>
            <a:ext cx="267462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6</a:t>
            </a:r>
            <a:endParaRPr lang="en-US" sz="863" dirty="0"/>
          </a:p>
        </p:txBody>
      </p:sp>
      <p:sp>
        <p:nvSpPr>
          <p:cNvPr id="243" name="Shape 241"/>
          <p:cNvSpPr/>
          <p:nvPr/>
        </p:nvSpPr>
        <p:spPr>
          <a:xfrm>
            <a:off x="5314950" y="3662172"/>
            <a:ext cx="267462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44" name="Text 242"/>
          <p:cNvSpPr/>
          <p:nvPr/>
        </p:nvSpPr>
        <p:spPr>
          <a:xfrm>
            <a:off x="5314950" y="3691799"/>
            <a:ext cx="267462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7</a:t>
            </a:r>
            <a:endParaRPr lang="en-US" sz="863" dirty="0"/>
          </a:p>
        </p:txBody>
      </p:sp>
      <p:sp>
        <p:nvSpPr>
          <p:cNvPr id="245" name="Shape 243"/>
          <p:cNvSpPr/>
          <p:nvPr/>
        </p:nvSpPr>
        <p:spPr>
          <a:xfrm>
            <a:off x="5582412" y="3662172"/>
            <a:ext cx="267462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46" name="Text 244"/>
          <p:cNvSpPr/>
          <p:nvPr/>
        </p:nvSpPr>
        <p:spPr>
          <a:xfrm>
            <a:off x="5582412" y="3691799"/>
            <a:ext cx="267462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8</a:t>
            </a:r>
            <a:endParaRPr lang="en-US" sz="863" dirty="0"/>
          </a:p>
        </p:txBody>
      </p:sp>
      <p:sp>
        <p:nvSpPr>
          <p:cNvPr id="247" name="Shape 245"/>
          <p:cNvSpPr/>
          <p:nvPr/>
        </p:nvSpPr>
        <p:spPr>
          <a:xfrm>
            <a:off x="5047488" y="3909060"/>
            <a:ext cx="267462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48" name="Text 246"/>
          <p:cNvSpPr/>
          <p:nvPr/>
        </p:nvSpPr>
        <p:spPr>
          <a:xfrm>
            <a:off x="5047488" y="3938687"/>
            <a:ext cx="267462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10</a:t>
            </a:r>
            <a:endParaRPr lang="en-US" sz="863" dirty="0"/>
          </a:p>
        </p:txBody>
      </p:sp>
      <p:sp>
        <p:nvSpPr>
          <p:cNvPr id="249" name="Shape 247"/>
          <p:cNvSpPr/>
          <p:nvPr/>
        </p:nvSpPr>
        <p:spPr>
          <a:xfrm>
            <a:off x="5314950" y="3909060"/>
            <a:ext cx="267462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50" name="Text 248"/>
          <p:cNvSpPr/>
          <p:nvPr/>
        </p:nvSpPr>
        <p:spPr>
          <a:xfrm>
            <a:off x="5314950" y="3938687"/>
            <a:ext cx="267462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11</a:t>
            </a:r>
            <a:endParaRPr lang="en-US" sz="863" dirty="0"/>
          </a:p>
        </p:txBody>
      </p:sp>
      <p:sp>
        <p:nvSpPr>
          <p:cNvPr id="251" name="Shape 249"/>
          <p:cNvSpPr/>
          <p:nvPr/>
        </p:nvSpPr>
        <p:spPr>
          <a:xfrm>
            <a:off x="5582412" y="3909060"/>
            <a:ext cx="267462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52" name="Text 250"/>
          <p:cNvSpPr/>
          <p:nvPr/>
        </p:nvSpPr>
        <p:spPr>
          <a:xfrm>
            <a:off x="5582412" y="3938687"/>
            <a:ext cx="267462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12</a:t>
            </a:r>
            <a:endParaRPr lang="en-US" sz="863" dirty="0"/>
          </a:p>
        </p:txBody>
      </p:sp>
      <p:sp>
        <p:nvSpPr>
          <p:cNvPr id="253" name="Shape 251"/>
          <p:cNvSpPr/>
          <p:nvPr/>
        </p:nvSpPr>
        <p:spPr>
          <a:xfrm>
            <a:off x="4718304" y="3374136"/>
            <a:ext cx="0" cy="795528"/>
          </a:xfrm>
          <a:prstGeom prst="line">
            <a:avLst/>
          </a:prstGeom>
          <a:noFill/>
          <a:ln w="15240">
            <a:solidFill>
              <a:srgbClr val="7D8798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54" name="Shape 252"/>
          <p:cNvSpPr/>
          <p:nvPr/>
        </p:nvSpPr>
        <p:spPr>
          <a:xfrm>
            <a:off x="4718304" y="3374136"/>
            <a:ext cx="82296" cy="0"/>
          </a:xfrm>
          <a:prstGeom prst="line">
            <a:avLst/>
          </a:prstGeom>
          <a:noFill/>
          <a:ln w="15240">
            <a:solidFill>
              <a:srgbClr val="7D8798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55" name="Shape 253"/>
          <p:cNvSpPr/>
          <p:nvPr/>
        </p:nvSpPr>
        <p:spPr>
          <a:xfrm>
            <a:off x="4718304" y="4169664"/>
            <a:ext cx="82296" cy="0"/>
          </a:xfrm>
          <a:prstGeom prst="line">
            <a:avLst/>
          </a:prstGeom>
          <a:noFill/>
          <a:ln w="15240">
            <a:solidFill>
              <a:srgbClr val="7D8798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56" name="Text 254"/>
          <p:cNvSpPr/>
          <p:nvPr/>
        </p:nvSpPr>
        <p:spPr>
          <a:xfrm rot="16200000">
            <a:off x="4471416" y="3717036"/>
            <a:ext cx="1783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7D8798"/>
                </a:solidFill>
              </a:rPr>
              <a:t>size 1</a:t>
            </a:r>
            <a:endParaRPr lang="en-US" sz="713" dirty="0"/>
          </a:p>
        </p:txBody>
      </p:sp>
      <p:sp>
        <p:nvSpPr>
          <p:cNvPr id="257" name="Shape 255"/>
          <p:cNvSpPr/>
          <p:nvPr/>
        </p:nvSpPr>
        <p:spPr>
          <a:xfrm>
            <a:off x="4903470" y="4203954"/>
            <a:ext cx="576072" cy="192024"/>
          </a:xfrm>
          <a:prstGeom prst="roundRect">
            <a:avLst>
              <a:gd name="adj" fmla="val 17857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58" name="Text 256"/>
          <p:cNvSpPr/>
          <p:nvPr/>
        </p:nvSpPr>
        <p:spPr>
          <a:xfrm>
            <a:off x="4903470" y="4224528"/>
            <a:ext cx="57607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(3,1,4)</a:t>
            </a:r>
            <a:endParaRPr lang="en-US" sz="788" dirty="0"/>
          </a:p>
        </p:txBody>
      </p:sp>
      <p:sp>
        <p:nvSpPr>
          <p:cNvPr id="259" name="Shape 257"/>
          <p:cNvSpPr/>
          <p:nvPr/>
        </p:nvSpPr>
        <p:spPr>
          <a:xfrm>
            <a:off x="5879746" y="3799332"/>
            <a:ext cx="445770" cy="0"/>
          </a:xfrm>
          <a:prstGeom prst="line">
            <a:avLst/>
          </a:prstGeom>
          <a:noFill/>
          <a:ln w="17780">
            <a:solidFill>
              <a:srgbClr val="7D879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0" name="Shape 258"/>
          <p:cNvSpPr/>
          <p:nvPr/>
        </p:nvSpPr>
        <p:spPr>
          <a:xfrm>
            <a:off x="6364224" y="3415284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1" name="Text 259"/>
          <p:cNvSpPr/>
          <p:nvPr/>
        </p:nvSpPr>
        <p:spPr>
          <a:xfrm>
            <a:off x="6364224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</a:t>
            </a:r>
            <a:endParaRPr lang="en-US" sz="863" dirty="0"/>
          </a:p>
        </p:txBody>
      </p:sp>
      <p:sp>
        <p:nvSpPr>
          <p:cNvPr id="262" name="Shape 260"/>
          <p:cNvSpPr/>
          <p:nvPr/>
        </p:nvSpPr>
        <p:spPr>
          <a:xfrm>
            <a:off x="6659118" y="3415284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3" name="Text 261"/>
          <p:cNvSpPr/>
          <p:nvPr/>
        </p:nvSpPr>
        <p:spPr>
          <a:xfrm>
            <a:off x="6659118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2</a:t>
            </a:r>
            <a:endParaRPr lang="en-US" sz="863" dirty="0"/>
          </a:p>
        </p:txBody>
      </p:sp>
      <p:sp>
        <p:nvSpPr>
          <p:cNvPr id="264" name="Shape 262"/>
          <p:cNvSpPr/>
          <p:nvPr/>
        </p:nvSpPr>
        <p:spPr>
          <a:xfrm>
            <a:off x="6954012" y="3415284"/>
            <a:ext cx="294894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5" name="Text 263"/>
          <p:cNvSpPr/>
          <p:nvPr/>
        </p:nvSpPr>
        <p:spPr>
          <a:xfrm>
            <a:off x="6954012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3</a:t>
            </a:r>
            <a:endParaRPr lang="en-US" sz="863" dirty="0"/>
          </a:p>
        </p:txBody>
      </p:sp>
      <p:sp>
        <p:nvSpPr>
          <p:cNvPr id="266" name="Shape 264"/>
          <p:cNvSpPr/>
          <p:nvPr/>
        </p:nvSpPr>
        <p:spPr>
          <a:xfrm>
            <a:off x="7248906" y="3415284"/>
            <a:ext cx="294894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7" name="Text 265"/>
          <p:cNvSpPr/>
          <p:nvPr/>
        </p:nvSpPr>
        <p:spPr>
          <a:xfrm>
            <a:off x="7248906" y="3444911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4</a:t>
            </a:r>
            <a:endParaRPr lang="en-US" sz="863" dirty="0"/>
          </a:p>
        </p:txBody>
      </p:sp>
      <p:sp>
        <p:nvSpPr>
          <p:cNvPr id="268" name="Shape 266"/>
          <p:cNvSpPr/>
          <p:nvPr/>
        </p:nvSpPr>
        <p:spPr>
          <a:xfrm>
            <a:off x="6364224" y="3662172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9" name="Text 267"/>
          <p:cNvSpPr/>
          <p:nvPr/>
        </p:nvSpPr>
        <p:spPr>
          <a:xfrm>
            <a:off x="6364224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5</a:t>
            </a:r>
            <a:endParaRPr lang="en-US" sz="863" dirty="0"/>
          </a:p>
        </p:txBody>
      </p:sp>
      <p:sp>
        <p:nvSpPr>
          <p:cNvPr id="270" name="Shape 268"/>
          <p:cNvSpPr/>
          <p:nvPr/>
        </p:nvSpPr>
        <p:spPr>
          <a:xfrm>
            <a:off x="6659118" y="3662172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71" name="Text 269"/>
          <p:cNvSpPr/>
          <p:nvPr/>
        </p:nvSpPr>
        <p:spPr>
          <a:xfrm>
            <a:off x="6659118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6</a:t>
            </a:r>
            <a:endParaRPr lang="en-US" sz="863" dirty="0"/>
          </a:p>
        </p:txBody>
      </p:sp>
      <p:sp>
        <p:nvSpPr>
          <p:cNvPr id="272" name="Shape 270"/>
          <p:cNvSpPr/>
          <p:nvPr/>
        </p:nvSpPr>
        <p:spPr>
          <a:xfrm>
            <a:off x="6954012" y="3662172"/>
            <a:ext cx="294894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73" name="Text 271"/>
          <p:cNvSpPr/>
          <p:nvPr/>
        </p:nvSpPr>
        <p:spPr>
          <a:xfrm>
            <a:off x="6954012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7</a:t>
            </a:r>
            <a:endParaRPr lang="en-US" sz="863" dirty="0"/>
          </a:p>
        </p:txBody>
      </p:sp>
      <p:sp>
        <p:nvSpPr>
          <p:cNvPr id="274" name="Shape 272"/>
          <p:cNvSpPr/>
          <p:nvPr/>
        </p:nvSpPr>
        <p:spPr>
          <a:xfrm>
            <a:off x="7248906" y="3662172"/>
            <a:ext cx="294894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75" name="Text 273"/>
          <p:cNvSpPr/>
          <p:nvPr/>
        </p:nvSpPr>
        <p:spPr>
          <a:xfrm>
            <a:off x="7248906" y="3691799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8</a:t>
            </a:r>
            <a:endParaRPr lang="en-US" sz="863" dirty="0"/>
          </a:p>
        </p:txBody>
      </p:sp>
      <p:sp>
        <p:nvSpPr>
          <p:cNvPr id="276" name="Shape 274"/>
          <p:cNvSpPr/>
          <p:nvPr/>
        </p:nvSpPr>
        <p:spPr>
          <a:xfrm>
            <a:off x="6364224" y="3909060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77" name="Text 275"/>
          <p:cNvSpPr/>
          <p:nvPr/>
        </p:nvSpPr>
        <p:spPr>
          <a:xfrm>
            <a:off x="6364224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9</a:t>
            </a:r>
            <a:endParaRPr lang="en-US" sz="863" dirty="0"/>
          </a:p>
        </p:txBody>
      </p:sp>
      <p:sp>
        <p:nvSpPr>
          <p:cNvPr id="278" name="Shape 276"/>
          <p:cNvSpPr/>
          <p:nvPr/>
        </p:nvSpPr>
        <p:spPr>
          <a:xfrm>
            <a:off x="6659118" y="3909060"/>
            <a:ext cx="294894" cy="246888"/>
          </a:xfrm>
          <a:prstGeom prst="rect">
            <a:avLst/>
          </a:prstGeom>
          <a:solidFill>
            <a:srgbClr val="FCE0B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79" name="Text 277"/>
          <p:cNvSpPr/>
          <p:nvPr/>
        </p:nvSpPr>
        <p:spPr>
          <a:xfrm>
            <a:off x="6659118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10</a:t>
            </a:r>
            <a:endParaRPr lang="en-US" sz="863" dirty="0"/>
          </a:p>
        </p:txBody>
      </p:sp>
      <p:sp>
        <p:nvSpPr>
          <p:cNvPr id="280" name="Shape 278"/>
          <p:cNvSpPr/>
          <p:nvPr/>
        </p:nvSpPr>
        <p:spPr>
          <a:xfrm>
            <a:off x="6954012" y="3909060"/>
            <a:ext cx="294894" cy="246888"/>
          </a:xfrm>
          <a:prstGeom prst="rect">
            <a:avLst/>
          </a:prstGeom>
          <a:solidFill>
            <a:srgbClr val="DFF4E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81" name="Text 279"/>
          <p:cNvSpPr/>
          <p:nvPr/>
        </p:nvSpPr>
        <p:spPr>
          <a:xfrm>
            <a:off x="6954012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11</a:t>
            </a:r>
            <a:endParaRPr lang="en-US" sz="863" dirty="0"/>
          </a:p>
        </p:txBody>
      </p:sp>
      <p:sp>
        <p:nvSpPr>
          <p:cNvPr id="282" name="Shape 280"/>
          <p:cNvSpPr/>
          <p:nvPr/>
        </p:nvSpPr>
        <p:spPr>
          <a:xfrm>
            <a:off x="7248906" y="3909060"/>
            <a:ext cx="294894" cy="246888"/>
          </a:xfrm>
          <a:prstGeom prst="rect">
            <a:avLst/>
          </a:prstGeom>
          <a:solidFill>
            <a:srgbClr val="DDEEFE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83" name="Text 281"/>
          <p:cNvSpPr/>
          <p:nvPr/>
        </p:nvSpPr>
        <p:spPr>
          <a:xfrm>
            <a:off x="7248906" y="3938687"/>
            <a:ext cx="294894" cy="16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3" dirty="0">
                <a:solidFill>
                  <a:srgbClr val="1E2430"/>
                </a:solidFill>
              </a:rPr>
              <a:t>12</a:t>
            </a:r>
            <a:endParaRPr lang="en-US" sz="863" dirty="0"/>
          </a:p>
        </p:txBody>
      </p:sp>
      <p:sp>
        <p:nvSpPr>
          <p:cNvPr id="284" name="Shape 282"/>
          <p:cNvSpPr/>
          <p:nvPr/>
        </p:nvSpPr>
        <p:spPr>
          <a:xfrm>
            <a:off x="6672834" y="4203954"/>
            <a:ext cx="452628" cy="192024"/>
          </a:xfrm>
          <a:prstGeom prst="roundRect">
            <a:avLst>
              <a:gd name="adj" fmla="val 17857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85" name="Text 283"/>
          <p:cNvSpPr/>
          <p:nvPr/>
        </p:nvSpPr>
        <p:spPr>
          <a:xfrm>
            <a:off x="6672834" y="4224528"/>
            <a:ext cx="45262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(3,4)</a:t>
            </a:r>
            <a:endParaRPr lang="en-US" sz="788" dirty="0"/>
          </a:p>
        </p:txBody>
      </p:sp>
      <p:sp>
        <p:nvSpPr>
          <p:cNvPr id="286" name="Text 284"/>
          <p:cNvSpPr/>
          <p:nvPr/>
        </p:nvSpPr>
        <p:spPr>
          <a:xfrm>
            <a:off x="6035040" y="4471416"/>
            <a:ext cx="1851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40" dirty="0">
                <a:solidFill>
                  <a:srgbClr val="7D8798"/>
                </a:solidFill>
              </a:rPr>
              <a:t>removes all dimensions whose size is 1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102870"/>
          </a:xfrm>
          <a:prstGeom prst="rect">
            <a:avLst/>
          </a:prstGeom>
          <a:solidFill>
            <a:srgbClr val="173F7A"/>
          </a:solidFill>
          <a:ln w="12700">
            <a:solidFill>
              <a:srgbClr val="173F7A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" name="Text 1"/>
          <p:cNvSpPr/>
          <p:nvPr/>
        </p:nvSpPr>
        <p:spPr>
          <a:xfrm>
            <a:off x="425196" y="240030"/>
            <a:ext cx="60350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0F2F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Permute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25196" y="562356"/>
            <a:ext cx="7886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3" dirty="0">
                <a:solidFill>
                  <a:srgbClr val="7D8798"/>
                </a:solidFill>
              </a:rPr>
              <a:t>Reorder the meaning of each dimension</a:t>
            </a:r>
            <a:endParaRPr lang="en-US" sz="863" dirty="0"/>
          </a:p>
        </p:txBody>
      </p:sp>
      <p:sp>
        <p:nvSpPr>
          <p:cNvPr id="5" name="Shape 3"/>
          <p:cNvSpPr/>
          <p:nvPr/>
        </p:nvSpPr>
        <p:spPr>
          <a:xfrm>
            <a:off x="452628" y="809244"/>
            <a:ext cx="1467612" cy="288036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507492" y="843534"/>
            <a:ext cx="1692591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63" b="1" dirty="0">
                <a:solidFill>
                  <a:srgbClr val="1E243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x.permute(2, 0, 1)</a:t>
            </a:r>
            <a:endParaRPr lang="en-US" sz="1163" dirty="0"/>
          </a:p>
        </p:txBody>
      </p:sp>
      <p:sp>
        <p:nvSpPr>
          <p:cNvPr id="7" name="Text 5"/>
          <p:cNvSpPr/>
          <p:nvPr/>
        </p:nvSpPr>
        <p:spPr>
          <a:xfrm>
            <a:off x="2276856" y="812673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E2430"/>
                </a:solidFill>
              </a:rPr>
              <a:t>Common image case: convert (H, W, C) to (C, H, W)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3504" y="1275588"/>
            <a:ext cx="17830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7D8798"/>
                </a:solidFill>
              </a:rPr>
              <a:t>before: channel-last image tensor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685800" y="1495044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" name="Shape 8"/>
          <p:cNvSpPr/>
          <p:nvPr/>
        </p:nvSpPr>
        <p:spPr>
          <a:xfrm>
            <a:off x="818388" y="1495044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" name="Shape 9"/>
          <p:cNvSpPr/>
          <p:nvPr/>
        </p:nvSpPr>
        <p:spPr>
          <a:xfrm>
            <a:off x="950976" y="1495044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>
            <a:off x="685800" y="1570482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1</a:t>
            </a:r>
            <a:endParaRPr lang="en-US" sz="713" dirty="0"/>
          </a:p>
        </p:txBody>
      </p:sp>
      <p:sp>
        <p:nvSpPr>
          <p:cNvPr id="13" name="Shape 11"/>
          <p:cNvSpPr/>
          <p:nvPr/>
        </p:nvSpPr>
        <p:spPr>
          <a:xfrm>
            <a:off x="1083564" y="1495044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" name="Shape 12"/>
          <p:cNvSpPr/>
          <p:nvPr/>
        </p:nvSpPr>
        <p:spPr>
          <a:xfrm>
            <a:off x="1216152" y="1495044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" name="Shape 13"/>
          <p:cNvSpPr/>
          <p:nvPr/>
        </p:nvSpPr>
        <p:spPr>
          <a:xfrm>
            <a:off x="1348740" y="1495044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6" name="Text 14"/>
          <p:cNvSpPr/>
          <p:nvPr/>
        </p:nvSpPr>
        <p:spPr>
          <a:xfrm>
            <a:off x="1083564" y="1570482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2</a:t>
            </a:r>
            <a:endParaRPr lang="en-US" sz="713" dirty="0"/>
          </a:p>
        </p:txBody>
      </p:sp>
      <p:sp>
        <p:nvSpPr>
          <p:cNvPr id="17" name="Shape 15"/>
          <p:cNvSpPr/>
          <p:nvPr/>
        </p:nvSpPr>
        <p:spPr>
          <a:xfrm>
            <a:off x="1481328" y="1495044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8" name="Shape 16"/>
          <p:cNvSpPr/>
          <p:nvPr/>
        </p:nvSpPr>
        <p:spPr>
          <a:xfrm>
            <a:off x="1613916" y="1495044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9" name="Shape 17"/>
          <p:cNvSpPr/>
          <p:nvPr/>
        </p:nvSpPr>
        <p:spPr>
          <a:xfrm>
            <a:off x="1746504" y="1495044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0" name="Text 18"/>
          <p:cNvSpPr/>
          <p:nvPr/>
        </p:nvSpPr>
        <p:spPr>
          <a:xfrm>
            <a:off x="1481328" y="1570482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3</a:t>
            </a:r>
            <a:endParaRPr lang="en-US" sz="713" dirty="0"/>
          </a:p>
        </p:txBody>
      </p:sp>
      <p:sp>
        <p:nvSpPr>
          <p:cNvPr id="21" name="Shape 19"/>
          <p:cNvSpPr/>
          <p:nvPr/>
        </p:nvSpPr>
        <p:spPr>
          <a:xfrm>
            <a:off x="1879092" y="1495044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2" name="Shape 20"/>
          <p:cNvSpPr/>
          <p:nvPr/>
        </p:nvSpPr>
        <p:spPr>
          <a:xfrm>
            <a:off x="2011680" y="1495044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3" name="Shape 21"/>
          <p:cNvSpPr/>
          <p:nvPr/>
        </p:nvSpPr>
        <p:spPr>
          <a:xfrm>
            <a:off x="2144268" y="1495044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4" name="Text 22"/>
          <p:cNvSpPr/>
          <p:nvPr/>
        </p:nvSpPr>
        <p:spPr>
          <a:xfrm>
            <a:off x="1879092" y="1570482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4</a:t>
            </a:r>
            <a:endParaRPr lang="en-US" sz="713" dirty="0"/>
          </a:p>
        </p:txBody>
      </p:sp>
      <p:sp>
        <p:nvSpPr>
          <p:cNvPr id="25" name="Shape 23"/>
          <p:cNvSpPr/>
          <p:nvPr/>
        </p:nvSpPr>
        <p:spPr>
          <a:xfrm>
            <a:off x="685800" y="1817370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" name="Shape 24"/>
          <p:cNvSpPr/>
          <p:nvPr/>
        </p:nvSpPr>
        <p:spPr>
          <a:xfrm>
            <a:off x="818388" y="1817370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7" name="Shape 25"/>
          <p:cNvSpPr/>
          <p:nvPr/>
        </p:nvSpPr>
        <p:spPr>
          <a:xfrm>
            <a:off x="950976" y="1817370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8" name="Text 26"/>
          <p:cNvSpPr/>
          <p:nvPr/>
        </p:nvSpPr>
        <p:spPr>
          <a:xfrm>
            <a:off x="685800" y="1892808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5</a:t>
            </a:r>
            <a:endParaRPr lang="en-US" sz="713" dirty="0"/>
          </a:p>
        </p:txBody>
      </p:sp>
      <p:sp>
        <p:nvSpPr>
          <p:cNvPr id="29" name="Shape 27"/>
          <p:cNvSpPr/>
          <p:nvPr/>
        </p:nvSpPr>
        <p:spPr>
          <a:xfrm>
            <a:off x="1083564" y="1817370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0" name="Shape 28"/>
          <p:cNvSpPr/>
          <p:nvPr/>
        </p:nvSpPr>
        <p:spPr>
          <a:xfrm>
            <a:off x="1216152" y="1817370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1" name="Shape 29"/>
          <p:cNvSpPr/>
          <p:nvPr/>
        </p:nvSpPr>
        <p:spPr>
          <a:xfrm>
            <a:off x="1348740" y="1817370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2" name="Text 30"/>
          <p:cNvSpPr/>
          <p:nvPr/>
        </p:nvSpPr>
        <p:spPr>
          <a:xfrm>
            <a:off x="1083564" y="1892808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6</a:t>
            </a:r>
            <a:endParaRPr lang="en-US" sz="713" dirty="0"/>
          </a:p>
        </p:txBody>
      </p:sp>
      <p:sp>
        <p:nvSpPr>
          <p:cNvPr id="33" name="Shape 31"/>
          <p:cNvSpPr/>
          <p:nvPr/>
        </p:nvSpPr>
        <p:spPr>
          <a:xfrm>
            <a:off x="1481328" y="1817370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4" name="Shape 32"/>
          <p:cNvSpPr/>
          <p:nvPr/>
        </p:nvSpPr>
        <p:spPr>
          <a:xfrm>
            <a:off x="1613916" y="1817370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5" name="Shape 33"/>
          <p:cNvSpPr/>
          <p:nvPr/>
        </p:nvSpPr>
        <p:spPr>
          <a:xfrm>
            <a:off x="1746504" y="1817370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6" name="Text 34"/>
          <p:cNvSpPr/>
          <p:nvPr/>
        </p:nvSpPr>
        <p:spPr>
          <a:xfrm>
            <a:off x="1481328" y="1892808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7</a:t>
            </a:r>
            <a:endParaRPr lang="en-US" sz="713" dirty="0"/>
          </a:p>
        </p:txBody>
      </p:sp>
      <p:sp>
        <p:nvSpPr>
          <p:cNvPr id="37" name="Shape 35"/>
          <p:cNvSpPr/>
          <p:nvPr/>
        </p:nvSpPr>
        <p:spPr>
          <a:xfrm>
            <a:off x="1879092" y="1817370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8" name="Shape 36"/>
          <p:cNvSpPr/>
          <p:nvPr/>
        </p:nvSpPr>
        <p:spPr>
          <a:xfrm>
            <a:off x="2011680" y="1817370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9" name="Shape 37"/>
          <p:cNvSpPr/>
          <p:nvPr/>
        </p:nvSpPr>
        <p:spPr>
          <a:xfrm>
            <a:off x="2144268" y="1817370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0" name="Text 38"/>
          <p:cNvSpPr/>
          <p:nvPr/>
        </p:nvSpPr>
        <p:spPr>
          <a:xfrm>
            <a:off x="1879092" y="1892808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8</a:t>
            </a:r>
            <a:endParaRPr lang="en-US" sz="713" dirty="0"/>
          </a:p>
        </p:txBody>
      </p:sp>
      <p:sp>
        <p:nvSpPr>
          <p:cNvPr id="41" name="Shape 39"/>
          <p:cNvSpPr/>
          <p:nvPr/>
        </p:nvSpPr>
        <p:spPr>
          <a:xfrm>
            <a:off x="685800" y="2139696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2" name="Shape 40"/>
          <p:cNvSpPr/>
          <p:nvPr/>
        </p:nvSpPr>
        <p:spPr>
          <a:xfrm>
            <a:off x="818388" y="2139696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3" name="Shape 41"/>
          <p:cNvSpPr/>
          <p:nvPr/>
        </p:nvSpPr>
        <p:spPr>
          <a:xfrm>
            <a:off x="950976" y="2139696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4" name="Text 42"/>
          <p:cNvSpPr/>
          <p:nvPr/>
        </p:nvSpPr>
        <p:spPr>
          <a:xfrm>
            <a:off x="685800" y="2215134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9</a:t>
            </a:r>
            <a:endParaRPr lang="en-US" sz="713" dirty="0"/>
          </a:p>
        </p:txBody>
      </p:sp>
      <p:sp>
        <p:nvSpPr>
          <p:cNvPr id="45" name="Shape 43"/>
          <p:cNvSpPr/>
          <p:nvPr/>
        </p:nvSpPr>
        <p:spPr>
          <a:xfrm>
            <a:off x="1083564" y="2139696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6" name="Shape 44"/>
          <p:cNvSpPr/>
          <p:nvPr/>
        </p:nvSpPr>
        <p:spPr>
          <a:xfrm>
            <a:off x="1216152" y="2139696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7" name="Shape 45"/>
          <p:cNvSpPr/>
          <p:nvPr/>
        </p:nvSpPr>
        <p:spPr>
          <a:xfrm>
            <a:off x="1348740" y="2139696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48" name="Text 46"/>
          <p:cNvSpPr/>
          <p:nvPr/>
        </p:nvSpPr>
        <p:spPr>
          <a:xfrm>
            <a:off x="1083564" y="2215134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10</a:t>
            </a:r>
            <a:endParaRPr lang="en-US" sz="713" dirty="0"/>
          </a:p>
        </p:txBody>
      </p:sp>
      <p:sp>
        <p:nvSpPr>
          <p:cNvPr id="49" name="Shape 47"/>
          <p:cNvSpPr/>
          <p:nvPr/>
        </p:nvSpPr>
        <p:spPr>
          <a:xfrm>
            <a:off x="1481328" y="2139696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0" name="Shape 48"/>
          <p:cNvSpPr/>
          <p:nvPr/>
        </p:nvSpPr>
        <p:spPr>
          <a:xfrm>
            <a:off x="1613916" y="2139696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1" name="Shape 49"/>
          <p:cNvSpPr/>
          <p:nvPr/>
        </p:nvSpPr>
        <p:spPr>
          <a:xfrm>
            <a:off x="1746504" y="2139696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2" name="Text 50"/>
          <p:cNvSpPr/>
          <p:nvPr/>
        </p:nvSpPr>
        <p:spPr>
          <a:xfrm>
            <a:off x="1481328" y="2215134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11</a:t>
            </a:r>
            <a:endParaRPr lang="en-US" sz="713" dirty="0"/>
          </a:p>
        </p:txBody>
      </p:sp>
      <p:sp>
        <p:nvSpPr>
          <p:cNvPr id="53" name="Shape 51"/>
          <p:cNvSpPr/>
          <p:nvPr/>
        </p:nvSpPr>
        <p:spPr>
          <a:xfrm>
            <a:off x="1879092" y="2139696"/>
            <a:ext cx="132588" cy="322326"/>
          </a:xfrm>
          <a:prstGeom prst="rect">
            <a:avLst/>
          </a:prstGeom>
          <a:solidFill>
            <a:srgbClr val="FF6B6B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4" name="Shape 52"/>
          <p:cNvSpPr/>
          <p:nvPr/>
        </p:nvSpPr>
        <p:spPr>
          <a:xfrm>
            <a:off x="2011680" y="2139696"/>
            <a:ext cx="132588" cy="322326"/>
          </a:xfrm>
          <a:prstGeom prst="rect">
            <a:avLst/>
          </a:prstGeom>
          <a:solidFill>
            <a:srgbClr val="7DCE82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5" name="Shape 53"/>
          <p:cNvSpPr/>
          <p:nvPr/>
        </p:nvSpPr>
        <p:spPr>
          <a:xfrm>
            <a:off x="2144268" y="2139696"/>
            <a:ext cx="132588" cy="322326"/>
          </a:xfrm>
          <a:prstGeom prst="rect">
            <a:avLst/>
          </a:prstGeom>
          <a:solidFill>
            <a:srgbClr val="64B5F6"/>
          </a:solidFill>
          <a:ln w="50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6" name="Text 54"/>
          <p:cNvSpPr/>
          <p:nvPr/>
        </p:nvSpPr>
        <p:spPr>
          <a:xfrm>
            <a:off x="1879092" y="2215134"/>
            <a:ext cx="3977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12</a:t>
            </a:r>
            <a:endParaRPr lang="en-US" sz="713" dirty="0"/>
          </a:p>
        </p:txBody>
      </p:sp>
      <p:sp>
        <p:nvSpPr>
          <p:cNvPr id="57" name="Shape 55"/>
          <p:cNvSpPr/>
          <p:nvPr/>
        </p:nvSpPr>
        <p:spPr>
          <a:xfrm>
            <a:off x="637794" y="1447038"/>
            <a:ext cx="1687068" cy="1062990"/>
          </a:xfrm>
          <a:prstGeom prst="roundRect">
            <a:avLst>
              <a:gd name="adj" fmla="val 3226"/>
            </a:avLst>
          </a:prstGeom>
          <a:solidFill>
            <a:srgbClr val="FFFFFF">
              <a:alpha val="0"/>
            </a:srgbClr>
          </a:solidFill>
          <a:ln w="1397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8" name="Shape 56"/>
          <p:cNvSpPr/>
          <p:nvPr/>
        </p:nvSpPr>
        <p:spPr>
          <a:xfrm>
            <a:off x="363474" y="1865376"/>
            <a:ext cx="178308" cy="192024"/>
          </a:xfrm>
          <a:prstGeom prst="roundRect">
            <a:avLst>
              <a:gd name="adj" fmla="val 19231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59" name="Text 57"/>
          <p:cNvSpPr/>
          <p:nvPr/>
        </p:nvSpPr>
        <p:spPr>
          <a:xfrm>
            <a:off x="363474" y="1885950"/>
            <a:ext cx="17830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H</a:t>
            </a:r>
            <a:endParaRPr lang="en-US" sz="788" dirty="0"/>
          </a:p>
        </p:txBody>
      </p:sp>
      <p:sp>
        <p:nvSpPr>
          <p:cNvPr id="60" name="Shape 58"/>
          <p:cNvSpPr/>
          <p:nvPr/>
        </p:nvSpPr>
        <p:spPr>
          <a:xfrm>
            <a:off x="1234440" y="2571750"/>
            <a:ext cx="178308" cy="192024"/>
          </a:xfrm>
          <a:prstGeom prst="roundRect">
            <a:avLst>
              <a:gd name="adj" fmla="val 19231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1" name="Text 59"/>
          <p:cNvSpPr/>
          <p:nvPr/>
        </p:nvSpPr>
        <p:spPr>
          <a:xfrm>
            <a:off x="1234440" y="2592324"/>
            <a:ext cx="17830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W</a:t>
            </a:r>
            <a:endParaRPr lang="en-US" sz="788" dirty="0"/>
          </a:p>
        </p:txBody>
      </p:sp>
      <p:sp>
        <p:nvSpPr>
          <p:cNvPr id="62" name="Shape 60"/>
          <p:cNvSpPr/>
          <p:nvPr/>
        </p:nvSpPr>
        <p:spPr>
          <a:xfrm>
            <a:off x="2125980" y="1220724"/>
            <a:ext cx="178308" cy="192024"/>
          </a:xfrm>
          <a:prstGeom prst="roundRect">
            <a:avLst>
              <a:gd name="adj" fmla="val 19231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3" name="Text 61"/>
          <p:cNvSpPr/>
          <p:nvPr/>
        </p:nvSpPr>
        <p:spPr>
          <a:xfrm>
            <a:off x="2125980" y="1241298"/>
            <a:ext cx="17830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C</a:t>
            </a:r>
            <a:endParaRPr lang="en-US" sz="788" dirty="0"/>
          </a:p>
        </p:txBody>
      </p:sp>
      <p:sp>
        <p:nvSpPr>
          <p:cNvPr id="64" name="Shape 62"/>
          <p:cNvSpPr/>
          <p:nvPr/>
        </p:nvSpPr>
        <p:spPr>
          <a:xfrm>
            <a:off x="534924" y="2880360"/>
            <a:ext cx="2023110" cy="493776"/>
          </a:xfrm>
          <a:prstGeom prst="roundRect">
            <a:avLst>
              <a:gd name="adj" fmla="val 972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5" name="Text 63"/>
          <p:cNvSpPr/>
          <p:nvPr/>
        </p:nvSpPr>
        <p:spPr>
          <a:xfrm>
            <a:off x="617220" y="2935224"/>
            <a:ext cx="18585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1E2430"/>
                </a:solidFill>
              </a:rPr>
              <a:t>Each spatial location stores</a:t>
            </a:r>
            <a:endParaRPr lang="en-US" sz="938" dirty="0"/>
          </a:p>
          <a:p>
            <a:r>
              <a:rPr lang="en-US" sz="938" dirty="0">
                <a:solidFill>
                  <a:srgbClr val="1E2430"/>
                </a:solidFill>
              </a:rPr>
              <a:t>3 channel values in the last axis.</a:t>
            </a:r>
            <a:endParaRPr lang="en-US" sz="938" dirty="0"/>
          </a:p>
        </p:txBody>
      </p:sp>
      <p:sp>
        <p:nvSpPr>
          <p:cNvPr id="66" name="Shape 64"/>
          <p:cNvSpPr/>
          <p:nvPr/>
        </p:nvSpPr>
        <p:spPr>
          <a:xfrm>
            <a:off x="994410" y="3429000"/>
            <a:ext cx="617220" cy="192024"/>
          </a:xfrm>
          <a:prstGeom prst="roundRect">
            <a:avLst>
              <a:gd name="adj" fmla="val 17857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7" name="Text 65"/>
          <p:cNvSpPr/>
          <p:nvPr/>
        </p:nvSpPr>
        <p:spPr>
          <a:xfrm>
            <a:off x="994410" y="3449574"/>
            <a:ext cx="61722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(H,W,C)</a:t>
            </a:r>
            <a:endParaRPr lang="en-US" sz="788" dirty="0"/>
          </a:p>
        </p:txBody>
      </p:sp>
      <p:sp>
        <p:nvSpPr>
          <p:cNvPr id="68" name="Shape 66"/>
          <p:cNvSpPr/>
          <p:nvPr/>
        </p:nvSpPr>
        <p:spPr>
          <a:xfrm>
            <a:off x="2846070" y="2091690"/>
            <a:ext cx="1268730" cy="0"/>
          </a:xfrm>
          <a:prstGeom prst="line">
            <a:avLst/>
          </a:prstGeom>
          <a:noFill/>
          <a:ln w="24130">
            <a:solidFill>
              <a:srgbClr val="173F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 sz="1050"/>
          </a:p>
        </p:txBody>
      </p:sp>
      <p:sp>
        <p:nvSpPr>
          <p:cNvPr id="69" name="Text 67"/>
          <p:cNvSpPr/>
          <p:nvPr/>
        </p:nvSpPr>
        <p:spPr>
          <a:xfrm>
            <a:off x="2880360" y="1748790"/>
            <a:ext cx="13030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13" b="1" dirty="0">
                <a:solidFill>
                  <a:srgbClr val="173F7A"/>
                </a:solidFill>
              </a:rPr>
              <a:t>move axis 2 to the front</a:t>
            </a:r>
            <a:endParaRPr lang="en-US" sz="1013" dirty="0"/>
          </a:p>
        </p:txBody>
      </p:sp>
      <p:sp>
        <p:nvSpPr>
          <p:cNvPr id="70" name="Text 68"/>
          <p:cNvSpPr/>
          <p:nvPr/>
        </p:nvSpPr>
        <p:spPr>
          <a:xfrm>
            <a:off x="2846070" y="2304288"/>
            <a:ext cx="1371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40" dirty="0">
                <a:solidFill>
                  <a:srgbClr val="7D8798"/>
                </a:solidFill>
              </a:rPr>
              <a:t>new dim order = (old 2, old 0, old 1)</a:t>
            </a:r>
            <a:endParaRPr lang="en-US" sz="840" dirty="0"/>
          </a:p>
        </p:txBody>
      </p:sp>
      <p:sp>
        <p:nvSpPr>
          <p:cNvPr id="71" name="Text 69"/>
          <p:cNvSpPr/>
          <p:nvPr/>
        </p:nvSpPr>
        <p:spPr>
          <a:xfrm>
            <a:off x="4471416" y="1275588"/>
            <a:ext cx="17145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7D8798"/>
                </a:solidFill>
              </a:rPr>
              <a:t>after: channel-first tensor</a:t>
            </a:r>
            <a:endParaRPr lang="en-US" sz="938" dirty="0"/>
          </a:p>
        </p:txBody>
      </p:sp>
      <p:sp>
        <p:nvSpPr>
          <p:cNvPr id="72" name="Shape 70"/>
          <p:cNvSpPr/>
          <p:nvPr/>
        </p:nvSpPr>
        <p:spPr>
          <a:xfrm>
            <a:off x="4608576" y="1495044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73" name="Text 71"/>
          <p:cNvSpPr/>
          <p:nvPr/>
        </p:nvSpPr>
        <p:spPr>
          <a:xfrm>
            <a:off x="4608576" y="15172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</a:t>
            </a:r>
            <a:endParaRPr lang="en-US" sz="690" dirty="0"/>
          </a:p>
        </p:txBody>
      </p:sp>
      <p:sp>
        <p:nvSpPr>
          <p:cNvPr id="74" name="Shape 72"/>
          <p:cNvSpPr/>
          <p:nvPr/>
        </p:nvSpPr>
        <p:spPr>
          <a:xfrm>
            <a:off x="4848606" y="1495044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75" name="Text 73"/>
          <p:cNvSpPr/>
          <p:nvPr/>
        </p:nvSpPr>
        <p:spPr>
          <a:xfrm>
            <a:off x="4848606" y="15172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2</a:t>
            </a:r>
            <a:endParaRPr lang="en-US" sz="690" dirty="0"/>
          </a:p>
        </p:txBody>
      </p:sp>
      <p:sp>
        <p:nvSpPr>
          <p:cNvPr id="76" name="Shape 74"/>
          <p:cNvSpPr/>
          <p:nvPr/>
        </p:nvSpPr>
        <p:spPr>
          <a:xfrm>
            <a:off x="5088636" y="1495044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77" name="Text 75"/>
          <p:cNvSpPr/>
          <p:nvPr/>
        </p:nvSpPr>
        <p:spPr>
          <a:xfrm>
            <a:off x="5088636" y="15172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3</a:t>
            </a:r>
            <a:endParaRPr lang="en-US" sz="690" dirty="0"/>
          </a:p>
        </p:txBody>
      </p:sp>
      <p:sp>
        <p:nvSpPr>
          <p:cNvPr id="78" name="Shape 76"/>
          <p:cNvSpPr/>
          <p:nvPr/>
        </p:nvSpPr>
        <p:spPr>
          <a:xfrm>
            <a:off x="5328666" y="1495044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79" name="Text 77"/>
          <p:cNvSpPr/>
          <p:nvPr/>
        </p:nvSpPr>
        <p:spPr>
          <a:xfrm>
            <a:off x="5328666" y="15172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4</a:t>
            </a:r>
            <a:endParaRPr lang="en-US" sz="690" dirty="0"/>
          </a:p>
        </p:txBody>
      </p:sp>
      <p:sp>
        <p:nvSpPr>
          <p:cNvPr id="80" name="Shape 78"/>
          <p:cNvSpPr/>
          <p:nvPr/>
        </p:nvSpPr>
        <p:spPr>
          <a:xfrm>
            <a:off x="4608576" y="1680210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1" name="Text 79"/>
          <p:cNvSpPr/>
          <p:nvPr/>
        </p:nvSpPr>
        <p:spPr>
          <a:xfrm>
            <a:off x="4608576" y="17024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5</a:t>
            </a:r>
            <a:endParaRPr lang="en-US" sz="690" dirty="0"/>
          </a:p>
        </p:txBody>
      </p:sp>
      <p:sp>
        <p:nvSpPr>
          <p:cNvPr id="82" name="Shape 80"/>
          <p:cNvSpPr/>
          <p:nvPr/>
        </p:nvSpPr>
        <p:spPr>
          <a:xfrm>
            <a:off x="4848606" y="1680210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3" name="Text 81"/>
          <p:cNvSpPr/>
          <p:nvPr/>
        </p:nvSpPr>
        <p:spPr>
          <a:xfrm>
            <a:off x="4848606" y="17024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6</a:t>
            </a:r>
            <a:endParaRPr lang="en-US" sz="690" dirty="0"/>
          </a:p>
        </p:txBody>
      </p:sp>
      <p:sp>
        <p:nvSpPr>
          <p:cNvPr id="84" name="Shape 82"/>
          <p:cNvSpPr/>
          <p:nvPr/>
        </p:nvSpPr>
        <p:spPr>
          <a:xfrm>
            <a:off x="5088636" y="1680210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5" name="Text 83"/>
          <p:cNvSpPr/>
          <p:nvPr/>
        </p:nvSpPr>
        <p:spPr>
          <a:xfrm>
            <a:off x="5088636" y="17024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7</a:t>
            </a:r>
            <a:endParaRPr lang="en-US" sz="690" dirty="0"/>
          </a:p>
        </p:txBody>
      </p:sp>
      <p:sp>
        <p:nvSpPr>
          <p:cNvPr id="86" name="Shape 84"/>
          <p:cNvSpPr/>
          <p:nvPr/>
        </p:nvSpPr>
        <p:spPr>
          <a:xfrm>
            <a:off x="5328666" y="1680210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7" name="Text 85"/>
          <p:cNvSpPr/>
          <p:nvPr/>
        </p:nvSpPr>
        <p:spPr>
          <a:xfrm>
            <a:off x="5328666" y="17024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8</a:t>
            </a:r>
            <a:endParaRPr lang="en-US" sz="690" dirty="0"/>
          </a:p>
        </p:txBody>
      </p:sp>
      <p:sp>
        <p:nvSpPr>
          <p:cNvPr id="88" name="Shape 86"/>
          <p:cNvSpPr/>
          <p:nvPr/>
        </p:nvSpPr>
        <p:spPr>
          <a:xfrm>
            <a:off x="4608576" y="1865376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9" name="Text 87"/>
          <p:cNvSpPr/>
          <p:nvPr/>
        </p:nvSpPr>
        <p:spPr>
          <a:xfrm>
            <a:off x="4608576" y="18875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9</a:t>
            </a:r>
            <a:endParaRPr lang="en-US" sz="690" dirty="0"/>
          </a:p>
        </p:txBody>
      </p:sp>
      <p:sp>
        <p:nvSpPr>
          <p:cNvPr id="90" name="Shape 88"/>
          <p:cNvSpPr/>
          <p:nvPr/>
        </p:nvSpPr>
        <p:spPr>
          <a:xfrm>
            <a:off x="4848606" y="1865376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1" name="Text 89"/>
          <p:cNvSpPr/>
          <p:nvPr/>
        </p:nvSpPr>
        <p:spPr>
          <a:xfrm>
            <a:off x="4848606" y="18875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10</a:t>
            </a:r>
            <a:endParaRPr lang="en-US" sz="690" dirty="0"/>
          </a:p>
        </p:txBody>
      </p:sp>
      <p:sp>
        <p:nvSpPr>
          <p:cNvPr id="92" name="Shape 90"/>
          <p:cNvSpPr/>
          <p:nvPr/>
        </p:nvSpPr>
        <p:spPr>
          <a:xfrm>
            <a:off x="5088636" y="1865376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3" name="Text 91"/>
          <p:cNvSpPr/>
          <p:nvPr/>
        </p:nvSpPr>
        <p:spPr>
          <a:xfrm>
            <a:off x="5088636" y="18875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11</a:t>
            </a:r>
            <a:endParaRPr lang="en-US" sz="690" dirty="0"/>
          </a:p>
        </p:txBody>
      </p:sp>
      <p:sp>
        <p:nvSpPr>
          <p:cNvPr id="94" name="Shape 92"/>
          <p:cNvSpPr/>
          <p:nvPr/>
        </p:nvSpPr>
        <p:spPr>
          <a:xfrm>
            <a:off x="5328666" y="1865376"/>
            <a:ext cx="240030" cy="185166"/>
          </a:xfrm>
          <a:prstGeom prst="rect">
            <a:avLst/>
          </a:prstGeom>
          <a:solidFill>
            <a:srgbClr val="FF6B6B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5" name="Text 93"/>
          <p:cNvSpPr/>
          <p:nvPr/>
        </p:nvSpPr>
        <p:spPr>
          <a:xfrm>
            <a:off x="5328666" y="18875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12</a:t>
            </a:r>
            <a:endParaRPr lang="en-US" sz="690" dirty="0"/>
          </a:p>
        </p:txBody>
      </p:sp>
      <p:sp>
        <p:nvSpPr>
          <p:cNvPr id="96" name="Text 94"/>
          <p:cNvSpPr/>
          <p:nvPr/>
        </p:nvSpPr>
        <p:spPr>
          <a:xfrm>
            <a:off x="5726430" y="163906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FF6B6B"/>
                </a:solidFill>
              </a:rPr>
              <a:t>R channel</a:t>
            </a:r>
            <a:endParaRPr lang="en-US" sz="825" dirty="0"/>
          </a:p>
        </p:txBody>
      </p:sp>
      <p:sp>
        <p:nvSpPr>
          <p:cNvPr id="97" name="Shape 95"/>
          <p:cNvSpPr/>
          <p:nvPr/>
        </p:nvSpPr>
        <p:spPr>
          <a:xfrm>
            <a:off x="4608576" y="2180844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8" name="Text 96"/>
          <p:cNvSpPr/>
          <p:nvPr/>
        </p:nvSpPr>
        <p:spPr>
          <a:xfrm>
            <a:off x="4608576" y="22030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</a:t>
            </a:r>
            <a:endParaRPr lang="en-US" sz="690" dirty="0"/>
          </a:p>
        </p:txBody>
      </p:sp>
      <p:sp>
        <p:nvSpPr>
          <p:cNvPr id="99" name="Shape 97"/>
          <p:cNvSpPr/>
          <p:nvPr/>
        </p:nvSpPr>
        <p:spPr>
          <a:xfrm>
            <a:off x="4848606" y="2180844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0" name="Text 98"/>
          <p:cNvSpPr/>
          <p:nvPr/>
        </p:nvSpPr>
        <p:spPr>
          <a:xfrm>
            <a:off x="4848606" y="22030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2</a:t>
            </a:r>
            <a:endParaRPr lang="en-US" sz="690" dirty="0"/>
          </a:p>
        </p:txBody>
      </p:sp>
      <p:sp>
        <p:nvSpPr>
          <p:cNvPr id="101" name="Shape 99"/>
          <p:cNvSpPr/>
          <p:nvPr/>
        </p:nvSpPr>
        <p:spPr>
          <a:xfrm>
            <a:off x="5088636" y="2180844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2" name="Text 100"/>
          <p:cNvSpPr/>
          <p:nvPr/>
        </p:nvSpPr>
        <p:spPr>
          <a:xfrm>
            <a:off x="5088636" y="22030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3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5328666" y="2180844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4" name="Text 102"/>
          <p:cNvSpPr/>
          <p:nvPr/>
        </p:nvSpPr>
        <p:spPr>
          <a:xfrm>
            <a:off x="5328666" y="22030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4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4608576" y="2366010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6" name="Text 104"/>
          <p:cNvSpPr/>
          <p:nvPr/>
        </p:nvSpPr>
        <p:spPr>
          <a:xfrm>
            <a:off x="4608576" y="23882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5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4848606" y="2366010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8" name="Text 106"/>
          <p:cNvSpPr/>
          <p:nvPr/>
        </p:nvSpPr>
        <p:spPr>
          <a:xfrm>
            <a:off x="4848606" y="23882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6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5088636" y="2366010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0" name="Text 108"/>
          <p:cNvSpPr/>
          <p:nvPr/>
        </p:nvSpPr>
        <p:spPr>
          <a:xfrm>
            <a:off x="5088636" y="23882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7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5328666" y="2366010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2" name="Text 110"/>
          <p:cNvSpPr/>
          <p:nvPr/>
        </p:nvSpPr>
        <p:spPr>
          <a:xfrm>
            <a:off x="5328666" y="23882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8</a:t>
            </a:r>
            <a:endParaRPr lang="en-US" sz="690" dirty="0"/>
          </a:p>
        </p:txBody>
      </p:sp>
      <p:sp>
        <p:nvSpPr>
          <p:cNvPr id="113" name="Shape 111"/>
          <p:cNvSpPr/>
          <p:nvPr/>
        </p:nvSpPr>
        <p:spPr>
          <a:xfrm>
            <a:off x="4608576" y="2551176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4" name="Text 112"/>
          <p:cNvSpPr/>
          <p:nvPr/>
        </p:nvSpPr>
        <p:spPr>
          <a:xfrm>
            <a:off x="4608576" y="25733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9</a:t>
            </a:r>
            <a:endParaRPr lang="en-US" sz="690" dirty="0"/>
          </a:p>
        </p:txBody>
      </p:sp>
      <p:sp>
        <p:nvSpPr>
          <p:cNvPr id="115" name="Shape 113"/>
          <p:cNvSpPr/>
          <p:nvPr/>
        </p:nvSpPr>
        <p:spPr>
          <a:xfrm>
            <a:off x="4848606" y="2551176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6" name="Text 114"/>
          <p:cNvSpPr/>
          <p:nvPr/>
        </p:nvSpPr>
        <p:spPr>
          <a:xfrm>
            <a:off x="4848606" y="25733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10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5088636" y="2551176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8" name="Text 116"/>
          <p:cNvSpPr/>
          <p:nvPr/>
        </p:nvSpPr>
        <p:spPr>
          <a:xfrm>
            <a:off x="5088636" y="25733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11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5328666" y="2551176"/>
            <a:ext cx="240030" cy="185166"/>
          </a:xfrm>
          <a:prstGeom prst="rect">
            <a:avLst/>
          </a:prstGeom>
          <a:solidFill>
            <a:srgbClr val="7DCE82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0" name="Text 118"/>
          <p:cNvSpPr/>
          <p:nvPr/>
        </p:nvSpPr>
        <p:spPr>
          <a:xfrm>
            <a:off x="5328666" y="25733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12</a:t>
            </a:r>
            <a:endParaRPr lang="en-US" sz="690" dirty="0"/>
          </a:p>
        </p:txBody>
      </p:sp>
      <p:sp>
        <p:nvSpPr>
          <p:cNvPr id="121" name="Text 119"/>
          <p:cNvSpPr/>
          <p:nvPr/>
        </p:nvSpPr>
        <p:spPr>
          <a:xfrm>
            <a:off x="5726430" y="232486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7DCE82"/>
                </a:solidFill>
              </a:rPr>
              <a:t>G channel</a:t>
            </a:r>
            <a:endParaRPr lang="en-US" sz="825" dirty="0"/>
          </a:p>
        </p:txBody>
      </p:sp>
      <p:sp>
        <p:nvSpPr>
          <p:cNvPr id="122" name="Shape 120"/>
          <p:cNvSpPr/>
          <p:nvPr/>
        </p:nvSpPr>
        <p:spPr>
          <a:xfrm>
            <a:off x="4608576" y="2866644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3" name="Text 121"/>
          <p:cNvSpPr/>
          <p:nvPr/>
        </p:nvSpPr>
        <p:spPr>
          <a:xfrm>
            <a:off x="4608576" y="28888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4848606" y="2866644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5" name="Text 123"/>
          <p:cNvSpPr/>
          <p:nvPr/>
        </p:nvSpPr>
        <p:spPr>
          <a:xfrm>
            <a:off x="4848606" y="28888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2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5088636" y="2866644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7" name="Text 125"/>
          <p:cNvSpPr/>
          <p:nvPr/>
        </p:nvSpPr>
        <p:spPr>
          <a:xfrm>
            <a:off x="5088636" y="28888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3</a:t>
            </a:r>
            <a:endParaRPr lang="en-US" sz="690" dirty="0"/>
          </a:p>
        </p:txBody>
      </p:sp>
      <p:sp>
        <p:nvSpPr>
          <p:cNvPr id="128" name="Shape 126"/>
          <p:cNvSpPr/>
          <p:nvPr/>
        </p:nvSpPr>
        <p:spPr>
          <a:xfrm>
            <a:off x="5328666" y="2866644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9" name="Text 127"/>
          <p:cNvSpPr/>
          <p:nvPr/>
        </p:nvSpPr>
        <p:spPr>
          <a:xfrm>
            <a:off x="5328666" y="2888864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4</a:t>
            </a:r>
            <a:endParaRPr lang="en-US" sz="690" dirty="0"/>
          </a:p>
        </p:txBody>
      </p:sp>
      <p:sp>
        <p:nvSpPr>
          <p:cNvPr id="130" name="Shape 128"/>
          <p:cNvSpPr/>
          <p:nvPr/>
        </p:nvSpPr>
        <p:spPr>
          <a:xfrm>
            <a:off x="4608576" y="3051810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1" name="Text 129"/>
          <p:cNvSpPr/>
          <p:nvPr/>
        </p:nvSpPr>
        <p:spPr>
          <a:xfrm>
            <a:off x="4608576" y="30740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5</a:t>
            </a:r>
            <a:endParaRPr lang="en-US" sz="690" dirty="0"/>
          </a:p>
        </p:txBody>
      </p:sp>
      <p:sp>
        <p:nvSpPr>
          <p:cNvPr id="132" name="Shape 130"/>
          <p:cNvSpPr/>
          <p:nvPr/>
        </p:nvSpPr>
        <p:spPr>
          <a:xfrm>
            <a:off x="4848606" y="3051810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3" name="Text 131"/>
          <p:cNvSpPr/>
          <p:nvPr/>
        </p:nvSpPr>
        <p:spPr>
          <a:xfrm>
            <a:off x="4848606" y="30740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6</a:t>
            </a:r>
            <a:endParaRPr lang="en-US" sz="690" dirty="0"/>
          </a:p>
        </p:txBody>
      </p:sp>
      <p:sp>
        <p:nvSpPr>
          <p:cNvPr id="134" name="Shape 132"/>
          <p:cNvSpPr/>
          <p:nvPr/>
        </p:nvSpPr>
        <p:spPr>
          <a:xfrm>
            <a:off x="5088636" y="3051810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5" name="Text 133"/>
          <p:cNvSpPr/>
          <p:nvPr/>
        </p:nvSpPr>
        <p:spPr>
          <a:xfrm>
            <a:off x="5088636" y="30740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7</a:t>
            </a:r>
            <a:endParaRPr lang="en-US" sz="690" dirty="0"/>
          </a:p>
        </p:txBody>
      </p:sp>
      <p:sp>
        <p:nvSpPr>
          <p:cNvPr id="136" name="Shape 134"/>
          <p:cNvSpPr/>
          <p:nvPr/>
        </p:nvSpPr>
        <p:spPr>
          <a:xfrm>
            <a:off x="5328666" y="3051810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7" name="Text 135"/>
          <p:cNvSpPr/>
          <p:nvPr/>
        </p:nvSpPr>
        <p:spPr>
          <a:xfrm>
            <a:off x="5328666" y="3074030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8</a:t>
            </a:r>
            <a:endParaRPr lang="en-US" sz="690" dirty="0"/>
          </a:p>
        </p:txBody>
      </p:sp>
      <p:sp>
        <p:nvSpPr>
          <p:cNvPr id="138" name="Shape 136"/>
          <p:cNvSpPr/>
          <p:nvPr/>
        </p:nvSpPr>
        <p:spPr>
          <a:xfrm>
            <a:off x="4608576" y="3236976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39" name="Text 137"/>
          <p:cNvSpPr/>
          <p:nvPr/>
        </p:nvSpPr>
        <p:spPr>
          <a:xfrm>
            <a:off x="4608576" y="32591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9</a:t>
            </a:r>
            <a:endParaRPr lang="en-US" sz="690" dirty="0"/>
          </a:p>
        </p:txBody>
      </p:sp>
      <p:sp>
        <p:nvSpPr>
          <p:cNvPr id="140" name="Shape 138"/>
          <p:cNvSpPr/>
          <p:nvPr/>
        </p:nvSpPr>
        <p:spPr>
          <a:xfrm>
            <a:off x="4848606" y="3236976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1" name="Text 139"/>
          <p:cNvSpPr/>
          <p:nvPr/>
        </p:nvSpPr>
        <p:spPr>
          <a:xfrm>
            <a:off x="4848606" y="32591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10</a:t>
            </a:r>
            <a:endParaRPr lang="en-US" sz="690" dirty="0"/>
          </a:p>
        </p:txBody>
      </p:sp>
      <p:sp>
        <p:nvSpPr>
          <p:cNvPr id="142" name="Shape 140"/>
          <p:cNvSpPr/>
          <p:nvPr/>
        </p:nvSpPr>
        <p:spPr>
          <a:xfrm>
            <a:off x="5088636" y="3236976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3" name="Text 141"/>
          <p:cNvSpPr/>
          <p:nvPr/>
        </p:nvSpPr>
        <p:spPr>
          <a:xfrm>
            <a:off x="5088636" y="32591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11</a:t>
            </a:r>
            <a:endParaRPr lang="en-US" sz="690" dirty="0"/>
          </a:p>
        </p:txBody>
      </p:sp>
      <p:sp>
        <p:nvSpPr>
          <p:cNvPr id="144" name="Shape 142"/>
          <p:cNvSpPr/>
          <p:nvPr/>
        </p:nvSpPr>
        <p:spPr>
          <a:xfrm>
            <a:off x="5328666" y="3236976"/>
            <a:ext cx="240030" cy="185166"/>
          </a:xfrm>
          <a:prstGeom prst="rect">
            <a:avLst/>
          </a:prstGeom>
          <a:solidFill>
            <a:srgbClr val="64B5F6"/>
          </a:solidFill>
          <a:ln w="10160">
            <a:solidFill>
              <a:srgbClr val="A8B3C2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5" name="Text 143"/>
          <p:cNvSpPr/>
          <p:nvPr/>
        </p:nvSpPr>
        <p:spPr>
          <a:xfrm>
            <a:off x="5328666" y="3259196"/>
            <a:ext cx="240030" cy="125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0" dirty="0">
                <a:solidFill>
                  <a:srgbClr val="FFFFFF"/>
                </a:solidFill>
              </a:rPr>
              <a:t>12</a:t>
            </a:r>
            <a:endParaRPr lang="en-US" sz="690" dirty="0"/>
          </a:p>
        </p:txBody>
      </p:sp>
      <p:sp>
        <p:nvSpPr>
          <p:cNvPr id="146" name="Text 144"/>
          <p:cNvSpPr/>
          <p:nvPr/>
        </p:nvSpPr>
        <p:spPr>
          <a:xfrm>
            <a:off x="5726430" y="301066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64B5F6"/>
                </a:solidFill>
              </a:rPr>
              <a:t>B channel</a:t>
            </a:r>
            <a:endParaRPr lang="en-US" sz="825" dirty="0"/>
          </a:p>
        </p:txBody>
      </p:sp>
      <p:sp>
        <p:nvSpPr>
          <p:cNvPr id="147" name="Shape 145"/>
          <p:cNvSpPr/>
          <p:nvPr/>
        </p:nvSpPr>
        <p:spPr>
          <a:xfrm>
            <a:off x="4512564" y="1453896"/>
            <a:ext cx="0" cy="1968246"/>
          </a:xfrm>
          <a:prstGeom prst="line">
            <a:avLst/>
          </a:prstGeom>
          <a:noFill/>
          <a:ln w="15240">
            <a:solidFill>
              <a:srgbClr val="173F7A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8" name="Shape 146"/>
          <p:cNvSpPr/>
          <p:nvPr/>
        </p:nvSpPr>
        <p:spPr>
          <a:xfrm>
            <a:off x="4512564" y="1453896"/>
            <a:ext cx="82296" cy="0"/>
          </a:xfrm>
          <a:prstGeom prst="line">
            <a:avLst/>
          </a:prstGeom>
          <a:noFill/>
          <a:ln w="15240">
            <a:solidFill>
              <a:srgbClr val="173F7A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9" name="Shape 147"/>
          <p:cNvSpPr/>
          <p:nvPr/>
        </p:nvSpPr>
        <p:spPr>
          <a:xfrm>
            <a:off x="4512564" y="3422142"/>
            <a:ext cx="82296" cy="0"/>
          </a:xfrm>
          <a:prstGeom prst="line">
            <a:avLst/>
          </a:prstGeom>
          <a:noFill/>
          <a:ln w="15240">
            <a:solidFill>
              <a:srgbClr val="173F7A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0" name="Text 148"/>
          <p:cNvSpPr/>
          <p:nvPr/>
        </p:nvSpPr>
        <p:spPr>
          <a:xfrm>
            <a:off x="4320540" y="2359152"/>
            <a:ext cx="1371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73F7A"/>
                </a:solidFill>
              </a:rPr>
              <a:t>C</a:t>
            </a:r>
            <a:endParaRPr lang="en-US" sz="825" dirty="0"/>
          </a:p>
        </p:txBody>
      </p:sp>
      <p:sp>
        <p:nvSpPr>
          <p:cNvPr id="151" name="Shape 149"/>
          <p:cNvSpPr/>
          <p:nvPr/>
        </p:nvSpPr>
        <p:spPr>
          <a:xfrm>
            <a:off x="4965192" y="3429000"/>
            <a:ext cx="630936" cy="192024"/>
          </a:xfrm>
          <a:prstGeom prst="roundRect">
            <a:avLst>
              <a:gd name="adj" fmla="val 17857"/>
            </a:avLst>
          </a:prstGeom>
          <a:solidFill>
            <a:srgbClr val="DDEEFE"/>
          </a:solidFill>
          <a:ln w="12700">
            <a:solidFill>
              <a:srgbClr val="B7D4F5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2" name="Text 150"/>
          <p:cNvSpPr/>
          <p:nvPr/>
        </p:nvSpPr>
        <p:spPr>
          <a:xfrm>
            <a:off x="4965192" y="3449574"/>
            <a:ext cx="63093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173F7A"/>
                </a:solidFill>
              </a:rPr>
              <a:t>(C,H,W)</a:t>
            </a:r>
            <a:endParaRPr lang="en-US" sz="788" dirty="0"/>
          </a:p>
        </p:txBody>
      </p:sp>
      <p:sp>
        <p:nvSpPr>
          <p:cNvPr id="153" name="Shape 151"/>
          <p:cNvSpPr/>
          <p:nvPr/>
        </p:nvSpPr>
        <p:spPr>
          <a:xfrm>
            <a:off x="6617970" y="1920240"/>
            <a:ext cx="1611630" cy="548640"/>
          </a:xfrm>
          <a:prstGeom prst="roundRect">
            <a:avLst>
              <a:gd name="adj" fmla="val 8750"/>
            </a:avLst>
          </a:prstGeom>
          <a:solidFill>
            <a:srgbClr val="E8F8F0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4" name="Text 152"/>
          <p:cNvSpPr/>
          <p:nvPr/>
        </p:nvSpPr>
        <p:spPr>
          <a:xfrm>
            <a:off x="6700266" y="1975104"/>
            <a:ext cx="14470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1E2430"/>
                </a:solidFill>
              </a:rPr>
              <a:t>Same values.</a:t>
            </a:r>
            <a:endParaRPr lang="en-US" sz="938" dirty="0"/>
          </a:p>
          <a:p>
            <a:r>
              <a:rPr lang="en-US" sz="938" dirty="0">
                <a:solidFill>
                  <a:srgbClr val="1E2430"/>
                </a:solidFill>
              </a:rPr>
              <a:t>Only the order of axes changes.</a:t>
            </a:r>
            <a:endParaRPr lang="en-US" sz="938" dirty="0"/>
          </a:p>
        </p:txBody>
      </p:sp>
      <p:sp>
        <p:nvSpPr>
          <p:cNvPr id="155" name="Shape 153"/>
          <p:cNvSpPr/>
          <p:nvPr/>
        </p:nvSpPr>
        <p:spPr>
          <a:xfrm>
            <a:off x="6617970" y="2811780"/>
            <a:ext cx="1920240" cy="65151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6" name="Text 154"/>
          <p:cNvSpPr/>
          <p:nvPr/>
        </p:nvSpPr>
        <p:spPr>
          <a:xfrm>
            <a:off x="6700266" y="2866644"/>
            <a:ext cx="1755648" cy="5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1E2430"/>
                </a:solidFill>
              </a:rPr>
              <a:t>This is why permute is so common when moving image data into deep-learning models.</a:t>
            </a:r>
            <a:endParaRPr lang="en-US" sz="93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Broadcasting: How PyTorch Handles Differently-Shaped Tensors</a:t>
            </a:r>
          </a:p>
        </p:txBody>
      </p:sp>
      <p:sp>
        <p:nvSpPr>
          <p:cNvPr id="10" name="L"/>
          <p:cNvSpPr txBox="1"/>
          <p:nvPr/>
        </p:nvSpPr>
        <p:spPr>
          <a:xfrm>
            <a:off x="311700" y="656850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What is Broadcasting?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When two tensors have different shapes, PyTorch expands the smaller one to match — without copying data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Rules: align shapes from the right; a dimension of size 1 expands to match the other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Example: (3,1) + (1,4) = (3,4) — the result covers all combinations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Broadcasting Examples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a = torch.ones(3, 4)   # shape (3,4)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b = torch.ones(4)      # shape (4,)  -&gt; treated as (1,4)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 = a + b              # shape (3,4)  -- b broadcast over rows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img   = torch.randn(8, 3, 224, 224)  # NCHW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mean  = torch.tensor([0.485, 0.456, 0.406])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mean  = mean.view(1, 3, 1, 1)         # reshape for broadcast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img   = img - mean                     # subtract per-channel mean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Common Broadcasting Mistake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Adding (4,) to (3,4) works. Adding (3,) to (3,4) does NOT work because 3 != 4.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Always reshape to add trailing dimensions: b.unsqueeze(-1) for (3,1) instead of (3,)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1700" y="676661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Aggregation and Reduction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x = torch.randn(4, 5)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x.sum()        # scalar: sum all elements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x.sum(dim=0)   # shape (5,): sum over rows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x.sum(dim=1)   # shape (4,): sum over columns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x.mean(dim=-1) # shape (4,): mean over last dim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x.max(dim=0)   # returns values AND indices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In-place Operations (use carefully)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x.add_(y): in-place add — modifies x directly, saves memory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x.mul_(2.0): in-place multiply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In-place ops on tensors with requires_grad=True will raise an error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Rule: never use in-place on tensors that participate in autograd graph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NumPy Interop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import numpy as np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np_arr = np.array([1.0, 2.0, 3.0])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 = torch.from_numpy(np_arr)  # zero-copy, shares memory!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back = t.numpy()              # zero-copy back to NumPy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Shared memory: modifying np_arr modifies t and vice versa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Only works for CPU tensors — GPU tensors must .cpu() first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Broadcasting Semantics (pytorch.org/docs/stable/notes/broadcasting.html)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Autograd: Automatic Differentiation: How PyTorch Learns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762400"/>
            <a:ext cx="8520600" cy="43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The Central Problem: How Does a Neural Network Know Which Direction to Move?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Training a neural network = minimising a loss function L(w) by adjusting weights w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Gradient descent requires dL/dw — the derivative of loss with respect to every weight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 large model has billions of weights. Computing dL/dw for each by hand is impossible.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PyTorch's autograd computes all gradients automatically using the chain rule — without any symbolic maths library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How Autograd Works: The Computational Graph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Every tensor operation creates a node in a directed acyclic graph (DAG)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The DAG records: what operation was performed, and which tensors were inputs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Forward pass: compute outputs and build the graph simultaneously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Backward pass: .backward() traverses the graph in reverse, applying chain rule at each node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Leaf tensors: tensors you created directly (model weights, input data) — they have .grad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Non-leaf tensors: results of operations — they do not retain .grad by default (saves memory)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Triggering Gradient Computation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w = torch.tensor(2.0, requires_grad=True)   # tell PyTorch to track this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x = torch.tensor(3.0)                       # input — not tracked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y = w * x + w**2                            # graph is built here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 = y.sum()                                 # loss must be a scalar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L.backward()                                # compute dL/dw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print(w.grad)                               # tensor(7.) = x + 2w = 3+4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Gradient Flow Rules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requires_grad=True: leaf tensor participates in gradient computation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Only float-dtype tensors can have requires_grad=True (not int or bool)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If any input of an operation has requires_grad=True, the output also does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torch.no_grad(): context manager that disables graph building — use during inference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tensor.detach(): returns new tensor sharing data but with no gradient history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Mental model: autograd is a tape recorder. Forward pass records ops. Backward replays in reverse.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Baydin et al., Automatic Differentiation in ML — A Survey, JMLR 2018; PyTorch Autograd Mechanics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The Computational Graph in Detail</a:t>
            </a:r>
          </a:p>
        </p:txBody>
      </p:sp>
      <p:sp>
        <p:nvSpPr>
          <p:cNvPr id="10" name="L"/>
          <p:cNvSpPr txBox="1"/>
          <p:nvPr/>
        </p:nvSpPr>
        <p:spPr>
          <a:xfrm>
            <a:off x="311700" y="729436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Dynamic vs Static Graphs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TensorFlow 1.x / Theano: static graph — define the graph first, then run data through it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PyTorch: dynamic graph (define-by-run) — graph is built fresh every forward pass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Dynamic advantage: Python control flow (if, for, while) works naturally inside model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Dynamic advantage: easy debugging — use standard Python debugger, print statements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Dynamic advantage: variable-length sequences — graph shape changes with input length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Visualising the Computational Graph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from torchviz import make_dot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import torch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x = torch.randn(4, requires_grad=True)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W = torch.randn(3, 4, requires_grad=True)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y = torch.relu(W @ x)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 = y.sum()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graph = make_dot(L, params={'W':W,'x':x})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graph.render('computation_graph')  # creates PDF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Gradient Accumulation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Gradients accumulate in .grad — they are ADDED each time .backward() is called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Must call optimizer.zero_grad() before each step to clear previous gradients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Intentional accumulation: sum gradients over N mini-batches before stepping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This simulates a batch size N× larger without N× the GPU memory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1700" y="745918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torch.no_grad() vs detach()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torch.no_grad(): block-level, no graph built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with torch.no_grad():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y = model(x)   # fast, no grad tracking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# Use for evaluation and inference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.detach(): tensor-level, break gradient flow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z = encoder(x).detach()  # stop grads here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out = decoder(z)         # decoder can still update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Use for: fixing encoder weights, GAN tricks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retain_graph=True — Advanced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By default: graph is freed after .backward() — forward pass must be re-run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retain_graph=True: keeps the graph in memory — expensive but needed for: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  Multi-loss training: call .backward() on two losses using the same graph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  Higher-order gradients: computing gradients of gradients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Gradient of a Non-Scalar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If y is not a scalar, must pass a gradient argument: y.backward(torch.ones_like(y))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This computes the vector-Jacobian product: gradient * ones = sum of all gradient components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Equivalent to: y.sum().backward() — the standard trick for non-scalar losses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Rule: always reduce your loss to a scalar before calling .backward()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Autograd Tutorial; Paszke et al., PyTorch: An Imperative Deep Learning Framework, NeurIPS 2019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Segment 1 Summary: Tensors &amp; Autograd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Tensors are N-dimensional arrays with dtype, shape, and device. Every operation — arithmetic, matmul, reshape — produces a new tensor. Broadcasting expands shapes automatically.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requires_grad=True tells PyTorch to track all operations on a tensor and build a computational graph. This graph records the full history of the forward pass.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Calling L.backward() on a scalar loss traverses the computational graph in reverse, computing dL/dw for every leaf tensor with requires_grad=True via the chain rule.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torch.no_grad() disables graph building during inference. optimizer.zero_grad() must be called every step to prevent gradient accumulation across iterations.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PyTorch uses a dynamic computational graph — the graph is rebuilt fresh each forward pass, enabling natural Python control flow and variable-length inputs.</a:t>
            </a:r>
          </a:p>
          <a:p>
            <a:pPr marL="0" indent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9504B2B0-47A9-5698-7076-399DA624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>
            <a:extLst>
              <a:ext uri="{FF2B5EF4-FFF2-40B4-BE49-F238E27FC236}">
                <a16:creationId xmlns:a16="http://schemas.microsoft.com/office/drawing/2014/main" id="{6700D62D-DE44-5D7A-F6DF-775832F9F0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29" name="Google Shape;229;p29">
            <a:extLst>
              <a:ext uri="{FF2B5EF4-FFF2-40B4-BE49-F238E27FC236}">
                <a16:creationId xmlns:a16="http://schemas.microsoft.com/office/drawing/2014/main" id="{F57A4D2D-D148-6EE2-C13A-BC1246C50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69200"/>
            <a:ext cx="69609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tx1"/>
                </a:solidFill>
              </a:rPr>
              <a:t>Thank you!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FD1A3-5B60-8A3A-F97E-BFFA2CFDD522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C280A-6A21-7E17-A33F-575D64C1EB3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981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1756</TotalTime>
  <Words>2838</Words>
  <Application>Microsoft Office PowerPoint</Application>
  <PresentationFormat>On-screen Show (16:9)</PresentationFormat>
  <Paragraphs>416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Helvetica Neue</vt:lpstr>
      <vt:lpstr>Aptos Mono</vt:lpstr>
      <vt:lpstr>Arial</vt:lpstr>
      <vt:lpstr>Aptos Display</vt:lpstr>
      <vt:lpstr>Consolas</vt:lpstr>
      <vt:lpstr>Simple Light</vt:lpstr>
      <vt:lpstr>NPTEL</vt:lpstr>
      <vt:lpstr>Week 04: PyTorch for Accelerated Training Seg 1: Tensors &amp; Autograd | Seg 2: Building Models with nn.Module | Seg 3: The Training Loop | Seg 4: DataLoader &amp; Data Pipeline | Seg 5: First Steps in Performance</vt:lpstr>
      <vt:lpstr>Segment 1: PyTorch Tensors, Autograd &amp; the Computational Graph The mathematical building block of every neural network — and how PyTorch tracks every operation to compute gradients automatically</vt:lpstr>
      <vt:lpstr>Learning Objectives — Segment 1</vt:lpstr>
      <vt:lpstr>PyTorch Tensors: The N-Dimensional Array at the Core of AI</vt:lpstr>
      <vt:lpstr>PowerPoint Presentation</vt:lpstr>
      <vt:lpstr>PowerPoint Presentation</vt:lpstr>
      <vt:lpstr>Broadcasting: How PyTorch Handles Differently-Shaped Tensors</vt:lpstr>
      <vt:lpstr>Autograd: Automatic Differentiation: How PyTorch Learns</vt:lpstr>
      <vt:lpstr>The Computational Graph in Detail</vt:lpstr>
      <vt:lpstr>Segment 1 Summary: Tensors &amp; Autograd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dc:creator>satyajit das</dc:creator>
  <cp:lastModifiedBy>satyajit das</cp:lastModifiedBy>
  <cp:revision>58</cp:revision>
  <dcterms:modified xsi:type="dcterms:W3CDTF">2026-03-23T09:11:37Z</dcterms:modified>
</cp:coreProperties>
</file>