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503" r:id="rId2"/>
    <p:sldId id="596" r:id="rId3"/>
    <p:sldId id="597" r:id="rId4"/>
    <p:sldId id="598" r:id="rId5"/>
    <p:sldId id="599" r:id="rId6"/>
    <p:sldId id="600" r:id="rId7"/>
    <p:sldId id="574" r:id="rId8"/>
    <p:sldId id="575" r:id="rId9"/>
  </p:sldIdLst>
  <p:sldSz cx="9144000" cy="5143500" type="screen16x9"/>
  <p:notesSz cx="6858000" cy="9144000"/>
  <p:embeddedFontLst>
    <p:embeddedFont>
      <p:font typeface="Helvetica Neue" panose="020B0604020202020204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806A02D-9255-4416-AC49-59535D0934EA}">
  <a:tblStyle styleId="{D806A02D-9255-4416-AC49-59535D0934E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416" autoAdjust="0"/>
  </p:normalViewPr>
  <p:slideViewPr>
    <p:cSldViewPr snapToGrid="0">
      <p:cViewPr varScale="1">
        <p:scale>
          <a:sx n="85" d="100"/>
          <a:sy n="85" d="100"/>
        </p:scale>
        <p:origin x="738" y="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-136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6D6F4C5A-0F16-CAEB-F9A0-89E07EFC7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b9728a67a9_0_0:notes">
            <a:extLst>
              <a:ext uri="{FF2B5EF4-FFF2-40B4-BE49-F238E27FC236}">
                <a16:creationId xmlns:a16="http://schemas.microsoft.com/office/drawing/2014/main" id="{D6E07447-48E4-F260-B870-FFDC4E2B1B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b9728a67a9_0_0:notes">
            <a:extLst>
              <a:ext uri="{FF2B5EF4-FFF2-40B4-BE49-F238E27FC236}">
                <a16:creationId xmlns:a16="http://schemas.microsoft.com/office/drawing/2014/main" id="{7E91C570-1A55-E508-774F-CB03855938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 dirty="0"/>
          </a:p>
        </p:txBody>
      </p:sp>
    </p:spTree>
    <p:extLst>
      <p:ext uri="{BB962C8B-B14F-4D97-AF65-F5344CB8AC3E}">
        <p14:creationId xmlns:p14="http://schemas.microsoft.com/office/powerpoint/2010/main" val="28444304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1ADB5AAD-BF05-35FD-9530-D1C25A769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14fda3170b_0_2:notes">
            <a:extLst>
              <a:ext uri="{FF2B5EF4-FFF2-40B4-BE49-F238E27FC236}">
                <a16:creationId xmlns:a16="http://schemas.microsoft.com/office/drawing/2014/main" id="{8B773B90-FE5D-ADDD-B81E-6EDEF9F24F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14fda3170b_0_2:notes">
            <a:extLst>
              <a:ext uri="{FF2B5EF4-FFF2-40B4-BE49-F238E27FC236}">
                <a16:creationId xmlns:a16="http://schemas.microsoft.com/office/drawing/2014/main" id="{1DB685F6-B818-70A5-F9A3-68D643A112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093710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091D6EE-AD7C-B43E-6EBF-0B4A5C39F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c7c36cb48a_0_385:notes">
            <a:extLst>
              <a:ext uri="{FF2B5EF4-FFF2-40B4-BE49-F238E27FC236}">
                <a16:creationId xmlns:a16="http://schemas.microsoft.com/office/drawing/2014/main" id="{C1AC57D6-B898-DA50-56B9-B0E81946F7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2c7c36cb48a_0_385:notes">
            <a:extLst>
              <a:ext uri="{FF2B5EF4-FFF2-40B4-BE49-F238E27FC236}">
                <a16:creationId xmlns:a16="http://schemas.microsoft.com/office/drawing/2014/main" id="{9983218A-2FFB-E795-496F-E2CADAA5A7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578849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grpSp>
        <p:nvGrpSpPr>
          <p:cNvPr id="14" name="Google Shape;14;p3"/>
          <p:cNvGrpSpPr/>
          <p:nvPr/>
        </p:nvGrpSpPr>
        <p:grpSpPr>
          <a:xfrm>
            <a:off x="120215" y="4919656"/>
            <a:ext cx="457214" cy="137173"/>
            <a:chOff x="50186" y="6314714"/>
            <a:chExt cx="977580" cy="288300"/>
          </a:xfrm>
        </p:grpSpPr>
        <p:sp>
          <p:nvSpPr>
            <p:cNvPr id="15" name="Google Shape;15;p3"/>
            <p:cNvSpPr/>
            <p:nvPr/>
          </p:nvSpPr>
          <p:spPr>
            <a:xfrm>
              <a:off x="394826" y="6314714"/>
              <a:ext cx="288300" cy="288300"/>
            </a:xfrm>
            <a:prstGeom prst="ellipse">
              <a:avLst/>
            </a:prstGeom>
            <a:solidFill>
              <a:srgbClr val="EB343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3"/>
            <p:cNvSpPr/>
            <p:nvPr/>
          </p:nvSpPr>
          <p:spPr>
            <a:xfrm>
              <a:off x="739466" y="6314714"/>
              <a:ext cx="288300" cy="288300"/>
            </a:xfrm>
            <a:prstGeom prst="ellipse">
              <a:avLst/>
            </a:prstGeom>
            <a:solidFill>
              <a:srgbClr val="C0AE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3"/>
            <p:cNvSpPr/>
            <p:nvPr/>
          </p:nvSpPr>
          <p:spPr>
            <a:xfrm>
              <a:off x="50186" y="6314714"/>
              <a:ext cx="288300" cy="288300"/>
            </a:xfrm>
            <a:prstGeom prst="ellipse">
              <a:avLst/>
            </a:prstGeom>
            <a:solidFill>
              <a:srgbClr val="1D466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8" name="Google Shape;18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0201" y="246300"/>
            <a:ext cx="472100" cy="476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None/>
              <a:defRPr>
                <a:solidFill>
                  <a:srgbClr val="1D466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311700" y="1056538"/>
            <a:ext cx="8520600" cy="35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3" name="Google Shape;23;p4"/>
          <p:cNvGrpSpPr/>
          <p:nvPr/>
        </p:nvGrpSpPr>
        <p:grpSpPr>
          <a:xfrm>
            <a:off x="120215" y="4919656"/>
            <a:ext cx="457214" cy="137173"/>
            <a:chOff x="50186" y="6314714"/>
            <a:chExt cx="977580" cy="288300"/>
          </a:xfrm>
        </p:grpSpPr>
        <p:sp>
          <p:nvSpPr>
            <p:cNvPr id="24" name="Google Shape;24;p4"/>
            <p:cNvSpPr/>
            <p:nvPr/>
          </p:nvSpPr>
          <p:spPr>
            <a:xfrm>
              <a:off x="394826" y="6314714"/>
              <a:ext cx="288300" cy="288300"/>
            </a:xfrm>
            <a:prstGeom prst="ellipse">
              <a:avLst/>
            </a:prstGeom>
            <a:solidFill>
              <a:srgbClr val="EB343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739466" y="6314714"/>
              <a:ext cx="288300" cy="288300"/>
            </a:xfrm>
            <a:prstGeom prst="ellipse">
              <a:avLst/>
            </a:prstGeom>
            <a:solidFill>
              <a:srgbClr val="C0AE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4"/>
            <p:cNvSpPr/>
            <p:nvPr/>
          </p:nvSpPr>
          <p:spPr>
            <a:xfrm>
              <a:off x="50186" y="6314714"/>
              <a:ext cx="288300" cy="288300"/>
            </a:xfrm>
            <a:prstGeom prst="ellipse">
              <a:avLst/>
            </a:prstGeom>
            <a:solidFill>
              <a:srgbClr val="1D466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7" name="Google Shape;2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0201" y="246300"/>
            <a:ext cx="472100" cy="476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2" name="Google Shape;82;p11"/>
          <p:cNvSpPr txBox="1">
            <a:spLocks noGrp="1"/>
          </p:cNvSpPr>
          <p:nvPr>
            <p:ph type="body" idx="1"/>
          </p:nvPr>
        </p:nvSpPr>
        <p:spPr>
          <a:xfrm>
            <a:off x="311700" y="3069625"/>
            <a:ext cx="8520600" cy="138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algn="ctr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1150" algn="ctr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21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83" name="Google Shape;83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84" name="Google Shape;84;p11"/>
          <p:cNvGrpSpPr/>
          <p:nvPr/>
        </p:nvGrpSpPr>
        <p:grpSpPr>
          <a:xfrm>
            <a:off x="120215" y="4919656"/>
            <a:ext cx="457214" cy="137173"/>
            <a:chOff x="50186" y="6314714"/>
            <a:chExt cx="977580" cy="288300"/>
          </a:xfrm>
        </p:grpSpPr>
        <p:sp>
          <p:nvSpPr>
            <p:cNvPr id="85" name="Google Shape;85;p11"/>
            <p:cNvSpPr/>
            <p:nvPr/>
          </p:nvSpPr>
          <p:spPr>
            <a:xfrm>
              <a:off x="394826" y="6314714"/>
              <a:ext cx="288300" cy="288300"/>
            </a:xfrm>
            <a:prstGeom prst="ellipse">
              <a:avLst/>
            </a:prstGeom>
            <a:solidFill>
              <a:srgbClr val="EB343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11"/>
            <p:cNvSpPr/>
            <p:nvPr/>
          </p:nvSpPr>
          <p:spPr>
            <a:xfrm>
              <a:off x="739466" y="6314714"/>
              <a:ext cx="288300" cy="288300"/>
            </a:xfrm>
            <a:prstGeom prst="ellipse">
              <a:avLst/>
            </a:prstGeom>
            <a:solidFill>
              <a:srgbClr val="C0AE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11"/>
            <p:cNvSpPr/>
            <p:nvPr/>
          </p:nvSpPr>
          <p:spPr>
            <a:xfrm>
              <a:off x="50186" y="6314714"/>
              <a:ext cx="288300" cy="288300"/>
            </a:xfrm>
            <a:prstGeom prst="ellipse">
              <a:avLst/>
            </a:prstGeom>
            <a:solidFill>
              <a:srgbClr val="1D466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88" name="Google Shape;8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0201" y="246300"/>
            <a:ext cx="472100" cy="476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0" y="875425"/>
            <a:ext cx="8520600" cy="152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 b="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401525"/>
            <a:ext cx="8520600" cy="60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Font typeface="Helvetica Neue"/>
              <a:buNone/>
              <a:defRPr sz="2400" b="1">
                <a:solidFill>
                  <a:srgbClr val="1D466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03168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body" idx="1"/>
          </p:nvPr>
        </p:nvSpPr>
        <p:spPr>
          <a:xfrm>
            <a:off x="311700" y="1208738"/>
            <a:ext cx="4270500" cy="336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120215" y="4919656"/>
            <a:ext cx="457214" cy="137173"/>
            <a:chOff x="50186" y="6314714"/>
            <a:chExt cx="977580" cy="288300"/>
          </a:xfrm>
        </p:grpSpPr>
        <p:sp>
          <p:nvSpPr>
            <p:cNvPr id="50" name="Google Shape;50;p7"/>
            <p:cNvSpPr/>
            <p:nvPr/>
          </p:nvSpPr>
          <p:spPr>
            <a:xfrm>
              <a:off x="394826" y="6314714"/>
              <a:ext cx="288300" cy="288300"/>
            </a:xfrm>
            <a:prstGeom prst="ellipse">
              <a:avLst/>
            </a:prstGeom>
            <a:solidFill>
              <a:srgbClr val="EB343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7"/>
            <p:cNvSpPr/>
            <p:nvPr/>
          </p:nvSpPr>
          <p:spPr>
            <a:xfrm>
              <a:off x="739466" y="6314714"/>
              <a:ext cx="288300" cy="288300"/>
            </a:xfrm>
            <a:prstGeom prst="ellipse">
              <a:avLst/>
            </a:prstGeom>
            <a:solidFill>
              <a:srgbClr val="C0AE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7"/>
            <p:cNvSpPr/>
            <p:nvPr/>
          </p:nvSpPr>
          <p:spPr>
            <a:xfrm>
              <a:off x="50186" y="6314714"/>
              <a:ext cx="288300" cy="288300"/>
            </a:xfrm>
            <a:prstGeom prst="ellipse">
              <a:avLst/>
            </a:prstGeom>
            <a:solidFill>
              <a:srgbClr val="1D466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3" name="Google Shape;53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0201" y="246300"/>
            <a:ext cx="472100" cy="476907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7"/>
          <p:cNvSpPr txBox="1">
            <a:spLocks noGrp="1"/>
          </p:cNvSpPr>
          <p:nvPr>
            <p:ph type="title"/>
          </p:nvPr>
        </p:nvSpPr>
        <p:spPr>
          <a:xfrm>
            <a:off x="311700" y="88000"/>
            <a:ext cx="4270500" cy="79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None/>
              <a:defRPr>
                <a:solidFill>
                  <a:srgbClr val="1D466B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25122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bg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Font typeface="Helvetica Neue"/>
              <a:buNone/>
              <a:defRPr sz="2400" b="1">
                <a:solidFill>
                  <a:srgbClr val="1D466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Helvetica Neue"/>
              <a:buChar char="●"/>
              <a:defRPr sz="15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Helvetica Neue"/>
              <a:buChar char="○"/>
              <a:defRPr sz="13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Helvetica Neue"/>
              <a:buChar char="■"/>
              <a:defRPr sz="12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Helvetica Neue"/>
              <a:buChar char="●"/>
              <a:defRPr sz="11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○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■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●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○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■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7" r:id="rId3"/>
    <p:sldLayoutId id="2147483660" r:id="rId4"/>
    <p:sldLayoutId id="2147483663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7F8CCE8A-313F-6E36-7C5B-32B2DCBCB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94CAC84-5A4B-F67B-5393-ADA47A8208BD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latin typeface="Aptos Display" panose="020B00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CB5876-1344-2B3D-88CD-A01C4EB051A6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500" dirty="0">
              <a:latin typeface="Aptos Display" panose="020B0004020202020204" pitchFamily="34" charset="0"/>
            </a:endParaRPr>
          </a:p>
        </p:txBody>
      </p:sp>
      <p:sp>
        <p:nvSpPr>
          <p:cNvPr id="10" name="Google Shape;100;p13">
            <a:extLst>
              <a:ext uri="{FF2B5EF4-FFF2-40B4-BE49-F238E27FC236}">
                <a16:creationId xmlns:a16="http://schemas.microsoft.com/office/drawing/2014/main" id="{11AC39AB-8187-B2C4-BCE2-25603F31660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875425"/>
            <a:ext cx="8520600" cy="152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  <a:latin typeface="Aptos Display" panose="020B0004020202020204" pitchFamily="34" charset="0"/>
              </a:rPr>
              <a:t>NPTEL</a:t>
            </a:r>
            <a:endParaRPr dirty="0">
              <a:solidFill>
                <a:schemeClr val="tx1"/>
              </a:solidFill>
              <a:latin typeface="Aptos Display" panose="020B0004020202020204" pitchFamily="34" charset="0"/>
            </a:endParaRPr>
          </a:p>
        </p:txBody>
      </p:sp>
      <p:sp>
        <p:nvSpPr>
          <p:cNvPr id="11" name="Google Shape;101;p13">
            <a:extLst>
              <a:ext uri="{FF2B5EF4-FFF2-40B4-BE49-F238E27FC236}">
                <a16:creationId xmlns:a16="http://schemas.microsoft.com/office/drawing/2014/main" id="{9BC1CA05-7B56-F729-7729-976FFD62408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11700" y="2401525"/>
            <a:ext cx="8520600" cy="60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" dirty="0">
                <a:solidFill>
                  <a:schemeClr val="tx1"/>
                </a:solidFill>
                <a:latin typeface="Aptos Display" panose="020B0004020202020204" pitchFamily="34" charset="0"/>
              </a:rPr>
              <a:t>Applied Accelerated Artificial Intelligence</a:t>
            </a:r>
            <a:endParaRPr dirty="0">
              <a:solidFill>
                <a:schemeClr val="tx1"/>
              </a:solidFill>
              <a:latin typeface="Aptos Display" panose="020B0004020202020204" pitchFamily="34" charset="0"/>
            </a:endParaRPr>
          </a:p>
        </p:txBody>
      </p:sp>
      <p:cxnSp>
        <p:nvCxnSpPr>
          <p:cNvPr id="13" name="Google Shape;103;p13">
            <a:extLst>
              <a:ext uri="{FF2B5EF4-FFF2-40B4-BE49-F238E27FC236}">
                <a16:creationId xmlns:a16="http://schemas.microsoft.com/office/drawing/2014/main" id="{8F67DB8A-D21C-4952-D794-E5E62719C58A}"/>
              </a:ext>
            </a:extLst>
          </p:cNvPr>
          <p:cNvCxnSpPr/>
          <p:nvPr/>
        </p:nvCxnSpPr>
        <p:spPr>
          <a:xfrm>
            <a:off x="790550" y="4169500"/>
            <a:ext cx="7253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Google Shape;104;p13">
            <a:extLst>
              <a:ext uri="{FF2B5EF4-FFF2-40B4-BE49-F238E27FC236}">
                <a16:creationId xmlns:a16="http://schemas.microsoft.com/office/drawing/2014/main" id="{60B22ADA-D87B-5B41-C735-9F7F595D022A}"/>
              </a:ext>
            </a:extLst>
          </p:cNvPr>
          <p:cNvSpPr txBox="1">
            <a:spLocks/>
          </p:cNvSpPr>
          <p:nvPr/>
        </p:nvSpPr>
        <p:spPr>
          <a:xfrm>
            <a:off x="311700" y="3315925"/>
            <a:ext cx="85206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rgbClr val="1D466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111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984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921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921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921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921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921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indent="0"/>
            <a:r>
              <a:rPr lang="en-US" sz="1200" b="0" dirty="0">
                <a:solidFill>
                  <a:schemeClr val="tx1"/>
                </a:solidFill>
                <a:latin typeface="Aptos Display" panose="020B0004020202020204" pitchFamily="34" charset="0"/>
              </a:rPr>
              <a:t>Instructor: Dr. Satyajit Das</a:t>
            </a:r>
          </a:p>
          <a:p>
            <a:pPr marL="0" indent="0"/>
            <a:r>
              <a:rPr lang="en-US" sz="1200" b="0" dirty="0">
                <a:solidFill>
                  <a:schemeClr val="tx1"/>
                </a:solidFill>
                <a:latin typeface="Aptos Display" panose="020B0004020202020204" pitchFamily="34" charset="0"/>
              </a:rPr>
              <a:t>Dept. of Computer Science and Engineering</a:t>
            </a:r>
          </a:p>
          <a:p>
            <a:pPr marL="0" indent="0"/>
            <a:r>
              <a:rPr lang="en-US" sz="1200" b="0" dirty="0">
                <a:solidFill>
                  <a:schemeClr val="tx1"/>
                </a:solidFill>
                <a:latin typeface="Aptos Display" panose="020B0004020202020204" pitchFamily="34" charset="0"/>
              </a:rPr>
              <a:t>Indian Institute of Technology Guwahati, Assam, India</a:t>
            </a:r>
          </a:p>
        </p:txBody>
      </p:sp>
      <p:pic>
        <p:nvPicPr>
          <p:cNvPr id="15" name="Picture 14" descr="A logo with a symbol in the middle  AI-generated content may be incorrect.">
            <a:extLst>
              <a:ext uri="{FF2B5EF4-FFF2-40B4-BE49-F238E27FC236}">
                <a16:creationId xmlns:a16="http://schemas.microsoft.com/office/drawing/2014/main" id="{A76A753D-76B9-B3B1-958A-E7E9C98CF9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5824" y="275125"/>
            <a:ext cx="1512351" cy="152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0962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6704C46D-92A0-6E4D-62E7-CA436F4E0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4">
            <a:extLst>
              <a:ext uri="{FF2B5EF4-FFF2-40B4-BE49-F238E27FC236}">
                <a16:creationId xmlns:a16="http://schemas.microsoft.com/office/drawing/2014/main" id="{06FF1FD8-B614-F6CD-4DF8-9A8799BC37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100" dirty="0">
                <a:solidFill>
                  <a:schemeClr val="tx1"/>
                </a:solidFill>
              </a:rPr>
              <a:t>Segment</a:t>
            </a:r>
            <a:r>
              <a:rPr lang="en" sz="3100" dirty="0">
                <a:solidFill>
                  <a:schemeClr val="tx1"/>
                </a:solidFill>
              </a:rPr>
              <a:t> 5: Model Interoperability: SavedModel vs ONNX</a:t>
            </a:r>
            <a:br>
              <a:rPr lang="en" sz="3100" dirty="0">
                <a:solidFill>
                  <a:schemeClr val="tx1"/>
                </a:solidFill>
              </a:rPr>
            </a:br>
            <a:endParaRPr dirty="0">
              <a:solidFill>
                <a:schemeClr val="tx1"/>
              </a:solidFill>
            </a:endParaRPr>
          </a:p>
          <a:p>
            <a:pPr lvl="0"/>
            <a:r>
              <a:rPr lang="en-US" b="0" dirty="0">
                <a:solidFill>
                  <a:schemeClr val="tx1"/>
                </a:solidFill>
              </a:rPr>
              <a:t>Model Serialization | SavedModel Format | ONNX Format | Cross-Framework Deployment</a:t>
            </a:r>
            <a:endParaRPr b="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 dirty="0">
              <a:solidFill>
                <a:schemeClr val="tx1"/>
              </a:solidFill>
            </a:endParaRPr>
          </a:p>
        </p:txBody>
      </p:sp>
      <p:sp>
        <p:nvSpPr>
          <p:cNvPr id="110" name="Google Shape;110;p14">
            <a:extLst>
              <a:ext uri="{FF2B5EF4-FFF2-40B4-BE49-F238E27FC236}">
                <a16:creationId xmlns:a16="http://schemas.microsoft.com/office/drawing/2014/main" id="{F91E413B-EC13-582A-065F-7FAC406CE36C}"/>
              </a:ext>
            </a:extLst>
          </p:cNvPr>
          <p:cNvSpPr txBox="1"/>
          <p:nvPr/>
        </p:nvSpPr>
        <p:spPr>
          <a:xfrm>
            <a:off x="3260300" y="629100"/>
            <a:ext cx="2387400" cy="9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rgbClr val="43434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AAD68C3-E61A-3E8D-4D02-56CDC310BA04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latin typeface="Aptos Display" panose="020B00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18E3DA-8905-A4D7-C499-32F90B13DFE3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500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49226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5678FD33-734A-0151-E240-66C19B549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>
            <a:extLst>
              <a:ext uri="{FF2B5EF4-FFF2-40B4-BE49-F238E27FC236}">
                <a16:creationId xmlns:a16="http://schemas.microsoft.com/office/drawing/2014/main" id="{FEEF8E01-78F3-E064-1EF2-1096A31BE49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DA24D5-DFA4-969F-0241-0C224B0687D0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latin typeface="Aptos Display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F70451-B973-DEBF-E4B7-8E3F81126B94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500" dirty="0">
              <a:latin typeface="Aptos Display" panose="020B0004020202020204" pitchFamily="34" charset="0"/>
            </a:endParaRPr>
          </a:p>
        </p:txBody>
      </p:sp>
      <p:sp>
        <p:nvSpPr>
          <p:cNvPr id="2" name="Google Shape;130;p16">
            <a:extLst>
              <a:ext uri="{FF2B5EF4-FFF2-40B4-BE49-F238E27FC236}">
                <a16:creationId xmlns:a16="http://schemas.microsoft.com/office/drawing/2014/main" id="{4EA40659-9880-2A0D-BA61-9B348F591E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tx1"/>
                </a:solidFill>
              </a:rPr>
              <a:t>Model Serialization: Why It Matters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45BAC36-16F6-C078-FD65-A616568F11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What is Model Serialization?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Saving a trained model’s architecture, weights, and computation graph to disk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Enables: deployment, sharing, versioning, and cross-framework use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Critical for production: training framework ≠ inference framework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The Model Deployment Challenge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Trained in Python (TF/PyTorch) but served in C++, Java, or mobile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Different teams: data scientists train; DevOps/ML engineers deploy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Different hardware: cloud GPU training → edge CPU/NPU inference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Serialization Formats Overview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TensorFlow SavedModel: TF-native, rich, supports signatures and assets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ONNX: Open Neural Network Exchange; cross-framework portability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TF Lite FlatBuffer: for mobile and edge devices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TorchScript: PyTorch’s native serialization (for comparison)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General Serialization Best Practices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Version your models with clear naming conventions and metadata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Always validate the loaded model before production deployment</a:t>
            </a:r>
          </a:p>
        </p:txBody>
      </p:sp>
    </p:spTree>
    <p:extLst>
      <p:ext uri="{BB962C8B-B14F-4D97-AF65-F5344CB8AC3E}">
        <p14:creationId xmlns:p14="http://schemas.microsoft.com/office/powerpoint/2010/main" val="2704997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5678FD33-734A-0151-E240-66C19B549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>
            <a:extLst>
              <a:ext uri="{FF2B5EF4-FFF2-40B4-BE49-F238E27FC236}">
                <a16:creationId xmlns:a16="http://schemas.microsoft.com/office/drawing/2014/main" id="{FEEF8E01-78F3-E064-1EF2-1096A31BE49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DA24D5-DFA4-969F-0241-0C224B0687D0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latin typeface="Aptos Display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F70451-B973-DEBF-E4B7-8E3F81126B94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500" dirty="0">
              <a:latin typeface="Aptos Display" panose="020B0004020202020204" pitchFamily="34" charset="0"/>
            </a:endParaRPr>
          </a:p>
        </p:txBody>
      </p:sp>
      <p:sp>
        <p:nvSpPr>
          <p:cNvPr id="2" name="Google Shape;130;p16">
            <a:extLst>
              <a:ext uri="{FF2B5EF4-FFF2-40B4-BE49-F238E27FC236}">
                <a16:creationId xmlns:a16="http://schemas.microsoft.com/office/drawing/2014/main" id="{4EA40659-9880-2A0D-BA61-9B348F591E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tx1"/>
                </a:solidFill>
              </a:rPr>
              <a:t>TensorFlow SavedModel Format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45BAC36-16F6-C078-FD65-A616568F11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056538"/>
            <a:ext cx="8520600" cy="3829612"/>
          </a:xfrm>
        </p:spPr>
        <p:txBody>
          <a:bodyPr>
            <a:normAutofit fontScale="85000" lnSpcReduction="20000"/>
          </a:bodyPr>
          <a:lstStyle/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What Does SavedModel Save?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Complete TF program: variables (weights), functions (graphs), assets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Serving signatures: defines input/output tensors for inference APIs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Training state: optimizer state, metrics (if saved with full model)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SavedModel Directory Structure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saved_model.pb: serialized computation graph (FunctionDef)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variables/: sharded weight files (variables.index, variables.data)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assets/: auxiliary files needed by the model (vocabulary, lookup tables)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fingerprint.pb: hash for integrity verification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Saving and Loading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Save: model.save('my_model') or tf.saved_model.save(model, 'my_model')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Load for inference: tf.saved_model.load('my_model')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Load for training: tf.keras.models.load_model('my_model')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TF Serving Integration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SavedModel is the native format for TF Serving (REST/gRPC API server)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Export with versioned directories: models/my_model/1/, /2/, /3/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TF Serving automatically serves latest version with zero downtime</a:t>
            </a:r>
          </a:p>
        </p:txBody>
      </p:sp>
    </p:spTree>
    <p:extLst>
      <p:ext uri="{BB962C8B-B14F-4D97-AF65-F5344CB8AC3E}">
        <p14:creationId xmlns:p14="http://schemas.microsoft.com/office/powerpoint/2010/main" val="27049976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5678FD33-734A-0151-E240-66C19B549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>
            <a:extLst>
              <a:ext uri="{FF2B5EF4-FFF2-40B4-BE49-F238E27FC236}">
                <a16:creationId xmlns:a16="http://schemas.microsoft.com/office/drawing/2014/main" id="{FEEF8E01-78F3-E064-1EF2-1096A31BE49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DA24D5-DFA4-969F-0241-0C224B0687D0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latin typeface="Aptos Display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F70451-B973-DEBF-E4B7-8E3F81126B94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500" dirty="0">
              <a:latin typeface="Aptos Display" panose="020B0004020202020204" pitchFamily="34" charset="0"/>
            </a:endParaRPr>
          </a:p>
        </p:txBody>
      </p:sp>
      <p:sp>
        <p:nvSpPr>
          <p:cNvPr id="2" name="Google Shape;130;p16">
            <a:extLst>
              <a:ext uri="{FF2B5EF4-FFF2-40B4-BE49-F238E27FC236}">
                <a16:creationId xmlns:a16="http://schemas.microsoft.com/office/drawing/2014/main" id="{4EA40659-9880-2A0D-BA61-9B348F591E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tx1"/>
                </a:solidFill>
              </a:rPr>
              <a:t>ONNX: Open Neural Network Exchange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45BAC36-16F6-C078-FD65-A616568F11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What is ONNX?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Open standard for representing machine learning models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Maintained by the Linux Foundation AI; supported by Microsoft, Meta, and others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Defines a common operator set (opset) and data types for neural networks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ONNX Model Structure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Protobuf-serialized format containing: graph topology + weights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ModelProto: version, opset, graph, metadata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GraphProto: nodes (ops), inputs, outputs, initializers (weights)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NodeProto: op_type, inputs, outputs, attributes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Converting TF Models to ONNX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Using tf2onnx: pip install tf2onnx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python -m tf2onnx.convert --saved-model ./my_model --output model.onnx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Specify target opset: --opset 17 (use latest stable opset)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Running ONNX Models with ONNX Runtime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pip install onnxruntime (CPU) or onnxruntime-gpu (CUDA)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sess = ort.InferenceSession('model.onnx')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outputs = sess.run(None, {'input': input_data})</a:t>
            </a:r>
          </a:p>
        </p:txBody>
      </p:sp>
    </p:spTree>
    <p:extLst>
      <p:ext uri="{BB962C8B-B14F-4D97-AF65-F5344CB8AC3E}">
        <p14:creationId xmlns:p14="http://schemas.microsoft.com/office/powerpoint/2010/main" val="2704997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5678FD33-734A-0151-E240-66C19B549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>
            <a:extLst>
              <a:ext uri="{FF2B5EF4-FFF2-40B4-BE49-F238E27FC236}">
                <a16:creationId xmlns:a16="http://schemas.microsoft.com/office/drawing/2014/main" id="{FEEF8E01-78F3-E064-1EF2-1096A31BE49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DA24D5-DFA4-969F-0241-0C224B0687D0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latin typeface="Aptos Display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F70451-B973-DEBF-E4B7-8E3F81126B94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500" dirty="0">
              <a:latin typeface="Aptos Display" panose="020B0004020202020204" pitchFamily="34" charset="0"/>
            </a:endParaRPr>
          </a:p>
        </p:txBody>
      </p:sp>
      <p:sp>
        <p:nvSpPr>
          <p:cNvPr id="2" name="Google Shape;130;p16">
            <a:extLst>
              <a:ext uri="{FF2B5EF4-FFF2-40B4-BE49-F238E27FC236}">
                <a16:creationId xmlns:a16="http://schemas.microsoft.com/office/drawing/2014/main" id="{4EA40659-9880-2A0D-BA61-9B348F591E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tx1"/>
                </a:solidFill>
              </a:rPr>
              <a:t>SavedModel vs ONNX: Choosing the Right Format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45BAC36-16F6-C078-FD65-A616568F11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3366"/>
                </a:solidFill>
                <a:latin typeface="Helvetica Neue"/>
              </a:rPr>
              <a:t>Use TF SavedModel When...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Deploying with TF Serving or TFX production pipelines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Need full fidelity: custom ops, training state, Keras configs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Using TF Lite for mobile conversion (SavedModel → TFLite)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Staying entirely within the TensorFlow/Google ecosystem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3366"/>
                </a:solidFill>
                <a:latin typeface="Helvetica Neue"/>
              </a:rPr>
              <a:t>Use ONNX When...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Deploying model trained in TF to ONNX Runtime (cross-platform C++/Java)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Interoperating with PyTorch, MXNet, Scikit-learn, or other frameworks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Using TensorRT for NVIDIA GPU inference (ONNX → TensorRT engine)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Targeting OpenVINO for Intel CPU/VPU deployment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Practical Interoperability Pipeline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Train: PyTorch/TensorFlow (whichever is best for research)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Export: SavedModel (TF) or TorchScript (PT) → ONNX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Optimize: ONNX → TensorRT / OpenVINO / ONNX Runtime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Serve: REST/gRPC API, edge binary, or embedded runtime</a:t>
            </a:r>
          </a:p>
        </p:txBody>
      </p:sp>
    </p:spTree>
    <p:extLst>
      <p:ext uri="{BB962C8B-B14F-4D97-AF65-F5344CB8AC3E}">
        <p14:creationId xmlns:p14="http://schemas.microsoft.com/office/powerpoint/2010/main" val="27049976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926DD12F-607B-4BA9-2BCF-17E539498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4AB851E-D2BA-0908-F010-A14AE6A5CAC9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latin typeface="Aptos Display" panose="020B00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90D5073-03E9-16F2-AAE5-496501F186A8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500" dirty="0">
              <a:latin typeface="Aptos Display" panose="020B0004020202020204" pitchFamily="34" charset="0"/>
            </a:endParaRPr>
          </a:p>
        </p:txBody>
      </p:sp>
      <p:sp>
        <p:nvSpPr>
          <p:cNvPr id="21" name="Google Shape;130;p16">
            <a:extLst>
              <a:ext uri="{FF2B5EF4-FFF2-40B4-BE49-F238E27FC236}">
                <a16:creationId xmlns:a16="http://schemas.microsoft.com/office/drawing/2014/main" id="{CA3F95C1-98C0-9471-D7A4-7698C3C86D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" dirty="0">
                <a:solidFill>
                  <a:schemeClr val="tx1"/>
                </a:solidFill>
              </a:rPr>
              <a:t>Summary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Google Shape;131;p16">
            <a:extLst>
              <a:ext uri="{FF2B5EF4-FFF2-40B4-BE49-F238E27FC236}">
                <a16:creationId xmlns:a16="http://schemas.microsoft.com/office/drawing/2014/main" id="{5DD64C2E-D442-E32E-79E4-36AC9D924B55}"/>
              </a:ext>
            </a:extLst>
          </p:cNvPr>
          <p:cNvSpPr txBox="1">
            <a:spLocks/>
          </p:cNvSpPr>
          <p:nvPr/>
        </p:nvSpPr>
        <p:spPr>
          <a:xfrm>
            <a:off x="311700" y="1056537"/>
            <a:ext cx="8520600" cy="377810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TensorFlow’s eager mode enables rapid development; @tf.function and graph execution unlock production-level performance through op fusion and whole-graph optimizations.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tf.data pipelines with prefetch, parallel map, and TFRecord format are essential to eliminate CPU-GPU data starvation and maximize training throughput.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XLA JIT compilation fuses operators into single kernels, delivering up to 1.5x+ speedup; ONNX and SavedModel formats enable flexible, cross-platform model deployment.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46343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>
          <a:extLst>
            <a:ext uri="{FF2B5EF4-FFF2-40B4-BE49-F238E27FC236}">
              <a16:creationId xmlns:a16="http://schemas.microsoft.com/office/drawing/2014/main" id="{9504B2B0-47A9-5698-7076-399DA624B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9">
            <a:extLst>
              <a:ext uri="{FF2B5EF4-FFF2-40B4-BE49-F238E27FC236}">
                <a16:creationId xmlns:a16="http://schemas.microsoft.com/office/drawing/2014/main" id="{6700D62D-DE44-5D7A-F6DF-775832F9F0A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229" name="Google Shape;229;p29">
            <a:extLst>
              <a:ext uri="{FF2B5EF4-FFF2-40B4-BE49-F238E27FC236}">
                <a16:creationId xmlns:a16="http://schemas.microsoft.com/office/drawing/2014/main" id="{F57A4D2D-D148-6EE2-C13A-BC1246C504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069200"/>
            <a:ext cx="6960900" cy="79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>
                <a:solidFill>
                  <a:schemeClr val="tx1"/>
                </a:solidFill>
              </a:rPr>
              <a:t>Thank you!</a:t>
            </a:r>
            <a:endParaRPr sz="3000" dirty="0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BFD1A3-5B60-8A3A-F97E-BFFA2CFDD522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latin typeface="Aptos Display" panose="020B00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3C280A-6A21-7E17-A33F-575D64C1EB37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500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2198134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1639</TotalTime>
  <Words>815</Words>
  <Application>Microsoft Office PowerPoint</Application>
  <PresentationFormat>On-screen Show (16:9)</PresentationFormat>
  <Paragraphs>88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Helvetica Neue</vt:lpstr>
      <vt:lpstr>Aptos Display</vt:lpstr>
      <vt:lpstr>Simple Light</vt:lpstr>
      <vt:lpstr>NPTEL</vt:lpstr>
      <vt:lpstr>Segment 5: Model Interoperability: SavedModel vs ONNX  Model Serialization | SavedModel Format | ONNX Format | Cross-Framework Deployment </vt:lpstr>
      <vt:lpstr>Model Serialization: Why It Matters</vt:lpstr>
      <vt:lpstr>TensorFlow SavedModel Format</vt:lpstr>
      <vt:lpstr>ONNX: Open Neural Network Exchange</vt:lpstr>
      <vt:lpstr>SavedModel vs ONNX: Choosing the Right Format</vt:lpstr>
      <vt:lpstr>Summary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Bachelor of Science (Honours) in Data Science and Artificial Intelligence</dc:title>
  <dc:creator>satyajit das</dc:creator>
  <cp:lastModifiedBy>satyajit das</cp:lastModifiedBy>
  <cp:revision>53</cp:revision>
  <dcterms:modified xsi:type="dcterms:W3CDTF">2026-04-06T04:00:47Z</dcterms:modified>
</cp:coreProperties>
</file>