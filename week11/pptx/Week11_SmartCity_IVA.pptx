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 11 Smart-City IVA" id="{0F9B676F-9323-8055-1ED8-511A0511434E}">
          <p14:sldIdLst/>
        </p14:section>
        <p14:section name="Default-1" id="{B6660D16-9816-E37F-D13B-2D5F88472FA5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0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11: Smart-City Intelligent Video Analytics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</a:rPr>
              <a:t>Camera/video → detection → tracking → event analytics → incident report → optional LLM summary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9BA6"/>
                </a:solidFill>
              </a:rPr>
              <a:t>Applied Accelerated AI</a:t>
            </a:r>
            <a:endParaRPr lang="en-US" sz="1800" dirty="0"/>
          </a:p>
        </p:txBody>
      </p:sp>
      <p:pic>
        <p:nvPicPr>
          <p:cNvPr id="9" name="Image 0" descr="/mnt/data/smart_city_video_analytics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04566"/>
            <a:ext cx="5440680" cy="3063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349240"/>
            <a:ext cx="10652760" cy="566928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idea: intelligent video analytics is not only a detector; it is a complete auditable system that turns video into structured events.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objectives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10698480" cy="4983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intelligent video analytics as a system, not as a single neural-network call.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detection, tracking, event logic, report generation, and LLM summarization.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how spatial and temporal rules convert tracks into events.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the files and commands needed to run the Week 11 demonstration package.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the generated outputs: annotated video, event log, metrics, and incident report.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system at detection, tracking, event, and end-to-end performance levels.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smart-city IVA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smart_city_video_analytics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14400"/>
            <a:ext cx="111099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does IVA solve?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1560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video is high-bandwidth, unstructured, and difficult to search.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 need compact, meaningful facts rather than thousands of frames.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a person entered a restricted region, a vehicle crossed a line, or crowd density exceeded a threshold.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IVA converts visual streams into structured events that can be stored, counted, queried, and summarized.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goal is decision support, not merely drawing bounding boxes.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5440680"/>
            <a:ext cx="10424160" cy="54864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frames → low-level objects → object identity over time → application-level events.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view of the lecture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835640" cy="443484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Layer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 answered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 artifact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Detection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objects are present in this frame?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Bounding boxes and class labels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object is the same across frames?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 IDs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 logic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application event occurred?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events.jsonl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should the operator review?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incident_report.txt / .json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the pipeline keep up?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metrics.json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868680" y="5715000"/>
            <a:ext cx="10332720" cy="41148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demo will expose one artifact from each layer.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Detection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Detection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From a video frame to objects, boxes, classes, and confidence scores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 boxes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detection: frame-level perception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566928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 is applied independently to a frame or image.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detector predicts a set of bounding boxes.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box has a class label such as person, car, bicycle, motorcycle, bus, or truck.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prediction also has a confidence score.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smart-city demo, detection gives the basic visual objects that later stages reason about.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903720" y="1325880"/>
            <a:ext cx="4343400" cy="73152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answer: what is here now?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03720" y="2423160"/>
            <a:ext cx="4343400" cy="1005840"/>
          </a:xfrm>
          <a:prstGeom prst="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output per object: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+ bounding box + confidence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903720" y="3794760"/>
            <a:ext cx="4343400" cy="9144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Limitation: a detector alone has no memory of earlier frames.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YOLO26 in the classroom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4652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uses Ultralytics YOLO26n for real-time object detection.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YOLO26n is selected because it is small enough for a classroom demo and fast enough on Colab GPU.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loaded with the current Ultralytics API: YOLO("yolo26n.pt").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demonstration focuses on common COCO-style smart-city classes: person, bicycle, car, motorcycle, bus, and truck.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65760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load and inference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657600" cy="15544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YOLO("yolo26n.pt")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model("frame.jpg")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0" y="3977640"/>
            <a:ext cx="3657600" cy="10515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demo, the detector output is not the final answer. It is the input to tracking and event logic.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output: what the next stage needs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835640" cy="388620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later for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xyxy box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 location in the frame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center point, ROI test, line crossing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 id/name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 category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 filtering, e.g., only person for loitering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Detector certainty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thresholding, debugging, report metadata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 index/time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the object was seen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dwell time, event timestamp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440680"/>
            <a:ext cx="10332720" cy="54864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is the perception substrate: all downstream semantics depend on these low-level outputs.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cannot answer temporal questions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0704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detector can say that a person is present in the current frame.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cannot by itself know whether this is the same person from five seconds ago.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cannot compute dwell time without identity over time.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cannot robustly count line crossings without comparing positions across frames.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tracking is the next required abstraction.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5303520"/>
            <a:ext cx="10332720" cy="5943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Transition: detection answers “what and where”; tracking answers “same object over time.”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Tracking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Tracking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From independent detections to persistent object identities over 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state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versus tracking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detection_vs_tracking_in_video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113842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Multi-object tracking: definition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984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 tracking associates detections across video frames.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tracker maintains a track ID for each object that it believes is the same physical object over time.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still contains boxes, classes, and confidences, but now also includes IDs.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track ID is not a person identity; it is only a temporary video-level object identity.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uses track IDs to calculate zone entry, dwell time, and line crossing.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5486400"/>
            <a:ext cx="10332720" cy="50292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distinction: track ID ≠ real-world identity.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Tracking lifecycle in the demo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1065276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predicts detections in the current frame.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tracker compares these detections with existing tracks.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objects keep their previous track IDs.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objects receive new track IDs.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disappear when objects leave the scene or are not seen for several frames.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 engine uses these IDs as temporal keys.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ByteTrack intuition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ByteTrack is a tracking-by-detection method.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starts from object detections and associates them over time.</a:t>
            </a:r>
          </a:p>
          <a:p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idea is to make use of low-score detections during association instead of discarding them too early.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can help maintain tracks when detections temporarily become weak because of occlusion, blur, or scale changes.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uses ByteTrack through the Ultralytics tracking interface.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98080" y="1417320"/>
            <a:ext cx="365760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691640"/>
            <a:ext cx="3657600" cy="164592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model.track(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persist=True,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tracker="bytetrack.yaml"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)[0]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3840480"/>
            <a:ext cx="3657600" cy="77724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persist=True keeps tracking state across frames.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Tracking errors affect event correctness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070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track ID switches, dwell-time logic may reset or attach time to the wrong object.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track is temporarily lost, a real zone entry may be missed.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false detection becomes a track, the event engine may emit a false alert.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two nearby objects are confused, the line-crossing count may be wrong.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event-level quality depends on detection quality and tracking quality.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10332720" cy="54864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lesson: errors propagate from lower-level perception to higher-level semantics.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Event Analytics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Event 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From tracked objects to spatial and temporal rules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crossing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Dwell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 count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logic from tracking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event_logic_from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14400"/>
            <a:ext cx="111099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event logic is a separate layer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9848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neural network detects visual objects; it does not automatically know the site-specific meaning of a region.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restricted area, a queue region, a parking boundary, or a count line is usually defined by the application owner.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logic combines object class, track ID, geometry, and time.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layer is deterministic in the demo, so it is easier to inspect and debug.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Keeping event logic separate also makes it easier to modify application rules without retraining the model.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 of interest: from geometry to semantics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58368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region of interest is a polygon drawn on the image plane.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polygon by itself is only geometry; the application assigns meaning to it.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a polygon can mean restricted zone, entrance area, waiting area, or road lane.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tests whether the center of a tracked object lies inside the polygon.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simple and interpretable, but it depends on correct camera placement and ROI calibration.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43800" y="1417320"/>
            <a:ext cx="3657600" cy="777240"/>
          </a:xfrm>
          <a:prstGeom prst="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Geometry: point inside polygon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43800" y="2514600"/>
            <a:ext cx="3657600" cy="77724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Semantics: person inside restricted zone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43800" y="3611880"/>
            <a:ext cx="3657600" cy="77724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Event: restricted-zone entry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coordinates for ROI configuration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21792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stores polygon and line coordinates as normalized values between 0 and 1.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0.10 means 10% of the image width.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0.20 means 20% of the image height.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advantage is that the same configuration style works for different video resolutions.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limitation is that the coordinates still need to match the scene geometry.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60920" y="1325880"/>
            <a:ext cx="388620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config.yaml example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0920" y="1600200"/>
            <a:ext cx="3886200" cy="196596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restricted_zone: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[0.55, 0.25]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[0.95, 0.25]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[0.95, 0.95]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[0.55, 0.95]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60920" y="4023360"/>
            <a:ext cx="3886200" cy="9144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inspect the first frame before accepting the default region.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Restricted-zone entry rule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is triggered when a person track moves from outside the ROI to inside it.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 uses the track ID, class name, timestamp, and zone name.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selected classes should trigger this event; in the demo, it is configured for person.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rule demonstrates how a low-level detection becomes an application-level event.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32588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00200"/>
            <a:ext cx="3794760" cy="237744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previous_inside = False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current_inside  = True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class_name == "person"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current_inside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not previous_inside: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zone_entry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4343400"/>
            <a:ext cx="3794760" cy="82296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record: restricted_zone_entry with track_id and timestamp.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Loitering / dwell-time rule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53796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Loitering is a temporal rule, so it requires tracking.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person enters the ROI, the event engine stores the entry time for that track ID.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later frame, it checks how long the same track has remained inside the zone.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dwell time exceeds a threshold, the engine emits a loitering event.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track loss or ID switch can affect this rule, which is why tracking reliability matters.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79792" y="1417320"/>
            <a:ext cx="374904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Dwell-time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79792" y="1691640"/>
            <a:ext cx="3749040" cy="20116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entry_time[track_id] = t_enter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dwell = current_time - t_enter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dwell &gt;= loiter_seconds: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loitering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79792" y="4069080"/>
            <a:ext cx="3749040" cy="9144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loiter_seconds temporarily to experience the event quickly.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Virtual-line crossing rule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virtual line is defined by two endpoints in the image plane.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track, the engine stores the previous center point and the current center point.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two points form a short motion segment.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this segment intersects the virtual line, the </a:t>
            </a:r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emits a line-crossing event.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rule can count traffic flow, corridor movement, or objects entering a boundary.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Line-crossing idea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794760" cy="164592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 = segment(prev_center, center)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    = segment(p1, p2)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intersects(movement, line):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line_crossing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0" y="3931920"/>
            <a:ext cx="3794760" cy="100584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can be added later by comparing which side of the line the track came from.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Crowd-threshold rule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53796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 threshold is an aggregate rule.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looking at only one track, the engine </a:t>
            </a: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multiple person tracks inside the ROI.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count is greater than or equal to a threshold K, it emits a crowd-threshold event.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cooldown interval prevents the same event from being emitted on every frame.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shows how individual tracks can be combined into scene-level information.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79792" y="1417320"/>
            <a:ext cx="374904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79792" y="1691640"/>
            <a:ext cx="3749040" cy="164592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inside_people = count(person tracks in ROI)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inside_people &gt;= crowd_threshold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cooldown_has_elapsed: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crowd_threshold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79792" y="3886200"/>
            <a:ext cx="3749040" cy="91440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rule is useful for occupancy and congestion analytics.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Summary: event = object + identity + rule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3050"/>
                </a:solidFill>
              </a:rPr>
              <a:t>event = object + identity over time + spatial rule + temporal rule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241280" cy="283768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 from demo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person, car, bicycle, bus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over time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 ID from ByteTrack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Spatial rule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inside restricted zone or crossing a line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Temporal rule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dwell time above threshold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 record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JSON line with timestamp, type, severity, and metadata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Structured Events and Reports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Structured Events and Reports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From application rules to auditable JSON and human-readable summaries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Lines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summary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events as auditable facts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29768" y="1097280"/>
            <a:ext cx="6793992" cy="4709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writes one JSON object per event to events.jsonl.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event contains timestamp, frame index, event type, severity, track ID, class name, and optional </a:t>
            </a: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or line information.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format is easy to read line by line, append during streaming, and process later.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event log is more useful than free text because it supports counting, filtering, search, and evaluation.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creates a safe interface for optional LLM summarization.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52360" y="1234440"/>
            <a:ext cx="384048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JSON event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508760"/>
            <a:ext cx="3840480" cy="24688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"timestamp_s": 8.36,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"event_type": "restricted_zone_entry",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"track_id": 14,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"person",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"high"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4343400"/>
            <a:ext cx="3840480" cy="82296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 log is the main machine-readable output of the application.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structured events to incident reports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structured_events_to_incident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91440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report generation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4652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deterministic report is produced without an LLM.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counts event types and severity levels.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identifies high-priority events such as restricted-zone entries.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creates recommended operator actions based on explicit rules.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easy to audit because every line comes from the structured event log.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794760" cy="10972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summarize_events.py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--events outputs/events.jsonl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--out-dir outputs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0" y="3200400"/>
            <a:ext cx="3794760" cy="822960"/>
          </a:xfrm>
          <a:prstGeom prst="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Outputs: incident_report.json and incident_report.txt.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52360" y="4343400"/>
            <a:ext cx="3794760" cy="9144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reporting should be shown before optional LLM summarization.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LLM summary: correct role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9848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does not inspect the video in this demonstration.</a:t>
            </a:r>
            <a:endParaRPr lang="en-US" sz="2500" dirty="0"/>
          </a:p>
          <a:p>
            <a:endParaRPr lang="en-US" sz="25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receives only the structured incident report or event summary.</a:t>
            </a:r>
            <a:endParaRPr lang="en-US" sz="2500" dirty="0"/>
          </a:p>
          <a:p>
            <a:endParaRPr lang="en-US" sz="25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task is to write concise natural language for an operator.</a:t>
            </a:r>
            <a:endParaRPr lang="en-US" sz="2500" dirty="0"/>
          </a:p>
          <a:p>
            <a:endParaRPr lang="en-US" sz="25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not invent new events, identities, causes, or intentions.</a:t>
            </a:r>
            <a:endParaRPr lang="en-US" sz="2500" dirty="0"/>
          </a:p>
          <a:p>
            <a:endParaRPr lang="en-US" sz="25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placement makes the LLM a presentation layer, not the source of truth.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5440680"/>
            <a:ext cx="10332720" cy="5943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use: summarize structured facts. Poor use: replace detection, tracking, or safety-critical event logic.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 for LLM summarization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3050"/>
                </a:solidFill>
              </a:rPr>
              <a:t>Allowed behavior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event counts and severities.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 timestamps and track IDs from the input.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human review where appropriate.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uncertainty when the evidence is limited.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3050"/>
                </a:solidFill>
              </a:rPr>
              <a:t>Not allowed behavior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 events not present in the JSON.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people or infer personal identity.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 intent, guilt, cause, or threat without evidence.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Override deterministic event logic.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5577840"/>
            <a:ext cx="10332720" cy="50292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should preserve the facts; it should not become an unverified perception system.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Demonstration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Demonstration Package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Files, commands, configuration, and outputs for the classroom run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config.yaml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demo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smart_city_iva_architectur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4400"/>
            <a:ext cx="11430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package contents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51560"/>
          <a:ext cx="10744200" cy="4846320"/>
        </p:xfrm>
        <a:graphic>
          <a:graphicData uri="http://schemas.openxmlformats.org/drawingml/2006/table">
            <a:tbl>
              <a:tblPr/>
              <a:tblGrid>
                <a:gridCol w="537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Week11_SmartCity_IVA_Demo.ipynb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Colab/Jupyter notebook for the complete demo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run_demo.py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YOLO26 tracking, analytics, drawing, event logging, and metrics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config.yaml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Controls model, device, ROI, line, dwell time, and thresholds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src/events.py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Deterministic event engine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summarize_events.py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Builds deterministic report and optional LLM summary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smoke_test.py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Tests event rules without needing a video or model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README.md / INSTRUCTOR_RUNBOOK.md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Step-by-step operational guidance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Colab setup before running the demo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6400800" cy="4937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the package or open the notebook.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Runtime → Change runtime type → GPU.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the required packages.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CUDA availability if a GPU is expected.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or download a short MP4 video.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</a:t>
            </a:r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first frame before full processing.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52360" y="132588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and verify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00200"/>
            <a:ext cx="3794760" cy="150876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ultralytics==8.4.141 PyYAML yt-dlp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print(torch.cuda.is_available())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3749040"/>
            <a:ext cx="3794760" cy="10515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 also runs on CPU, but the speed discussion is clearer when a GPU runtime is available.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First-frame inspection and ROI adjustment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first-frame extraction before the full pipeline.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the default restricted zone and count line fall on meaningful scene regions.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normalized polygon and line coordinates in config.yaml if needed.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lecture, choose a clip where at least one object visibly enters the zone or crosses the line.</a:t>
            </a:r>
            <a:endParaRPr lang="en-US" sz="2300" dirty="0"/>
          </a:p>
          <a:p>
            <a:endParaRPr lang="en-US" sz="23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step prevents a common failure: the model works, but no event fires because the ROI is misplaced.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52360" y="137160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First-frame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45920"/>
            <a:ext cx="3794760" cy="105156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inspect_video.py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input.mp4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 outputs/first_frame.jpg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0" y="30175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fields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3291840"/>
            <a:ext cx="3794760" cy="114300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restricted_zone.points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count_line.p1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count_line.p2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loiter_seconds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crowd_threshold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run before the full run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53796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run verifies that the model, tracker, ROI, line, and output writing all work.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first 100–200 frames to save time.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annotated video and the event log.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events appear, adjust the ROI, line, confidence threshold, or loitering threshold.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after this quick check should the full clip be processed live.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test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794760" cy="192024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input.mp4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outputs_quick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--max-frames 200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4160520"/>
            <a:ext cx="3794760" cy="8229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rehearsal stage that prevents avoidable classroom failures.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run and generated outputs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512064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120640" cy="13258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input.mp4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outputs</a:t>
            </a:r>
            <a:endParaRPr lang="en-US" sz="1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63240"/>
          <a:ext cx="10652760" cy="2743202"/>
        </p:xfrm>
        <a:graphic>
          <a:graphicData uri="http://schemas.openxmlformats.org/drawingml/2006/table">
            <a:tbl>
              <a:tblPr/>
              <a:tblGrid>
                <a:gridCol w="532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annotated.mp4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visual output with boxes, IDs, ROI, line, and alerts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events.jsonl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 of structured events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metrics.json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frames, wall FPS, inference time, and event counts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incident_report.json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structured aggregated incident report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incident_report.txt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human-readable deterministic report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llm_summary.txt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 local-LLM summary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classroom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Package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classroom_demonstration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4400"/>
            <a:ext cx="113842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6: Performance and Evaluation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6: Performance and Evaluation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How to measure the complete application, not only the model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Measuring performance correctly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end_to_end_video_analytics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4400"/>
            <a:ext cx="113842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inference latency is not the whole story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53796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inference latency measures the time spent by the detector on a frame.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FPS measures the whole application throughput.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also spends time on video decoding, tracking, ROI logic, drawing overlays, and video encoding or display.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detector becomes faster, another stage may become the bottleneck.</a:t>
            </a:r>
            <a:endParaRPr lang="en-US" sz="2400" dirty="0"/>
          </a:p>
          <a:p>
            <a:endParaRPr lang="en-US" sz="2400" dirty="0">
              <a:solidFill>
                <a:srgbClr val="2D2D2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the package reports both average inference time and wall FPS.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508760"/>
            <a:ext cx="3794760" cy="128016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latency = decode + inference + tracking + analytics + drawing + encoding/display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52360" y="3337560"/>
            <a:ext cx="3794760" cy="123444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comparison: run the same clip on CPU and GPU, then compare both detector latency and wall FPS.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 versus GPU classroom experiment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3050"/>
                </a:solidFill>
              </a:rPr>
              <a:t>GPU / auto run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CUDA when available.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accelerated neural-network inference.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includes non-model stages in wall FPS.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connecting to Week 9 serving topics.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3050"/>
                </a:solidFill>
              </a:rPr>
              <a:t>CPU run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config_cpu.yaml.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slower for YOLO inference.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expose video decoding or drawing overheads.</a:t>
            </a:r>
            <a:endParaRPr lang="en-US" sz="2100" dirty="0"/>
          </a:p>
          <a:p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as a baseline for systems thinking.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5257800"/>
            <a:ext cx="1024128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532120"/>
            <a:ext cx="10241280" cy="4114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--source input.mp4 --config config.yaml --output-dir outputs_gpu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--source input.mp4 --config config_cpu.yaml --output-dir outputs_cpu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levels in IVA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pic>
        <p:nvPicPr>
          <p:cNvPr id="6" name="Image 0" descr="/mnt/data/evaluation_levels_in_intelligent_video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11658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Detection, tracking, event, and system metrics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48056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metrics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tells us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precision, recall, mAP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whether objects are found correctly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 switches, track continuity, MOT metrics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whether identities are stable over time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 precision, recall, F1, timestamp tolerance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whether application events are correct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System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latency, throughput, memory, CPU/GPU usage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whether the application meets operational constraints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summary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factual consistency, omissions, hallucinations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whether the summary preserves structured facts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669280"/>
            <a:ext cx="10332720" cy="4572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detector is not enough; the application must be evaluated at the event and system levels too.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failure modes and what they teach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129616"/>
              </p:ext>
            </p:extLst>
          </p:nvPr>
        </p:nvGraphicFramePr>
        <p:xfrm>
          <a:off x="685800" y="1097280"/>
          <a:ext cx="10835640" cy="443484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mode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Likely cause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Important point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event fired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ROI/line not aligned with scene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calibration matters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False zone entry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false detection or poor geometry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perception and rule errors propagate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dwell time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 ID switch or lost track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temporal identity is fragile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line count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missed track or line placement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 rules need validation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adds unsupported claim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 not constrained enough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must be grounded in structured facts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577840"/>
            <a:ext cx="10332720" cy="50292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analysis is part of the lesson; students should learn to debug the pipeline stage by stage.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7: Live Demonstration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73152" cy="429768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7: Live Demonstration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2D2D"/>
                </a:solidFill>
              </a:rPr>
              <a:t>Run the package after the theory is complete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1508760" cy="347472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demonstration sequence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10698480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Colab notebook or local terminal.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package installation and CUDA availability.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or select the input video.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first frame and adjust ROI/line if necessary.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short quick test.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full video analytics pipeline.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annotated.mp4 and events.jsonl.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and inspect the incident report.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Optionally run the LLM summary.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</a:t>
            </a: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metrics.json and discuss performance.</a:t>
            </a:r>
            <a:endParaRPr lang="en-US" sz="2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checkpoint 1: environment and video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environment: Google Colab GPU or local Python environment.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input: a short MP4 with visible people or vehicles.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first action: verify that the runtime can import Ultralytics and load YOLO26n.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second action: inspect the first video frame and ensure the ROI and virtual line are meaningful.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32588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check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00200"/>
            <a:ext cx="3794760" cy="173736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ultralytics==8.4.141 PyYAML yt-dlp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 &lt;&lt;'PY'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print(torch.cuda.is_available())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79476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frame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4069080"/>
            <a:ext cx="3794760" cy="50292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inspect_video.py --source input.mp4 --out outputs/first_frame.jpg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checkpoint 2: quick run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008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quick run verifies that the pipeline is functioning before the full demonstration.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max-frames to keep this step short.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that bounding boxes, track IDs, ROI, and line overlays appear.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necessary, adjust config.yaml before continuing.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run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794760" cy="182880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input.mp4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outputs_quick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--max-frames 200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4069080"/>
            <a:ext cx="3794760" cy="86868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result: outputs_quick/annotated.mp4 and outputs_quick/events.jsonl.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checkpoint 3: full pipeline run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008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run processes the complete input video.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console prints events as they are emitted.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directory contains the annotated video, event stream, and metrics.</a:t>
            </a:r>
            <a:endParaRPr lang="en-US" sz="2500" dirty="0"/>
          </a:p>
          <a:p>
            <a:r>
              <a:rPr lang="en-US" sz="2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main demonstration moment: video becomes structured information.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52360" y="14173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run 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3794760" cy="137160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run_demo.py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input.mp4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outputs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3520440"/>
            <a:ext cx="3794760" cy="132588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run, watch for printed events such as restricted_zone_entry, loitering, line_crossing, or crowd_threshold.</a:t>
            </a:r>
            <a:endParaRPr lang="en-US" sz="1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checkpoint 4: inspect outputs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114800"/>
        </p:xfrm>
        <a:graphic>
          <a:graphicData uri="http://schemas.openxmlformats.org/drawingml/2006/table">
            <a:tbl>
              <a:tblPr/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this file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students should observe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annotated.mp4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Detected objects, tracking IDs, ROI polygon, virtual line, and event overlay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events.jsonl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structured JSON record per event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metrics.json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Frames processed, wall FPS, average inference time, event counts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incident_report.txt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Deterministic human-readable summary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llm_summary.txt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 natural-language summary from structured facts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532120"/>
            <a:ext cx="10332720" cy="50292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order: annotated video → events.jsonl → incident report → metrics.</a:t>
            </a:r>
            <a:endParaRPr lang="en-US" sz="2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checkpoint 5: incident report and optional LLM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649224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generate the deterministic report from events.jsonl.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optionally run the local-LLM summary.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two outputs: the LLM should not add new facts that are absent from the structured report.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demonstrates a safe agentic pattern: deterministic analytics first, language generation second.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52360" y="128016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554480"/>
            <a:ext cx="3794760" cy="105156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summarize_events.py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--events outputs/events.jsonl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--out-dir outputs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3017520"/>
            <a:ext cx="3794760" cy="256032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LLM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3291840"/>
            <a:ext cx="3794760" cy="1325880"/>
          </a:xfrm>
          <a:prstGeom prst="rect">
            <a:avLst/>
          </a:prstGeom>
          <a:solidFill>
            <a:srgbClr val="1B273E"/>
          </a:solidFill>
          <a:ln>
            <a:solidFill>
              <a:srgbClr val="1B273E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summarize_events.py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--events outputs/events.jsonl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--out-dir outputs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--llm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Troubleshooting during the live demo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835640" cy="4434843"/>
        </p:xfrm>
        <a:graphic>
          <a:graphicData uri="http://schemas.openxmlformats.org/drawingml/2006/table">
            <a:tbl>
              <a:tblPr/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Immediate fix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CUDA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Continue on CPU or switch Colab runtime to GPU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events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 ROI/line or lower loiter_seconds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 detections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a clearer clip or lower confidence threshold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Track IDs unstable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a less crowded clip and verify tracker setting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does not play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Re-encode annotated output with H.264 if needed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too slow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Skip LLM summary; deterministic report is sufficient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577840"/>
            <a:ext cx="10332720" cy="50292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safest plan is to keep a pre-generated output folder as backup, but still run the live commands if time permits.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Ethics, privacy, and deployment caution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984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classroom demo is for technical education, not an endorsement of uncontrolled surveillance.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face recognition, identity inference, or personal profiling is required.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deployment must consider consent, signage, access control, audit trails, retention policy, and legal requirements.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detections, ID switches, and poor ROI calibration can produce false alerts.</a:t>
            </a:r>
            <a:endParaRPr lang="en-US" sz="2400" dirty="0"/>
          </a:p>
          <a:p>
            <a:r>
              <a:rPr lang="en-US" sz="24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should be treated as decision support and should require human review in sensitive settings.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5440680"/>
            <a:ext cx="10332720" cy="59436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design: structured evidence, clear limitations, human review, and careful data governance.</a:t>
            </a:r>
            <a:endParaRPr lang="en-US" sz="2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Extensions after the classroom demo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1069848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Wrong-way movement: compare track direction against an allowed direction.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length: count people inside a waiting zone over time.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dwell: detect vehicles remaining in a zone longer than a threshold.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Multi-camera IVA: merge events from multiple cameras into one reporting layer.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Acceleration study: compare PyTorch, ONNX Runtime, TensorRT, and different image sizes for the detector stage.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evaluation: create labeled clips and compute event-level precision, recall, and F1.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5532120"/>
            <a:ext cx="10332720" cy="502920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any new rule, define required objects, spatial condition, temporal condition, event record, failure cases, and evaluation metric.</a:t>
            </a:r>
            <a:endParaRPr 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synthesis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3050"/>
                </a:solidFill>
              </a:rPr>
              <a:t>camera → detection → tracking → event logic → structured report → decision support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10149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gives objects in individual frames.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gives identity over time.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logic gives application semantics.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logs give auditability and evaluation support.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summarization is useful only when grounded in structured facts.</a:t>
            </a:r>
            <a:endParaRPr lang="en-US" sz="2300" dirty="0"/>
          </a:p>
          <a:p>
            <a:r>
              <a:rPr lang="en-US" sz="23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measurement is required for real accelerated-AI deployment.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5715000"/>
            <a:ext cx="10332720" cy="457200"/>
          </a:xfrm>
          <a:prstGeom prst="rect">
            <a:avLst/>
          </a:prstGeom>
          <a:solidFill>
            <a:srgbClr val="F7F3DC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live demo should be interpretable: every output file corresponds to one layer of the system.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implementation sources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78992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Ultralytics documentation: Multi-Object Tracking with Ultralytics YOLO; tracking API supports model.track(...) with tracker configuration.</a:t>
            </a:r>
            <a:endParaRPr lang="en-US" sz="2200" dirty="0"/>
          </a:p>
          <a:p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Ultralytics documentation: YOLO26 model family and yolo26n.pt quick-start usage.</a:t>
            </a:r>
            <a:endParaRPr lang="en-US" sz="2200" dirty="0"/>
          </a:p>
          <a:p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et al., “ByteTrack: Multi-Object Tracking by Associating Every Detection Box,” ECCV 2022.</a:t>
            </a:r>
            <a:endParaRPr lang="en-US" sz="2200" dirty="0"/>
          </a:p>
          <a:p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package: Week11_SmartCity_IVA_Complete_Demo_Package.zip, including notebook, run_demo.py, event engine, report generator, and evaluation plan.</a:t>
            </a:r>
            <a:endParaRPr lang="en-US" sz="2200" dirty="0"/>
          </a:p>
          <a:p>
            <a:r>
              <a:rPr lang="en-US" sz="22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local summarization model: Qwen2.5-0.5B-Instruct or any small instruction-tuned model available in the classroom environment.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10515600" cy="475488"/>
          </a:xfrm>
          <a:prstGeom prst="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figures in this deck are AI-generated academic-style teaching figures prepared specifically for this lecture.</a:t>
            </a:r>
            <a:endParaRPr lang="en-US" sz="1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2377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B9B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9768" y="704088"/>
            <a:ext cx="11301984" cy="22860"/>
          </a:xfrm>
          <a:prstGeom prst="rect">
            <a:avLst/>
          </a:prstGeom>
          <a:solidFill>
            <a:srgbClr val="2B9BA6"/>
          </a:solidFill>
          <a:ln w="12700">
            <a:solidFill>
              <a:srgbClr val="2B9B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644652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</a:rPr>
              <a:t>Week 11 — Smart-City Intelligent Video Analytics Demonstration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3050"/>
                </a:solidFill>
              </a:rPr>
              <a:t>Smart-City IVA Demonstration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2D2D"/>
                </a:solidFill>
              </a:rPr>
              <a:t>Video → detection → tracking → event analytics → incident report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B9BA6"/>
                </a:solidFill>
              </a:rPr>
              <a:t>Ready for live demonstration</a:t>
            </a:r>
            <a:endParaRPr lang="en-US" sz="2000" dirty="0"/>
          </a:p>
        </p:txBody>
      </p:sp>
      <p:pic>
        <p:nvPicPr>
          <p:cNvPr id="9" name="Image 0" descr="/mnt/data/classroom_demonstration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794760"/>
            <a:ext cx="8503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5377</Words>
  <Application>Microsoft Office PowerPoint</Application>
  <PresentationFormat>Widescreen</PresentationFormat>
  <Paragraphs>815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 Guwahati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Smart-City IVA Complete Lecture and Demo Slides</dc:title>
  <dc:subject>Week 11 Smart-City Intelligent Video Analytics Demonstration</dc:subject>
  <dc:creator>OpenAI</dc:creator>
  <cp:lastModifiedBy>Satyajit Das</cp:lastModifiedBy>
  <cp:revision>23</cp:revision>
  <dcterms:created xsi:type="dcterms:W3CDTF">2026-09-07T02:20:45Z</dcterms:created>
  <dcterms:modified xsi:type="dcterms:W3CDTF">2026-09-23T05:39:17Z</dcterms:modified>
</cp:coreProperties>
</file>