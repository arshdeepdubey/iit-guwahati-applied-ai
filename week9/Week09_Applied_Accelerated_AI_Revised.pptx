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3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371" r:id="rId75"/>
    <p:sldId id="372" r:id="rId76"/>
    <p:sldId id="373" r:id="rId77"/>
    <p:sldId id="374" r:id="rId78"/>
    <p:sldId id="375" r:id="rId79"/>
    <p:sldId id="376" r:id="rId80"/>
    <p:sldId id="377" r:id="rId81"/>
    <p:sldId id="378" r:id="rId82"/>
    <p:sldId id="379" r:id="rId83"/>
  </p:sldIdLst>
  <p:sldSz cx="18288000" cy="10287000"/>
  <p:notesSz cx="6858000" cy="9144000"/>
  <p:embeddedFontLst>
    <p:embeddedFont>
      <p:font typeface="Aptos Bold" panose="020B0004020202020204" pitchFamily="34" charset="0"/>
      <p:regular r:id="rId85"/>
      <p:bold r:id="rId86"/>
    </p:embeddedFont>
    <p:embeddedFont>
      <p:font typeface="Arimo" panose="020B0604020202020204" charset="0"/>
      <p:regular r:id="rId87"/>
    </p:embeddedFont>
    <p:embeddedFont>
      <p:font typeface="Arimo Bold" panose="020B0604020202020204" charset="0"/>
      <p:regular r:id="rId88"/>
    </p:embeddedFont>
    <p:embeddedFont>
      <p:font typeface="Arimo Bold Italics" panose="020B0604020202020204" charset="0"/>
      <p:regular r:id="rId89"/>
    </p:embeddedFont>
    <p:embeddedFont>
      <p:font typeface="Arimo Italics" panose="020B0604020202020204" charset="0"/>
      <p:regular r:id="rId90"/>
    </p:embeddedFont>
    <p:embeddedFont>
      <p:font typeface="Consolas" panose="020B0609020204030204" pitchFamily="49" charset="0"/>
      <p:regular r:id="rId91"/>
      <p:bold r:id="rId92"/>
      <p:italic r:id="rId93"/>
      <p:boldItalic r:id="rId9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3402" y="1750847"/>
            <a:ext cx="17041197" cy="3052201"/>
            <a:chOff x="0" y="0"/>
            <a:chExt cx="22721595" cy="40696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721601" cy="4069600"/>
            </a:xfrm>
            <a:custGeom>
              <a:avLst/>
              <a:gdLst/>
              <a:ahLst/>
              <a:cxnLst/>
              <a:rect l="l" t="t" r="r" b="b"/>
              <a:pathLst>
                <a:path w="22721601" h="4069600">
                  <a:moveTo>
                    <a:pt x="0" y="0"/>
                  </a:moveTo>
                  <a:lnTo>
                    <a:pt x="22721601" y="0"/>
                  </a:lnTo>
                  <a:lnTo>
                    <a:pt x="22721601" y="4069600"/>
                  </a:lnTo>
                  <a:lnTo>
                    <a:pt x="0" y="406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789" b="-5878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22721595" cy="406960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NPTEL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3402" y="4803048"/>
            <a:ext cx="17041197" cy="1200598"/>
            <a:chOff x="0" y="0"/>
            <a:chExt cx="22721595" cy="16007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600800"/>
            </a:xfrm>
            <a:custGeom>
              <a:avLst/>
              <a:gdLst/>
              <a:ahLst/>
              <a:cxnLst/>
              <a:rect l="l" t="t" r="r" b="b"/>
              <a:pathLst>
                <a:path w="22721601" h="1600800">
                  <a:moveTo>
                    <a:pt x="0" y="0"/>
                  </a:moveTo>
                  <a:lnTo>
                    <a:pt x="22721601" y="0"/>
                  </a:lnTo>
                  <a:lnTo>
                    <a:pt x="22721601" y="1600800"/>
                  </a:lnTo>
                  <a:lnTo>
                    <a:pt x="0" y="160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568" b="-22656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22721595" cy="1591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Applied Accelerated Artificial Intelligence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4500">
            <a:off x="1571568" y="8334242"/>
            <a:ext cx="14525263" cy="0"/>
          </a:xfrm>
          <a:prstGeom prst="line">
            <a:avLst/>
          </a:prstGeom>
          <a:ln w="9525" cap="rnd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623402" y="6631848"/>
            <a:ext cx="17041197" cy="1200598"/>
            <a:chOff x="0" y="0"/>
            <a:chExt cx="22721595" cy="16007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21601" cy="1600800"/>
            </a:xfrm>
            <a:custGeom>
              <a:avLst/>
              <a:gdLst/>
              <a:ahLst/>
              <a:cxnLst/>
              <a:rect l="l" t="t" r="r" b="b"/>
              <a:pathLst>
                <a:path w="22721601" h="1600800">
                  <a:moveTo>
                    <a:pt x="0" y="0"/>
                  </a:moveTo>
                  <a:lnTo>
                    <a:pt x="22721601" y="0"/>
                  </a:lnTo>
                  <a:lnTo>
                    <a:pt x="22721601" y="1600800"/>
                  </a:lnTo>
                  <a:lnTo>
                    <a:pt x="0" y="1600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6568" b="-22656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22721595" cy="16007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Instructor: Dr. Satyajit Das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Dept. of Computer Science and Engineering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Indian Institute of Technology Guwahati, Assam, India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31649" y="550250"/>
            <a:ext cx="3024702" cy="3052201"/>
            <a:chOff x="0" y="0"/>
            <a:chExt cx="4032936" cy="4069601"/>
          </a:xfrm>
        </p:grpSpPr>
        <p:sp>
          <p:nvSpPr>
            <p:cNvPr id="17" name="Freeform 17" descr="A logo with a symbol in the middle  AI-generated content may be incorrect."/>
            <p:cNvSpPr/>
            <p:nvPr/>
          </p:nvSpPr>
          <p:spPr>
            <a:xfrm>
              <a:off x="0" y="0"/>
              <a:ext cx="4032885" cy="4069588"/>
            </a:xfrm>
            <a:custGeom>
              <a:avLst/>
              <a:gdLst/>
              <a:ahLst/>
              <a:cxnLst/>
              <a:rect l="l" t="t" r="r" b="b"/>
              <a:pathLst>
                <a:path w="4032885" h="4069588">
                  <a:moveTo>
                    <a:pt x="0" y="0"/>
                  </a:moveTo>
                  <a:lnTo>
                    <a:pt x="4032885" y="0"/>
                  </a:lnTo>
                  <a:lnTo>
                    <a:pt x="4032885" y="4069588"/>
                  </a:lnTo>
                  <a:lnTo>
                    <a:pt x="0" y="406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033266"/>
            <a:ext cx="16230600" cy="4220467"/>
            <a:chOff x="0" y="0"/>
            <a:chExt cx="21640800" cy="56272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40805" cy="5627295"/>
            </a:xfrm>
            <a:custGeom>
              <a:avLst/>
              <a:gdLst/>
              <a:ahLst/>
              <a:cxnLst/>
              <a:rect l="l" t="t" r="r" b="b"/>
              <a:pathLst>
                <a:path w="21640805" h="5627295">
                  <a:moveTo>
                    <a:pt x="0" y="0"/>
                  </a:moveTo>
                  <a:lnTo>
                    <a:pt x="21640805" y="0"/>
                  </a:lnTo>
                  <a:lnTo>
                    <a:pt x="21640805" y="5627295"/>
                  </a:lnTo>
                  <a:lnTo>
                    <a:pt x="0" y="5627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351" r="-499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1640800" cy="57130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02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Week 09</a:t>
              </a:r>
            </a:p>
            <a:p>
              <a:pPr algn="ctr">
                <a:lnSpc>
                  <a:spcPts val="702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Accelerated Inference and Serving Toolchain</a:t>
              </a:r>
            </a:p>
            <a:p>
              <a:pPr algn="ctr">
                <a:lnSpc>
                  <a:spcPts val="7020"/>
                </a:lnSpc>
              </a:pPr>
              <a:endParaRPr lang="en-US" sz="5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3744"/>
                </a:lnSpc>
              </a:pPr>
              <a:r>
                <a:rPr lang="en-US" sz="287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Seg 1: Inference Fundamentals | Seg 2: Graph Tracing, Batching &amp; Concurrency | Seg 3: ONNX Runtime | Seg 4: TensorRT &amp; Hardware Acceleration | Seg 5: Quantization &amp; LLM Inference Optimization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266629"/>
            <a:ext cx="16230600" cy="3753742"/>
            <a:chOff x="0" y="0"/>
            <a:chExt cx="21640800" cy="50049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5004995"/>
            </a:xfrm>
            <a:custGeom>
              <a:avLst/>
              <a:gdLst/>
              <a:ahLst/>
              <a:cxnLst/>
              <a:rect l="l" t="t" r="r" b="b"/>
              <a:pathLst>
                <a:path w="21640805" h="5004995">
                  <a:moveTo>
                    <a:pt x="0" y="0"/>
                  </a:moveTo>
                  <a:lnTo>
                    <a:pt x="21640805" y="0"/>
                  </a:lnTo>
                  <a:lnTo>
                    <a:pt x="21640805" y="5004995"/>
                  </a:lnTo>
                  <a:lnTo>
                    <a:pt x="0" y="50049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4481" r="-4994" b="-1243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640800" cy="5090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02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1</a:t>
              </a:r>
            </a:p>
            <a:p>
              <a:pPr algn="ctr">
                <a:lnSpc>
                  <a:spcPts val="702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Acceleration Fundamentals</a:t>
              </a:r>
            </a:p>
            <a:p>
              <a:pPr algn="ctr">
                <a:lnSpc>
                  <a:spcPts val="7020"/>
                </a:lnSpc>
              </a:pPr>
              <a:endParaRPr lang="en-US" sz="5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3744"/>
                </a:lnSpc>
              </a:pPr>
              <a:r>
                <a:rPr lang="en-US" sz="287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Why inference differs from training, where latency comes from, and how hardware is matched to AI serving workloads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73400"/>
            <a:ext cx="17041197" cy="1110600"/>
            <a:chOff x="0" y="0"/>
            <a:chExt cx="22721595" cy="148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5"/>
            </a:xfrm>
            <a:custGeom>
              <a:avLst/>
              <a:gdLst/>
              <a:ahLst/>
              <a:cxnLst/>
              <a:rect l="l" t="t" r="r" b="b"/>
              <a:pathLst>
                <a:path w="22721601" h="1480805">
                  <a:moveTo>
                    <a:pt x="0" y="0"/>
                  </a:moveTo>
                  <a:lnTo>
                    <a:pt x="22721601" y="0"/>
                  </a:lnTo>
                  <a:lnTo>
                    <a:pt x="22721601" y="1480805"/>
                  </a:lnTo>
                  <a:lnTo>
                    <a:pt x="0" y="1480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0" b="-248979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Learning Objectives — Segment 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118811"/>
            <a:ext cx="16230600" cy="983878"/>
            <a:chOff x="0" y="0"/>
            <a:chExt cx="21640800" cy="131183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175919"/>
              <a:ext cx="949420" cy="960000"/>
              <a:chOff x="0" y="0"/>
              <a:chExt cx="949420" cy="96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49424" cy="959994"/>
              </a:xfrm>
              <a:custGeom>
                <a:avLst/>
                <a:gdLst/>
                <a:ahLst/>
                <a:cxnLst/>
                <a:rect l="l" t="t" r="r" b="b"/>
                <a:pathLst>
                  <a:path w="949424" h="959994">
                    <a:moveTo>
                      <a:pt x="0" y="0"/>
                    </a:moveTo>
                    <a:lnTo>
                      <a:pt x="949424" y="0"/>
                    </a:lnTo>
                    <a:lnTo>
                      <a:pt x="949424" y="959994"/>
                    </a:lnTo>
                    <a:lnTo>
                      <a:pt x="0" y="95999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7617" r="-81849" b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949420" cy="9885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01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173576" y="0"/>
              <a:ext cx="20467224" cy="1311837"/>
              <a:chOff x="0" y="0"/>
              <a:chExt cx="20467224" cy="131183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0467224" cy="1311830"/>
              </a:xfrm>
              <a:custGeom>
                <a:avLst/>
                <a:gdLst/>
                <a:ahLst/>
                <a:cxnLst/>
                <a:rect l="l" t="t" r="r" b="b"/>
                <a:pathLst>
                  <a:path w="20467224" h="1311830">
                    <a:moveTo>
                      <a:pt x="0" y="0"/>
                    </a:moveTo>
                    <a:lnTo>
                      <a:pt x="20467224" y="0"/>
                    </a:lnTo>
                    <a:lnTo>
                      <a:pt x="20467224" y="1311830"/>
                    </a:lnTo>
                    <a:lnTo>
                      <a:pt x="0" y="131183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80280" r="-4231" b="-25346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20467224" cy="13308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Distinguish the inference compute pattern from training: batch size 1 vs large, memory-bandwidth-bound vs compute-bound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028700" y="3404391"/>
            <a:ext cx="16230600" cy="983878"/>
            <a:chOff x="0" y="0"/>
            <a:chExt cx="21640800" cy="1311837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175919"/>
              <a:ext cx="949420" cy="960000"/>
              <a:chOff x="0" y="0"/>
              <a:chExt cx="949420" cy="960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49424" cy="959994"/>
              </a:xfrm>
              <a:custGeom>
                <a:avLst/>
                <a:gdLst/>
                <a:ahLst/>
                <a:cxnLst/>
                <a:rect l="l" t="t" r="r" b="b"/>
                <a:pathLst>
                  <a:path w="949424" h="959994">
                    <a:moveTo>
                      <a:pt x="0" y="0"/>
                    </a:moveTo>
                    <a:lnTo>
                      <a:pt x="949424" y="0"/>
                    </a:lnTo>
                    <a:lnTo>
                      <a:pt x="949424" y="959994"/>
                    </a:lnTo>
                    <a:lnTo>
                      <a:pt x="0" y="95999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7617" r="-81849" b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949420" cy="9885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02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173576" y="0"/>
              <a:ext cx="20467224" cy="1311837"/>
              <a:chOff x="0" y="0"/>
              <a:chExt cx="20467224" cy="131183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0467224" cy="1311830"/>
              </a:xfrm>
              <a:custGeom>
                <a:avLst/>
                <a:gdLst/>
                <a:ahLst/>
                <a:cxnLst/>
                <a:rect l="l" t="t" r="r" b="b"/>
                <a:pathLst>
                  <a:path w="20467224" h="1311830">
                    <a:moveTo>
                      <a:pt x="0" y="0"/>
                    </a:moveTo>
                    <a:lnTo>
                      <a:pt x="20467224" y="0"/>
                    </a:lnTo>
                    <a:lnTo>
                      <a:pt x="20467224" y="1311830"/>
                    </a:lnTo>
                    <a:lnTo>
                      <a:pt x="0" y="131183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80280" r="-4231" b="-25346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20467224" cy="13308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Define and calculate latency, throughput, and TTFT/TPOT metrics for a production LLM serving system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028700" y="4686370"/>
            <a:ext cx="16230600" cy="983878"/>
            <a:chOff x="0" y="0"/>
            <a:chExt cx="21640800" cy="131183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175919"/>
              <a:ext cx="949420" cy="960000"/>
              <a:chOff x="0" y="0"/>
              <a:chExt cx="949420" cy="960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49424" cy="959994"/>
              </a:xfrm>
              <a:custGeom>
                <a:avLst/>
                <a:gdLst/>
                <a:ahLst/>
                <a:cxnLst/>
                <a:rect l="l" t="t" r="r" b="b"/>
                <a:pathLst>
                  <a:path w="949424" h="959994">
                    <a:moveTo>
                      <a:pt x="0" y="0"/>
                    </a:moveTo>
                    <a:lnTo>
                      <a:pt x="949424" y="0"/>
                    </a:lnTo>
                    <a:lnTo>
                      <a:pt x="949424" y="959994"/>
                    </a:lnTo>
                    <a:lnTo>
                      <a:pt x="0" y="95999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7617" r="-81849" b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949420" cy="9885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03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173576" y="0"/>
              <a:ext cx="20467224" cy="1311837"/>
              <a:chOff x="0" y="0"/>
              <a:chExt cx="20467224" cy="131183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0467224" cy="1311830"/>
              </a:xfrm>
              <a:custGeom>
                <a:avLst/>
                <a:gdLst/>
                <a:ahLst/>
                <a:cxnLst/>
                <a:rect l="l" t="t" r="r" b="b"/>
                <a:pathLst>
                  <a:path w="20467224" h="1311830">
                    <a:moveTo>
                      <a:pt x="0" y="0"/>
                    </a:moveTo>
                    <a:lnTo>
                      <a:pt x="20467224" y="0"/>
                    </a:lnTo>
                    <a:lnTo>
                      <a:pt x="20467224" y="1311830"/>
                    </a:lnTo>
                    <a:lnTo>
                      <a:pt x="0" y="131183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80280" r="-4231" b="-25346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19050"/>
                <a:ext cx="20467224" cy="13308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Identify the five main sources of inference latency: model loading, tokenisation, prefill, decode, and post-processing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1028700" y="5968349"/>
            <a:ext cx="16230600" cy="983878"/>
            <a:chOff x="0" y="0"/>
            <a:chExt cx="21640800" cy="1311837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175919"/>
              <a:ext cx="949420" cy="960000"/>
              <a:chOff x="0" y="0"/>
              <a:chExt cx="949420" cy="960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49424" cy="959994"/>
              </a:xfrm>
              <a:custGeom>
                <a:avLst/>
                <a:gdLst/>
                <a:ahLst/>
                <a:cxnLst/>
                <a:rect l="l" t="t" r="r" b="b"/>
                <a:pathLst>
                  <a:path w="949424" h="959994">
                    <a:moveTo>
                      <a:pt x="0" y="0"/>
                    </a:moveTo>
                    <a:lnTo>
                      <a:pt x="949424" y="0"/>
                    </a:lnTo>
                    <a:lnTo>
                      <a:pt x="949424" y="959994"/>
                    </a:lnTo>
                    <a:lnTo>
                      <a:pt x="0" y="95999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7617" r="-81849" b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949420" cy="9885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04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173576" y="0"/>
              <a:ext cx="20467224" cy="1311837"/>
              <a:chOff x="0" y="0"/>
              <a:chExt cx="20467224" cy="131183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0467224" cy="1311830"/>
              </a:xfrm>
              <a:custGeom>
                <a:avLst/>
                <a:gdLst/>
                <a:ahLst/>
                <a:cxnLst/>
                <a:rect l="l" t="t" r="r" b="b"/>
                <a:pathLst>
                  <a:path w="20467224" h="1311830">
                    <a:moveTo>
                      <a:pt x="0" y="0"/>
                    </a:moveTo>
                    <a:lnTo>
                      <a:pt x="20467224" y="0"/>
                    </a:lnTo>
                    <a:lnTo>
                      <a:pt x="20467224" y="1311830"/>
                    </a:lnTo>
                    <a:lnTo>
                      <a:pt x="0" y="131183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80280" r="-4231" b="-25346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19050"/>
                <a:ext cx="20467224" cy="13308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Explain why the KV cache is the dominant memory consumer during LLM decode and calculate its size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028700" y="7250328"/>
            <a:ext cx="16230600" cy="983878"/>
            <a:chOff x="0" y="0"/>
            <a:chExt cx="21640800" cy="131183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175919"/>
              <a:ext cx="949420" cy="960000"/>
              <a:chOff x="0" y="0"/>
              <a:chExt cx="949420" cy="960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49424" cy="959994"/>
              </a:xfrm>
              <a:custGeom>
                <a:avLst/>
                <a:gdLst/>
                <a:ahLst/>
                <a:cxnLst/>
                <a:rect l="l" t="t" r="r" b="b"/>
                <a:pathLst>
                  <a:path w="949424" h="959994">
                    <a:moveTo>
                      <a:pt x="0" y="0"/>
                    </a:moveTo>
                    <a:lnTo>
                      <a:pt x="949424" y="0"/>
                    </a:lnTo>
                    <a:lnTo>
                      <a:pt x="949424" y="959994"/>
                    </a:lnTo>
                    <a:lnTo>
                      <a:pt x="0" y="959994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7617" r="-81849" b="-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28575"/>
                <a:ext cx="949420" cy="98857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05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173576" y="0"/>
              <a:ext cx="20467224" cy="1311837"/>
              <a:chOff x="0" y="0"/>
              <a:chExt cx="20467224" cy="131183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0467224" cy="1311830"/>
              </a:xfrm>
              <a:custGeom>
                <a:avLst/>
                <a:gdLst/>
                <a:ahLst/>
                <a:cxnLst/>
                <a:rect l="l" t="t" r="r" b="b"/>
                <a:pathLst>
                  <a:path w="20467224" h="1311830">
                    <a:moveTo>
                      <a:pt x="0" y="0"/>
                    </a:moveTo>
                    <a:lnTo>
                      <a:pt x="20467224" y="0"/>
                    </a:lnTo>
                    <a:lnTo>
                      <a:pt x="20467224" y="1311830"/>
                    </a:lnTo>
                    <a:lnTo>
                      <a:pt x="0" y="131183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280280" r="-4231" b="-25346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19050"/>
                <a:ext cx="20467224" cy="13308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Map inference workload characteristics to GPU/CPU/NPU hardware capabilities and explain why H100 NVL is preferred for LLM serving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77498"/>
            <a:ext cx="16230600" cy="1644194"/>
            <a:chOff x="0" y="0"/>
            <a:chExt cx="21640800" cy="2192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192263"/>
            </a:xfrm>
            <a:custGeom>
              <a:avLst/>
              <a:gdLst/>
              <a:ahLst/>
              <a:cxnLst/>
              <a:rect l="l" t="t" r="r" b="b"/>
              <a:pathLst>
                <a:path w="21640805" h="2192263">
                  <a:moveTo>
                    <a:pt x="0" y="0"/>
                  </a:moveTo>
                  <a:lnTo>
                    <a:pt x="21640805" y="0"/>
                  </a:lnTo>
                  <a:lnTo>
                    <a:pt x="21640805" y="2192263"/>
                  </a:lnTo>
                  <a:lnTo>
                    <a:pt x="0" y="21922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178" r="-4994" b="-1357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21640800" cy="2163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Training vs Inference: Two Fundamentally Different Compute Patterns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3603296" cy="680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Training Characteristics</a:t>
            </a:r>
          </a:p>
          <a:p>
            <a:pPr algn="l">
              <a:lnSpc>
                <a:spcPts val="299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Large batch sizes (64–4096 samples) — maximises GPU FLOP utilisation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Deterministic computation — same graph every step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Compute-bound: weights accessed once, large matmuls fill Tensor Cores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Throughput metric: samples/sec or tokens/sec overall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Tolerance for latency — users wait seconds to minutes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Parallelism: data, tensor, pipeline parallelism across many GPUs</a:t>
            </a:r>
          </a:p>
          <a:p>
            <a:pPr marL="603240" lvl="1" indent="-301620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Inference Characteristics</a:t>
            </a:r>
          </a:p>
          <a:p>
            <a:pPr algn="l">
              <a:lnSpc>
                <a:spcPts val="299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Batch size 1 (online serving) to 256 (offline batch) — often memory-bandwidth-bound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Dynamic computation — sequence length and routing vary per request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Autoregressive decode: one token per forward pass — serial dependency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Latency metrics: TTFT, TPOT, P50/P99 latency — users feel every ms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Throughput: tokens/sec at target latency SLO</a:t>
            </a:r>
          </a:p>
          <a:p>
            <a:pPr marL="603240" lvl="1" indent="-301620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Memory: weights + KV cache must fit in GPU HBM together</a:t>
            </a:r>
          </a:p>
          <a:p>
            <a:pPr marL="603240" lvl="1" indent="-301620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Pope et al., Efficiently Scaling Transformer Inference, MLSys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77498"/>
            <a:ext cx="16230600" cy="1644194"/>
            <a:chOff x="0" y="0"/>
            <a:chExt cx="21640800" cy="2192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192263"/>
            </a:xfrm>
            <a:custGeom>
              <a:avLst/>
              <a:gdLst/>
              <a:ahLst/>
              <a:cxnLst/>
              <a:rect l="l" t="t" r="r" b="b"/>
              <a:pathLst>
                <a:path w="21640805" h="2192263">
                  <a:moveTo>
                    <a:pt x="0" y="0"/>
                  </a:moveTo>
                  <a:lnTo>
                    <a:pt x="21640805" y="0"/>
                  </a:lnTo>
                  <a:lnTo>
                    <a:pt x="21640805" y="2192263"/>
                  </a:lnTo>
                  <a:lnTo>
                    <a:pt x="0" y="21922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178" r="-4994" b="-1357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21640800" cy="2163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Training vs Inference: Two Fundamentally Different Compute Patterns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3603296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i="1">
                <a:solidFill>
                  <a:srgbClr val="00206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The Memory Bandwidth Bottleneck in Decode</a:t>
            </a:r>
          </a:p>
          <a:p>
            <a:pPr algn="l">
              <a:lnSpc>
                <a:spcPts val="2999"/>
              </a:lnSpc>
            </a:pPr>
            <a:endParaRPr lang="en-US" sz="2799" b="1" i="1">
              <a:solidFill>
                <a:srgbClr val="002060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Decode: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batch=1, one token forward pass — tiny compute but must load ALL weights</a:t>
            </a: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Weight read: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7B × 2B = 14 GB per decode step from HBM</a:t>
            </a: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Compute</a:t>
            </a:r>
            <a:r>
              <a:rPr lang="en-US" sz="2499" b="1" i="1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: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7B × 2 FLOP = 14 GFLOP at batch=1</a:t>
            </a:r>
          </a:p>
          <a:p>
            <a:pPr algn="l">
              <a:lnSpc>
                <a:spcPts val="2999"/>
              </a:lnSpc>
            </a:pP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Arithmetic intensity = FLOP / bytes = 14G/14G = 1 FLOP/byte</a:t>
            </a: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H100 peak</a:t>
            </a:r>
            <a:r>
              <a:rPr lang="en-US" sz="2499" b="1" i="1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: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3.35 TB/s BW, 3958 TFLOPS FP8 → ridge point = 1181 FLOP/byte</a:t>
            </a: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At intensity 1: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 completely memory-bandwidth-bound — GPU is at 0.08% of peak FLOP</a:t>
            </a:r>
          </a:p>
          <a:p>
            <a:pPr algn="l">
              <a:lnSpc>
                <a:spcPts val="2999"/>
              </a:lnSpc>
            </a:pP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Batching is essential: increasing batch from 1 to 64 raises intensity 64-fold.</a:t>
            </a:r>
          </a:p>
          <a:p>
            <a:pPr algn="l">
              <a:lnSpc>
                <a:spcPts val="2999"/>
              </a:lnSpc>
            </a:pPr>
            <a:endParaRPr lang="en-US" sz="2499" i="1">
              <a:solidFill>
                <a:srgbClr val="000000"/>
              </a:solidFill>
              <a:latin typeface="Arimo Italics"/>
              <a:ea typeface="Arimo Italics"/>
              <a:cs typeface="Arimo Italics"/>
              <a:sym typeface="Arimo Itali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Pope et al., Efficiently Scaling Transformer Inference, MLSys 2023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924550"/>
            <a:ext cx="13603296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Key Inference Metrics</a:t>
            </a:r>
          </a:p>
          <a:p>
            <a:pPr algn="l">
              <a:lnSpc>
                <a:spcPts val="299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TTFT: 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Time To First Token — latency of the prefill phase (user-facing responsiveness)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TPOT: 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Time Per Output Token — decode step latency (streaming speed perception)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P50/P99 latency: 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Median and tail latency — SLO contracts are usually on P99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Throughput: 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Tokens/sec across all concurrent requests at target P99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QPS: 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Queries per second — system-level capacity metric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2060"/>
                </a:solidFill>
                <a:latin typeface="Arimo Italics"/>
                <a:ea typeface="Arimo Italics"/>
                <a:cs typeface="Arimo Italics"/>
                <a:sym typeface="Arimo Italics"/>
              </a:rPr>
              <a:t>MFU: </a:t>
            </a: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Model FLOP Utilisation — efficiency relative to hardware peak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77498"/>
            <a:ext cx="16230600" cy="1644194"/>
            <a:chOff x="0" y="0"/>
            <a:chExt cx="21640800" cy="2192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192263"/>
            </a:xfrm>
            <a:custGeom>
              <a:avLst/>
              <a:gdLst/>
              <a:ahLst/>
              <a:cxnLst/>
              <a:rect l="l" t="t" r="r" b="b"/>
              <a:pathLst>
                <a:path w="21640805" h="2192263">
                  <a:moveTo>
                    <a:pt x="0" y="0"/>
                  </a:moveTo>
                  <a:lnTo>
                    <a:pt x="21640805" y="0"/>
                  </a:lnTo>
                  <a:lnTo>
                    <a:pt x="21640805" y="2192263"/>
                  </a:lnTo>
                  <a:lnTo>
                    <a:pt x="0" y="21922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178" r="-4994" b="-13572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21640800" cy="21636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Training vs Inference: Two Fundamentally Different Compute Patterns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3778857" cy="340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i="1">
                <a:solidFill>
                  <a:srgbClr val="00206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Prefill vs Decode: Two Phases of LLM Inference</a:t>
            </a:r>
          </a:p>
          <a:p>
            <a:pPr algn="l">
              <a:lnSpc>
                <a:spcPts val="2999"/>
              </a:lnSpc>
            </a:pPr>
            <a:endParaRPr lang="en-US" sz="2799" b="1" i="1">
              <a:solidFill>
                <a:srgbClr val="002060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Prefill: process the entire input prompt in parallel — one forward pass, large batch of tokens, compute-bound, fast</a:t>
            </a: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Decode: generate output tokens one at a time, autoregressive — serial, memory-bandwidth-bound, slow</a:t>
            </a:r>
          </a:p>
          <a:p>
            <a:pPr marL="539741" lvl="1" indent="-269871" algn="l">
              <a:lnSpc>
                <a:spcPts val="2999"/>
              </a:lnSpc>
              <a:buFont typeface="Arial"/>
              <a:buChar char="•"/>
            </a:pPr>
            <a:r>
              <a:rPr lang="en-US" sz="2499" i="1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For a 1000-token prompt + 200-token output: prefill takes ~20ms, decode takes ~200ms on H100</a:t>
            </a:r>
          </a:p>
          <a:p>
            <a:pPr algn="l">
              <a:lnSpc>
                <a:spcPts val="2999"/>
              </a:lnSpc>
            </a:pPr>
            <a:endParaRPr lang="en-US" sz="2499" i="1">
              <a:solidFill>
                <a:srgbClr val="000000"/>
              </a:solidFill>
              <a:latin typeface="Arimo Italics"/>
              <a:ea typeface="Arimo Italics"/>
              <a:cs typeface="Arimo Italics"/>
              <a:sym typeface="Arimo Italic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Pope et al., Efficiently Scaling Transformer Inference, MLSys 2023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664470"/>
            <a:ext cx="15204914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 i="1" u="none" strike="noStrike">
                <a:solidFill>
                  <a:srgbClr val="00206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KV Cache: The Memory Bottleneck of LLM Serving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endParaRPr lang="en-US" sz="2799" b="1" i="1" u="none" strike="noStrike">
              <a:solidFill>
                <a:srgbClr val="002060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  <a:p>
            <a:pPr marL="602923" lvl="1" indent="-301461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Each transformer layer stores Key and Value tensors for all previous tokens</a:t>
            </a:r>
          </a:p>
          <a:p>
            <a:pPr marL="602923" lvl="1" indent="-301461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KV cache size = 2 x n_layers x n_heads x d_head x seq_len x bytes</a:t>
            </a:r>
          </a:p>
          <a:p>
            <a:pPr marL="602923" lvl="1" indent="-301461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LLaMA-3-70B, seq=8192, BF16: 2x80x64x128x8192x2 = 21 GB per request</a:t>
            </a:r>
          </a:p>
          <a:p>
            <a:pPr marL="602923" lvl="1" indent="-301461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H100 80GB: weights=140GB across 2 GPUs, only 20GB left per GPU for KV cache</a:t>
            </a:r>
          </a:p>
          <a:p>
            <a:pPr marL="602923" lvl="1" indent="-301461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>
                <a:solidFill>
                  <a:srgbClr val="000000"/>
                </a:solidFill>
                <a:latin typeface="Arimo Italics"/>
                <a:ea typeface="Arimo Italics"/>
                <a:cs typeface="Arimo Italics"/>
                <a:sym typeface="Arimo Italics"/>
              </a:rPr>
              <a:t>KV cache is the primary constraint on maximum batch size and context length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58448"/>
            <a:ext cx="16230600" cy="1697534"/>
            <a:chOff x="0" y="0"/>
            <a:chExt cx="21640800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Hardware: Matching Workload to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Accelerator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9258"/>
            <a:ext cx="15741840" cy="684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GPU: The Dominant Inference Platform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NVIDIA H100 SXM5: 3.35 TB/s HBM3, 80 GB — primary LLM serving GPU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NVIDIA H100 NVL: two H100 dies, 188 GB total — fits 70B model without tensor parallelism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NVIDIA L40S: 864 GB/s GDDR6, 48 GB — cost-efficient for smaller models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NVIDIA A10G (cloud): 600 GB/s, 24 GB — common in AWS/GCP instances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NVIDIA RTX 4090: consumer, 1 TB/s GDDR6X, 24 GB — viable for 7B models locally</a:t>
            </a:r>
          </a:p>
          <a:p>
            <a:pPr marL="603249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Why HBM Bandwidth Matters More Than FLOPS for Inference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Decode throughput ≈ min(HBM_bandwidth / model_size, peak_FLOPS / arithmetic_intensity)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H100: 3.35 TB/s / 140 GB (70B BF16) = 24 token/s theoretical max per request at bs=1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Increasing batch to 32 raises throughput proportionally until compute-bound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Conclusion: for LLM serving, memory bandwidth is the primary hardware metric</a:t>
            </a:r>
          </a:p>
          <a:p>
            <a:pPr marL="603249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Specialised AI Inference Accelerators (2024–2025)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Google TPU v5p: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459 TB/s HBM2e, 96 GB — dominant for Google internal serving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AWS Inferentia2: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2.3 TB/s, 32 GB — cost-efficient for Neuron-compiled models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AMD MI300X: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5.3 TB/s HBM3, 192 GB — growing LLM inference use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Groq LPU: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SRAM-based, no HBM — extremely low latency, limited model size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Kwon et al., Efficient Memory Management for LLM Serving with PagedAttention, SOSP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58448"/>
            <a:ext cx="16230600" cy="1697534"/>
            <a:chOff x="0" y="0"/>
            <a:chExt cx="21640800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Hardware: Matching Workload to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Accelerator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Kwon et al., Efficient Memory Management for LLM Serving with PagedAttention, SOSP 2023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321195"/>
            <a:ext cx="16230600" cy="717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CPU Inference: When and Why</a:t>
            </a:r>
          </a:p>
          <a:p>
            <a:pPr algn="l">
              <a:lnSpc>
                <a:spcPts val="299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CPU inference viable for: models under 2B params, batch=1, latency-insensitive workloads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llama.cpp: highly optimised CPU inference using AVX-512/AVX2 SIMD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Apple M-series: unified memory up to 192 GB — fits 70B models at 4-bit in RAM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Intel AMX (Advanced Matrix Extensions): dedicated matrix multiplication on Sapphire Rapids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Intel Gaudi 2: 300 GB/s HBM2e, 96 GB — competitive with A100 for inference</a:t>
            </a:r>
          </a:p>
          <a:p>
            <a:pPr marL="603249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The Serving Latency Stack</a:t>
            </a:r>
          </a:p>
          <a:p>
            <a:pPr algn="l">
              <a:lnSpc>
                <a:spcPts val="299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Network: client to load balancer (~1ms)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Request queue: waiting for GPU slot (~0–100ms depending on load)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Tokenisation: BPE/SentencePiece encode (~0.1ms for 1K tokens)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Prefill: process prompt on GPU (~20ms for 1K tokens on H100)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5. Decode: autoregressive generation (~5ms/token on H100, batch=1)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6. Detokenisation + postprocess: (~0.1ms)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7. Network: response to client (~1ms)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Total P99 for 200-token response at bs=1: ~1.1 seconds on H100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58448"/>
            <a:ext cx="16230600" cy="1697534"/>
            <a:chOff x="0" y="0"/>
            <a:chExt cx="21640800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Hardware: Matching Workload to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Accelerator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Kwon et al., Efficient Memory Management for LLM Serving with PagedAttention, SOSP 2023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321195"/>
            <a:ext cx="13591418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u="none" strike="noStrike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Key Optimisation Levers</a:t>
            </a:r>
          </a:p>
          <a:p>
            <a:pPr algn="l">
              <a:lnSpc>
                <a:spcPts val="2999"/>
              </a:lnSpc>
            </a:pPr>
            <a:endParaRPr lang="en-US" sz="2799" b="1" u="none" strike="noStrike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2932" lvl="1" indent="-301466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Continuous batching: Removes idle gaps; up to 10-23x throughput gain</a:t>
            </a:r>
          </a:p>
          <a:p>
            <a:pPr marL="602932" lvl="1" indent="-301466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PagedAttention: Eliminates KV cache fragmentation; enables 3-4x more concurrent requests</a:t>
            </a:r>
          </a:p>
          <a:p>
            <a:pPr marL="602932" lvl="1" indent="-301466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Speculative decoding: Up to 3x TTFT/TPOT improvement at same hardware cost</a:t>
            </a:r>
          </a:p>
          <a:p>
            <a:pPr marL="602932" lvl="1" indent="-301466" algn="l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Quantization: 4-bit: 4x more concurrent requests in same VRAM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32809"/>
            <a:ext cx="16230600" cy="1697534"/>
            <a:chOff x="0" y="0"/>
            <a:chExt cx="21640800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PagedAttention and Continuous Batching: The Foundation of Modern LLM Serving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4527097" cy="703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The Problem: KV Cache Fragmentation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Traditional serving pre-allocates KV cache for max_seq_len tokens per request — wastes 60–80% of GPU memory on average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If max_seq_len=4096 and average output=200 tokens: 95% of allocated KV memory is never used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Cannot handle dynamic output lengths — must reserve worst case upfront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PagedAttention (vLLM, Kwon et al., SOSP 2023)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Divides KV cache into fixed-size pages (blocks) of 16 tokens — analogous to OS virtual memory paging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 request's KV cache is a logical sequence of non-contiguous physical pages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Physical pages allocated on demand as tokens are generated — no pre-allocation waste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Sharing: multiple requests sampling the same prefix share physical pages (prefix caching)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Result: 3–4× more concurrent requests on same GPU, higher throughput at same latency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vLLM uses PagedAttention by default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from vllm import LLM, SamplingParams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llm = LLM(model='meta-llama/Llama-3-8B', gpu_memory_utilization=0.90)</a:t>
            </a:r>
          </a:p>
          <a:p>
            <a:pPr marL="506463" lvl="1" indent="-253232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outputs = llm.generate(['What is ML?'], SamplingParams(max_tokens=200))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Kwon et al., Efficient Memory Management with PagedAttention, SOSP 2023; Yu et al., Orca, OSDI 2022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321195"/>
            <a:ext cx="14084601" cy="681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Continuous Batching (Orca, Yu et al., OSDI 2022)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Traditional static batching: wait for all requests in a batch to finish before starting new ones — GPU starves waiting for the slowest request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Continuous batching: insert new requests into the batch at the token level — new requests begin decode immediately when a slot becomes available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 iteration, the scheduler checks for completed sequences and adds new ones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Result: GPU utilisation rises from ~30% to 70–90%; 10–23x throughput improvement reported by vLLM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Speculative Decoding: Hiding Decode Latency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Draft model (small, fast) generates K candidate tokens; target model (large) verifies all K in one pass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If tokens accepted: K tokens generated for cost of 1 target step + K draft steps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Acceptance rate ~80% means 2–3x effective speedup on H100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Works best when draft and target models share vocabulary and embeddings (e.g., LLaMA-3-8B drafting for LLaMA-3-70B)</a:t>
            </a:r>
          </a:p>
          <a:p>
            <a:pPr marL="530860" lvl="1" indent="-265430" algn="l">
              <a:lnSpc>
                <a:spcPts val="2640"/>
              </a:lnSpc>
            </a:pPr>
            <a:r>
              <a:rPr lang="en-US" sz="2200" i="1">
                <a:solidFill>
                  <a:srgbClr val="434343"/>
                </a:solidFill>
                <a:latin typeface="Arimo Italics"/>
                <a:ea typeface="Arimo Italics"/>
                <a:cs typeface="Arimo Italics"/>
                <a:sym typeface="Arimo Italics"/>
              </a:rPr>
              <a:t>vLLM, TensorRT-LLM, and SGLang all implement PagedAttention + continuous batching as the baseline.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Kwon et al., Efficient Memory Management with PagedAttention, SOSP 2023; Yu et al., Orca, OSDI 2022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32809"/>
            <a:ext cx="16230600" cy="1697534"/>
            <a:chOff x="0" y="0"/>
            <a:chExt cx="21640800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PagedAttention and Continuous Batching: The Foundation of Modern LLM Serving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20348"/>
            <a:ext cx="16097002" cy="1697534"/>
            <a:chOff x="0" y="0"/>
            <a:chExt cx="21462670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462674" cy="2263384"/>
            </a:xfrm>
            <a:custGeom>
              <a:avLst/>
              <a:gdLst/>
              <a:ahLst/>
              <a:cxnLst/>
              <a:rect l="l" t="t" r="r" b="b"/>
              <a:pathLst>
                <a:path w="21462674" h="2263384">
                  <a:moveTo>
                    <a:pt x="0" y="0"/>
                  </a:moveTo>
                  <a:lnTo>
                    <a:pt x="21462674" y="0"/>
                  </a:lnTo>
                  <a:lnTo>
                    <a:pt x="21462674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5865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46267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Serving Frameworks: vLLM, TGI, and SGLang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41678"/>
            <a:ext cx="16477683" cy="702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vLLM (UC Berkeley, 2023–2025)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PagedAttention + continuous batching as core innovations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Supports: LLaMA, Mistral, Qwen, Gemma, DeepSeek and 100+ HuggingFace models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Tensor parallelism via Megatron-LM-style TP for multi-GPU serving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OpenAI-compatible API server — drop-in replacement for GPT-4 API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Launch vLLM OpenAI-compatible server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python -m vllm.entrypoints.openai.api_server \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--model meta-llama/Llama-3.1-70B-Instruct \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--tensor-parallel-size 2 \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--max-model-len 32768 \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--gpu-memory-utilization 0.90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HuggingFace TGI (Text Generation Inference)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Battle-tested at HuggingFace scale — powers HuggingFace Inference API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Flash Attention 2 + continuous batching + tensor parallelism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Docker-native deployment with Prometheus metrics out of the box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Best for: HuggingFace Hub model deployment, production reliability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docker run --gpus all ghcr.io/huggingface/text-generation-inference \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--model-id meta-llama/Llama-3.1-8B-Instruct \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--num-shard 1 --max-input-length 4096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Zheng et al., SGLang: Efficient Execution of Structured Language Model Programs, NeurIPS 2024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281633"/>
            <a:ext cx="16230600" cy="762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SGLang (Stanford, 2024)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RadixAttention: automatic KV cache reuse across requests sharing a common prefix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Structured generation: JSON/regex-constrained decoding without overhead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Runtime parallelism: pipeline multiple generation calls within one program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Up to 5× faster than vLLM on prefix-heavy workloads (RAG, few-shot prompts)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import sglang as sgl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@sgl.function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def multi_turn_chat(s, question):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s += sgl.system('You are a helpful assistant')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s += sgl.user(question)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s += sgl.assistant(sgl.gen('answer', max_tokens=200))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Framework Selection Guide (2025)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vLLM: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General-purpose LLM serving, good default choice, widest model support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TGI: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HuggingFace ecosystem, production reliability, Docker/k8s native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SGLang: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Prefix-heavy workloads (RAG, agents), structured output, research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TensorRT-LLM: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Maximum throughput on NVIDIA hardware, requires compilation step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Ollama: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Local development, consumer hardware, ease of use over performance</a:t>
            </a:r>
          </a:p>
          <a:p>
            <a:pPr algn="l">
              <a:lnSpc>
                <a:spcPts val="2999"/>
              </a:lnSpc>
            </a:pP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Zheng et al., SGLang: Efficient Execution of Structured Language Model Programs, NeurIPS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20348"/>
            <a:ext cx="16097002" cy="1697534"/>
            <a:chOff x="0" y="0"/>
            <a:chExt cx="21462670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462674" cy="2263384"/>
            </a:xfrm>
            <a:custGeom>
              <a:avLst/>
              <a:gdLst/>
              <a:ahLst/>
              <a:cxnLst/>
              <a:rect l="l" t="t" r="r" b="b"/>
              <a:pathLst>
                <a:path w="21462674" h="2263384">
                  <a:moveTo>
                    <a:pt x="0" y="0"/>
                  </a:moveTo>
                  <a:lnTo>
                    <a:pt x="21462674" y="0"/>
                  </a:lnTo>
                  <a:lnTo>
                    <a:pt x="21462674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5865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146267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Serving Frameworks: vLLM, TGI, and SGLang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3402" y="414204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Inference Serving Frameworks: vLLM, TGI, and SGLang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17234"/>
            <a:ext cx="16230600" cy="290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Production Deployment Stack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Load balancer (NGINX/HAProxy) → serving framework → GPU pool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Autoscaling: Kubernetes HPA + KEDA based on queue depth or GPU util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Observability: Prometheus (latency/throughput) + Grafana dashboards</a:t>
            </a:r>
          </a:p>
          <a:p>
            <a:pPr algn="l">
              <a:lnSpc>
                <a:spcPts val="299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Zheng et al., SGLang: Efficient Execution of Structured Language Model Programs, NeurIPS 2024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26278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1 Summary: Inference Acceleration Fundamentals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23402" y="2321195"/>
            <a:ext cx="16858355" cy="462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Inference is memory-bandwidth-bound at decode time (batch=1, intensity = 1 FLOP/byte vs H100 ridge point of 1181). Batching is the primary throughput lever — raising batch 64x raises compute utilisation proportionally.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Key metrics: TTFT (prefill latency), TPOT (per-token decode latency), P99 latency, and throughput (tokens/sec at SLO). KV cache = 2 x n_layers x d_model x seq_len x bytes — 21 GB per request for LLaMA-3-70B at seq=8192 BF16.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PagedAttention (vLLM) eliminates KV cache fragmentation via OS-style paging — 3-4x more concurrent requests on same GPU. Continuous batching removes idle GPU time between requests — 10-23x throughput improvement.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71027" y="2321195"/>
            <a:ext cx="16858355" cy="337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H100 NVL (188 GB) is the preferred serving GPU for 70B models — fits weights without tensor parallelism. AMD MI300X (192 GB, 5.3 TB/s) is the leading alternative. Memory bandwidth, not FLOPS, determines LLM serving capacity.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vLLM is the dominant open-source serving framework. SGLang leads for prefix-heavy workloads (RAG, agents). TGI is preferred for HuggingFace ecosystem production deployments. TensorRT-LLM maximises throughput on NVIDIA hardware.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8700" y="726278"/>
            <a:ext cx="17041197" cy="1110596"/>
            <a:chOff x="0" y="0"/>
            <a:chExt cx="22721595" cy="14807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1 Summary: Inference Acceleration Fundamentals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368927"/>
            <a:ext cx="16230600" cy="3549145"/>
            <a:chOff x="0" y="0"/>
            <a:chExt cx="21640800" cy="4732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4732198"/>
            </a:xfrm>
            <a:custGeom>
              <a:avLst/>
              <a:gdLst/>
              <a:ahLst/>
              <a:cxnLst/>
              <a:rect l="l" t="t" r="r" b="b"/>
              <a:pathLst>
                <a:path w="21640805" h="4732198">
                  <a:moveTo>
                    <a:pt x="0" y="0"/>
                  </a:moveTo>
                  <a:lnTo>
                    <a:pt x="21640805" y="0"/>
                  </a:lnTo>
                  <a:lnTo>
                    <a:pt x="21640805" y="4732198"/>
                  </a:lnTo>
                  <a:lnTo>
                    <a:pt x="0" y="47321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199" r="-4994" b="-189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1640800" cy="47607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2: 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Tracing, Batching, and Concurrency</a:t>
              </a:r>
            </a:p>
            <a:p>
              <a:pPr algn="ctr">
                <a:lnSpc>
                  <a:spcPts val="6480"/>
                </a:lnSpc>
              </a:pPr>
              <a:endParaRPr lang="en-US" sz="5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3455"/>
                </a:lnSpc>
              </a:pPr>
              <a:r>
                <a:rPr lang="en-US" sz="287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Optimising the compute graph for inference: tracing, operator fusion, dynamic shapes, and concurrent request handling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25688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Learning Objectives — Segment 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2053" y="2299106"/>
            <a:ext cx="16917429" cy="720004"/>
            <a:chOff x="0" y="0"/>
            <a:chExt cx="22556572" cy="960006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989597" cy="960006"/>
              <a:chOff x="0" y="0"/>
              <a:chExt cx="989597" cy="96000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89600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989600" h="960000">
                    <a:moveTo>
                      <a:pt x="0" y="0"/>
                    </a:moveTo>
                    <a:lnTo>
                      <a:pt x="989600" y="0"/>
                    </a:lnTo>
                    <a:lnTo>
                      <a:pt x="989600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4466" r="-7446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989597" cy="9885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01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223239" y="0"/>
              <a:ext cx="21333333" cy="960006"/>
              <a:chOff x="0" y="0"/>
              <a:chExt cx="21333333" cy="9600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1333333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21333333" h="960000">
                    <a:moveTo>
                      <a:pt x="0" y="0"/>
                    </a:moveTo>
                    <a:lnTo>
                      <a:pt x="21333333" y="0"/>
                    </a:lnTo>
                    <a:lnTo>
                      <a:pt x="21333333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383000" b="-3830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21333333" cy="9790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Explain the difference between eager execution and traced/compiled graphs for inference and the overhead each eliminates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732053" y="3658595"/>
            <a:ext cx="16917429" cy="720004"/>
            <a:chOff x="0" y="0"/>
            <a:chExt cx="22556572" cy="96000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989597" cy="960006"/>
              <a:chOff x="0" y="0"/>
              <a:chExt cx="989597" cy="96000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89600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989600" h="960000">
                    <a:moveTo>
                      <a:pt x="0" y="0"/>
                    </a:moveTo>
                    <a:lnTo>
                      <a:pt x="989600" y="0"/>
                    </a:lnTo>
                    <a:lnTo>
                      <a:pt x="989600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4466" r="-7446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28575"/>
                <a:ext cx="989597" cy="9885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02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223239" y="0"/>
              <a:ext cx="21333333" cy="960006"/>
              <a:chOff x="0" y="0"/>
              <a:chExt cx="21333333" cy="96000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1333333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21333333" h="960000">
                    <a:moveTo>
                      <a:pt x="0" y="0"/>
                    </a:moveTo>
                    <a:lnTo>
                      <a:pt x="21333333" y="0"/>
                    </a:lnTo>
                    <a:lnTo>
                      <a:pt x="21333333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383000" b="-3830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21333333" cy="9790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Use torch.jit.trace, torch.jit.script, and torch.export to capture an inference graph and apply optimisations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732053" y="5016775"/>
            <a:ext cx="16917429" cy="720004"/>
            <a:chOff x="0" y="0"/>
            <a:chExt cx="22556572" cy="960006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89597" cy="960006"/>
              <a:chOff x="0" y="0"/>
              <a:chExt cx="989597" cy="96000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89600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989600" h="960000">
                    <a:moveTo>
                      <a:pt x="0" y="0"/>
                    </a:moveTo>
                    <a:lnTo>
                      <a:pt x="989600" y="0"/>
                    </a:lnTo>
                    <a:lnTo>
                      <a:pt x="989600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4466" r="-7446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989597" cy="9885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03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223239" y="0"/>
              <a:ext cx="21333333" cy="960006"/>
              <a:chOff x="0" y="0"/>
              <a:chExt cx="21333333" cy="96000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1333333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21333333" h="960000">
                    <a:moveTo>
                      <a:pt x="0" y="0"/>
                    </a:moveTo>
                    <a:lnTo>
                      <a:pt x="21333333" y="0"/>
                    </a:lnTo>
                    <a:lnTo>
                      <a:pt x="21333333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383000" b="-3830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19050"/>
                <a:ext cx="21333333" cy="9790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Implement dynamic batching and explain how it improves GPU utilisation without increasing latency beyond SLO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732053" y="6165404"/>
            <a:ext cx="16917429" cy="720004"/>
            <a:chOff x="0" y="0"/>
            <a:chExt cx="22556572" cy="960006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989597" cy="960006"/>
              <a:chOff x="0" y="0"/>
              <a:chExt cx="989597" cy="96000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89600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989600" h="960000">
                    <a:moveTo>
                      <a:pt x="0" y="0"/>
                    </a:moveTo>
                    <a:lnTo>
                      <a:pt x="989600" y="0"/>
                    </a:lnTo>
                    <a:lnTo>
                      <a:pt x="989600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4466" r="-7446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989597" cy="9885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04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223239" y="0"/>
              <a:ext cx="21333333" cy="960006"/>
              <a:chOff x="0" y="0"/>
              <a:chExt cx="21333333" cy="96000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1333333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21333333" h="960000">
                    <a:moveTo>
                      <a:pt x="0" y="0"/>
                    </a:moveTo>
                    <a:lnTo>
                      <a:pt x="21333333" y="0"/>
                    </a:lnTo>
                    <a:lnTo>
                      <a:pt x="21333333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383000" b="-3830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19050"/>
                <a:ext cx="21333333" cy="9790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Describe CUDA Graphs and explain why they are mandatory for low-latency small-batch inference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732053" y="7523583"/>
            <a:ext cx="16917429" cy="720004"/>
            <a:chOff x="0" y="0"/>
            <a:chExt cx="22556572" cy="960006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989597" cy="960006"/>
              <a:chOff x="0" y="0"/>
              <a:chExt cx="989597" cy="96000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89600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989600" h="960000">
                    <a:moveTo>
                      <a:pt x="0" y="0"/>
                    </a:moveTo>
                    <a:lnTo>
                      <a:pt x="989600" y="0"/>
                    </a:lnTo>
                    <a:lnTo>
                      <a:pt x="989600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74466" r="-7446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28575"/>
                <a:ext cx="989597" cy="98858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840"/>
                  </a:lnSpc>
                </a:pPr>
                <a:r>
                  <a:rPr lang="en-US" sz="3200" b="1">
                    <a:solidFill>
                      <a:srgbClr val="002060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05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223239" y="0"/>
              <a:ext cx="21333333" cy="960006"/>
              <a:chOff x="0" y="0"/>
              <a:chExt cx="21333333" cy="96000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1333333" cy="960000"/>
              </a:xfrm>
              <a:custGeom>
                <a:avLst/>
                <a:gdLst/>
                <a:ahLst/>
                <a:cxnLst/>
                <a:rect l="l" t="t" r="r" b="b"/>
                <a:pathLst>
                  <a:path w="21333333" h="960000">
                    <a:moveTo>
                      <a:pt x="0" y="0"/>
                    </a:moveTo>
                    <a:lnTo>
                      <a:pt x="21333333" y="0"/>
                    </a:lnTo>
                    <a:lnTo>
                      <a:pt x="21333333" y="960000"/>
                    </a:lnTo>
                    <a:lnTo>
                      <a:pt x="0" y="96000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383000" b="-3830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19050"/>
                <a:ext cx="21333333" cy="9790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359"/>
                  </a:lnSpc>
                </a:pPr>
                <a:r>
                  <a:rPr lang="en-US" sz="27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Configure concurrent request handling in a serving framework using async processing and request queuing</a:t>
                </a: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3402" y="414204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Tracing: Capturing the Computation Graph for Inference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7484" y="2100150"/>
            <a:ext cx="15334836" cy="7453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Why Trace a Graph for Inference?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Eager execution incurs Python overhead on every forward pass: ~3–10 µs per operator call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a 32-layer Transformer with 200 ops/layer: 32 x 200 x 5µs = 32ms of pure Python dispatch overhead per step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capture eliminates this: Python runs once to trace, then compiled graph executes without Python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Additional benefit: graph-level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optimisations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(fusion, layout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optimisation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dead code elimination)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</a:pPr>
            <a:r>
              <a:rPr lang="en-US" sz="2799" b="1" dirty="0" err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torch.jit.trace</a:t>
            </a:r>
            <a:r>
              <a:rPr lang="en-US" sz="2799" b="1" dirty="0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: Tensor-Shape-Specific Tracing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import torch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model =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MyModel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().eval()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example_input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torch.randn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(1, 512)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 dirty="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trace records ops for this specific input shape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traced =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torch.jit.trace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(model,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example_input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torch.jit.save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(traced, 'model_traced.pt')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 dirty="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Load and run — no Python, pure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TorchScript</a:t>
            </a:r>
            <a:endParaRPr lang="en-US" sz="2100" dirty="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loaded =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torch.jit.load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('model_traced.pt')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output = loaded(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example_input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Limitation: does not handle Python control flow (if/else on tensor values)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for: CNNs, Encoders, models with fixed-shape forward passes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PyTorch TorchScript docs; torch.export RFC, PyTorch 2024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533F-0589-1E82-F464-96E982D5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A4E8AE-13F0-665F-A6CA-8DDD56BFEDD3}"/>
              </a:ext>
            </a:extLst>
          </p:cNvPr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D7A7736-33BE-8276-76BC-0072D0C10123}"/>
              </a:ext>
            </a:extLst>
          </p:cNvPr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DE5AB7-CD18-31E7-BA8E-F181F8F1C4D5}"/>
                </a:ext>
              </a:extLst>
            </p:cNvPr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48AD8CF-EC65-0834-BC1C-76138EAC2733}"/>
              </a:ext>
            </a:extLst>
          </p:cNvPr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E4C0E88-61E6-BE47-861C-B2C8FF2329ED}"/>
                </a:ext>
              </a:extLst>
            </p:cNvPr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6AEACBD1-8A0D-06FD-11BD-1108463848D1}"/>
              </a:ext>
            </a:extLst>
          </p:cNvPr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F20ED13-7445-3F77-583B-6CA1FD2C3E6D}"/>
                </a:ext>
              </a:extLst>
            </p:cNvPr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8869DA2-372D-1504-40F8-6DD5D8ECC68A}"/>
              </a:ext>
            </a:extLst>
          </p:cNvPr>
          <p:cNvGrpSpPr/>
          <p:nvPr/>
        </p:nvGrpSpPr>
        <p:grpSpPr>
          <a:xfrm>
            <a:off x="623402" y="414204"/>
            <a:ext cx="17041197" cy="1110596"/>
            <a:chOff x="0" y="0"/>
            <a:chExt cx="22721595" cy="148079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7BA7113-A7B5-6660-3EF4-94238781A631}"/>
                </a:ext>
              </a:extLst>
            </p:cNvPr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53B54F4-F501-32A5-972E-A178AD79A44B}"/>
                </a:ext>
              </a:extLst>
            </p:cNvPr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Tracing: Capturing the Computation Graph for Inference</a:t>
              </a:r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A51E149F-5ADF-4574-FE9B-9EE567F4C3CD}"/>
              </a:ext>
            </a:extLst>
          </p:cNvPr>
          <p:cNvSpPr txBox="1"/>
          <p:nvPr/>
        </p:nvSpPr>
        <p:spPr>
          <a:xfrm>
            <a:off x="672244" y="1315907"/>
            <a:ext cx="16858355" cy="8543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 err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torch.jit.script</a:t>
            </a:r>
            <a:r>
              <a:rPr lang="en-US" sz="2799" b="1" dirty="0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: Control-Flow-Aware Compilation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@torch.jit.script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beam_search_step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(logits: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torch.Tensor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beam_scores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torch.Tensor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                 k: int) -&gt;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torch.Tensor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# if/for loops compiled to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TorchScript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IR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scores = logits +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beam_scores.unsqueeze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(-1)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top_scores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top_ids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scores.topk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(k)</a:t>
            </a:r>
          </a:p>
          <a:p>
            <a:pPr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top_ids</a:t>
            </a:r>
            <a:endParaRPr lang="en-US" sz="2100" dirty="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Compiles Python to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TorchScript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IR — supports if/for/while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Restriction: type annotations required; limited Python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stdlib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support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</a:pPr>
            <a:r>
              <a:rPr lang="en-US" sz="2799" b="1" dirty="0" err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torch.export</a:t>
            </a:r>
            <a:r>
              <a:rPr lang="en-US" sz="2799" b="1" dirty="0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 (</a:t>
            </a:r>
            <a:r>
              <a:rPr lang="en-US" sz="2799" b="1" dirty="0" err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PyTorch</a:t>
            </a:r>
            <a:r>
              <a:rPr lang="en-US" sz="2799" b="1" dirty="0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 2.x): The Modern Approach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torch.export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import export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 dirty="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Capture with dynamic shape support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exported = export(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model,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args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=(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example_input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,),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dynamic_shapes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={'x': {0: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torch.export.Dim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('batch', min=1, max=256)}},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Export to </a:t>
            </a:r>
            <a:r>
              <a:rPr lang="en-US" sz="2100" dirty="0" err="1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TensorRT</a:t>
            </a:r>
            <a:r>
              <a:rPr lang="en-US" sz="2100" dirty="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, ONNX, or run directly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torch.export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is the recommended API for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PyTorch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2.x inference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Supports dynamic dimensions (batch size, sequence length) unlike JIT trace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Integrates with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torch.compile</a:t>
            </a:r>
            <a:r>
              <a:rPr lang="en-US" sz="249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for end-to-end </a:t>
            </a:r>
            <a:r>
              <a:rPr lang="en-US" sz="249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optimisation</a:t>
            </a:r>
            <a:endParaRPr lang="en-US" sz="2499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2C3F027-93D3-7EFD-5CBC-975281DA1BD2}"/>
              </a:ext>
            </a:extLst>
          </p:cNvPr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PyTorch TorchScript docs; torch.export RFC, PyTorch 2024</a:t>
            </a:r>
          </a:p>
        </p:txBody>
      </p:sp>
    </p:spTree>
    <p:extLst>
      <p:ext uri="{BB962C8B-B14F-4D97-AF65-F5344CB8AC3E}">
        <p14:creationId xmlns:p14="http://schemas.microsoft.com/office/powerpoint/2010/main" val="210604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9175" y="401298"/>
            <a:ext cx="17041197" cy="1697534"/>
            <a:chOff x="0" y="0"/>
            <a:chExt cx="22721595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2263384"/>
            </a:xfrm>
            <a:custGeom>
              <a:avLst/>
              <a:gdLst/>
              <a:ahLst/>
              <a:cxnLst/>
              <a:rect l="l" t="t" r="r" b="b"/>
              <a:pathLst>
                <a:path w="22721601" h="2263384">
                  <a:moveTo>
                    <a:pt x="0" y="0"/>
                  </a:moveTo>
                  <a:lnTo>
                    <a:pt x="22721601" y="0"/>
                  </a:lnTo>
                  <a:lnTo>
                    <a:pt x="22721601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Tracing:</a:t>
              </a:r>
            </a:p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Capturing the Computation Graph for Inference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6544477" cy="691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Why Trace a Graph for Inference?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Eager execution incurs Python overhead on every forward pass: ~3–10 µs per operator call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For a 32-layer Transformer with 200 ops/layer: 32 x 200 x 5µs = 32ms of pure Python dispatch overhead per step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Graph capture eliminates this: Python runs once to trace, then compiled graph executes without Python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Additional benefit: graph-level optimisations (fusion, layout optimisation, dead code elimination)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torch.jit.trace: Tensor-Shape-Specific Tracing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import torch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model = MyModel().eval()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example_input = torch.randn(1, 512)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trace records ops for this specific input shape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traced = torch.jit.trace(model, example_input)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torch.jit.save(traced, 'model_traced.pt')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Load and run — no Python, pure TorchScript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loaded = torch.jit.load('model_traced.pt')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output = loaded(example_input)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Limitation: does not handle Python control flow (if/else on tensor values)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Use for: CNNs, Encoders, models with fixed-shape forward passes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PyTorch TorchScript docs; torch.export RFC, PyTorch 2024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26278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Tracing: Capturing the Computation Graph for Inference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6544468" cy="369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torch.jit.script: Control-Flow-Aware Compilation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@torch.jit.script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def beam_search_step(logits: torch.Tensor,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                 beam_scores: torch.Tensor,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                 k: int) -&gt; torch.Tensor: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# if/for loops compiled to TorchScript IR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scores = logits + beam_scores.unsqueeze(-1)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top_scores, top_ids = scores.topk(k)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return top_ids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Compiles Python to TorchScript IR — supports if/for/while</a:t>
            </a:r>
          </a:p>
          <a:p>
            <a:pPr marL="602932" lvl="1" indent="-30146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Restriction: type annotations required; limited Python stdlib support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PyTorch TorchScript docs; torch.export RFC, PyTorch 2024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321195"/>
            <a:ext cx="16544468" cy="480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torch.export (PyTorch 2.x): The Modern Approach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from torch.export import export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Capture with dynamic shape support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exported = export(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model,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args=(example_input,),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dynamic_shapes={'x': {0: torch.export.Dim('batch', min=1, max=256)}},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Export to TensorRT, ONNX, or run directly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torch.export is the recommended API for PyTorch 2.x inference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Supports dynamic dimensions (batch size, sequence length) unlike JIT trace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Integrates with torch.compile for end-to-end optimisation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PyTorch TorchScript docs; torch.export RFC, PyTorch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726278"/>
            <a:ext cx="17041197" cy="1110596"/>
            <a:chOff x="0" y="0"/>
            <a:chExt cx="22721595" cy="14807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Tracing: Capturing the Computation Graph for Inference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531530"/>
            <a:ext cx="13959264" cy="1697534"/>
            <a:chOff x="0" y="0"/>
            <a:chExt cx="18612353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612358" cy="2263384"/>
            </a:xfrm>
            <a:custGeom>
              <a:avLst/>
              <a:gdLst/>
              <a:ahLst/>
              <a:cxnLst/>
              <a:rect l="l" t="t" r="r" b="b"/>
              <a:pathLst>
                <a:path w="18612358" h="2263384">
                  <a:moveTo>
                    <a:pt x="0" y="0"/>
                  </a:moveTo>
                  <a:lnTo>
                    <a:pt x="18612358" y="0"/>
                  </a:lnTo>
                  <a:lnTo>
                    <a:pt x="1861235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22078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8612353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CUDA Graphs: Eliminating CPU Overhead in Low-Latency Inference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6544477" cy="466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The CPU Overhead Problem at Small Batch Sizes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Each CUDA kernel launch requires a CPU-GPU round trip: ~5–10 µs of CPU time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Transformer forward pass launches 500–2000 kernels — up to 20ms CPU overhead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At batch=1 with 5ms actual GPU compute, 20ms CPU overhead dominates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GPU sits idle waiting for CPU to issue the next kernel — CPU-bound not GPU-bound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CUDA Graphs: Record Once, Replay Many Times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Record phase: GPU records all kernel launches and their arguments into a graph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Replay phase: single CUDA graph launch replays all kernels with zero CPU involvement</a:t>
            </a:r>
          </a:p>
          <a:p>
            <a:pPr marL="602932" lvl="1" indent="-30146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CPU overhead: O(1) per step instead of O(n_kernels) — ~3 µs vs ~20 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CUDA Programming Guide: CUDA Graphs; NVIDIA TensorRT-LLM CUDA Graphs documentation 2024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321195"/>
            <a:ext cx="16544477" cy="625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CUDA Graph Capture with torch.cuda.CUDAGraph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Warmup — required to initialise cuDNN and NCCL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for _ in range(3):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output = model(static_input)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torch.cuda.synchronize()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Capture the graph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g = torch.cuda.CUDAGraph()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with torch.cuda.graph(g):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static_output = model(static_input)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Replay: just copy new input, replay graph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static_input.copy_(new_input)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g.replay()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result = static_output.clone()</a:t>
            </a:r>
          </a:p>
          <a:p>
            <a:pPr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CRITICAL: input/output tensors must be the same memory addresses — use copy_()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CUDA Programming Guide: CUDA Graphs; NVIDIA TensorRT-LLM CUDA Graphs documentation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531530"/>
            <a:ext cx="13959264" cy="1697534"/>
            <a:chOff x="0" y="0"/>
            <a:chExt cx="18612353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12358" cy="2263384"/>
            </a:xfrm>
            <a:custGeom>
              <a:avLst/>
              <a:gdLst/>
              <a:ahLst/>
              <a:cxnLst/>
              <a:rect l="l" t="t" r="r" b="b"/>
              <a:pathLst>
                <a:path w="18612358" h="2263384">
                  <a:moveTo>
                    <a:pt x="0" y="0"/>
                  </a:moveTo>
                  <a:lnTo>
                    <a:pt x="18612358" y="0"/>
                  </a:lnTo>
                  <a:lnTo>
                    <a:pt x="1861235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22078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8612353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CUDA Graphs: Eliminating CPU Overhead in Low-Latency Inference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82226" y="2321195"/>
            <a:ext cx="16177074" cy="389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torch.compile + CUDA Graphs: The Recommended Pattern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torch.compile automatically uses CUDA Graphs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when mode='reduce-overhead'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model = torch.compile(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model,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mode='reduce-overhead',  # enables CUDA Graphs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First call triggers compilation + graph capture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output = model(x)  # slow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Subsequent calls replay the graph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output = model(x)  # fast: O(1) CPU overhead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CUDA Programming Guide: CUDA Graphs; NVIDIA TensorRT-LLM CUDA Graphs documentation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531530"/>
            <a:ext cx="13959264" cy="1697534"/>
            <a:chOff x="0" y="0"/>
            <a:chExt cx="18612353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12358" cy="2263384"/>
            </a:xfrm>
            <a:custGeom>
              <a:avLst/>
              <a:gdLst/>
              <a:ahLst/>
              <a:cxnLst/>
              <a:rect l="l" t="t" r="r" b="b"/>
              <a:pathLst>
                <a:path w="18612358" h="2263384">
                  <a:moveTo>
                    <a:pt x="0" y="0"/>
                  </a:moveTo>
                  <a:lnTo>
                    <a:pt x="18612358" y="0"/>
                  </a:lnTo>
                  <a:lnTo>
                    <a:pt x="1861235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22078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8612353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CUDA Graphs: Eliminating CPU Overhead in Low-Latency Inference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CUDA Programming Guide: CUDA Graphs; NVIDIA TensorRT-LLM CUDA Graphs documentation 2024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531530"/>
            <a:ext cx="13959264" cy="1697534"/>
            <a:chOff x="0" y="0"/>
            <a:chExt cx="18612353" cy="2263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612358" cy="2263384"/>
            </a:xfrm>
            <a:custGeom>
              <a:avLst/>
              <a:gdLst/>
              <a:ahLst/>
              <a:cxnLst/>
              <a:rect l="l" t="t" r="r" b="b"/>
              <a:pathLst>
                <a:path w="18612358" h="2263384">
                  <a:moveTo>
                    <a:pt x="0" y="0"/>
                  </a:moveTo>
                  <a:lnTo>
                    <a:pt x="18612358" y="0"/>
                  </a:lnTo>
                  <a:lnTo>
                    <a:pt x="1861235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22078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8612353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CUDA Graphs: Eliminating CPU Overhead in Low-Latency Inference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324313"/>
            <a:ext cx="15088932" cy="568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Limitations of CUDA Graphs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Static shapes required: graph is captured for specific (batch, seq_len) — dynamic shapes require separate captures per shape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Memory must be static: no dynamic allocation inside the graph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Cannot contain CPU-GPU synchronisation points (e.g., .item(), print)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Workaround for dynamic batch sizes: capture a graph per batch size (1, 2, 4, 8, 16, 32, 64) — pad smaller batches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03249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Speedup in Practice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Without CUDA Graphs (bs=1):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~25ms per step (20ms CPU + 5ms GPU)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With CUDA Graphs (bs=1):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~5.3ms per step (0.3ms CPU + 5ms GPU)</a:t>
            </a:r>
          </a:p>
          <a:p>
            <a:pPr marL="603249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Speedup: </a:t>
            </a: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~5x at batch=1, ~1.2x at batch=64</a:t>
            </a:r>
          </a:p>
          <a:p>
            <a:pPr marL="603249" lvl="1" indent="-301625" algn="l">
              <a:lnSpc>
                <a:spcPts val="2999"/>
              </a:lnSpc>
            </a:pPr>
            <a:r>
              <a:rPr lang="en-US" sz="2499" i="1">
                <a:solidFill>
                  <a:srgbClr val="434343"/>
                </a:solidFill>
                <a:latin typeface="Arimo Italics"/>
                <a:ea typeface="Arimo Italics"/>
                <a:cs typeface="Arimo Italics"/>
                <a:sym typeface="Arimo Italics"/>
              </a:rPr>
              <a:t>CUDA Graphs are mandatory for competitive low-latency LLM inference. All major serving frameworks use them.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25688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Dynamic Batching and Concurrency for Maximum Throughput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9510"/>
            <a:ext cx="16635908" cy="705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Static vs Dynamic Batching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Static batching: collect exactly B requests, run as one batch — simple but forces all requests to wait for the slowest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Dynamic batching: accumulate requests up to max_batch OR until a timeout — better latency-throughput trade-off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Continuous batching (see Seg 1): at the token level — current best practice for LLM serving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Triton Inference Server: Production Batching Configuration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config.pbtxt — model serving configuration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name: "llama3_8b"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backend: "vllm"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max_batch_size: 128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dynamic_batching {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preferred_batch_size: [1, 4, 8, 16, 32, 64, 128]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max_queue_delay_microseconds: 5000   # wait up to 5ms to fill batch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instance_group [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{ count: 1  kind: KIND_GPU  gpus: [0] }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</a:p>
          <a:p>
            <a:pPr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Sheng et al., FlexGen: High-Throughput Generative Inference, ICML 2023; vLLM Scheduling Internals 2024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35782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Dynamic Batching and Concurrency for Maximum Throughput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56697"/>
            <a:ext cx="16858355" cy="695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Concurrency: Handling Multiple Requests Simultaneously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Single-threaded serving: requests queue behind each other — terrible utilisation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Async serving: use asyncio to overlap tokenisation, preprocessing, and inference scheduling</a:t>
            </a:r>
          </a:p>
          <a:p>
            <a:pPr marL="602932" lvl="1" indent="-30146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Multi-instance: run N model replicas on N GPUs — linear throughput scaling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FastAPI + vLLM async serving pattern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from fastapi import FastAPI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from vllm import AsyncLLMEngine, AsyncEngineArgs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app = FastAPI()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engine = AsyncLLMEngine.from_engine_args(AsyncEngineArgs(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model='meta-llama/Llama-3.1-8B-Instruct',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max_num_seqs=256,      # max concurrent sequences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max_num_batched_tokens=8192,  # max tokens per iteration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100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@app.post('/generate')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async def generate(request: GenerateRequest):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async for output in engine.generate(request.prompt, ...):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    pass</a:t>
            </a:r>
          </a:p>
          <a:p>
            <a:pPr marL="506463" lvl="1" indent="-253232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return {'text': output.outputs[0].text}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Sheng et al., FlexGen: High-Throughput Generative Inference, ICML 2023; vLLM Scheduling Internals 2024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725688"/>
            <a:ext cx="17041197" cy="1110596"/>
            <a:chOff x="0" y="0"/>
            <a:chExt cx="22721595" cy="1480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21601" cy="1480800"/>
            </a:xfrm>
            <a:custGeom>
              <a:avLst/>
              <a:gdLst/>
              <a:ahLst/>
              <a:cxnLst/>
              <a:rect l="l" t="t" r="r" b="b"/>
              <a:pathLst>
                <a:path w="22721601" h="1480800">
                  <a:moveTo>
                    <a:pt x="0" y="0"/>
                  </a:moveTo>
                  <a:lnTo>
                    <a:pt x="22721601" y="0"/>
                  </a:lnTo>
                  <a:lnTo>
                    <a:pt x="22721601" y="1480800"/>
                  </a:lnTo>
                  <a:lnTo>
                    <a:pt x="0" y="148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981" b="-24898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2721595" cy="149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Dynamic Batching and Concurrency for Maximum Throughput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469130"/>
            <a:ext cx="14445902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Request Scheduling Strategies</a:t>
            </a:r>
          </a:p>
          <a:p>
            <a:pPr algn="l">
              <a:lnSpc>
                <a:spcPts val="3359"/>
              </a:lnSpc>
            </a:pPr>
            <a:endParaRPr lang="en-US" sz="2799" b="1">
              <a:solidFill>
                <a:srgbClr val="00206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FCFS (First-Come First-Served):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Simple, fair — default in most frameworks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Priority scheduling: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SLA-based priority; short requests jump queue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Chunked prefill (vLLM 0.4+):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Break long prefills into chunks to reduce TTFT spikes</a:t>
            </a:r>
          </a:p>
          <a:p>
            <a:pPr marL="530860" lvl="1" indent="-265430" algn="l">
              <a:lnSpc>
                <a:spcPts val="2640"/>
              </a:lnSpc>
            </a:pPr>
            <a:r>
              <a:rPr lang="en-US" sz="2200" i="1">
                <a:solidFill>
                  <a:srgbClr val="434343"/>
                </a:solidFill>
                <a:latin typeface="Arimo Italics"/>
                <a:ea typeface="Arimo Italics"/>
                <a:cs typeface="Arimo Italics"/>
                <a:sym typeface="Arimo Italics"/>
              </a:rPr>
              <a:t>Chunked prefill halves P99 TTFT by preventing long prompts from blocking the decode loop.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Sheng et al., FlexGen: High-Throughput Generative Inference, ICML 2023; vLLM Scheduling Internals 2024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20348"/>
            <a:ext cx="15691704" cy="1697534"/>
            <a:chOff x="0" y="0"/>
            <a:chExt cx="20922272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22278" cy="2263384"/>
            </a:xfrm>
            <a:custGeom>
              <a:avLst/>
              <a:gdLst/>
              <a:ahLst/>
              <a:cxnLst/>
              <a:rect l="l" t="t" r="r" b="b"/>
              <a:pathLst>
                <a:path w="20922278" h="2263384">
                  <a:moveTo>
                    <a:pt x="0" y="0"/>
                  </a:moveTo>
                  <a:lnTo>
                    <a:pt x="20922278" y="0"/>
                  </a:lnTo>
                  <a:lnTo>
                    <a:pt x="2092227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8600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0922272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Operator Fusion and Kernel Optimisation for Inference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2321195"/>
            <a:ext cx="14883099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Fused Kernels Reduce Memory Traffic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Unfused: each op reads from and writes to HBM — multiple round trips for simple sequences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Fused: sequential ops computed in registers — one HBM read + one HBM write total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Fused LayerNorm + Dropout + Add: 3x HBM reads → 1x; 3x HBM writes → 1x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Fused GELU FFN: column-parallel matmul + GELU applied in-register, no HBM for intermediate</a:t>
            </a:r>
          </a:p>
          <a:p>
            <a:pPr marL="603250" lvl="1" indent="-301625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Flash Attention: The Inference Kernel Standard (2024)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Flash Attention 3 (Dao et al., 2024): H100-specific, uses WGMMA and TMA instructions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Never materialises the full T×T attention score matrix — tiled computation in SRAM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FA3 FP16 throughput on H100: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up to 740 TFLOPS (74% of H100 FP16 peak)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Memory: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O(T) instead of O(T²) — enables 128K+ context serving</a:t>
            </a:r>
          </a:p>
          <a:p>
            <a:pPr marL="602932" lvl="1" indent="-30146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Flash Decoding (Tri Dao, 2023): parallelises attention over sequence dimension for long KV caches — 8x speedup vs FA2 at seq=8192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Dao et al., FlashAttention-3, arXiv 2024; PyTorch torch.compile inference documentation 2024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321195"/>
            <a:ext cx="12847326" cy="306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xFormers and Custom Kernels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Meta's xFormers library: memory-efficient attention, fused ops for Transformers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Triton: write custom CUDA-like kernels in Python — auto-tuned by hardware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Using Flash Attention in PyTorch (built-in since 2.0)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with torch.backends.cuda.sdp_kernel(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enable_flash=True,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enable_math=False,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enable_mem_efficient=False):</a:t>
            </a:r>
          </a:p>
          <a:p>
            <a:pPr marL="506730" lvl="1" indent="-253365" algn="l">
              <a:lnSpc>
                <a:spcPts val="2520"/>
              </a:lnSpc>
            </a:pPr>
            <a:r>
              <a:rPr lang="en-US" sz="2100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output = F.scaled_dot_product_attention(q, k, v)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Dao et al., FlashAttention-3, arXiv 2024; PyTorch torch.compile inference documentation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20348"/>
            <a:ext cx="15691704" cy="1697534"/>
            <a:chOff x="0" y="0"/>
            <a:chExt cx="20922272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22278" cy="2263384"/>
            </a:xfrm>
            <a:custGeom>
              <a:avLst/>
              <a:gdLst/>
              <a:ahLst/>
              <a:cxnLst/>
              <a:rect l="l" t="t" r="r" b="b"/>
              <a:pathLst>
                <a:path w="20922278" h="2263384">
                  <a:moveTo>
                    <a:pt x="0" y="0"/>
                  </a:moveTo>
                  <a:lnTo>
                    <a:pt x="20922278" y="0"/>
                  </a:lnTo>
                  <a:lnTo>
                    <a:pt x="2092227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8600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922272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Operator Fusion and Kernel Optimisation for Inference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357437"/>
            <a:ext cx="15612322" cy="632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torch.compile for Inference: Modes and When to Use Them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import torch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model = MyModel().eval()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Default: balanced compile time vs speedup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opt = torch.compile(model, mode='default')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reduce-overhead: CUDA Graphs, best for fixed-shape inference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opt = torch.compile(model, mode='reduce-overhead')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max-autotune: exhaustive search (slow compile, fastest runtime)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opt = torch.compile(model, mode='max-autotune')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# For inference: disable gradient computation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with torch.no_grad():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F3864"/>
                </a:solidFill>
                <a:latin typeface="Consolas"/>
                <a:ea typeface="Consolas"/>
                <a:cs typeface="Consolas"/>
                <a:sym typeface="Consolas"/>
              </a:rPr>
              <a:t>    output = opt(input)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F386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Dao et al., FlashAttention-3, arXiv 2024; PyTorch torch.compile inference documentation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20348"/>
            <a:ext cx="15691704" cy="1697534"/>
            <a:chOff x="0" y="0"/>
            <a:chExt cx="20922272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22278" cy="2263384"/>
            </a:xfrm>
            <a:custGeom>
              <a:avLst/>
              <a:gdLst/>
              <a:ahLst/>
              <a:cxnLst/>
              <a:rect l="l" t="t" r="r" b="b"/>
              <a:pathLst>
                <a:path w="20922278" h="2263384">
                  <a:moveTo>
                    <a:pt x="0" y="0"/>
                  </a:moveTo>
                  <a:lnTo>
                    <a:pt x="20922278" y="0"/>
                  </a:lnTo>
                  <a:lnTo>
                    <a:pt x="2092227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8600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922272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Operator Fusion and Kernel Optimisation for Inference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321195"/>
            <a:ext cx="15612322" cy="410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Speedup from torch.compile at Inference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Small model (BERT-base):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1.5–2.0x vs eager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LLaMA-3-8B (prefill):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1.3–1.5x vs eager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LLaMA-3-8B (decode, bs=1):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2–5x vs eager with CUDA Graphs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Stable Diffusion UNet: </a:t>
            </a: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1.8–2.5x vs eager</a:t>
            </a:r>
          </a:p>
          <a:p>
            <a:pPr marL="506730" lvl="1" indent="-253365" algn="l">
              <a:lnSpc>
                <a:spcPts val="2520"/>
              </a:lnSpc>
            </a:pPr>
            <a:endParaRPr lang="en-US" sz="240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002060"/>
                </a:solidFill>
                <a:latin typeface="Arimo Bold"/>
                <a:ea typeface="Arimo Bold"/>
                <a:cs typeface="Arimo Bold"/>
                <a:sym typeface="Arimo Bold"/>
              </a:rPr>
              <a:t>Weight Tying and Quantisation Fusion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Weight tying: share embedding and LM head weights — saves 512 MB for LLaMA-3-8B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FP8 matmul fusion: H100 Transformer Engine computes FP8 matmul + accumulate in FP32 in a single kernel</a:t>
            </a:r>
          </a:p>
          <a:p>
            <a:pPr marL="603250" lvl="1" indent="-30162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AWQ fused: quantised weight dequant + matmul fused — minimal dequant overhead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4823" y="9860947"/>
            <a:ext cx="16858355" cy="339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1">
                <a:solidFill>
                  <a:srgbClr val="7F7F7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Ref: Dao et al., FlashAttention-3, arXiv 2024; PyTorch torch.compile inference documentation 2024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420348"/>
            <a:ext cx="15691704" cy="1697534"/>
            <a:chOff x="0" y="0"/>
            <a:chExt cx="20922272" cy="226337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22278" cy="2263384"/>
            </a:xfrm>
            <a:custGeom>
              <a:avLst/>
              <a:gdLst/>
              <a:ahLst/>
              <a:cxnLst/>
              <a:rect l="l" t="t" r="r" b="b"/>
              <a:pathLst>
                <a:path w="20922278" h="2263384">
                  <a:moveTo>
                    <a:pt x="0" y="0"/>
                  </a:moveTo>
                  <a:lnTo>
                    <a:pt x="20922278" y="0"/>
                  </a:lnTo>
                  <a:lnTo>
                    <a:pt x="20922278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8600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922272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Operator Fusion and Kernel Optimisation for Inference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32220"/>
            <a:ext cx="16230600" cy="1697534"/>
            <a:chOff x="0" y="0"/>
            <a:chExt cx="21640800" cy="22633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2 Summary: Graph Tracing, Batching, and Concurrency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23402" y="2321195"/>
            <a:ext cx="16858355" cy="421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Traced/compiled graphs eliminate Python dispatch overhead (~5µs/op × 1000 ops/step = ~5ms) — critical for low-latency serving. torch.export is the recommended API for PyTorch 2.x with dynamic shape support.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CUDA Graphs reduce per-step CPU overhead from O(n_kernels) to O(1): ~5x speedup at batch=1 where CPU overhead dominates. torch.compile(mode='reduce-overhead') enables CUDA Graphs automatically.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Dynamic batching with a queue delay (5–10ms) improves GPU utilisation by grouping concurrent requests. Continuous batching (token-level) with chunked prefill is the 2025 standard for LLM serving.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04352" y="2321195"/>
            <a:ext cx="16569104" cy="337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Flash Attention 3 achieves 740 TFLOPS on H100 FP16 — 74% of peak — and eliminates the O(T²) attention memory constraint. Flash Decoding provides 8x speedup for long-context KV cache attention during decode.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75640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Operator fusion reduces HBM traffic from multiple round-trips to one per fused block. torch.compile automatically applies fusion; Flash Attention, fused LayerNorm, and FP8 matmul are the highest-impact fusions for Transformer inference.</a:t>
            </a:r>
          </a:p>
          <a:p>
            <a:pPr marL="675640" lvl="1" indent="-337820"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8700" y="432220"/>
            <a:ext cx="16230600" cy="1697534"/>
            <a:chOff x="0" y="0"/>
            <a:chExt cx="21640800" cy="22633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640805" cy="2263384"/>
            </a:xfrm>
            <a:custGeom>
              <a:avLst/>
              <a:gdLst/>
              <a:ahLst/>
              <a:cxnLst/>
              <a:rect l="l" t="t" r="r" b="b"/>
              <a:pathLst>
                <a:path w="21640805" h="2263384">
                  <a:moveTo>
                    <a:pt x="0" y="0"/>
                  </a:moveTo>
                  <a:lnTo>
                    <a:pt x="21640805" y="0"/>
                  </a:lnTo>
                  <a:lnTo>
                    <a:pt x="21640805" y="2263384"/>
                  </a:lnTo>
                  <a:lnTo>
                    <a:pt x="0" y="2263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93" r="-4994" b="-12831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1640800" cy="2282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2 Summary: Graph Tracing, Batching, and Concurrency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430" y="9839315"/>
            <a:ext cx="914429" cy="274349"/>
          </a:xfrm>
          <a:custGeom>
            <a:avLst/>
            <a:gdLst/>
            <a:ahLst/>
            <a:cxnLst/>
            <a:rect l="l" t="t" r="r" b="b"/>
            <a:pathLst>
              <a:path w="914429" h="274349">
                <a:moveTo>
                  <a:pt x="0" y="0"/>
                </a:moveTo>
                <a:lnTo>
                  <a:pt x="914429" y="0"/>
                </a:lnTo>
                <a:lnTo>
                  <a:pt x="914429" y="274349"/>
                </a:lnTo>
                <a:lnTo>
                  <a:pt x="0" y="274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6720404" y="492604"/>
            <a:ext cx="944204" cy="953814"/>
            <a:chOff x="0" y="0"/>
            <a:chExt cx="1258938" cy="1271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8951" cy="1271778"/>
            </a:xfrm>
            <a:custGeom>
              <a:avLst/>
              <a:gdLst/>
              <a:ahLst/>
              <a:cxnLst/>
              <a:rect l="l" t="t" r="r" b="b"/>
              <a:pathLst>
                <a:path w="1258951" h="1271778">
                  <a:moveTo>
                    <a:pt x="0" y="0"/>
                  </a:moveTo>
                  <a:lnTo>
                    <a:pt x="1258951" y="0"/>
                  </a:lnTo>
                  <a:lnTo>
                    <a:pt x="1258951" y="1271778"/>
                  </a:lnTo>
                  <a:lnTo>
                    <a:pt x="0" y="1271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420348"/>
            <a:chOff x="0" y="0"/>
            <a:chExt cx="24384000" cy="560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560451"/>
            </a:xfrm>
            <a:custGeom>
              <a:avLst/>
              <a:gdLst/>
              <a:ahLst/>
              <a:cxnLst/>
              <a:rect l="l" t="t" r="r" b="b"/>
              <a:pathLst>
                <a:path w="24384000" h="560451">
                  <a:moveTo>
                    <a:pt x="0" y="0"/>
                  </a:moveTo>
                  <a:lnTo>
                    <a:pt x="24384000" y="0"/>
                  </a:lnTo>
                  <a:lnTo>
                    <a:pt x="24384000" y="560451"/>
                  </a:lnTo>
                  <a:lnTo>
                    <a:pt x="0" y="5604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10207057"/>
            <a:ext cx="18288000" cy="134188"/>
            <a:chOff x="0" y="0"/>
            <a:chExt cx="24384000" cy="17891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178943"/>
            </a:xfrm>
            <a:custGeom>
              <a:avLst/>
              <a:gdLst/>
              <a:ahLst/>
              <a:cxnLst/>
              <a:rect l="l" t="t" r="r" b="b"/>
              <a:pathLst>
                <a:path w="24384000" h="178943">
                  <a:moveTo>
                    <a:pt x="0" y="0"/>
                  </a:moveTo>
                  <a:lnTo>
                    <a:pt x="24384000" y="0"/>
                  </a:lnTo>
                  <a:lnTo>
                    <a:pt x="24384000" y="178943"/>
                  </a:lnTo>
                  <a:lnTo>
                    <a:pt x="0" y="178943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368927"/>
            <a:ext cx="16230600" cy="3549145"/>
            <a:chOff x="0" y="0"/>
            <a:chExt cx="21640800" cy="47321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640805" cy="4732198"/>
            </a:xfrm>
            <a:custGeom>
              <a:avLst/>
              <a:gdLst/>
              <a:ahLst/>
              <a:cxnLst/>
              <a:rect l="l" t="t" r="r" b="b"/>
              <a:pathLst>
                <a:path w="21640805" h="4732198">
                  <a:moveTo>
                    <a:pt x="0" y="0"/>
                  </a:moveTo>
                  <a:lnTo>
                    <a:pt x="21640805" y="0"/>
                  </a:lnTo>
                  <a:lnTo>
                    <a:pt x="21640805" y="4732198"/>
                  </a:lnTo>
                  <a:lnTo>
                    <a:pt x="0" y="473219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199" r="-4994" b="-18915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1640800" cy="47607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Segment 3: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ONNX Runtime for Model Serving</a:t>
              </a:r>
            </a:p>
            <a:p>
              <a:pPr algn="ctr">
                <a:lnSpc>
                  <a:spcPts val="6480"/>
                </a:lnSpc>
              </a:pPr>
              <a:endParaRPr lang="en-US" sz="5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  <a:p>
              <a:pPr algn="ctr">
                <a:lnSpc>
                  <a:spcPts val="3455"/>
                </a:lnSpc>
              </a:pPr>
              <a:r>
                <a:rPr lang="en-US" sz="287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Cross-framework model portability, graph optimisations, and hardware-agnostic acceleration with ONNX and ORT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1028700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60934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4200" b="1">
                <a:solidFill>
                  <a:srgbClr val="0C2340"/>
                </a:solidFill>
                <a:latin typeface="Aptos"/>
              </a:rPr>
              <a:t>Segment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60934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ONNX Runtime for Model Serving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691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6069"/>
                </a:solidFill>
                <a:latin typeface="Aptos"/>
              </a:rPr>
              <a:t>Represent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4206240"/>
            <a:ext cx="1691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6069"/>
                </a:solidFill>
                <a:latin typeface="Aptos"/>
              </a:rPr>
              <a:t>Validate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4206240"/>
            <a:ext cx="1691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6069"/>
                </a:solidFill>
                <a:latin typeface="Aptos"/>
              </a:rPr>
              <a:t>Execute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Learning objectives — Segment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694944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12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Explain ONNX as a portable computation-graph format.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Identify graph nodes, tensor edges, weights, types, shapes, and opset versions.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Export a PyTorch model using the current torch.export-based ONNX path.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Validate the exported graph before deployment.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Run an ONNX model with ONNX Runtime and suitable Execution Providers.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Why do we need ONNX?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Training framework and deployment platform are often different.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3017520"/>
            <a:ext cx="297180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55680" y="3017520"/>
            <a:ext cx="297180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8680" y="2468880"/>
            <a:ext cx="2926080" cy="114300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834640" cy="10515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PyTorch
TensorFlow
JAX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423160"/>
            <a:ext cx="3749039" cy="123444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2468880"/>
            <a:ext cx="3657599" cy="11430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0C2340"/>
                </a:solidFill>
                <a:latin typeface="Aptos"/>
              </a:rPr>
              <a:t>ONNX
portable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56080" y="2468880"/>
            <a:ext cx="2834640" cy="114300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401800" y="2514600"/>
            <a:ext cx="2743200" cy="10515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CPU
GPU
NPU / 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00600"/>
            <a:ext cx="16971264" cy="141732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Main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30952"/>
            <a:ext cx="16642080" cy="7955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0">
                <a:solidFill>
                  <a:srgbClr val="1E242D"/>
                </a:solidFill>
                <a:latin typeface="Aptos"/>
              </a:rPr>
              <a:t>Export once into a common graph representation, then choose a runtime for the target hardware.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ONNX and ONNX Runtime documentation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What is inside an ONNX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297680" y="4297680"/>
            <a:ext cx="137160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15200" y="4297680"/>
            <a:ext cx="137160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32720" y="4297680"/>
            <a:ext cx="137160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3749039"/>
            <a:ext cx="1920240" cy="100584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3794759"/>
            <a:ext cx="182880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Input
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3749039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3794759"/>
            <a:ext cx="141732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MatMul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749039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3794759"/>
            <a:ext cx="141732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Add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50040" y="3749039"/>
            <a:ext cx="1508760" cy="1005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95760" y="3794759"/>
            <a:ext cx="141732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ReLU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67559" y="3749039"/>
            <a:ext cx="1417320" cy="100584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813279" y="3794759"/>
            <a:ext cx="132588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2606040"/>
            <a:ext cx="0" cy="1142999"/>
          </a:xfrm>
          <a:prstGeom prst="line">
            <a:avLst/>
          </a:prstGeom>
          <a:ln w="25400">
            <a:solidFill>
              <a:srgbClr val="D97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2606040"/>
            <a:ext cx="0" cy="1142999"/>
          </a:xfrm>
          <a:prstGeom prst="line">
            <a:avLst/>
          </a:prstGeom>
          <a:ln w="25400">
            <a:solidFill>
              <a:srgbClr val="D97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394960" y="2057400"/>
            <a:ext cx="1828800" cy="502920"/>
          </a:xfrm>
          <a:prstGeom prst="roundRect">
            <a:avLst/>
          </a:prstGeom>
          <a:solidFill>
            <a:srgbClr val="FFF8E0"/>
          </a:solidFill>
          <a:ln w="16510">
            <a:solidFill>
              <a:srgbClr val="D97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2103120"/>
            <a:ext cx="17373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Weight 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057400"/>
            <a:ext cx="1828800" cy="502920"/>
          </a:xfrm>
          <a:prstGeom prst="roundRect">
            <a:avLst/>
          </a:prstGeom>
          <a:solidFill>
            <a:srgbClr val="FFF8E0"/>
          </a:solidFill>
          <a:ln w="16510">
            <a:solidFill>
              <a:srgbClr val="D97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2103120"/>
            <a:ext cx="17373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C2340"/>
                </a:solidFill>
                <a:latin typeface="Aptos"/>
              </a:rPr>
              <a:t>Bias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1417320"/>
            <a:ext cx="4114800" cy="1527048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1508760"/>
            <a:ext cx="378561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1">
                <a:solidFill>
                  <a:srgbClr val="0C2340"/>
                </a:solidFill>
                <a:latin typeface="Aptos"/>
              </a:rPr>
              <a:t>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1947672"/>
            <a:ext cx="3822192" cy="835613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Nodes are operators.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Edges are named tensors.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0" y="1417320"/>
            <a:ext cx="4343400" cy="1527048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423392" y="1508760"/>
            <a:ext cx="401421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1">
                <a:solidFill>
                  <a:srgbClr val="0C2340"/>
                </a:solidFill>
                <a:latin typeface="Aptos"/>
              </a:rPr>
              <a:t>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05104" y="1947672"/>
            <a:ext cx="4050792" cy="835613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Types, shapes, opset version.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Weights are initializers.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ONNX specification</a:t>
            </a:r>
          </a:p>
        </p:txBody>
      </p:sp>
      <p:cxnSp>
        <p:nvCxnSpPr>
          <p:cNvPr id="31" name="Connector 6">
            <a:extLst>
              <a:ext uri="{FF2B5EF4-FFF2-40B4-BE49-F238E27FC236}">
                <a16:creationId xmlns:a16="http://schemas.microsoft.com/office/drawing/2014/main" id="{27E8BD81-8F82-4BA5-F9AA-33EE0BDEDC1C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3258800" y="4216703"/>
            <a:ext cx="1508759" cy="35256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Opsets and dynamic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Two details often decide whether a model export works in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8046720" cy="194767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71753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Opset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42032"/>
            <a:ext cx="7754112" cy="121007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ONNX operators evolve over time.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A model declares the operator-set version it expects.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Exporter and runtime must support the chosen opset.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2011680"/>
            <a:ext cx="8046720" cy="19476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9720072" y="2103120"/>
            <a:ext cx="771753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Dynamic 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01784" y="2542032"/>
            <a:ext cx="7754112" cy="121007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Batch size and sequence length may vary.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Use symbolic dimensions when flexibility is needed.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More static shape information can improve optimization.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937760"/>
            <a:ext cx="5669280" cy="118872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2907792" y="5029200"/>
            <a:ext cx="534009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Fixed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5468112"/>
            <a:ext cx="534009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[1, 128] means one fixed batch and fixed sequence length.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4937760"/>
            <a:ext cx="5669280" cy="118872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10040112" y="5029200"/>
            <a:ext cx="534009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Dynamic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0112" y="5468112"/>
            <a:ext cx="534009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[B, S] allows deployment-time batch and sequence lengths.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Exporting PyTorch to ONNX — corrected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6971264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Current PyTorch uses the torch.export-based ONNX exporter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8046720" cy="2240280"/>
          </a:xfrm>
          <a:prstGeom prst="roundRect">
            <a:avLst/>
          </a:prstGeom>
          <a:solidFill>
            <a:srgbClr val="191F26"/>
          </a:solidFill>
          <a:ln>
            <a:solidFill>
              <a:srgbClr val="191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93976"/>
            <a:ext cx="7717536" cy="1984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onnx_program = torch.onnx.export(
    model,
    example_inputs,
    dynamo=True,
)
onnx_program.save('model.onnx')</a:t>
            </a:r>
          </a:p>
        </p:txBody>
      </p:sp>
      <p:cxnSp>
        <p:nvCxnSpPr>
          <p:cNvPr id="8" name="Connector 7"/>
          <p:cNvCxnSpPr>
            <a:cxnSpLocks/>
            <a:stCxn id="6" idx="3"/>
          </p:cNvCxnSpPr>
          <p:nvPr/>
        </p:nvCxnSpPr>
        <p:spPr>
          <a:xfrm>
            <a:off x="8705088" y="3086100"/>
            <a:ext cx="621792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stCxn id="10" idx="3"/>
            <a:endCxn id="12" idx="1"/>
          </p:cNvCxnSpPr>
          <p:nvPr/>
        </p:nvCxnSpPr>
        <p:spPr>
          <a:xfrm>
            <a:off x="11932920" y="3017520"/>
            <a:ext cx="141732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281160" y="2487168"/>
            <a:ext cx="2651760" cy="1060704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0" y="2532888"/>
            <a:ext cx="2560320" cy="9692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Capture
Python-less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50240" y="2487168"/>
            <a:ext cx="2743200" cy="1060704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0" y="2532888"/>
            <a:ext cx="2651760" cy="9692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Translate
to ONNX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37760"/>
            <a:ext cx="16971264" cy="1504579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8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Older examples may use </a:t>
            </a:r>
            <a:r>
              <a:rPr sz="2400" dirty="0" err="1"/>
              <a:t>TorchScript</a:t>
            </a:r>
            <a:r>
              <a:rPr sz="2400" dirty="0"/>
              <a:t> or </a:t>
            </a:r>
            <a:r>
              <a:rPr sz="2400" dirty="0" err="1"/>
              <a:t>dynamo_export</a:t>
            </a:r>
            <a:r>
              <a:rPr sz="2400" dirty="0"/>
              <a:t>.</a:t>
            </a:r>
          </a:p>
          <a:p>
            <a:pPr marL="457200" indent="-228600">
              <a:lnSpc>
                <a:spcPct val="105000"/>
              </a:lnSpc>
              <a:spcAft>
                <a:spcPts val="8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API names change; the export pipeline is the important idea.</a:t>
            </a:r>
          </a:p>
          <a:p>
            <a:pPr marL="457200" indent="-228600">
              <a:lnSpc>
                <a:spcPct val="105000"/>
              </a:lnSpc>
              <a:spcAft>
                <a:spcPts val="8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Unsupported operators and data-dependent Python control flow can still fail.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PyTorch ONNX exporter documentation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Validate before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108960" y="3154680"/>
            <a:ext cx="146304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18120" y="3154680"/>
            <a:ext cx="146304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527280" y="3154680"/>
            <a:ext cx="146304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560320"/>
            <a:ext cx="2194560" cy="118872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10312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Exported
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560320"/>
            <a:ext cx="3063240" cy="118872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606040"/>
            <a:ext cx="297180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Structural
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560320"/>
            <a:ext cx="3063240" cy="118872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2606040"/>
            <a:ext cx="297180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Numerical
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81760" y="2560320"/>
            <a:ext cx="2926080" cy="118872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27480" y="2606040"/>
            <a:ext cx="283464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Performance
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54880"/>
            <a:ext cx="5074920" cy="12344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474573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Structural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85232"/>
            <a:ext cx="474573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Use onnx.checker to verify the graph is a legal ONNX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754880"/>
            <a:ext cx="5074920" cy="12344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93992" y="4846320"/>
            <a:ext cx="474573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Numerical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5285232"/>
            <a:ext cx="474573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Compare PyTorch and ORT outputs with a tolerance.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710160" y="4754880"/>
            <a:ext cx="4892040" cy="12344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12874752" y="4846320"/>
            <a:ext cx="45628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74752" y="5285232"/>
            <a:ext cx="456285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Measure latency and throughput on the actual target workload.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ONNX Runtime is the execution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ONNX is the format. ONNX Runtime is the engine that executes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3108960"/>
            <a:ext cx="164592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38360" y="3108960"/>
            <a:ext cx="132588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2514600"/>
            <a:ext cx="3474720" cy="118872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560320"/>
            <a:ext cx="338328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ONNX model
.format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514600"/>
            <a:ext cx="2971800" cy="118872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560320"/>
            <a:ext cx="288036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ORT
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0" y="2103120"/>
            <a:ext cx="2377440" cy="786384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92840" y="2148840"/>
            <a:ext cx="2286000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CPU 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47120" y="3063240"/>
            <a:ext cx="2377440" cy="786384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92840" y="3108960"/>
            <a:ext cx="2286000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CUDA 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0" y="4023360"/>
            <a:ext cx="2377440" cy="786384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92840" y="4069080"/>
            <a:ext cx="2286000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OpenVINO EP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356080" y="2606040"/>
            <a:ext cx="2651760" cy="1298448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401800" y="2651760"/>
            <a:ext cx="2560320" cy="12070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Target
hardware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624560" y="2496312"/>
            <a:ext cx="731520" cy="475488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624560" y="3246120"/>
            <a:ext cx="731520" cy="201168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624560" y="3520440"/>
            <a:ext cx="731520" cy="896112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5669280"/>
            <a:ext cx="16971264" cy="142763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An </a:t>
            </a:r>
            <a:r>
              <a:rPr sz="2400" b="1" dirty="0"/>
              <a:t>Execution Provider </a:t>
            </a:r>
            <a:r>
              <a:rPr sz="2400" dirty="0"/>
              <a:t>is a backend for a hardware or software target.</a:t>
            </a:r>
          </a:p>
          <a:p>
            <a:pPr marL="457200" indent="-228600"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Provider order matters; unsupported nodes may fall back to a later provider.</a:t>
            </a:r>
          </a:p>
          <a:p>
            <a:pPr marL="457200" indent="-228600"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Fallback is correct, but can be slow because of transfers and synchronization.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ONNX Runtime Execution Providers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Execution-provider fallback can hurt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99D1816-8374-1D8B-A95C-9652505C3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401758"/>
            <a:ext cx="13296900" cy="748348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Graph optimizations in ONNX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ORT optimizes the graph when the session is created.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530352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97433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Basic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87752"/>
            <a:ext cx="501091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constant folding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simple fusions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remove redundant nodes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2057400"/>
            <a:ext cx="530352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638544" y="2148840"/>
            <a:ext cx="497433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Extended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2587752"/>
            <a:ext cx="501091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more operator fusions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prepacking opportunities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backend-aware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298680" y="2057400"/>
            <a:ext cx="530352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2463272" y="2148840"/>
            <a:ext cx="497433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44984" y="2587752"/>
            <a:ext cx="501091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layout optimizations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hardware-specific fusions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maximum optimization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37760"/>
            <a:ext cx="16971264" cy="114300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Important tuning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68112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More threads, parallel graph execution, and higher optimization levels should be measured on the real model and hardware.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ONNX Runtime graph optimization and threading documentation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Minimal ORT inference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38160" cy="5303520"/>
          </a:xfrm>
          <a:prstGeom prst="roundRect">
            <a:avLst/>
          </a:prstGeom>
          <a:solidFill>
            <a:srgbClr val="191F26"/>
          </a:solidFill>
          <a:ln>
            <a:solidFill>
              <a:srgbClr val="191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45336"/>
            <a:ext cx="7808976" cy="445660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onnxruntime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 as ort
opts = 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ort.SessionOptions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()
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opts.graph_optimization_level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 = (
    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ort.GraphOptimizationLevel.ORT_ENABLE_ALL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
)
providers = ['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CUDAExecutionProvider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',
             '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CPUExecutionProvider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']
session = 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ort.InferenceSession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(
    '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model.onnx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', opts, providers=providers
)
outputs = </a:t>
            </a:r>
            <a:r>
              <a:rPr sz="2000" b="0" dirty="0" err="1">
                <a:solidFill>
                  <a:srgbClr val="FFFFFF"/>
                </a:solidFill>
                <a:latin typeface="Consolas"/>
              </a:rPr>
              <a:t>session.run</a:t>
            </a:r>
            <a:r>
              <a:rPr sz="2000" b="0" dirty="0">
                <a:solidFill>
                  <a:srgbClr val="FFFFFF"/>
                </a:solidFill>
                <a:latin typeface="Consolas"/>
              </a:rPr>
              <a:t>(['logits'], inputs)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417320"/>
            <a:ext cx="8001000" cy="132588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765792" y="1508760"/>
            <a:ext cx="767181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Session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65792" y="1947672"/>
            <a:ext cx="767181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Loads the model, applies graph optimizations, and plans provider placement.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063240"/>
            <a:ext cx="8001000" cy="132588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9765792" y="3154680"/>
            <a:ext cx="767181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Provider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65792" y="3593592"/>
            <a:ext cx="767181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ORT tries higher-priority providers first and falls back when necessary.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4709160"/>
            <a:ext cx="8001000" cy="132588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9765792" y="4800600"/>
            <a:ext cx="767181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5792" y="5239512"/>
            <a:ext cx="767181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In the Python API, inputs are usually NumPy arrays with matching names and types.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ONNX Runtime Python API documentation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When is ORT a good choice?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7863840" cy="19476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53465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Good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39112"/>
            <a:ext cx="757123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Cross-platform deployment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Serverless or edge deployment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CPU inference with optimized kernels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508760"/>
            <a:ext cx="7863840" cy="1947672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2952" y="1600200"/>
            <a:ext cx="753465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Less ideal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4664" y="2039112"/>
            <a:ext cx="757123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Maximum NVIDIA GPU throughput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Models with many unsupported custom ops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Highly specialized LLM serving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931920"/>
            <a:ext cx="16971264" cy="150876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Practical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62272"/>
            <a:ext cx="16642080" cy="10095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Use ONNX + ORT as the portable boundary. Move to TensorRT, OpenVINO, CoreML, or other specialized runtimes when the deployment target is known and performance matters.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Segment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ONNX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3850093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1200"/>
              </a:spcAft>
              <a:defRPr sz="24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ONNX stores the model as a portable graph, not as </a:t>
            </a:r>
            <a:r>
              <a:rPr sz="3200" dirty="0" err="1"/>
              <a:t>PyTorch</a:t>
            </a:r>
            <a:r>
              <a:rPr sz="3200" dirty="0"/>
              <a:t> Python code.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400">
                <a:solidFill>
                  <a:srgbClr val="1E242D"/>
                </a:solidFill>
                <a:latin typeface="Aptos"/>
              </a:defRPr>
            </a:pPr>
            <a:r>
              <a:rPr sz="3200" dirty="0" err="1"/>
              <a:t>Opset</a:t>
            </a:r>
            <a:r>
              <a:rPr sz="3200" dirty="0"/>
              <a:t> versions and dynamic shapes are deployment-compatibility decisions.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4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The modern </a:t>
            </a:r>
            <a:r>
              <a:rPr sz="3200" dirty="0" err="1"/>
              <a:t>PyTorch</a:t>
            </a:r>
            <a:r>
              <a:rPr sz="3200" dirty="0"/>
              <a:t> path uses </a:t>
            </a:r>
            <a:r>
              <a:rPr sz="3200" dirty="0" err="1"/>
              <a:t>torch.onnx.export</a:t>
            </a:r>
            <a:r>
              <a:rPr sz="3200" dirty="0"/>
              <a:t> with dynamo=True.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4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Validation means structural checks, numerical comparison, and performance measurement.</a:t>
            </a:r>
          </a:p>
          <a:p>
            <a:pPr marL="457200" indent="-228600">
              <a:lnSpc>
                <a:spcPct val="105000"/>
              </a:lnSpc>
              <a:spcAft>
                <a:spcPts val="1200"/>
              </a:spcAft>
              <a:defRPr sz="24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ONNX Runtime executes the graph through Execution Providers and may fall back across providers.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1028700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60934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4200" b="1">
                <a:solidFill>
                  <a:srgbClr val="0C2340"/>
                </a:solidFill>
                <a:latin typeface="Aptos"/>
              </a:rPr>
              <a:t>Segment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60934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TensorRT and Hardware Acceleration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69164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000" b="1">
                <a:solidFill>
                  <a:srgbClr val="006069"/>
                </a:solidFill>
                <a:latin typeface="Aptos"/>
              </a:rPr>
              <a:t>Specialize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3154680" y="4206240"/>
            <a:ext cx="169164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000" b="1">
                <a:solidFill>
                  <a:srgbClr val="006069"/>
                </a:solidFill>
                <a:latin typeface="Aptos"/>
              </a:rPr>
              <a:t>Compile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5212080" y="4206240"/>
            <a:ext cx="1691640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000" b="1">
                <a:solidFill>
                  <a:srgbClr val="006069"/>
                </a:solidFill>
                <a:latin typeface="Aptos"/>
              </a:rPr>
              <a:t>Accelerate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Learning objectives — Segment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296049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Explain </a:t>
            </a:r>
            <a:r>
              <a:rPr sz="2800" dirty="0" err="1"/>
              <a:t>TensorRT</a:t>
            </a:r>
            <a:r>
              <a:rPr sz="2800" dirty="0"/>
              <a:t> as an NVIDIA inference compiler and runtime.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Identify the major optimization steps: fusion, tactic selection, memory planning, and shape specialization.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Explain dynamic-shape optimization profiles using min, opt, and max shapes.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State the </a:t>
            </a:r>
            <a:r>
              <a:rPr sz="2800" dirty="0" err="1"/>
              <a:t>TensorRT</a:t>
            </a:r>
            <a:r>
              <a:rPr sz="2800" dirty="0"/>
              <a:t> 11 precision-model correction: strong typing and explicit quantization.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Understand why </a:t>
            </a:r>
            <a:r>
              <a:rPr sz="2800" dirty="0" err="1"/>
              <a:t>TensorRT</a:t>
            </a:r>
            <a:r>
              <a:rPr sz="2800" dirty="0"/>
              <a:t>-LLM adds LLM-specific serving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TensorRT is closer to a compiler than a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>
            <a:cxnSpLocks/>
            <a:stCxn id="8" idx="3"/>
            <a:endCxn id="9" idx="1"/>
          </p:cNvCxnSpPr>
          <p:nvPr/>
        </p:nvCxnSpPr>
        <p:spPr>
          <a:xfrm>
            <a:off x="4251960" y="2834640"/>
            <a:ext cx="237744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  <a:stCxn id="9" idx="3"/>
            <a:endCxn id="11" idx="1"/>
          </p:cNvCxnSpPr>
          <p:nvPr/>
        </p:nvCxnSpPr>
        <p:spPr>
          <a:xfrm>
            <a:off x="9921240" y="2834640"/>
            <a:ext cx="237744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05840" y="2240280"/>
            <a:ext cx="3291840" cy="118872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320040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ONNX or
model graph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240280"/>
            <a:ext cx="3291840" cy="118872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320040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TensorRT
build phase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298680" y="2240280"/>
            <a:ext cx="3840480" cy="118872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0" y="2286000"/>
            <a:ext cx="374904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Optimized
engine /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72000"/>
            <a:ext cx="16971264" cy="132588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Core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02352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TensorRT sacrifices some portability to specialize inference for NVIDIA GPUs.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NVIDIA TensorRT documentation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TensorRT optimization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C2678E-E157-188C-4ADE-DDBCEE659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151" y="1562100"/>
            <a:ext cx="11935697" cy="67173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Layer fusion reduces memory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5720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Unfused execution</a:t>
            </a:r>
          </a:p>
        </p:txBody>
      </p:sp>
      <p:cxnSp>
        <p:nvCxnSpPr>
          <p:cNvPr id="6" name="Connector 5"/>
          <p:cNvCxnSpPr>
            <a:cxnSpLocks/>
            <a:stCxn id="9" idx="3"/>
            <a:endCxn id="12" idx="1"/>
          </p:cNvCxnSpPr>
          <p:nvPr/>
        </p:nvCxnSpPr>
        <p:spPr>
          <a:xfrm>
            <a:off x="2468880" y="2423160"/>
            <a:ext cx="2011680" cy="0"/>
          </a:xfrm>
          <a:prstGeom prst="line">
            <a:avLst/>
          </a:prstGeom>
          <a:ln w="25400">
            <a:solidFill>
              <a:srgbClr val="D97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  <a:stCxn id="11" idx="3"/>
          </p:cNvCxnSpPr>
          <p:nvPr/>
        </p:nvCxnSpPr>
        <p:spPr>
          <a:xfrm>
            <a:off x="5852160" y="2423160"/>
            <a:ext cx="1965960" cy="0"/>
          </a:xfrm>
          <a:prstGeom prst="line">
            <a:avLst/>
          </a:prstGeom>
          <a:ln w="25400">
            <a:solidFill>
              <a:srgbClr val="D97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  <a:endCxn id="16" idx="1"/>
          </p:cNvCxnSpPr>
          <p:nvPr/>
        </p:nvCxnSpPr>
        <p:spPr>
          <a:xfrm>
            <a:off x="9235440" y="2423160"/>
            <a:ext cx="2011680" cy="0"/>
          </a:xfrm>
          <a:prstGeom prst="line">
            <a:avLst/>
          </a:prstGeom>
          <a:ln w="25400">
            <a:solidFill>
              <a:srgbClr val="D97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1965960"/>
            <a:ext cx="16459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5544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Conv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14173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13258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BN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965960"/>
            <a:ext cx="141732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011680"/>
            <a:ext cx="13258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ReLU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201400" y="1965960"/>
            <a:ext cx="2011680" cy="91440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0" y="2011680"/>
            <a:ext cx="192024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0" y="2057400"/>
            <a:ext cx="3657600" cy="1255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 dirty="0">
                <a:solidFill>
                  <a:srgbClr val="D97522"/>
                </a:solidFill>
                <a:latin typeface="Aptos"/>
              </a:rPr>
              <a:t>intermediate tensors written and read repeatedly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51960"/>
            <a:ext cx="45720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Fused execution</a:t>
            </a:r>
          </a:p>
        </p:txBody>
      </p:sp>
      <p:cxnSp>
        <p:nvCxnSpPr>
          <p:cNvPr id="19" name="Connector 18"/>
          <p:cNvCxnSpPr>
            <a:cxnSpLocks/>
            <a:stCxn id="21" idx="3"/>
            <a:endCxn id="22" idx="1"/>
          </p:cNvCxnSpPr>
          <p:nvPr/>
        </p:nvCxnSpPr>
        <p:spPr>
          <a:xfrm>
            <a:off x="5532120" y="5257800"/>
            <a:ext cx="3063240" cy="0"/>
          </a:xfrm>
          <a:prstGeom prst="line">
            <a:avLst/>
          </a:prstGeom>
          <a:ln w="25400">
            <a:solidFill>
              <a:srgbClr val="307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4709160"/>
            <a:ext cx="3657600" cy="109728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65960" y="4754880"/>
            <a:ext cx="356616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Conv + BN + ReLU
one fused kernel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709160"/>
            <a:ext cx="2194560" cy="109728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754880"/>
            <a:ext cx="210312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Output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67160" y="4572000"/>
            <a:ext cx="5989320" cy="137160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31752" y="4663440"/>
            <a:ext cx="566013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1">
                <a:solidFill>
                  <a:srgbClr val="0C2340"/>
                </a:solidFill>
                <a:latin typeface="Apto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31752" y="5102352"/>
            <a:ext cx="566013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Inference is often limited by memory movement and launch overhead, not only by arithmetic.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Tactic selection: same operation, many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For a given matrix shape and GPU, TensorRT can test/select a fast implementation.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3063240"/>
            <a:ext cx="128016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229600" y="2194560"/>
            <a:ext cx="1874520" cy="50292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229600" y="3154680"/>
            <a:ext cx="1874520" cy="13716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0" y="3611880"/>
            <a:ext cx="1874520" cy="77724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2468880"/>
            <a:ext cx="3108960" cy="118872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514600"/>
            <a:ext cx="301752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0C2340"/>
                </a:solidFill>
                <a:latin typeface="Aptos"/>
              </a:rPr>
              <a:t>GEMM shape
M × K ×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468880"/>
            <a:ext cx="2194560" cy="118872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2514600"/>
            <a:ext cx="2103120" cy="10972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0C2340"/>
                </a:solidFill>
                <a:latin typeface="Aptos"/>
              </a:rPr>
              <a:t>TensorRT
builder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1783080"/>
            <a:ext cx="283464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0" y="1828800"/>
            <a:ext cx="274320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tactic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2880360"/>
            <a:ext cx="2834640" cy="82296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20" y="2926080"/>
            <a:ext cx="274320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tactic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3977639"/>
            <a:ext cx="2834640" cy="822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4023359"/>
            <a:ext cx="274320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tactic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56080" y="2651760"/>
            <a:ext cx="2560320" cy="822960"/>
          </a:xfrm>
          <a:prstGeom prst="roundRect">
            <a:avLst/>
          </a:prstGeom>
          <a:solidFill>
            <a:srgbClr val="FFF8E0"/>
          </a:solidFill>
          <a:ln w="16510">
            <a:solidFill>
              <a:srgbClr val="D97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401800" y="2697480"/>
            <a:ext cx="246888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0C2340"/>
                </a:solidFill>
                <a:latin typeface="Aptos"/>
              </a:rPr>
              <a:t>fastest
choice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121640" y="3063240"/>
            <a:ext cx="1234440" cy="0"/>
          </a:xfrm>
          <a:prstGeom prst="line">
            <a:avLst/>
          </a:prstGeom>
          <a:ln w="25400">
            <a:solidFill>
              <a:srgbClr val="D975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5577840"/>
            <a:ext cx="16971264" cy="1103059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The best kernel depends on tensor shape, layout, GPU generation, and datatype.</a:t>
            </a:r>
          </a:p>
          <a:p>
            <a:pPr marL="457200" indent="-228600">
              <a:lnSpc>
                <a:spcPct val="105000"/>
              </a:lnSpc>
              <a:spcAft>
                <a:spcPts val="500"/>
              </a:spcAft>
              <a:defRPr sz="21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Build time can be higher; inference time becomes lower and more predictable.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Dynamic shapes require optimization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69712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A compiler cannot optimize equally for every possible shape. TensorRT uses profiles.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0" y="3291840"/>
            <a:ext cx="11155680" cy="0"/>
          </a:xfrm>
          <a:prstGeom prst="line">
            <a:avLst/>
          </a:prstGeom>
          <a:ln w="381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20240" y="2606040"/>
            <a:ext cx="2743200" cy="137160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2651760"/>
            <a:ext cx="2651760" cy="12801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MIN
1 × 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606040"/>
            <a:ext cx="2743200" cy="137160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2651760"/>
            <a:ext cx="2651760" cy="12801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OPT
8 × 128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0" y="2606040"/>
            <a:ext cx="2743200" cy="137160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578840" y="2651760"/>
            <a:ext cx="2651760" cy="12801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MAX
64 × 128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37760"/>
            <a:ext cx="16971264" cy="132588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1">
                <a:solidFill>
                  <a:srgbClr val="0C2340"/>
                </a:solidFill>
                <a:latin typeface="Aptos"/>
              </a:rPr>
              <a:t>Practical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68112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Give TensorRT realistic shape ranges. Bad profiles can waste memory, reduce optimization quality, or reject valid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Precision model correction for TensorRT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7863840" cy="1947672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5346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Older weak-typing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7571232" cy="121007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Set flags such as FP16 or INT8 during engine build.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Old examples and slides may still show this style.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Older INT8 calibrator classes also appear in legacy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463040"/>
            <a:ext cx="7863840" cy="19476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9902952" y="1554480"/>
            <a:ext cx="75346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Current TensorRT 11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4664" y="1993392"/>
            <a:ext cx="7571232" cy="121007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Use strong typing.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Represent precision and quantization explicitly.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Q/DQ nodes and model-optimization tools are common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72000"/>
            <a:ext cx="16971264" cy="128016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Key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The concept is stable: lower precision can improve performance. The exact API changes across TensorRT versions.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NVIDIA TensorRT 10.x to 11.x migration documentation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TensorRT engine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5CD960-6BB6-F3F9-E6E4-401A3AAE6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398306"/>
            <a:ext cx="14211300" cy="799810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9D427DA-756F-5054-A48B-D4FC0BCB3E3E}"/>
              </a:ext>
            </a:extLst>
          </p:cNvPr>
          <p:cNvSpPr/>
          <p:nvPr/>
        </p:nvSpPr>
        <p:spPr>
          <a:xfrm>
            <a:off x="1219200" y="1181100"/>
            <a:ext cx="16971264" cy="1325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TensorRT-LLM adds LLM-specific runtime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Autoregressive LLM serving needs more than a static graph compiler.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5166360" cy="141732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83717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Paged KV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483717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Reduces memory fragmentation and improves request concurrency.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103120"/>
            <a:ext cx="5166360" cy="141732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6702552" y="2194560"/>
            <a:ext cx="483717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In-flight batching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633472"/>
            <a:ext cx="483717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Adds/removes requests at generation time instead of waiting for a fixed batch.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435840" y="2103120"/>
            <a:ext cx="5166360" cy="141732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12600432" y="2194560"/>
            <a:ext cx="483717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Parallelism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00432" y="2633472"/>
            <a:ext cx="4837176" cy="76328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Supports tensor parallelism and optimized attention/GEMM plugins.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663440"/>
            <a:ext cx="16971264" cy="114300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Key distinction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93792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TensorRT optimizes kernels and engines. TensorRT-LLM also manages the generation-time serving problem.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NVIDIA TensorRT-LLM documentation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Choosing the hardware acceleration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166360" cy="194767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Cross-platform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30552"/>
            <a:ext cx="487375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ONNX Runtime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Execution Providers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server / edge /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600200"/>
            <a:ext cx="516636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702552" y="169164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NVIDIA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4264" y="2130552"/>
            <a:ext cx="487375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TensorRT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TensorRT-LLM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Triton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35840" y="1600200"/>
            <a:ext cx="5166360" cy="19476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600432" y="169164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Intel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82144" y="2130552"/>
            <a:ext cx="487375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OpenVINO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AMX / DNNL kernels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CPU / GPU / VPU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37760"/>
            <a:ext cx="16971264" cy="167090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2800"/>
              <a:t>No runtime is universally best.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2800"/>
              <a:t>The right choice depends on model type, hardware, latency target, portability, and engineering time.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2800"/>
              <a:t>Measure on the actual deployment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Segment 4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TensorRT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3412922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TensorRT specializes inference for NVIDIA GPUs; it is closer to a compiler than a file converter.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Main speedups come from fusion, tactic selection, memory planning, precision-aware execution, and shape specialization.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TensorRT 11 uses strong typing and explicit quantization rather than older weak-typing precision flags.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TensorRT-LLM adds the runtime features needed for efficient autoregressive generation.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The performance story is empirical: always benchmark the actual model and target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1028700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60934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4200" b="1">
                <a:solidFill>
                  <a:srgbClr val="0C2340"/>
                </a:solidFill>
                <a:latin typeface="Aptos"/>
              </a:rPr>
              <a:t>Segment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1609344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Quantization and LLM Inference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691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6069"/>
                </a:solidFill>
                <a:latin typeface="Aptos"/>
              </a:rPr>
              <a:t>Compress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4206240"/>
            <a:ext cx="1691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6069"/>
                </a:solidFill>
                <a:latin typeface="Aptos"/>
              </a:rPr>
              <a:t>Accelerate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160520"/>
            <a:ext cx="1691640" cy="420624"/>
          </a:xfrm>
          <a:prstGeom prst="roundRect">
            <a:avLst/>
          </a:prstGeom>
          <a:solidFill>
            <a:srgbClr val="E6F7F8"/>
          </a:solidFill>
          <a:ln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4206240"/>
            <a:ext cx="1691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1">
                <a:solidFill>
                  <a:srgbClr val="006069"/>
                </a:solidFill>
                <a:latin typeface="Aptos"/>
              </a:rPr>
              <a:t>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Learning objectives — Segment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296049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Explain quantization using scale, zero point, and reconstruction error.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Compute the basic memory impact of FP16, INT8, and INT4 weights.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Distinguish PTQ, static calibration, dynamic quantization, and QAT.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Explain GPTQ, AWQ, </a:t>
            </a:r>
            <a:r>
              <a:rPr sz="2800" dirty="0" err="1"/>
              <a:t>bitsandbytes</a:t>
            </a:r>
            <a:r>
              <a:rPr sz="2800" dirty="0"/>
              <a:t>/NF4, </a:t>
            </a:r>
            <a:r>
              <a:rPr sz="2800" dirty="0" err="1"/>
              <a:t>QLoRA</a:t>
            </a:r>
            <a:r>
              <a:rPr sz="2800" dirty="0"/>
              <a:t>, GGUF, and llama.cpp at a high level.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Choose a quantization strategy based on hardware, memory, speed, and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Start with memory: why quantization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A 70B-parameter model is dominated by weight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3886200" cy="155448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55701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FP16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3557016" cy="9326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~140 GB
weights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011680"/>
            <a:ext cx="3886200" cy="155448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22392" y="2103120"/>
            <a:ext cx="355701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INT8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2392" y="2542032"/>
            <a:ext cx="3557016" cy="9326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~70 GB
raw weights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57232" y="2011680"/>
            <a:ext cx="3886200" cy="15544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21824" y="2103120"/>
            <a:ext cx="355701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INT4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21824" y="2542032"/>
            <a:ext cx="3557016" cy="9326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~35 GB
raw floor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47520" y="2011680"/>
            <a:ext cx="3154680" cy="155448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12112" y="2103120"/>
            <a:ext cx="282549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0C2340"/>
                </a:solidFill>
                <a:latin typeface="Aptos"/>
              </a:rPr>
              <a:t>Reality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12112" y="2542032"/>
            <a:ext cx="2825496" cy="9326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0">
                <a:solidFill>
                  <a:srgbClr val="1E242D"/>
                </a:solidFill>
                <a:latin typeface="Aptos"/>
              </a:rPr>
              <a:t>larger than
raw floor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663440"/>
            <a:ext cx="16971264" cy="12344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Important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93792"/>
            <a:ext cx="16642080" cy="612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0">
                <a:solidFill>
                  <a:srgbClr val="1E242D"/>
                </a:solidFill>
                <a:latin typeface="Aptos"/>
              </a:rPr>
              <a:t>Actual memory also includes scales, metadata, non-quantized tensors, KV cache, and runtime buffers.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PyTorch and torchao quantization documentation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21D7AC-4034-CF2A-4171-524EFA47D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661987"/>
            <a:ext cx="15925800" cy="896302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Scale choices: accuracy vs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5166360" cy="194767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Per tensor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84832"/>
            <a:ext cx="487375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one scale for the whole matrix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simple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more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54480"/>
            <a:ext cx="516636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702552" y="164592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Per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4264" y="2084832"/>
            <a:ext cx="487375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one scale per output channel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better for weights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moderate overhead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35840" y="1554480"/>
            <a:ext cx="5166360" cy="19476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600432" y="164592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Group-wise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82144" y="2084832"/>
            <a:ext cx="487375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one scale per group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common in LLMs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400"/>
              <a:t>often 32 / 64 / 128 weights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16971264" cy="132588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48072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Smaller groups usually reduce quantization error, but require more scale metadata and suitable kernels.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What do W8A8, W8A16, and W4A16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30352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74336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W8A8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501091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8-bit weights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8-bit activations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can enable INT8 compute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30352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656832" y="1554480"/>
            <a:ext cx="4974336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W8A16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1993392"/>
            <a:ext cx="501091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8-bit weights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16-bit activations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main benefit is weight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298680" y="1463040"/>
            <a:ext cx="530352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463272" y="1554480"/>
            <a:ext cx="4974336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W4A16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44984" y="1993392"/>
            <a:ext cx="5010912" cy="1401987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4-bit weights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16-bit activations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common for LLM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71999"/>
            <a:ext cx="16971264" cy="1539859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16642080" cy="10095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 dirty="0">
                <a:solidFill>
                  <a:srgbClr val="1E242D"/>
                </a:solidFill>
                <a:latin typeface="Aptos"/>
              </a:rPr>
              <a:t>W4 does not fully specify how computation runs. The runtime may unpack or dequantize weights before the matrix multiplication.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PTQ vs QAT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7863840" cy="278892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53465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PTQ: Post-Training Quantization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39112"/>
            <a:ext cx="7571232" cy="2280176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Train the model first.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Quantize after training.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Fast and cheap.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Calibration may be needed for activations.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Best first attempt for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508760"/>
            <a:ext cx="7863840" cy="27432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02952" y="1600200"/>
            <a:ext cx="753465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QAT: Quantization-Aware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4664" y="2039112"/>
            <a:ext cx="7571232" cy="1841081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Simulate quantization during training or fine-tuning.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More expensive.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Model adapts to quantization error.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 dirty="0"/>
              <a:t>Often better accuracy when PTQ fails.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394960"/>
            <a:ext cx="16971264" cy="10058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Practical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25312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200" b="0">
                <a:solidFill>
                  <a:srgbClr val="1E242D"/>
                </a:solidFill>
                <a:latin typeface="Aptos"/>
              </a:rPr>
              <a:t>Try PTQ first. Use QAT when accuracy loss is not acceptable.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PyTorch quantization and torchao documentation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Static, dynamic, and weight-only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5349240" cy="194767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0200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Dynamic PTQ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5056632" cy="153324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weights quantized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activation scales may be computed dynamically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useful for CPU Linear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3952" y="1463040"/>
            <a:ext cx="5349240" cy="1947672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38544" y="1554480"/>
            <a:ext cx="50200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Static PTQ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0256" y="1993392"/>
            <a:ext cx="5056632" cy="153324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calibration data estimates activation ranges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better for activation quantization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needs representative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271248" y="1463040"/>
            <a:ext cx="5349240" cy="19476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35840" y="1554480"/>
            <a:ext cx="50200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Weight-only LLM PTQ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17552" y="1993392"/>
            <a:ext cx="5056632" cy="121007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compress weights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activations often stay FP16/BF16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800">
                <a:solidFill>
                  <a:srgbClr val="1E242D"/>
                </a:solidFill>
                <a:latin typeface="Aptos"/>
              </a:defRPr>
            </a:pPr>
            <a:r>
              <a:rPr sz="2000"/>
              <a:t>basis for GPTQ, AWQ, NF4, GGUF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72000"/>
            <a:ext cx="16971264" cy="12344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822960" y="4663440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LLM decode reason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During decode, weight memory traffic is very large, so weight-only compression can be highly valuable.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LLM quantization is harder than ordinary 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229005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9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LLM weights and activations can contain outlier channels.</a:t>
            </a:r>
          </a:p>
          <a:p>
            <a:pPr marL="457200" indent="-228600">
              <a:lnSpc>
                <a:spcPct val="105000"/>
              </a:lnSpc>
              <a:spcAft>
                <a:spcPts val="9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Naively clipping outliers can damage attention and MLP layers.</a:t>
            </a:r>
          </a:p>
          <a:p>
            <a:pPr marL="457200" indent="-228600">
              <a:lnSpc>
                <a:spcPct val="105000"/>
              </a:lnSpc>
              <a:spcAft>
                <a:spcPts val="9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Small errors can accumulate across many layers and generated tokens.</a:t>
            </a:r>
          </a:p>
          <a:p>
            <a:pPr marL="457200" indent="-228600">
              <a:lnSpc>
                <a:spcPct val="105000"/>
              </a:lnSpc>
              <a:spcAft>
                <a:spcPts val="9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/>
              <a:t>Modern LLM PTQ methods use calibration and reconstruction objectives to control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572000"/>
            <a:ext cx="7863840" cy="14173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753465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Naive rounding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02352"/>
            <a:ext cx="753465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Simple and fast, but may lose model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4572000"/>
            <a:ext cx="7863840" cy="141732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9902952" y="4663440"/>
            <a:ext cx="753465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LLM-aware PTQ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2952" y="5102352"/>
            <a:ext cx="7534656" cy="10095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Uses statistics or error compensation to preserve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GPTQ and AWQ papers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GPTQ: layer-wise error-aware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Goal: keep each layer output close after weight quantization.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8046720" cy="150876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71753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Original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87752"/>
            <a:ext cx="7717536" cy="8869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Y = XW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2057400"/>
            <a:ext cx="8046720" cy="150876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20072" y="2148840"/>
            <a:ext cx="7717536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Quantized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72" y="2587752"/>
            <a:ext cx="7717536" cy="8869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Ŷ = XWq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6971264" cy="246971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Quantizes one layer at a time.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Uses approximate second-order information to compensate for quantization error.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Does not retrain the full model with backpropagation.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200" dirty="0"/>
              <a:t>Widely used for compact 3-bit and 4-bit LLM checkpoints.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Frantar et al., GPTQ, ICLR 2023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AWQ: activation-aware weight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61872"/>
            <a:ext cx="16971264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0">
                <a:solidFill>
                  <a:srgbClr val="1E242D"/>
                </a:solidFill>
                <a:latin typeface="Aptos"/>
              </a:rPr>
              <a:t>AWQ starts from one observation: not all channels are equally important.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2971800"/>
            <a:ext cx="132588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0" y="2971800"/>
            <a:ext cx="132588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618720" y="2971800"/>
            <a:ext cx="132588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423160"/>
            <a:ext cx="2834640" cy="109728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74320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Representative
calibration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423160"/>
            <a:ext cx="2697480" cy="109728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80" y="2468880"/>
            <a:ext cx="260604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Activation
statistics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2423160"/>
            <a:ext cx="2743200" cy="109728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2468880"/>
            <a:ext cx="265176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Find salient
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27480" y="2423160"/>
            <a:ext cx="2697480" cy="1097280"/>
          </a:xfrm>
          <a:prstGeom prst="roundRect">
            <a:avLst/>
          </a:prstGeom>
          <a:solidFill>
            <a:srgbClr val="FFF8E0"/>
          </a:solidFill>
          <a:ln w="16510">
            <a:solidFill>
              <a:srgbClr val="D97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0" y="2468880"/>
            <a:ext cx="2606040" cy="10058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C2340"/>
                </a:solidFill>
                <a:latin typeface="Aptos"/>
              </a:rPr>
              <a:t>Scaled
quantization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17720"/>
            <a:ext cx="16971264" cy="2054793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600" dirty="0"/>
              <a:t>Large activation channels are more sensitive to weight quantization error.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600" dirty="0"/>
              <a:t>AWQ scales important channels so that quantization damages them less.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rPr sz="3600" dirty="0"/>
              <a:t>Efficient GEMM-friendly kernels often make AWQ attractive for production.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Lin et al., AWQ, MLSys 2024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GPTQ vs AWQ: difference, not universal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7863840" cy="2368296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7534656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GPTQ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84832"/>
            <a:ext cx="7571232" cy="1841081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Error-compensation view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Layer-wise reconstruction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Approximate second-order information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Common for compact 4-bit checkpoints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554480"/>
            <a:ext cx="7863840" cy="2368296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9902952" y="1645920"/>
            <a:ext cx="7534656" cy="6401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AWQ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4664" y="2084832"/>
            <a:ext cx="7571232" cy="1841081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Activation-aware view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Finds salient channels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Uses scaling before quantization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400"/>
              <a:t>Often strong with GEMM-friendly kernels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983480"/>
            <a:ext cx="16971264" cy="123444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Selection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13832"/>
            <a:ext cx="16642080" cy="6126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0">
                <a:solidFill>
                  <a:srgbClr val="1E242D"/>
                </a:solidFill>
                <a:latin typeface="Aptos"/>
              </a:rPr>
              <a:t>The best choice depends on model, runtime kernels, hardware, context length, and quality target.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 dirty="0" err="1">
                <a:solidFill>
                  <a:srgbClr val="0C2340"/>
                </a:solidFill>
                <a:latin typeface="Aptos"/>
              </a:rPr>
              <a:t>bitsandbytes</a:t>
            </a:r>
            <a:r>
              <a:rPr sz="3200" b="1" dirty="0">
                <a:solidFill>
                  <a:srgbClr val="0C2340"/>
                </a:solidFill>
                <a:latin typeface="Aptos"/>
              </a:rPr>
              <a:t>, NF4, and </a:t>
            </a:r>
            <a:r>
              <a:rPr sz="3200" b="1" dirty="0" err="1">
                <a:solidFill>
                  <a:srgbClr val="0C2340"/>
                </a:solidFill>
                <a:latin typeface="Aptos"/>
              </a:rPr>
              <a:t>QLoRA</a:t>
            </a:r>
            <a:endParaRPr sz="3200" b="1" dirty="0">
              <a:solidFill>
                <a:srgbClr val="0C234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5166360" cy="192024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bitsandbytes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39112"/>
            <a:ext cx="483717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Loads large Transformer models in 8-bit or 4-bit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08760"/>
            <a:ext cx="5166360" cy="19202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6702552" y="160020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NF4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2039112"/>
            <a:ext cx="483717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A 4-bit format used heavily in QLoRA-style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35840" y="1508760"/>
            <a:ext cx="5166360" cy="1920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600432" y="1600200"/>
            <a:ext cx="4837176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QLoRA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432" y="2039112"/>
            <a:ext cx="4837176" cy="88639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Freeze a 4-bit base model and train small LoRA adapters.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16971264" cy="132588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Correct historical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48072"/>
            <a:ext cx="16642080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0">
                <a:solidFill>
                  <a:srgbClr val="1E242D"/>
                </a:solidFill>
                <a:latin typeface="Aptos"/>
              </a:rPr>
              <a:t>QLoRA demonstrated fine-tuning a 65B model on a single 48-GB GPU. It is mainly a memory-efficient fine-tuning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Dettmers et al., QLoRA, NeurIPS 2023; Hugging Face bitsandbytes documentation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FP8 is different from INT8/INT4 weight-only 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7863840" cy="224028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5346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FP8 / Transformer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30552"/>
            <a:ext cx="7571232" cy="153324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Native low-precision floating point on supported NVIDIA hardware.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Used for high-throughput training and inference.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Scaling is managed by framework/runtime.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38360" y="1600200"/>
            <a:ext cx="7863840" cy="22402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5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9902952" y="1691640"/>
            <a:ext cx="7534656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INT4 / GPTQ / AWQ / GGUF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84664" y="2130552"/>
            <a:ext cx="7571232" cy="1210075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Usually weight-compression oriented.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Activations may remain FP16/BF16.</a:t>
            </a:r>
          </a:p>
          <a:p>
            <a:pPr marL="457200" indent="-228600">
              <a:lnSpc>
                <a:spcPct val="105000"/>
              </a:lnSpc>
              <a:spcAft>
                <a:spcPts val="400"/>
              </a:spcAft>
              <a:defRPr sz="1900">
                <a:solidFill>
                  <a:srgbClr val="1E242D"/>
                </a:solidFill>
                <a:latin typeface="Aptos"/>
              </a:defRPr>
            </a:pPr>
            <a:r>
              <a:rPr sz="2000"/>
              <a:t>Packing format and kernels decide real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074920"/>
            <a:ext cx="16971264" cy="114300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664208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0C2340"/>
                </a:solidFill>
                <a:latin typeface="Aptos"/>
              </a:rPr>
              <a:t>Do not compare datatype names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05272"/>
            <a:ext cx="16642080" cy="5212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100" b="0">
                <a:solidFill>
                  <a:srgbClr val="1E242D"/>
                </a:solidFill>
                <a:latin typeface="Aptos"/>
              </a:rPr>
              <a:t>Compare the full execution path: datatype, kernel, runtime, hardware, batch size, sequence length, and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NVIDIA Transformer Engine and TensorRT quantization documentation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GGUF and llama.cpp: local and CPU-friendly LLM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840480" y="2834640"/>
            <a:ext cx="141732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01000" y="2834640"/>
            <a:ext cx="141732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070080" y="2834640"/>
            <a:ext cx="141732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05840" y="2286000"/>
            <a:ext cx="2651760" cy="109728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051560" y="2576107"/>
            <a:ext cx="256032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HF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2286000"/>
            <a:ext cx="2423160" cy="109728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486400" y="2391442"/>
            <a:ext cx="2331720" cy="886397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GGUF
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286000"/>
            <a:ext cx="2331720" cy="109728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9646920" y="2576107"/>
            <a:ext cx="2240280" cy="517065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llama.cpp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70280" y="2286000"/>
            <a:ext cx="2834640" cy="1097280"/>
          </a:xfrm>
          <a:prstGeom prst="roundRect">
            <a:avLst/>
          </a:prstGeom>
          <a:solidFill>
            <a:srgbClr val="FFF8E0"/>
          </a:solidFill>
          <a:ln w="16510">
            <a:solidFill>
              <a:srgbClr val="D97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3716000" y="2391442"/>
            <a:ext cx="2743200" cy="886397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0C2340"/>
                </a:solidFill>
                <a:latin typeface="Aptos"/>
              </a:rPr>
              <a:t>CPU / GPU
local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17720"/>
            <a:ext cx="16971264" cy="155448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t>GGUF stores quantized tensors plus model/tokenizer metadata.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t>Q4_K_M and Q5_K_M trade model size against quality.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t>Useful for laptops, workstations, Apple Silicon, and consumer GPUs.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200">
                <a:solidFill>
                  <a:srgbClr val="1E242D"/>
                </a:solidFill>
                <a:latin typeface="Aptos"/>
              </a:defRPr>
            </a:pPr>
            <a:r>
              <a:t>Ollama adds convenient model management and a simple serving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0">
                <a:solidFill>
                  <a:srgbClr val="5F6974"/>
                </a:solidFill>
                <a:latin typeface="Aptos"/>
              </a:rPr>
              <a:t>Ref: llama.cpp GGUF documentation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Decision guide: choose the serving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8183879" cy="100584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854695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Maximum NVIDIA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7854695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TensorRT-LLM + FP8 / explicit quantization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87752"/>
            <a:ext cx="8183879" cy="100584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22960" y="2679192"/>
            <a:ext cx="7854695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Fast open-source serving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18104"/>
            <a:ext cx="7854695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vLLM or TGI with BF16, AWQ, or GPTQ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58184"/>
            <a:ext cx="8183879" cy="100584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BC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22960" y="3849624"/>
            <a:ext cx="7854695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CPU / edge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88536"/>
            <a:ext cx="7854695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ORT INT8, OpenVINO, or GGUF / llama.cpp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417320"/>
            <a:ext cx="8183879" cy="10058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9537192" y="1508760"/>
            <a:ext cx="7854695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Low-memory 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1947672"/>
            <a:ext cx="7854695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QLoRA: 4-bit base + LoRA adapters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587752"/>
            <a:ext cx="8183879" cy="10058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9537192" y="2679192"/>
            <a:ext cx="7854695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Cross-platform portability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3118104"/>
            <a:ext cx="7854695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Export to ONNX and choose an Execution Provider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3758184"/>
            <a:ext cx="8183879" cy="1005840"/>
          </a:xfrm>
          <a:prstGeom prst="roundRect">
            <a:avLst/>
          </a:prstGeom>
          <a:solidFill>
            <a:srgbClr val="E6F7F8"/>
          </a:solidFill>
          <a:ln w="1270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9537192" y="3849624"/>
            <a:ext cx="7854695" cy="5170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0C2340"/>
                </a:solidFill>
                <a:latin typeface="Aptos"/>
              </a:rPr>
              <a:t>Consumer local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4288536"/>
            <a:ext cx="7854695" cy="45550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1E242D"/>
                </a:solidFill>
                <a:latin typeface="Aptos"/>
              </a:rPr>
              <a:t>GGUF quantization + llama.cpp / Ollama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57800"/>
            <a:ext cx="16971264" cy="1280160"/>
          </a:xfrm>
          <a:prstGeom prst="roundRect">
            <a:avLst/>
          </a:prstGeom>
          <a:solidFill>
            <a:srgbClr val="FFF8E0"/>
          </a:solidFill>
          <a:ln w="12700">
            <a:solidFill>
              <a:srgbClr val="E8CF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1">
                <a:solidFill>
                  <a:srgbClr val="0C2340"/>
                </a:solidFill>
                <a:latin typeface="Aptos"/>
              </a:rPr>
              <a:t>Final selection variables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88152"/>
            <a:ext cx="166420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>
                <a:solidFill>
                  <a:srgbClr val="1E242D"/>
                </a:solidFill>
                <a:latin typeface="Aptos"/>
              </a:rPr>
              <a:t>hardware, latency SLO, model size, context length, accuracy target, portability need, and engineering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Segment 5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Quantization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6971264" cy="296049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Quantization reduces memory traffic and can improve throughput, especially during LLM decode.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The raw INT4 storage floor is simple arithmetic; real deployed memory is larger.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PTQ is cheap; QAT gives the model a chance to adapt to quantization error.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/>
              <a:t>GPTQ and AWQ are LLM-aware post-training methods for high-quality weight compression.</a:t>
            </a:r>
          </a:p>
          <a:p>
            <a:pPr marL="457200" indent="-228600">
              <a:lnSpc>
                <a:spcPct val="105000"/>
              </a:lnSpc>
              <a:spcAft>
                <a:spcPts val="11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rPr sz="2800" dirty="0" err="1"/>
              <a:t>QLoRA</a:t>
            </a:r>
            <a:r>
              <a:rPr sz="2800" dirty="0"/>
              <a:t> is mainly for memory-efficient fine-tuning; GGUF and llama.cpp are central for local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16971264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200" b="1">
                <a:solidFill>
                  <a:srgbClr val="0C2340"/>
                </a:solidFill>
                <a:latin typeface="Aptos"/>
              </a:rPr>
              <a:t>End-to-end story: representation → specialization →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27480" y="411480"/>
            <a:ext cx="3520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0">
                <a:solidFill>
                  <a:srgbClr val="006069"/>
                </a:solidFill>
                <a:latin typeface="Aptos"/>
              </a:rPr>
              <a:t>Wrap-up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6971264" cy="22860"/>
          </a:xfrm>
          <a:prstGeom prst="rect">
            <a:avLst/>
          </a:prstGeom>
          <a:solidFill>
            <a:srgbClr val="007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>
            <a:cxnSpLocks/>
            <a:endCxn id="13" idx="1"/>
          </p:cNvCxnSpPr>
          <p:nvPr/>
        </p:nvCxnSpPr>
        <p:spPr>
          <a:xfrm flipV="1">
            <a:off x="2926080" y="2510028"/>
            <a:ext cx="640080" cy="4572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  <a:endCxn id="14" idx="1"/>
          </p:cNvCxnSpPr>
          <p:nvPr/>
        </p:nvCxnSpPr>
        <p:spPr>
          <a:xfrm flipV="1">
            <a:off x="5669280" y="2510028"/>
            <a:ext cx="594360" cy="4572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  <a:endCxn id="17" idx="1"/>
          </p:cNvCxnSpPr>
          <p:nvPr/>
        </p:nvCxnSpPr>
        <p:spPr>
          <a:xfrm flipV="1">
            <a:off x="8412480" y="2510028"/>
            <a:ext cx="640080" cy="4572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 flipV="1">
            <a:off x="11155680" y="2510028"/>
            <a:ext cx="594360" cy="4572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13898880" y="2514600"/>
            <a:ext cx="594360" cy="0"/>
          </a:xfrm>
          <a:prstGeom prst="line">
            <a:avLst/>
          </a:prstGeom>
          <a:ln w="25400">
            <a:solidFill>
              <a:srgbClr val="0060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029968"/>
            <a:ext cx="2103120" cy="96012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75688"/>
            <a:ext cx="201168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Trained
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029968"/>
            <a:ext cx="2103120" cy="96012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075688"/>
            <a:ext cx="201168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ONNX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29968"/>
            <a:ext cx="2103120" cy="960120"/>
          </a:xfrm>
          <a:prstGeom prst="roundRect">
            <a:avLst/>
          </a:prstGeom>
          <a:solidFill>
            <a:srgbClr val="E6F7F8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2075688"/>
            <a:ext cx="201168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2029968"/>
            <a:ext cx="2103120" cy="960120"/>
          </a:xfrm>
          <a:prstGeom prst="roundRect">
            <a:avLst/>
          </a:prstGeom>
          <a:solidFill>
            <a:srgbClr val="EEF8F1"/>
          </a:solidFill>
          <a:ln w="16510">
            <a:solidFill>
              <a:srgbClr val="307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2075688"/>
            <a:ext cx="201168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TensorRT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50040" y="2029968"/>
            <a:ext cx="2103120" cy="960120"/>
          </a:xfrm>
          <a:prstGeom prst="roundRect">
            <a:avLst/>
          </a:prstGeom>
          <a:solidFill>
            <a:srgbClr val="FFF8E0"/>
          </a:solidFill>
          <a:ln w="16510">
            <a:solidFill>
              <a:srgbClr val="D97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95760" y="2075688"/>
            <a:ext cx="201168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Quantization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93240" y="2029968"/>
            <a:ext cx="2103120" cy="960120"/>
          </a:xfrm>
          <a:prstGeom prst="roundRect">
            <a:avLst/>
          </a:prstGeom>
          <a:solidFill>
            <a:srgbClr val="EBF3FC"/>
          </a:solidFill>
          <a:ln w="16510">
            <a:solidFill>
              <a:srgbClr val="007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538960" y="2075688"/>
            <a:ext cx="201168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0C2340"/>
                </a:solidFill>
                <a:latin typeface="Aptos"/>
              </a:rPr>
              <a:t>Serving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977639"/>
            <a:ext cx="16971264" cy="2286000"/>
          </a:xfrm>
          <a:prstGeom prst="rect">
            <a:avLst/>
          </a:prstGeom>
          <a:noFill/>
        </p:spPr>
        <p:txBody>
          <a:bodyPr wrap="square" lIns="109728" tIns="73152" rIns="109728" bIns="73152">
            <a:spAutoFit/>
          </a:bodyPr>
          <a:lstStyle/>
          <a:p>
            <a:pPr marL="457200" indent="-228600">
              <a:lnSpc>
                <a:spcPct val="105000"/>
              </a:lnSpc>
              <a:spcAft>
                <a:spcPts val="7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ONNX: portable model boundary.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ONNX Runtime: execute the graph across backends.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TensorRT: specialize for NVIDIA GPUs.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Quantization: reduce data size and improve deployment feasibility.</a:t>
            </a:r>
          </a:p>
          <a:p>
            <a:pPr marL="457200" indent="-228600">
              <a:lnSpc>
                <a:spcPct val="105000"/>
              </a:lnSpc>
              <a:spcAft>
                <a:spcPts val="700"/>
              </a:spcAft>
              <a:defRPr sz="2300">
                <a:solidFill>
                  <a:srgbClr val="1E242D"/>
                </a:solidFill>
                <a:latin typeface="Aptos"/>
              </a:defRPr>
            </a:pPr>
            <a:r>
              <a:t>Measure latency, throughput, memory, accuracy, build time, and portability.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291840"/>
            <a:ext cx="1697126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4400" b="1">
                <a:solidFill>
                  <a:srgbClr val="0C2340"/>
                </a:solidFill>
                <a:latin typeface="Apto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160520"/>
            <a:ext cx="16971264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400" b="0">
                <a:solidFill>
                  <a:srgbClr val="1E242D"/>
                </a:solidFill>
                <a:latin typeface="Aptos"/>
              </a:rPr>
              <a:t>Next: measuring and comparing serving stacks on real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902952"/>
            <a:ext cx="16971264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0">
                <a:solidFill>
                  <a:srgbClr val="5F6974"/>
                </a:solidFill>
                <a:latin typeface="Aptos"/>
              </a:rPr>
              <a:t>Week 09 — Accelerated Inference and Serving Toolchain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8377</Words>
  <Application>Microsoft Office PowerPoint</Application>
  <PresentationFormat>Custom</PresentationFormat>
  <Paragraphs>1004</Paragraphs>
  <Slides>82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Aptos Bold</vt:lpstr>
      <vt:lpstr>Aptos</vt:lpstr>
      <vt:lpstr>Arimo Italics</vt:lpstr>
      <vt:lpstr>Arimo Bold</vt:lpstr>
      <vt:lpstr>Arial</vt:lpstr>
      <vt:lpstr>Calibri</vt:lpstr>
      <vt:lpstr>Arimo</vt:lpstr>
      <vt:lpstr>Consolas</vt:lpstr>
      <vt:lpstr>Arimo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Week09_Applied_Accelerated_AI.pptx</dc:title>
  <dc:creator>Satyajit Das</dc:creator>
  <cp:lastModifiedBy>Satyajit Das</cp:lastModifiedBy>
  <cp:revision>48</cp:revision>
  <dcterms:created xsi:type="dcterms:W3CDTF">2006-08-16T00:00:00Z</dcterms:created>
  <dcterms:modified xsi:type="dcterms:W3CDTF">2026-09-04T08:02:21Z</dcterms:modified>
  <dc:identifier>DAHGpZryMDU</dc:identifier>
</cp:coreProperties>
</file>