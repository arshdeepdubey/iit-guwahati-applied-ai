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152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course plan: NPTEL_Course_Proposal_Submission_Template_19-11-24 (1).docx — Week 6 includes “Memory Optimization: Gradient Accumulation and Checkpointing” and “Efficient Batching and Throughput Optimization”.
- Template/logo asset: Lecture Slide Template.pptx uploaded by the user.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course plan: NPTEL_Course_Proposal_Submission_Template_19-11-24 (1).docx (Week 6 lecture sequence).
- Hugging Face Transformers docs, “GPU”: https://huggingface.co/docs/transformers/en/perf_train_gpu_one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course plan: NPTEL_Course_Proposal_Submission_Template_19-11-24 (1).docx.
- Hugging Face Transformers docs, “GPU”: https://huggingface.co/docs/transformers/en/perf_train_gpu_one
- PyTorch Performance Tuning Guide: https://docs.pytorch.org/tutorials/recipes/recipes/tuning_guide.html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Hugging Face Transformers docs, “Model training anatomy”: https://huggingface.co/docs/transformers/model_memory_anatomy
- Hugging Face blog, “Visualize and understand GPU memory in PyTorch” (Dec 2024): https://huggingface.co/blog/train_memory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Hugging Face Transformers docs, “GPU” (gradient accumulation and trade-offs): https://huggingface.co/docs/transformers/en/perf_train_gpu_one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PyTorch blog, “Current and New Activation Checkpointing Techniques in PyTorch” (Mar 2025): https://pytorch.org/blog/activation-checkpointing-techniques/
- PyTorch docs, torch.utils.checkpoint: https://docs.pytorch.org/docs/stable/checkpoint.html
- Hugging Face Transformers docs, “GPU” (gradient checkpointing trade-off): https://huggingface.co/docs/transformers/en/perf_train_gpu_one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PyTorch docs, scaled_dot_product_attention: https://docs.pytorch.org/docs/stable/generated/torch.nn.functional.scaled_dot_product_attention.html
- Hugging Face Transformers docs, “GPU” (SDPA / FlashAttention2 / Liger): https://huggingface.co/docs/transformers/en/perf_train_gpu_one
- PyTorch docs, torch.nn.attention.varlen (Oct 2025): https://docs.pytorch.org/docs/stable/nn.attention.varlen.html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Hugging Face blog, “Efficient LLM Pretraining: Packed Sequences and Masked Attention” (Oct 2024): https://huggingface.co/blog/sirluk/llm-sequence-packing
- NVIDIA Megatron Bridge docs, “Packed Sequences”: https://docs.nvidia.com/nemo/megatron-bridge/0.2.0/training/packed-sequences.html
- Hugging Face blog, “Improving Hugging Face Training Efficiency Through Packing with Flash Attention 2” (Aug 2024): https://huggingface.co/blog/packing-with-FA2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Hugging Face / bitsandbytes docs, “8-bit optimizers”: https://huggingface.co/docs/bitsandbytes/optimizers
- PyTorch tutorial, “How to save memory by fusing the optimizer step into the backward pass”: https://docs.pytorch.org/tutorials/intermediate/optimizer_step_in_backward_tutorial.html
- Hugging Face Transformers docs, “GPU”: https://huggingface.co/docs/transformers/en/perf_train_gpu_one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PyTorch FSDP docs: https://docs.pytorch.org/docs/stable/fsdp.html
- PyTorch FSDP tutorial: https://docs.pytorch.org/tutorials/intermediate/FSDP_tutorial.html
- DeepSpeed ZeRO docs: https://deepspeed.readthedocs.io/en/latest/zero3.html
- DeepSpeed ZeRO tutorial: https://www.deepspeed.ai/tutorials/zero/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PyTorch Performance Tuning Guide (num_workers, pin_memory): https://docs.pytorch.org/tutorials/recipes/recipes/tuning_guide.html
- PyTorch tutorial, “Introduction to torch.compile” (updated Apr 2026): https://docs.pytorch.org/tutorials/intermediate/torch_compile_tutorial.html
- Hugging Face Transformers docs, “GPU” (data preloading, torch.compile, SDPA, Liger): https://huggingface.co/docs/transformers/en/perf_train_gpu_one
- PyTorch guide on pin_memory and non_blocking: https://docs.pytorch.org/tutorials/intermediate/pinmem_nonblock.html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Hugging Face Transformers docs, “GPU”: https://huggingface.co/docs/transformers/en/perf_train_gpu_one
- PyTorch activation checkpointing blog: https://pytorch.org/blog/activation-checkpointing-techniques/
- PyTorch FSDP docs: https://docs.pytorch.org/docs/stable/fsdp.html
- DeepSpeed ZeRO docs: https://deepspeed.readthedocs.io/en/latest/zero3.html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Hugging Face blog, “Visualize and understand GPU memory in PyTorch”: https://huggingface.co/blog/train_memory
- PyTorch docs, “Understanding CUDA Memory Usage”: https://docs.pytorch.org/docs/stable/torch_cuda_memory.html
- PyTorch tutorial, “How to save memory by fusing the optimizer step into the backward pass”: https://docs.pytorch.org/tutorials/intermediate/optimizer_step_in_backward_tutorial.html
- PyTorch Performance Tuning Guide: https://docs.pytorch.org/tutorials/recipes/recipes/tuning_guide.html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course plan: NPTEL_Course_Proposal_Submission_Template_19-11-24 (1).docx
- Hugging Face Transformers docs, “GPU” and “Model training anatomy”
- PyTorch activation checkpointing blog, FSDP docs, and tuning guide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AI">
    <p:bg>
      <p:bgPr>
        <a:solidFill>
          <a:srgbClr val="F3F2EE"/>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sp>
        <p:nvSpPr>
          <p:cNvPr id="4"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5"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6"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7"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1</a:t>
            </a:r>
            <a:endParaRPr lang="en-US" sz="700" dirty="0"/>
          </a:p>
        </p:txBody>
      </p:sp>
      <p:pic>
        <p:nvPicPr>
          <p:cNvPr id="8"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pic>
        <p:nvPicPr>
          <p:cNvPr id="9" name="Image 1" descr="/mnt/data/template_extract/image1.png"/>
          <p:cNvPicPr>
            <a:picLocks noChangeAspect="1"/>
          </p:cNvPicPr>
          <p:nvPr/>
        </p:nvPicPr>
        <p:blipFill>
          <a:blip r:embed="rId4"/>
          <a:stretch>
            <a:fillRect/>
          </a:stretch>
        </p:blipFill>
        <p:spPr>
          <a:xfrm>
            <a:off x="868680" y="256032"/>
            <a:ext cx="813816" cy="822960"/>
          </a:xfrm>
          <a:prstGeom prst="rect">
            <a:avLst/>
          </a:prstGeom>
        </p:spPr>
      </p:pic>
      <p:sp>
        <p:nvSpPr>
          <p:cNvPr id="10" name="Text 6"/>
          <p:cNvSpPr/>
          <p:nvPr/>
        </p:nvSpPr>
        <p:spPr>
          <a:xfrm>
            <a:off x="868680" y="1078992"/>
            <a:ext cx="4937760" cy="237744"/>
          </a:xfrm>
          <a:prstGeom prst="rect">
            <a:avLst/>
          </a:prstGeom>
          <a:noFill/>
          <a:ln/>
        </p:spPr>
        <p:txBody>
          <a:bodyPr wrap="square" lIns="0" tIns="0" rIns="0" bIns="0" rtlCol="0" anchor="ctr"/>
          <a:lstStyle/>
          <a:p>
            <a:pPr marL="0" indent="0">
              <a:buNone/>
            </a:pPr>
            <a:r>
              <a:rPr lang="en-US" sz="1000" dirty="0">
                <a:solidFill>
                  <a:srgbClr val="202020"/>
                </a:solidFill>
                <a:latin typeface="Arial" pitchFamily="34" charset="0"/>
                <a:ea typeface="Arial" pitchFamily="34" charset="-122"/>
                <a:cs typeface="Arial" pitchFamily="34" charset="-120"/>
              </a:rPr>
              <a:t>Bachelor of Science (Honours) in Data Science and Artificial Intelligence</a:t>
            </a:r>
            <a:endParaRPr lang="en-US" sz="1000" dirty="0"/>
          </a:p>
        </p:txBody>
      </p:sp>
      <p:sp>
        <p:nvSpPr>
          <p:cNvPr id="11" name="Text 7"/>
          <p:cNvSpPr/>
          <p:nvPr/>
        </p:nvSpPr>
        <p:spPr>
          <a:xfrm>
            <a:off x="868680" y="1389888"/>
            <a:ext cx="4937760" cy="256032"/>
          </a:xfrm>
          <a:prstGeom prst="rect">
            <a:avLst/>
          </a:prstGeom>
          <a:noFill/>
          <a:ln/>
        </p:spPr>
        <p:txBody>
          <a:bodyPr wrap="square" lIns="0" tIns="0" rIns="0" bIns="0" rtlCol="0" anchor="ctr"/>
          <a:lstStyle/>
          <a:p>
            <a:pPr marL="0" indent="0">
              <a:buNone/>
            </a:pPr>
            <a:r>
              <a:rPr lang="en-US" sz="1250" b="1" dirty="0">
                <a:solidFill>
                  <a:srgbClr val="202020"/>
                </a:solidFill>
                <a:latin typeface="Arial" pitchFamily="34" charset="0"/>
                <a:ea typeface="Arial" pitchFamily="34" charset="-122"/>
                <a:cs typeface="Arial" pitchFamily="34" charset="-120"/>
              </a:rPr>
              <a:t>Applied Accelerated Artificial Intelligence</a:t>
            </a:r>
            <a:endParaRPr lang="en-US" sz="1250" dirty="0"/>
          </a:p>
        </p:txBody>
      </p:sp>
      <p:sp>
        <p:nvSpPr>
          <p:cNvPr id="12" name="Text 8"/>
          <p:cNvSpPr/>
          <p:nvPr/>
        </p:nvSpPr>
        <p:spPr>
          <a:xfrm>
            <a:off x="3730752" y="1737360"/>
            <a:ext cx="4846320" cy="201168"/>
          </a:xfrm>
          <a:prstGeom prst="rect">
            <a:avLst/>
          </a:prstGeom>
          <a:noFill/>
          <a:ln/>
        </p:spPr>
        <p:txBody>
          <a:bodyPr wrap="square" lIns="0" tIns="0" rIns="0" bIns="0" rtlCol="0" anchor="ctr"/>
          <a:lstStyle/>
          <a:p>
            <a:pPr marL="0" indent="0" algn="ctr">
              <a:buNone/>
            </a:pPr>
            <a:r>
              <a:rPr lang="en-US" sz="950" b="1" dirty="0">
                <a:solidFill>
                  <a:srgbClr val="14386B"/>
                </a:solidFill>
                <a:latin typeface="Arial" pitchFamily="34" charset="0"/>
                <a:ea typeface="Arial" pitchFamily="34" charset="-122"/>
                <a:cs typeface="Arial" pitchFamily="34" charset="-120"/>
              </a:rPr>
              <a:t>Week 06 • Segment 3</a:t>
            </a:r>
            <a:endParaRPr lang="en-US" sz="950" dirty="0"/>
          </a:p>
        </p:txBody>
      </p:sp>
      <p:sp>
        <p:nvSpPr>
          <p:cNvPr id="13" name="Text 9"/>
          <p:cNvSpPr/>
          <p:nvPr/>
        </p:nvSpPr>
        <p:spPr>
          <a:xfrm>
            <a:off x="1463040" y="1993392"/>
            <a:ext cx="9326880" cy="868680"/>
          </a:xfrm>
          <a:prstGeom prst="rect">
            <a:avLst/>
          </a:prstGeom>
          <a:noFill/>
          <a:ln/>
        </p:spPr>
        <p:txBody>
          <a:bodyPr wrap="square" lIns="0" tIns="0" rIns="0" bIns="0" rtlCol="0" anchor="ctr">
            <a:normAutofit/>
          </a:bodyPr>
          <a:lstStyle/>
          <a:p>
            <a:pPr marL="0" indent="0" algn="ctr">
              <a:buNone/>
            </a:pPr>
            <a:r>
              <a:rPr lang="en-US" sz="2000" b="1" dirty="0">
                <a:solidFill>
                  <a:srgbClr val="202020"/>
                </a:solidFill>
                <a:latin typeface="Arial" pitchFamily="34" charset="0"/>
                <a:ea typeface="Arial" pitchFamily="34" charset="-122"/>
                <a:cs typeface="Arial" pitchFamily="34" charset="-120"/>
              </a:rPr>
              <a:t>Memory Optimization, Gradient Accumulation,</a:t>
            </a:r>
            <a:endParaRPr lang="en-US" sz="2000" dirty="0"/>
          </a:p>
          <a:p>
            <a:pPr marL="0" indent="0" algn="ctr">
              <a:buNone/>
            </a:pPr>
            <a:r>
              <a:rPr lang="en-US" sz="2000" b="1" dirty="0">
                <a:solidFill>
                  <a:srgbClr val="202020"/>
                </a:solidFill>
                <a:latin typeface="Arial" pitchFamily="34" charset="0"/>
                <a:ea typeface="Arial" pitchFamily="34" charset="-122"/>
                <a:cs typeface="Arial" pitchFamily="34" charset="-120"/>
              </a:rPr>
              <a:t>Checkpointing, and Throughput Optimization</a:t>
            </a:r>
            <a:endParaRPr lang="en-US" sz="2000" dirty="0"/>
          </a:p>
        </p:txBody>
      </p:sp>
      <p:sp>
        <p:nvSpPr>
          <p:cNvPr id="14" name="Text 10"/>
          <p:cNvSpPr/>
          <p:nvPr/>
        </p:nvSpPr>
        <p:spPr>
          <a:xfrm>
            <a:off x="1874520" y="2880360"/>
            <a:ext cx="8503920" cy="219456"/>
          </a:xfrm>
          <a:prstGeom prst="rect">
            <a:avLst/>
          </a:prstGeom>
          <a:noFill/>
          <a:ln/>
        </p:spPr>
        <p:txBody>
          <a:bodyPr wrap="square" lIns="0" tIns="0" rIns="0" bIns="0" rtlCol="0" anchor="ctr"/>
          <a:lstStyle/>
          <a:p>
            <a:pPr marL="0" indent="0" algn="ctr">
              <a:buNone/>
            </a:pPr>
            <a:r>
              <a:rPr lang="en-US" sz="1040" i="1" dirty="0">
                <a:solidFill>
                  <a:srgbClr val="14386B"/>
                </a:solidFill>
                <a:latin typeface="Arial" pitchFamily="34" charset="0"/>
                <a:ea typeface="Arial" pitchFamily="34" charset="-122"/>
                <a:cs typeface="Arial" pitchFamily="34" charset="-120"/>
              </a:rPr>
              <a:t>How to fit longer contexts and larger effective batches without wasting GPU cycles</a:t>
            </a:r>
            <a:endParaRPr lang="en-US" sz="1040" dirty="0"/>
          </a:p>
        </p:txBody>
      </p:sp>
      <p:sp>
        <p:nvSpPr>
          <p:cNvPr id="15" name="Text 11"/>
          <p:cNvSpPr/>
          <p:nvPr/>
        </p:nvSpPr>
        <p:spPr>
          <a:xfrm>
            <a:off x="3813048" y="4069080"/>
            <a:ext cx="4572000" cy="530352"/>
          </a:xfrm>
          <a:prstGeom prst="rect">
            <a:avLst/>
          </a:prstGeom>
          <a:noFill/>
          <a:ln/>
        </p:spPr>
        <p:txBody>
          <a:bodyPr wrap="square" lIns="0" tIns="0" rIns="0" bIns="0" rtlCol="0" anchor="ctr"/>
          <a:lstStyle/>
          <a:p>
            <a:pPr marL="0" indent="0" algn="ctr">
              <a:buNone/>
            </a:pPr>
            <a:r>
              <a:rPr lang="en-US" sz="830" dirty="0">
                <a:solidFill>
                  <a:srgbClr val="666666"/>
                </a:solidFill>
                <a:latin typeface="Arial" pitchFamily="34" charset="0"/>
                <a:ea typeface="Arial" pitchFamily="34" charset="-122"/>
                <a:cs typeface="Arial" pitchFamily="34" charset="-120"/>
              </a:rPr>
              <a:t>Instructor: Dr. Satyajit Das</a:t>
            </a:r>
            <a:endParaRPr lang="en-US" sz="830" dirty="0"/>
          </a:p>
          <a:p>
            <a:pPr marL="0" indent="0" algn="ctr">
              <a:buNone/>
            </a:pPr>
            <a:r>
              <a:rPr lang="en-US" sz="830" dirty="0">
                <a:solidFill>
                  <a:srgbClr val="666666"/>
                </a:solidFill>
                <a:latin typeface="Arial" pitchFamily="34" charset="0"/>
                <a:ea typeface="Arial" pitchFamily="34" charset="-122"/>
                <a:cs typeface="Arial" pitchFamily="34" charset="-120"/>
              </a:rPr>
              <a:t>Department of Computer Science and Engineering</a:t>
            </a:r>
            <a:endParaRPr lang="en-US" sz="830" dirty="0"/>
          </a:p>
          <a:p>
            <a:pPr marL="0" indent="0" algn="ctr">
              <a:buNone/>
            </a:pPr>
            <a:r>
              <a:rPr lang="en-US" sz="830" dirty="0">
                <a:solidFill>
                  <a:srgbClr val="666666"/>
                </a:solidFill>
                <a:latin typeface="Arial" pitchFamily="34" charset="0"/>
                <a:ea typeface="Arial" pitchFamily="34" charset="-122"/>
                <a:cs typeface="Arial" pitchFamily="34" charset="-120"/>
              </a:rPr>
              <a:t>Indian Institute of Technology Guwahati, Assam, India</a:t>
            </a:r>
            <a:endParaRPr lang="en-US" sz="830" dirty="0"/>
          </a:p>
        </p:txBody>
      </p:sp>
      <p:sp>
        <p:nvSpPr>
          <p:cNvPr id="16" name="Text 12"/>
          <p:cNvSpPr/>
          <p:nvPr/>
        </p:nvSpPr>
        <p:spPr>
          <a:xfrm>
            <a:off x="2331720" y="4956048"/>
            <a:ext cx="7498080" cy="201168"/>
          </a:xfrm>
          <a:prstGeom prst="rect">
            <a:avLst/>
          </a:prstGeom>
          <a:noFill/>
          <a:ln/>
        </p:spPr>
        <p:txBody>
          <a:bodyPr wrap="square" lIns="0" tIns="0" rIns="0" bIns="0" rtlCol="0" anchor="ctr"/>
          <a:lstStyle/>
          <a:p>
            <a:pPr marL="0" indent="0" algn="ctr">
              <a:buNone/>
            </a:pPr>
            <a:r>
              <a:rPr lang="en-US" sz="820" dirty="0">
                <a:solidFill>
                  <a:srgbClr val="7A7A7A"/>
                </a:solidFill>
                <a:latin typeface="Arial" pitchFamily="34" charset="0"/>
                <a:ea typeface="Arial" pitchFamily="34" charset="-122"/>
                <a:cs typeface="Arial" pitchFamily="34" charset="-120"/>
              </a:rPr>
              <a:t>Segment 3 connects memory-saving techniques to throughput-aware LLM training practice.</a:t>
            </a:r>
            <a:endParaRPr lang="en-US" sz="820" dirty="0"/>
          </a:p>
        </p:txBody>
      </p:sp>
      <p:sp>
        <p:nvSpPr>
          <p:cNvPr id="17" name="Shape 13"/>
          <p:cNvSpPr/>
          <p:nvPr/>
        </p:nvSpPr>
        <p:spPr>
          <a:xfrm>
            <a:off x="2971800" y="4828032"/>
            <a:ext cx="6217920" cy="0"/>
          </a:xfrm>
          <a:prstGeom prst="line">
            <a:avLst/>
          </a:prstGeom>
          <a:noFill/>
          <a:ln w="15875">
            <a:solidFill>
              <a:srgbClr val="CFD4DA"/>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2</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Week 06: Training Optimization and LLM Fine-tuning</a:t>
            </a:r>
            <a:endParaRPr lang="en-US" sz="1750" dirty="0"/>
          </a:p>
        </p:txBody>
      </p:sp>
      <p:sp>
        <p:nvSpPr>
          <p:cNvPr id="10" name="Text 7"/>
          <p:cNvSpPr/>
          <p:nvPr/>
        </p:nvSpPr>
        <p:spPr>
          <a:xfrm>
            <a:off x="6126480" y="868680"/>
            <a:ext cx="5486400" cy="502920"/>
          </a:xfrm>
          <a:prstGeom prst="rect">
            <a:avLst/>
          </a:prstGeom>
          <a:noFill/>
          <a:ln/>
        </p:spPr>
        <p:txBody>
          <a:bodyPr wrap="square" lIns="0" tIns="0" rIns="0" bIns="0" rtlCol="0" anchor="ctr">
            <a:noAutofit/>
          </a:bodyPr>
          <a:lstStyle/>
          <a:p>
            <a:pPr marL="0" indent="0">
              <a:buNone/>
            </a:pPr>
            <a:r>
              <a:rPr lang="en-US" sz="1600" dirty="0">
                <a:solidFill>
                  <a:srgbClr val="202020"/>
                </a:solidFill>
                <a:latin typeface="Arial" pitchFamily="34" charset="0"/>
                <a:ea typeface="Arial" pitchFamily="34" charset="-122"/>
                <a:cs typeface="Arial" pitchFamily="34" charset="-120"/>
              </a:rPr>
              <a:t>Today's focus: memory anatomy, gradient accumulation, checkpointing, batching, packing, and the practices that convert saved memory into higher useful throughput.</a:t>
            </a:r>
            <a:endParaRPr lang="en-US" sz="1600" dirty="0"/>
          </a:p>
        </p:txBody>
      </p:sp>
      <p:sp>
        <p:nvSpPr>
          <p:cNvPr id="11" name="Shape 8"/>
          <p:cNvSpPr/>
          <p:nvPr/>
        </p:nvSpPr>
        <p:spPr>
          <a:xfrm>
            <a:off x="822960" y="1874520"/>
            <a:ext cx="5074920" cy="310896"/>
          </a:xfrm>
          <a:prstGeom prst="roundRect">
            <a:avLst>
              <a:gd name="adj" fmla="val 23529"/>
            </a:avLst>
          </a:prstGeom>
          <a:solidFill>
            <a:srgbClr val="FFFFFF"/>
          </a:solidFill>
          <a:ln w="12700">
            <a:solidFill>
              <a:srgbClr val="BFC7D1"/>
            </a:solidFill>
            <a:prstDash val="solid"/>
          </a:ln>
        </p:spPr>
        <p:txBody>
          <a:bodyPr/>
          <a:lstStyle/>
          <a:p>
            <a:endParaRPr lang="en-IN" sz="2800"/>
          </a:p>
        </p:txBody>
      </p:sp>
      <p:sp>
        <p:nvSpPr>
          <p:cNvPr id="12" name="Text 9"/>
          <p:cNvSpPr/>
          <p:nvPr/>
        </p:nvSpPr>
        <p:spPr>
          <a:xfrm>
            <a:off x="960120" y="1947672"/>
            <a:ext cx="960120" cy="146304"/>
          </a:xfrm>
          <a:prstGeom prst="rect">
            <a:avLst/>
          </a:prstGeom>
          <a:noFill/>
          <a:ln/>
        </p:spPr>
        <p:txBody>
          <a:bodyPr wrap="square" lIns="0" tIns="0" rIns="0" bIns="0" rtlCol="0" anchor="ctr"/>
          <a:lstStyle/>
          <a:p>
            <a:pPr marL="0" indent="0">
              <a:buNone/>
            </a:pPr>
            <a:r>
              <a:rPr lang="en-US" sz="1050" b="1" dirty="0">
                <a:solidFill>
                  <a:srgbClr val="202020"/>
                </a:solidFill>
                <a:latin typeface="Arial" pitchFamily="34" charset="0"/>
                <a:ea typeface="Arial" pitchFamily="34" charset="-122"/>
                <a:cs typeface="Arial" pitchFamily="34" charset="-120"/>
              </a:rPr>
              <a:t>Segment 1</a:t>
            </a:r>
            <a:endParaRPr lang="en-US" sz="1050" dirty="0"/>
          </a:p>
        </p:txBody>
      </p:sp>
      <p:sp>
        <p:nvSpPr>
          <p:cNvPr id="13" name="Text 10"/>
          <p:cNvSpPr/>
          <p:nvPr/>
        </p:nvSpPr>
        <p:spPr>
          <a:xfrm>
            <a:off x="1965960" y="1947672"/>
            <a:ext cx="3657600" cy="146304"/>
          </a:xfrm>
          <a:prstGeom prst="rect">
            <a:avLst/>
          </a:prstGeom>
          <a:noFill/>
          <a:ln/>
        </p:spPr>
        <p:txBody>
          <a:bodyPr wrap="square" lIns="0" tIns="0" rIns="0" bIns="0" rtlCol="0" anchor="ctr"/>
          <a:lstStyle/>
          <a:p>
            <a:pPr marL="0" indent="0">
              <a:buNone/>
            </a:pPr>
            <a:r>
              <a:rPr lang="en-US" sz="1050" dirty="0">
                <a:solidFill>
                  <a:srgbClr val="202020"/>
                </a:solidFill>
                <a:latin typeface="Arial" pitchFamily="34" charset="0"/>
                <a:ea typeface="Arial" pitchFamily="34" charset="-122"/>
                <a:cs typeface="Arial" pitchFamily="34" charset="-120"/>
              </a:rPr>
              <a:t>LLM foundations and terminology</a:t>
            </a:r>
            <a:endParaRPr lang="en-US" sz="1050" dirty="0"/>
          </a:p>
        </p:txBody>
      </p:sp>
      <p:sp>
        <p:nvSpPr>
          <p:cNvPr id="14" name="Shape 11"/>
          <p:cNvSpPr/>
          <p:nvPr/>
        </p:nvSpPr>
        <p:spPr>
          <a:xfrm>
            <a:off x="822960" y="2313432"/>
            <a:ext cx="5074920" cy="310896"/>
          </a:xfrm>
          <a:prstGeom prst="roundRect">
            <a:avLst>
              <a:gd name="adj" fmla="val 23529"/>
            </a:avLst>
          </a:prstGeom>
          <a:solidFill>
            <a:srgbClr val="FFFFFF"/>
          </a:solidFill>
          <a:ln w="12700">
            <a:solidFill>
              <a:srgbClr val="BFC7D1"/>
            </a:solidFill>
            <a:prstDash val="solid"/>
          </a:ln>
        </p:spPr>
        <p:txBody>
          <a:bodyPr/>
          <a:lstStyle/>
          <a:p>
            <a:endParaRPr lang="en-IN" sz="2800"/>
          </a:p>
        </p:txBody>
      </p:sp>
      <p:sp>
        <p:nvSpPr>
          <p:cNvPr id="15" name="Text 12"/>
          <p:cNvSpPr/>
          <p:nvPr/>
        </p:nvSpPr>
        <p:spPr>
          <a:xfrm>
            <a:off x="960120" y="2386584"/>
            <a:ext cx="960120" cy="146304"/>
          </a:xfrm>
          <a:prstGeom prst="rect">
            <a:avLst/>
          </a:prstGeom>
          <a:noFill/>
          <a:ln/>
        </p:spPr>
        <p:txBody>
          <a:bodyPr wrap="square" lIns="0" tIns="0" rIns="0" bIns="0" rtlCol="0" anchor="ctr"/>
          <a:lstStyle/>
          <a:p>
            <a:pPr marL="0" indent="0">
              <a:buNone/>
            </a:pPr>
            <a:r>
              <a:rPr lang="en-US" sz="1050" b="1" dirty="0">
                <a:solidFill>
                  <a:srgbClr val="202020"/>
                </a:solidFill>
                <a:latin typeface="Arial" pitchFamily="34" charset="0"/>
                <a:ea typeface="Arial" pitchFamily="34" charset="-122"/>
                <a:cs typeface="Arial" pitchFamily="34" charset="-120"/>
              </a:rPr>
              <a:t>Segment 2</a:t>
            </a:r>
            <a:endParaRPr lang="en-US" sz="1050" dirty="0"/>
          </a:p>
        </p:txBody>
      </p:sp>
      <p:sp>
        <p:nvSpPr>
          <p:cNvPr id="16" name="Text 13"/>
          <p:cNvSpPr/>
          <p:nvPr/>
        </p:nvSpPr>
        <p:spPr>
          <a:xfrm>
            <a:off x="1965960" y="2386584"/>
            <a:ext cx="3657600" cy="146304"/>
          </a:xfrm>
          <a:prstGeom prst="rect">
            <a:avLst/>
          </a:prstGeom>
          <a:noFill/>
          <a:ln/>
        </p:spPr>
        <p:txBody>
          <a:bodyPr wrap="square" lIns="0" tIns="0" rIns="0" bIns="0" rtlCol="0" anchor="ctr"/>
          <a:lstStyle/>
          <a:p>
            <a:pPr marL="0" indent="0">
              <a:buNone/>
            </a:pPr>
            <a:r>
              <a:rPr lang="en-US" sz="1050" dirty="0">
                <a:solidFill>
                  <a:srgbClr val="202020"/>
                </a:solidFill>
                <a:latin typeface="Arial" pitchFamily="34" charset="0"/>
                <a:ea typeface="Arial" pitchFamily="34" charset="-122"/>
                <a:cs typeface="Arial" pitchFamily="34" charset="-120"/>
              </a:rPr>
              <a:t>Mixed precision and numerical stability</a:t>
            </a:r>
            <a:endParaRPr lang="en-US" sz="1050" dirty="0"/>
          </a:p>
        </p:txBody>
      </p:sp>
      <p:sp>
        <p:nvSpPr>
          <p:cNvPr id="17" name="Shape 14"/>
          <p:cNvSpPr/>
          <p:nvPr/>
        </p:nvSpPr>
        <p:spPr>
          <a:xfrm>
            <a:off x="822960" y="2752344"/>
            <a:ext cx="5074920" cy="310896"/>
          </a:xfrm>
          <a:prstGeom prst="roundRect">
            <a:avLst>
              <a:gd name="adj" fmla="val 23529"/>
            </a:avLst>
          </a:prstGeom>
          <a:solidFill>
            <a:srgbClr val="DFE8F5"/>
          </a:solidFill>
          <a:ln w="12700">
            <a:solidFill>
              <a:srgbClr val="14386B"/>
            </a:solidFill>
            <a:prstDash val="solid"/>
          </a:ln>
        </p:spPr>
        <p:txBody>
          <a:bodyPr/>
          <a:lstStyle/>
          <a:p>
            <a:endParaRPr lang="en-IN" sz="2800"/>
          </a:p>
        </p:txBody>
      </p:sp>
      <p:sp>
        <p:nvSpPr>
          <p:cNvPr id="18" name="Text 15"/>
          <p:cNvSpPr/>
          <p:nvPr/>
        </p:nvSpPr>
        <p:spPr>
          <a:xfrm>
            <a:off x="960120" y="2825496"/>
            <a:ext cx="960120" cy="146304"/>
          </a:xfrm>
          <a:prstGeom prst="rect">
            <a:avLst/>
          </a:prstGeom>
          <a:noFill/>
          <a:ln/>
        </p:spPr>
        <p:txBody>
          <a:bodyPr wrap="square" lIns="0" tIns="0" rIns="0" bIns="0" rtlCol="0" anchor="ctr"/>
          <a:lstStyle/>
          <a:p>
            <a:pPr marL="0" indent="0">
              <a:buNone/>
            </a:pPr>
            <a:r>
              <a:rPr lang="en-US" sz="1050" b="1" dirty="0">
                <a:solidFill>
                  <a:srgbClr val="202020"/>
                </a:solidFill>
                <a:latin typeface="Arial" pitchFamily="34" charset="0"/>
                <a:ea typeface="Arial" pitchFamily="34" charset="-122"/>
                <a:cs typeface="Arial" pitchFamily="34" charset="-120"/>
              </a:rPr>
              <a:t>Segment 3</a:t>
            </a:r>
            <a:endParaRPr lang="en-US" sz="1050" dirty="0"/>
          </a:p>
        </p:txBody>
      </p:sp>
      <p:sp>
        <p:nvSpPr>
          <p:cNvPr id="19" name="Text 16"/>
          <p:cNvSpPr/>
          <p:nvPr/>
        </p:nvSpPr>
        <p:spPr>
          <a:xfrm>
            <a:off x="1965960" y="2825496"/>
            <a:ext cx="3657600" cy="146304"/>
          </a:xfrm>
          <a:prstGeom prst="rect">
            <a:avLst/>
          </a:prstGeom>
          <a:noFill/>
          <a:ln/>
        </p:spPr>
        <p:txBody>
          <a:bodyPr wrap="square" lIns="0" tIns="0" rIns="0" bIns="0" rtlCol="0" anchor="ctr"/>
          <a:lstStyle/>
          <a:p>
            <a:pPr marL="0" indent="0">
              <a:buNone/>
            </a:pPr>
            <a:r>
              <a:rPr lang="en-US" sz="1050" dirty="0">
                <a:solidFill>
                  <a:srgbClr val="202020"/>
                </a:solidFill>
                <a:latin typeface="Arial" pitchFamily="34" charset="0"/>
                <a:ea typeface="Arial" pitchFamily="34" charset="-122"/>
                <a:cs typeface="Arial" pitchFamily="34" charset="-120"/>
              </a:rPr>
              <a:t>Memory optimization and throughput</a:t>
            </a:r>
            <a:endParaRPr lang="en-US" sz="1050" dirty="0"/>
          </a:p>
        </p:txBody>
      </p:sp>
      <p:sp>
        <p:nvSpPr>
          <p:cNvPr id="20" name="Shape 17"/>
          <p:cNvSpPr/>
          <p:nvPr/>
        </p:nvSpPr>
        <p:spPr>
          <a:xfrm>
            <a:off x="822960" y="3191256"/>
            <a:ext cx="5074920" cy="310896"/>
          </a:xfrm>
          <a:prstGeom prst="roundRect">
            <a:avLst>
              <a:gd name="adj" fmla="val 23529"/>
            </a:avLst>
          </a:prstGeom>
          <a:solidFill>
            <a:srgbClr val="FFFFFF"/>
          </a:solidFill>
          <a:ln w="12700">
            <a:solidFill>
              <a:srgbClr val="BFC7D1"/>
            </a:solidFill>
            <a:prstDash val="solid"/>
          </a:ln>
        </p:spPr>
        <p:txBody>
          <a:bodyPr/>
          <a:lstStyle/>
          <a:p>
            <a:endParaRPr lang="en-IN" sz="2800"/>
          </a:p>
        </p:txBody>
      </p:sp>
      <p:sp>
        <p:nvSpPr>
          <p:cNvPr id="21" name="Text 18"/>
          <p:cNvSpPr/>
          <p:nvPr/>
        </p:nvSpPr>
        <p:spPr>
          <a:xfrm>
            <a:off x="960120" y="3264408"/>
            <a:ext cx="960120" cy="146304"/>
          </a:xfrm>
          <a:prstGeom prst="rect">
            <a:avLst/>
          </a:prstGeom>
          <a:noFill/>
          <a:ln/>
        </p:spPr>
        <p:txBody>
          <a:bodyPr wrap="square" lIns="0" tIns="0" rIns="0" bIns="0" rtlCol="0" anchor="ctr"/>
          <a:lstStyle/>
          <a:p>
            <a:pPr marL="0" indent="0">
              <a:buNone/>
            </a:pPr>
            <a:r>
              <a:rPr lang="en-US" sz="1050" b="1" dirty="0">
                <a:solidFill>
                  <a:srgbClr val="202020"/>
                </a:solidFill>
                <a:latin typeface="Arial" pitchFamily="34" charset="0"/>
                <a:ea typeface="Arial" pitchFamily="34" charset="-122"/>
                <a:cs typeface="Arial" pitchFamily="34" charset="-120"/>
              </a:rPr>
              <a:t>Segment 4</a:t>
            </a:r>
            <a:endParaRPr lang="en-US" sz="1050" dirty="0"/>
          </a:p>
        </p:txBody>
      </p:sp>
      <p:sp>
        <p:nvSpPr>
          <p:cNvPr id="22" name="Text 19"/>
          <p:cNvSpPr/>
          <p:nvPr/>
        </p:nvSpPr>
        <p:spPr>
          <a:xfrm>
            <a:off x="1965960" y="3264408"/>
            <a:ext cx="3657600" cy="146304"/>
          </a:xfrm>
          <a:prstGeom prst="rect">
            <a:avLst/>
          </a:prstGeom>
          <a:noFill/>
          <a:ln/>
        </p:spPr>
        <p:txBody>
          <a:bodyPr wrap="square" lIns="0" tIns="0" rIns="0" bIns="0" rtlCol="0" anchor="ctr"/>
          <a:lstStyle/>
          <a:p>
            <a:pPr marL="0" indent="0">
              <a:buNone/>
            </a:pPr>
            <a:r>
              <a:rPr lang="en-US" sz="1050" dirty="0">
                <a:solidFill>
                  <a:srgbClr val="202020"/>
                </a:solidFill>
                <a:latin typeface="Arial" pitchFamily="34" charset="0"/>
                <a:ea typeface="Arial" pitchFamily="34" charset="-122"/>
                <a:cs typeface="Arial" pitchFamily="34" charset="-120"/>
              </a:rPr>
              <a:t>Transfer learning for large models</a:t>
            </a:r>
            <a:endParaRPr lang="en-US" sz="1050" dirty="0"/>
          </a:p>
        </p:txBody>
      </p:sp>
      <p:sp>
        <p:nvSpPr>
          <p:cNvPr id="23" name="Shape 20"/>
          <p:cNvSpPr/>
          <p:nvPr/>
        </p:nvSpPr>
        <p:spPr>
          <a:xfrm>
            <a:off x="822960" y="3630168"/>
            <a:ext cx="5074920" cy="310896"/>
          </a:xfrm>
          <a:prstGeom prst="roundRect">
            <a:avLst>
              <a:gd name="adj" fmla="val 23529"/>
            </a:avLst>
          </a:prstGeom>
          <a:solidFill>
            <a:srgbClr val="FFFFFF"/>
          </a:solidFill>
          <a:ln w="12700">
            <a:solidFill>
              <a:srgbClr val="BFC7D1"/>
            </a:solidFill>
            <a:prstDash val="solid"/>
          </a:ln>
        </p:spPr>
        <p:txBody>
          <a:bodyPr/>
          <a:lstStyle/>
          <a:p>
            <a:endParaRPr lang="en-IN" sz="2800"/>
          </a:p>
        </p:txBody>
      </p:sp>
      <p:sp>
        <p:nvSpPr>
          <p:cNvPr id="24" name="Text 21"/>
          <p:cNvSpPr/>
          <p:nvPr/>
        </p:nvSpPr>
        <p:spPr>
          <a:xfrm>
            <a:off x="960120" y="3703320"/>
            <a:ext cx="960120" cy="146304"/>
          </a:xfrm>
          <a:prstGeom prst="rect">
            <a:avLst/>
          </a:prstGeom>
          <a:noFill/>
          <a:ln/>
        </p:spPr>
        <p:txBody>
          <a:bodyPr wrap="square" lIns="0" tIns="0" rIns="0" bIns="0" rtlCol="0" anchor="ctr"/>
          <a:lstStyle/>
          <a:p>
            <a:pPr marL="0" indent="0">
              <a:buNone/>
            </a:pPr>
            <a:r>
              <a:rPr lang="en-US" sz="1050" b="1" dirty="0">
                <a:solidFill>
                  <a:srgbClr val="202020"/>
                </a:solidFill>
                <a:latin typeface="Arial" pitchFamily="34" charset="0"/>
                <a:ea typeface="Arial" pitchFamily="34" charset="-122"/>
                <a:cs typeface="Arial" pitchFamily="34" charset="-120"/>
              </a:rPr>
              <a:t>Segment 5</a:t>
            </a:r>
            <a:endParaRPr lang="en-US" sz="1050" dirty="0"/>
          </a:p>
        </p:txBody>
      </p:sp>
      <p:sp>
        <p:nvSpPr>
          <p:cNvPr id="25" name="Text 22"/>
          <p:cNvSpPr/>
          <p:nvPr/>
        </p:nvSpPr>
        <p:spPr>
          <a:xfrm>
            <a:off x="1965960" y="3703320"/>
            <a:ext cx="3657600" cy="146304"/>
          </a:xfrm>
          <a:prstGeom prst="rect">
            <a:avLst/>
          </a:prstGeom>
          <a:noFill/>
          <a:ln/>
        </p:spPr>
        <p:txBody>
          <a:bodyPr wrap="square" lIns="0" tIns="0" rIns="0" bIns="0" rtlCol="0" anchor="ctr"/>
          <a:lstStyle/>
          <a:p>
            <a:pPr marL="0" indent="0">
              <a:buNone/>
            </a:pPr>
            <a:r>
              <a:rPr lang="en-US" sz="1050" dirty="0">
                <a:solidFill>
                  <a:srgbClr val="202020"/>
                </a:solidFill>
                <a:latin typeface="Arial" pitchFamily="34" charset="0"/>
                <a:ea typeface="Arial" pitchFamily="34" charset="-122"/>
                <a:cs typeface="Arial" pitchFamily="34" charset="-120"/>
              </a:rPr>
              <a:t>Efficient LLM fine-tuning using PEFT and LoRA</a:t>
            </a:r>
            <a:endParaRPr lang="en-US" sz="1050" dirty="0"/>
          </a:p>
        </p:txBody>
      </p:sp>
      <p:sp>
        <p:nvSpPr>
          <p:cNvPr id="26" name="Shape 23"/>
          <p:cNvSpPr/>
          <p:nvPr/>
        </p:nvSpPr>
        <p:spPr>
          <a:xfrm>
            <a:off x="6172200" y="1783080"/>
            <a:ext cx="1828800" cy="1847088"/>
          </a:xfrm>
          <a:prstGeom prst="roundRect">
            <a:avLst>
              <a:gd name="adj" fmla="val 12500"/>
            </a:avLst>
          </a:prstGeom>
          <a:solidFill>
            <a:srgbClr val="F5DFDD"/>
          </a:solidFill>
          <a:ln w="12700">
            <a:solidFill>
              <a:srgbClr val="CFD4DA"/>
            </a:solidFill>
            <a:prstDash val="solid"/>
          </a:ln>
        </p:spPr>
        <p:txBody>
          <a:bodyPr/>
          <a:lstStyle/>
          <a:p>
            <a:endParaRPr lang="en-IN" sz="2800"/>
          </a:p>
        </p:txBody>
      </p:sp>
      <p:sp>
        <p:nvSpPr>
          <p:cNvPr id="27" name="Text 24"/>
          <p:cNvSpPr/>
          <p:nvPr/>
        </p:nvSpPr>
        <p:spPr>
          <a:xfrm>
            <a:off x="6281928" y="1874520"/>
            <a:ext cx="160934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Why now?</a:t>
            </a:r>
            <a:endParaRPr lang="en-US" sz="1600" dirty="0"/>
          </a:p>
        </p:txBody>
      </p:sp>
      <p:sp>
        <p:nvSpPr>
          <p:cNvPr id="28" name="Text 25"/>
          <p:cNvSpPr/>
          <p:nvPr/>
        </p:nvSpPr>
        <p:spPr>
          <a:xfrm>
            <a:off x="6281928" y="2093976"/>
            <a:ext cx="1609344" cy="640080"/>
          </a:xfrm>
          <a:prstGeom prst="rect">
            <a:avLst/>
          </a:prstGeom>
          <a:noFill/>
          <a:ln/>
        </p:spPr>
        <p:txBody>
          <a:bodyPr wrap="square" lIns="0" tIns="0" rIns="0" bIns="0" rtlCol="0" anchor="t">
            <a:noAutofit/>
          </a:bodyPr>
          <a:lstStyle/>
          <a:p>
            <a:pPr marL="0" indent="0">
              <a:buNone/>
            </a:pPr>
            <a:r>
              <a:rPr lang="en-US" sz="1100" dirty="0">
                <a:solidFill>
                  <a:srgbClr val="202020"/>
                </a:solidFill>
                <a:latin typeface="Arial" pitchFamily="34" charset="0"/>
                <a:ea typeface="Arial" pitchFamily="34" charset="-122"/>
                <a:cs typeface="Arial" pitchFamily="34" charset="-120"/>
              </a:rPr>
              <a:t>Context lengths and model sizes rise faster than single-GPU memory. Once precision is under control, the next bottleneck is fitting useful tokens into the same HBM budget.</a:t>
            </a:r>
            <a:endParaRPr lang="en-US" sz="1100" dirty="0"/>
          </a:p>
        </p:txBody>
      </p:sp>
      <p:sp>
        <p:nvSpPr>
          <p:cNvPr id="29" name="Shape 26"/>
          <p:cNvSpPr/>
          <p:nvPr/>
        </p:nvSpPr>
        <p:spPr>
          <a:xfrm>
            <a:off x="8074152" y="2692908"/>
            <a:ext cx="1691640" cy="1847088"/>
          </a:xfrm>
          <a:prstGeom prst="roundRect">
            <a:avLst>
              <a:gd name="adj" fmla="val 12500"/>
            </a:avLst>
          </a:prstGeom>
          <a:solidFill>
            <a:srgbClr val="F3E9B7"/>
          </a:solidFill>
          <a:ln w="12700">
            <a:solidFill>
              <a:srgbClr val="CFD4DA"/>
            </a:solidFill>
            <a:prstDash val="solid"/>
          </a:ln>
        </p:spPr>
        <p:txBody>
          <a:bodyPr/>
          <a:lstStyle/>
          <a:p>
            <a:endParaRPr lang="en-IN" sz="2800"/>
          </a:p>
        </p:txBody>
      </p:sp>
      <p:sp>
        <p:nvSpPr>
          <p:cNvPr id="30" name="Text 27"/>
          <p:cNvSpPr/>
          <p:nvPr/>
        </p:nvSpPr>
        <p:spPr>
          <a:xfrm>
            <a:off x="8183880" y="2784348"/>
            <a:ext cx="147218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Key idea</a:t>
            </a:r>
            <a:endParaRPr lang="en-US" sz="1600" dirty="0"/>
          </a:p>
        </p:txBody>
      </p:sp>
      <p:sp>
        <p:nvSpPr>
          <p:cNvPr id="31" name="Text 28"/>
          <p:cNvSpPr/>
          <p:nvPr/>
        </p:nvSpPr>
        <p:spPr>
          <a:xfrm>
            <a:off x="8183880" y="3003804"/>
            <a:ext cx="1472184" cy="640080"/>
          </a:xfrm>
          <a:prstGeom prst="rect">
            <a:avLst/>
          </a:prstGeom>
          <a:noFill/>
          <a:ln/>
        </p:spPr>
        <p:txBody>
          <a:bodyPr wrap="square" lIns="0" tIns="0" rIns="0" bIns="0" rtlCol="0" anchor="t">
            <a:noAutofit/>
          </a:bodyPr>
          <a:lstStyle/>
          <a:p>
            <a:pPr marL="0" indent="0">
              <a:buNone/>
            </a:pPr>
            <a:r>
              <a:rPr lang="en-US" sz="1100" dirty="0">
                <a:solidFill>
                  <a:srgbClr val="202020"/>
                </a:solidFill>
                <a:latin typeface="Arial" pitchFamily="34" charset="0"/>
                <a:ea typeface="Arial" pitchFamily="34" charset="-122"/>
                <a:cs typeface="Arial" pitchFamily="34" charset="-120"/>
              </a:rPr>
              <a:t>Save memory only where it matters, then spend the savings on larger useful batches, longer sequences, or higher tokens/s.</a:t>
            </a:r>
            <a:endParaRPr lang="en-US" sz="1100" dirty="0"/>
          </a:p>
        </p:txBody>
      </p:sp>
      <p:sp>
        <p:nvSpPr>
          <p:cNvPr id="32" name="Shape 29"/>
          <p:cNvSpPr/>
          <p:nvPr/>
        </p:nvSpPr>
        <p:spPr>
          <a:xfrm>
            <a:off x="9875520" y="3849624"/>
            <a:ext cx="1600200" cy="1801368"/>
          </a:xfrm>
          <a:prstGeom prst="roundRect">
            <a:avLst>
              <a:gd name="adj" fmla="val 12500"/>
            </a:avLst>
          </a:prstGeom>
          <a:solidFill>
            <a:srgbClr val="E2F0E6"/>
          </a:solidFill>
          <a:ln w="12700">
            <a:solidFill>
              <a:srgbClr val="CFD4DA"/>
            </a:solidFill>
            <a:prstDash val="solid"/>
          </a:ln>
        </p:spPr>
        <p:txBody>
          <a:bodyPr/>
          <a:lstStyle/>
          <a:p>
            <a:endParaRPr lang="en-IN" sz="2800"/>
          </a:p>
        </p:txBody>
      </p:sp>
      <p:sp>
        <p:nvSpPr>
          <p:cNvPr id="33" name="Text 30"/>
          <p:cNvSpPr/>
          <p:nvPr/>
        </p:nvSpPr>
        <p:spPr>
          <a:xfrm>
            <a:off x="9985248" y="3941064"/>
            <a:ext cx="138074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Outcome</a:t>
            </a:r>
            <a:endParaRPr lang="en-US" sz="1600" dirty="0"/>
          </a:p>
        </p:txBody>
      </p:sp>
      <p:sp>
        <p:nvSpPr>
          <p:cNvPr id="34" name="Text 31"/>
          <p:cNvSpPr/>
          <p:nvPr/>
        </p:nvSpPr>
        <p:spPr>
          <a:xfrm>
            <a:off x="9985248" y="4160520"/>
            <a:ext cx="1380744" cy="640080"/>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More stable training at a better hardware-efficiency point.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3</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Learning Objectives</a:t>
            </a:r>
            <a:endParaRPr lang="en-US" sz="1750" dirty="0"/>
          </a:p>
        </p:txBody>
      </p:sp>
      <p:sp>
        <p:nvSpPr>
          <p:cNvPr id="10" name="Text 7"/>
          <p:cNvSpPr/>
          <p:nvPr/>
        </p:nvSpPr>
        <p:spPr>
          <a:xfrm>
            <a:off x="365760" y="1024128"/>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01</a:t>
            </a:r>
            <a:endParaRPr lang="en-US" dirty="0"/>
          </a:p>
        </p:txBody>
      </p:sp>
      <p:sp>
        <p:nvSpPr>
          <p:cNvPr id="11" name="Text 8"/>
          <p:cNvSpPr/>
          <p:nvPr/>
        </p:nvSpPr>
        <p:spPr>
          <a:xfrm>
            <a:off x="841248" y="1005840"/>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Explain which tensors dominate LLM training memory and how that balance changes with model size, sequence length, optimizer, and precision policy.</a:t>
            </a:r>
            <a:endParaRPr lang="en-US" sz="1200" dirty="0"/>
          </a:p>
        </p:txBody>
      </p:sp>
      <p:sp>
        <p:nvSpPr>
          <p:cNvPr id="12" name="Shape 9"/>
          <p:cNvSpPr/>
          <p:nvPr/>
        </p:nvSpPr>
        <p:spPr>
          <a:xfrm>
            <a:off x="365760" y="1773936"/>
            <a:ext cx="5486400" cy="0"/>
          </a:xfrm>
          <a:prstGeom prst="line">
            <a:avLst/>
          </a:prstGeom>
          <a:noFill/>
          <a:ln w="10160">
            <a:solidFill>
              <a:srgbClr val="D7D7D7"/>
            </a:solidFill>
            <a:prstDash val="solid"/>
          </a:ln>
        </p:spPr>
        <p:txBody>
          <a:bodyPr/>
          <a:lstStyle/>
          <a:p>
            <a:endParaRPr lang="en-IN" sz="2800"/>
          </a:p>
        </p:txBody>
      </p:sp>
      <p:sp>
        <p:nvSpPr>
          <p:cNvPr id="13" name="Text 10"/>
          <p:cNvSpPr/>
          <p:nvPr/>
        </p:nvSpPr>
        <p:spPr>
          <a:xfrm>
            <a:off x="365760" y="2048256"/>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02</a:t>
            </a:r>
            <a:endParaRPr lang="en-US" dirty="0"/>
          </a:p>
        </p:txBody>
      </p:sp>
      <p:sp>
        <p:nvSpPr>
          <p:cNvPr id="14" name="Text 11"/>
          <p:cNvSpPr/>
          <p:nvPr/>
        </p:nvSpPr>
        <p:spPr>
          <a:xfrm>
            <a:off x="841248" y="2029968"/>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Compute effective batch size from microbatch, gradient accumulation, and data-parallel world size.</a:t>
            </a:r>
            <a:endParaRPr lang="en-US" sz="1200" dirty="0"/>
          </a:p>
        </p:txBody>
      </p:sp>
      <p:sp>
        <p:nvSpPr>
          <p:cNvPr id="15" name="Shape 12"/>
          <p:cNvSpPr/>
          <p:nvPr/>
        </p:nvSpPr>
        <p:spPr>
          <a:xfrm>
            <a:off x="365760" y="2798064"/>
            <a:ext cx="5486400" cy="0"/>
          </a:xfrm>
          <a:prstGeom prst="line">
            <a:avLst/>
          </a:prstGeom>
          <a:noFill/>
          <a:ln w="10160">
            <a:solidFill>
              <a:srgbClr val="D7D7D7"/>
            </a:solidFill>
            <a:prstDash val="solid"/>
          </a:ln>
        </p:spPr>
        <p:txBody>
          <a:bodyPr/>
          <a:lstStyle/>
          <a:p>
            <a:endParaRPr lang="en-IN" sz="2800"/>
          </a:p>
        </p:txBody>
      </p:sp>
      <p:sp>
        <p:nvSpPr>
          <p:cNvPr id="16" name="Text 13"/>
          <p:cNvSpPr/>
          <p:nvPr/>
        </p:nvSpPr>
        <p:spPr>
          <a:xfrm>
            <a:off x="365760" y="3072384"/>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03</a:t>
            </a:r>
            <a:endParaRPr lang="en-US" dirty="0"/>
          </a:p>
        </p:txBody>
      </p:sp>
      <p:sp>
        <p:nvSpPr>
          <p:cNvPr id="17" name="Text 14"/>
          <p:cNvSpPr/>
          <p:nvPr/>
        </p:nvSpPr>
        <p:spPr>
          <a:xfrm>
            <a:off x="841248" y="3054096"/>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Describe how activation checkpointing trades extra recomputation for lower activation memory, and distinguish plain checkpointing from selective rematerialization.</a:t>
            </a:r>
            <a:endParaRPr lang="en-US" sz="1200" dirty="0"/>
          </a:p>
        </p:txBody>
      </p:sp>
      <p:sp>
        <p:nvSpPr>
          <p:cNvPr id="18" name="Shape 15"/>
          <p:cNvSpPr/>
          <p:nvPr/>
        </p:nvSpPr>
        <p:spPr>
          <a:xfrm>
            <a:off x="365760" y="3822192"/>
            <a:ext cx="5486400" cy="0"/>
          </a:xfrm>
          <a:prstGeom prst="line">
            <a:avLst/>
          </a:prstGeom>
          <a:noFill/>
          <a:ln w="10160">
            <a:solidFill>
              <a:srgbClr val="D7D7D7"/>
            </a:solidFill>
            <a:prstDash val="solid"/>
          </a:ln>
        </p:spPr>
        <p:txBody>
          <a:bodyPr/>
          <a:lstStyle/>
          <a:p>
            <a:endParaRPr lang="en-IN" sz="2800"/>
          </a:p>
        </p:txBody>
      </p:sp>
      <p:sp>
        <p:nvSpPr>
          <p:cNvPr id="19" name="Text 16"/>
          <p:cNvSpPr/>
          <p:nvPr/>
        </p:nvSpPr>
        <p:spPr>
          <a:xfrm>
            <a:off x="365760" y="4096512"/>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04</a:t>
            </a:r>
            <a:endParaRPr lang="en-US" dirty="0"/>
          </a:p>
        </p:txBody>
      </p:sp>
      <p:sp>
        <p:nvSpPr>
          <p:cNvPr id="20" name="Text 17"/>
          <p:cNvSpPr/>
          <p:nvPr/>
        </p:nvSpPr>
        <p:spPr>
          <a:xfrm>
            <a:off x="841248" y="4078224"/>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Recognize when attention, padding waste, or host-to-device stalls are limiting tokens/s more than raw FLOPs.</a:t>
            </a:r>
            <a:endParaRPr lang="en-US" sz="1200" dirty="0"/>
          </a:p>
        </p:txBody>
      </p:sp>
      <p:sp>
        <p:nvSpPr>
          <p:cNvPr id="21" name="Shape 18"/>
          <p:cNvSpPr/>
          <p:nvPr/>
        </p:nvSpPr>
        <p:spPr>
          <a:xfrm>
            <a:off x="365760" y="4846320"/>
            <a:ext cx="5486400" cy="0"/>
          </a:xfrm>
          <a:prstGeom prst="line">
            <a:avLst/>
          </a:prstGeom>
          <a:noFill/>
          <a:ln w="10160">
            <a:solidFill>
              <a:srgbClr val="D7D7D7"/>
            </a:solidFill>
            <a:prstDash val="solid"/>
          </a:ln>
        </p:spPr>
        <p:txBody>
          <a:bodyPr/>
          <a:lstStyle/>
          <a:p>
            <a:endParaRPr lang="en-IN" sz="2800"/>
          </a:p>
        </p:txBody>
      </p:sp>
      <p:sp>
        <p:nvSpPr>
          <p:cNvPr id="22" name="Text 19"/>
          <p:cNvSpPr/>
          <p:nvPr/>
        </p:nvSpPr>
        <p:spPr>
          <a:xfrm>
            <a:off x="6263640" y="1024128"/>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05</a:t>
            </a:r>
            <a:endParaRPr lang="en-US" dirty="0"/>
          </a:p>
        </p:txBody>
      </p:sp>
      <p:sp>
        <p:nvSpPr>
          <p:cNvPr id="23" name="Text 20"/>
          <p:cNvSpPr/>
          <p:nvPr/>
        </p:nvSpPr>
        <p:spPr>
          <a:xfrm>
            <a:off x="6739128" y="1005840"/>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Apply batching strategies such as length bucketing, token-budget batching, and sequence packing without breaking causal masking.</a:t>
            </a:r>
            <a:endParaRPr lang="en-US" sz="1200" dirty="0"/>
          </a:p>
        </p:txBody>
      </p:sp>
      <p:sp>
        <p:nvSpPr>
          <p:cNvPr id="24" name="Shape 21"/>
          <p:cNvSpPr/>
          <p:nvPr/>
        </p:nvSpPr>
        <p:spPr>
          <a:xfrm>
            <a:off x="6263640" y="1773936"/>
            <a:ext cx="5486400" cy="0"/>
          </a:xfrm>
          <a:prstGeom prst="line">
            <a:avLst/>
          </a:prstGeom>
          <a:noFill/>
          <a:ln w="10160">
            <a:solidFill>
              <a:srgbClr val="D7D7D7"/>
            </a:solidFill>
            <a:prstDash val="solid"/>
          </a:ln>
        </p:spPr>
        <p:txBody>
          <a:bodyPr/>
          <a:lstStyle/>
          <a:p>
            <a:endParaRPr lang="en-IN" sz="2800"/>
          </a:p>
        </p:txBody>
      </p:sp>
      <p:sp>
        <p:nvSpPr>
          <p:cNvPr id="25" name="Text 22"/>
          <p:cNvSpPr/>
          <p:nvPr/>
        </p:nvSpPr>
        <p:spPr>
          <a:xfrm>
            <a:off x="6263640" y="2048256"/>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06</a:t>
            </a:r>
            <a:endParaRPr lang="en-US" dirty="0"/>
          </a:p>
        </p:txBody>
      </p:sp>
      <p:sp>
        <p:nvSpPr>
          <p:cNvPr id="26" name="Text 23"/>
          <p:cNvSpPr/>
          <p:nvPr/>
        </p:nvSpPr>
        <p:spPr>
          <a:xfrm>
            <a:off x="6739128" y="2029968"/>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Compare single-GPU levers (packing, checkpointing, 8-bit optimizers) with distributed levers (FSDP, ZeRO, offload).</a:t>
            </a:r>
            <a:endParaRPr lang="en-US" sz="1200" dirty="0"/>
          </a:p>
        </p:txBody>
      </p:sp>
      <p:sp>
        <p:nvSpPr>
          <p:cNvPr id="27" name="Shape 24"/>
          <p:cNvSpPr/>
          <p:nvPr/>
        </p:nvSpPr>
        <p:spPr>
          <a:xfrm>
            <a:off x="6263640" y="2798064"/>
            <a:ext cx="5486400" cy="0"/>
          </a:xfrm>
          <a:prstGeom prst="line">
            <a:avLst/>
          </a:prstGeom>
          <a:noFill/>
          <a:ln w="10160">
            <a:solidFill>
              <a:srgbClr val="D7D7D7"/>
            </a:solidFill>
            <a:prstDash val="solid"/>
          </a:ln>
        </p:spPr>
        <p:txBody>
          <a:bodyPr/>
          <a:lstStyle/>
          <a:p>
            <a:endParaRPr lang="en-IN" sz="2800"/>
          </a:p>
        </p:txBody>
      </p:sp>
      <p:sp>
        <p:nvSpPr>
          <p:cNvPr id="28" name="Text 25"/>
          <p:cNvSpPr/>
          <p:nvPr/>
        </p:nvSpPr>
        <p:spPr>
          <a:xfrm>
            <a:off x="6263640" y="3072384"/>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07</a:t>
            </a:r>
            <a:endParaRPr lang="en-US" dirty="0"/>
          </a:p>
        </p:txBody>
      </p:sp>
      <p:sp>
        <p:nvSpPr>
          <p:cNvPr id="29" name="Text 26"/>
          <p:cNvSpPr/>
          <p:nvPr/>
        </p:nvSpPr>
        <p:spPr>
          <a:xfrm>
            <a:off x="6739128" y="3054096"/>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Use current PyTorch and Hugging Face tooling—SDPA, torch.compile, pin_memory, memory snapshots, and profiler traces—to validate improvements.</a:t>
            </a:r>
            <a:endParaRPr lang="en-US" sz="1200" dirty="0"/>
          </a:p>
        </p:txBody>
      </p:sp>
      <p:sp>
        <p:nvSpPr>
          <p:cNvPr id="30" name="Shape 27"/>
          <p:cNvSpPr/>
          <p:nvPr/>
        </p:nvSpPr>
        <p:spPr>
          <a:xfrm>
            <a:off x="6263640" y="3822192"/>
            <a:ext cx="5486400" cy="0"/>
          </a:xfrm>
          <a:prstGeom prst="line">
            <a:avLst/>
          </a:prstGeom>
          <a:noFill/>
          <a:ln w="10160">
            <a:solidFill>
              <a:srgbClr val="D7D7D7"/>
            </a:solidFill>
            <a:prstDash val="solid"/>
          </a:ln>
        </p:spPr>
        <p:txBody>
          <a:bodyPr/>
          <a:lstStyle/>
          <a:p>
            <a:endParaRPr lang="en-IN" sz="2800"/>
          </a:p>
        </p:txBody>
      </p:sp>
      <p:sp>
        <p:nvSpPr>
          <p:cNvPr id="31" name="Text 28"/>
          <p:cNvSpPr/>
          <p:nvPr/>
        </p:nvSpPr>
        <p:spPr>
          <a:xfrm>
            <a:off x="6263640" y="4096512"/>
            <a:ext cx="365760" cy="201168"/>
          </a:xfrm>
          <a:prstGeom prst="rect">
            <a:avLst/>
          </a:prstGeom>
          <a:noFill/>
          <a:ln/>
        </p:spPr>
        <p:txBody>
          <a:bodyPr wrap="square" lIns="0" tIns="0" rIns="0" bIns="0" rtlCol="0" anchor="ctr"/>
          <a:lstStyle/>
          <a:p>
            <a:pPr marL="0" indent="0">
              <a:buNone/>
            </a:pPr>
            <a:r>
              <a:rPr lang="en-US" b="1" dirty="0">
                <a:solidFill>
                  <a:srgbClr val="14386B"/>
                </a:solidFill>
                <a:latin typeface="Arial" pitchFamily="34" charset="0"/>
                <a:ea typeface="Arial" pitchFamily="34" charset="-122"/>
                <a:cs typeface="Arial" pitchFamily="34" charset="-120"/>
              </a:rPr>
              <a:t>08</a:t>
            </a:r>
            <a:endParaRPr lang="en-US" dirty="0"/>
          </a:p>
        </p:txBody>
      </p:sp>
      <p:sp>
        <p:nvSpPr>
          <p:cNvPr id="32" name="Text 29"/>
          <p:cNvSpPr/>
          <p:nvPr/>
        </p:nvSpPr>
        <p:spPr>
          <a:xfrm>
            <a:off x="6739128" y="4078224"/>
            <a:ext cx="5074920" cy="71323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Connect today’s segment to the next segments on transfer learning and PEFT, where memory savings determine which adaptation strategy is feasible.</a:t>
            </a:r>
            <a:endParaRPr lang="en-US" sz="1200" dirty="0"/>
          </a:p>
        </p:txBody>
      </p:sp>
      <p:sp>
        <p:nvSpPr>
          <p:cNvPr id="33" name="Shape 30"/>
          <p:cNvSpPr/>
          <p:nvPr/>
        </p:nvSpPr>
        <p:spPr>
          <a:xfrm>
            <a:off x="6263640" y="4846320"/>
            <a:ext cx="5486400" cy="0"/>
          </a:xfrm>
          <a:prstGeom prst="line">
            <a:avLst/>
          </a:prstGeom>
          <a:noFill/>
          <a:ln w="10160">
            <a:solidFill>
              <a:srgbClr val="D7D7D7"/>
            </a:solidFill>
            <a:prstDash val="solid"/>
          </a:ln>
        </p:spPr>
        <p:txBody>
          <a:bodyPr/>
          <a:lstStyle/>
          <a:p>
            <a:endParaRPr lang="en-IN"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4</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Where GPU memory really goes in LLM training</a:t>
            </a:r>
            <a:endParaRPr lang="en-US" sz="1750" dirty="0"/>
          </a:p>
        </p:txBody>
      </p:sp>
      <p:sp>
        <p:nvSpPr>
          <p:cNvPr id="10" name="Shape 7"/>
          <p:cNvSpPr/>
          <p:nvPr/>
        </p:nvSpPr>
        <p:spPr>
          <a:xfrm>
            <a:off x="411480" y="1005840"/>
            <a:ext cx="1417320" cy="420624"/>
          </a:xfrm>
          <a:prstGeom prst="rect">
            <a:avLst/>
          </a:prstGeom>
          <a:solidFill>
            <a:srgbClr val="E8EEF7"/>
          </a:solidFill>
          <a:ln w="12700">
            <a:solidFill>
              <a:srgbClr val="CFD4DA"/>
            </a:solidFill>
            <a:prstDash val="solid"/>
          </a:ln>
        </p:spPr>
        <p:txBody>
          <a:bodyPr/>
          <a:lstStyle/>
          <a:p>
            <a:endParaRPr lang="en-IN" sz="3600"/>
          </a:p>
        </p:txBody>
      </p:sp>
      <p:sp>
        <p:nvSpPr>
          <p:cNvPr id="11" name="Text 8"/>
          <p:cNvSpPr/>
          <p:nvPr/>
        </p:nvSpPr>
        <p:spPr>
          <a:xfrm>
            <a:off x="466344" y="1051560"/>
            <a:ext cx="1307592" cy="329184"/>
          </a:xfrm>
          <a:prstGeom prst="rect">
            <a:avLst/>
          </a:prstGeom>
          <a:noFill/>
          <a:ln/>
        </p:spPr>
        <p:txBody>
          <a:bodyPr wrap="square" lIns="0" tIns="0" rIns="0" bIns="0" rtlCol="0" anchor="ctr">
            <a:normAutofit/>
          </a:bodyPr>
          <a:lstStyle/>
          <a:p>
            <a:pPr marL="0" indent="0">
              <a:buNone/>
            </a:pPr>
            <a:r>
              <a:rPr lang="en-US" sz="1200" b="1" dirty="0">
                <a:solidFill>
                  <a:srgbClr val="202020"/>
                </a:solidFill>
                <a:latin typeface="Arial" pitchFamily="34" charset="0"/>
                <a:ea typeface="Arial" pitchFamily="34" charset="-122"/>
                <a:cs typeface="Arial" pitchFamily="34" charset="-120"/>
              </a:rPr>
              <a:t>Component</a:t>
            </a:r>
            <a:endParaRPr lang="en-US" sz="1200" dirty="0"/>
          </a:p>
        </p:txBody>
      </p:sp>
      <p:sp>
        <p:nvSpPr>
          <p:cNvPr id="12" name="Shape 9"/>
          <p:cNvSpPr/>
          <p:nvPr/>
        </p:nvSpPr>
        <p:spPr>
          <a:xfrm>
            <a:off x="1828800" y="1005840"/>
            <a:ext cx="3246120" cy="420624"/>
          </a:xfrm>
          <a:prstGeom prst="rect">
            <a:avLst/>
          </a:prstGeom>
          <a:solidFill>
            <a:srgbClr val="E8EEF7"/>
          </a:solidFill>
          <a:ln w="12700">
            <a:solidFill>
              <a:srgbClr val="CFD4DA"/>
            </a:solidFill>
            <a:prstDash val="solid"/>
          </a:ln>
        </p:spPr>
        <p:txBody>
          <a:bodyPr/>
          <a:lstStyle/>
          <a:p>
            <a:endParaRPr lang="en-IN" sz="3600"/>
          </a:p>
        </p:txBody>
      </p:sp>
      <p:sp>
        <p:nvSpPr>
          <p:cNvPr id="13" name="Text 10"/>
          <p:cNvSpPr/>
          <p:nvPr/>
        </p:nvSpPr>
        <p:spPr>
          <a:xfrm>
            <a:off x="1883664" y="1051560"/>
            <a:ext cx="3136392" cy="329184"/>
          </a:xfrm>
          <a:prstGeom prst="rect">
            <a:avLst/>
          </a:prstGeom>
          <a:noFill/>
          <a:ln/>
        </p:spPr>
        <p:txBody>
          <a:bodyPr wrap="square" lIns="0" tIns="0" rIns="0" bIns="0" rtlCol="0" anchor="ctr">
            <a:normAutofit/>
          </a:bodyPr>
          <a:lstStyle/>
          <a:p>
            <a:pPr marL="0" indent="0">
              <a:buNone/>
            </a:pPr>
            <a:r>
              <a:rPr lang="en-US" sz="1200" b="1" dirty="0">
                <a:solidFill>
                  <a:srgbClr val="202020"/>
                </a:solidFill>
                <a:latin typeface="Arial" pitchFamily="34" charset="0"/>
                <a:ea typeface="Arial" pitchFamily="34" charset="-122"/>
                <a:cs typeface="Arial" pitchFamily="34" charset="-120"/>
              </a:rPr>
              <a:t>What sets its size?</a:t>
            </a:r>
            <a:endParaRPr lang="en-US" sz="1200" dirty="0"/>
          </a:p>
        </p:txBody>
      </p:sp>
      <p:sp>
        <p:nvSpPr>
          <p:cNvPr id="14" name="Shape 11"/>
          <p:cNvSpPr/>
          <p:nvPr/>
        </p:nvSpPr>
        <p:spPr>
          <a:xfrm>
            <a:off x="5074920" y="1005840"/>
            <a:ext cx="1965960" cy="420624"/>
          </a:xfrm>
          <a:prstGeom prst="rect">
            <a:avLst/>
          </a:prstGeom>
          <a:solidFill>
            <a:srgbClr val="E8EEF7"/>
          </a:solidFill>
          <a:ln w="12700">
            <a:solidFill>
              <a:srgbClr val="CFD4DA"/>
            </a:solidFill>
            <a:prstDash val="solid"/>
          </a:ln>
        </p:spPr>
        <p:txBody>
          <a:bodyPr/>
          <a:lstStyle/>
          <a:p>
            <a:endParaRPr lang="en-IN" sz="3600"/>
          </a:p>
        </p:txBody>
      </p:sp>
      <p:sp>
        <p:nvSpPr>
          <p:cNvPr id="15" name="Text 12"/>
          <p:cNvSpPr/>
          <p:nvPr/>
        </p:nvSpPr>
        <p:spPr>
          <a:xfrm>
            <a:off x="5129784" y="1051560"/>
            <a:ext cx="1856232" cy="329184"/>
          </a:xfrm>
          <a:prstGeom prst="rect">
            <a:avLst/>
          </a:prstGeom>
          <a:noFill/>
          <a:ln/>
        </p:spPr>
        <p:txBody>
          <a:bodyPr wrap="square" lIns="0" tIns="0" rIns="0" bIns="0" rtlCol="0" anchor="ctr">
            <a:normAutofit/>
          </a:bodyPr>
          <a:lstStyle/>
          <a:p>
            <a:pPr marL="0" indent="0">
              <a:buNone/>
            </a:pPr>
            <a:r>
              <a:rPr lang="en-US" sz="1200" b="1" dirty="0">
                <a:solidFill>
                  <a:srgbClr val="202020"/>
                </a:solidFill>
                <a:latin typeface="Arial" pitchFamily="34" charset="0"/>
                <a:ea typeface="Arial" pitchFamily="34" charset="-122"/>
                <a:cs typeface="Arial" pitchFamily="34" charset="-120"/>
              </a:rPr>
              <a:t>Usual first lever</a:t>
            </a:r>
            <a:endParaRPr lang="en-US" sz="1200" dirty="0"/>
          </a:p>
        </p:txBody>
      </p:sp>
      <p:sp>
        <p:nvSpPr>
          <p:cNvPr id="16" name="Shape 13"/>
          <p:cNvSpPr/>
          <p:nvPr/>
        </p:nvSpPr>
        <p:spPr>
          <a:xfrm>
            <a:off x="411480" y="1426464"/>
            <a:ext cx="1417320" cy="530352"/>
          </a:xfrm>
          <a:prstGeom prst="rect">
            <a:avLst/>
          </a:prstGeom>
          <a:solidFill>
            <a:srgbClr val="FFFFFF"/>
          </a:solidFill>
          <a:ln w="12700">
            <a:solidFill>
              <a:srgbClr val="CFD4DA"/>
            </a:solidFill>
            <a:prstDash val="solid"/>
          </a:ln>
        </p:spPr>
        <p:txBody>
          <a:bodyPr/>
          <a:lstStyle/>
          <a:p>
            <a:endParaRPr lang="en-IN" sz="3600"/>
          </a:p>
        </p:txBody>
      </p:sp>
      <p:sp>
        <p:nvSpPr>
          <p:cNvPr id="17" name="Text 14"/>
          <p:cNvSpPr/>
          <p:nvPr/>
        </p:nvSpPr>
        <p:spPr>
          <a:xfrm>
            <a:off x="466344" y="1472184"/>
            <a:ext cx="13075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Weights / parameters</a:t>
            </a:r>
            <a:endParaRPr lang="en-US" sz="1200" dirty="0"/>
          </a:p>
        </p:txBody>
      </p:sp>
      <p:sp>
        <p:nvSpPr>
          <p:cNvPr id="18" name="Shape 15"/>
          <p:cNvSpPr/>
          <p:nvPr/>
        </p:nvSpPr>
        <p:spPr>
          <a:xfrm>
            <a:off x="1828800" y="1426464"/>
            <a:ext cx="3246120" cy="530352"/>
          </a:xfrm>
          <a:prstGeom prst="rect">
            <a:avLst/>
          </a:prstGeom>
          <a:solidFill>
            <a:srgbClr val="FFFFFF"/>
          </a:solidFill>
          <a:ln w="12700">
            <a:solidFill>
              <a:srgbClr val="CFD4DA"/>
            </a:solidFill>
            <a:prstDash val="solid"/>
          </a:ln>
        </p:spPr>
        <p:txBody>
          <a:bodyPr/>
          <a:lstStyle/>
          <a:p>
            <a:endParaRPr lang="en-IN" sz="3600"/>
          </a:p>
        </p:txBody>
      </p:sp>
      <p:sp>
        <p:nvSpPr>
          <p:cNvPr id="19" name="Text 16"/>
          <p:cNvSpPr/>
          <p:nvPr/>
        </p:nvSpPr>
        <p:spPr>
          <a:xfrm>
            <a:off x="1883664" y="1472184"/>
            <a:ext cx="31363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Number of model parameters and chosen storage dtype</a:t>
            </a:r>
            <a:endParaRPr lang="en-US" sz="1200" dirty="0"/>
          </a:p>
        </p:txBody>
      </p:sp>
      <p:sp>
        <p:nvSpPr>
          <p:cNvPr id="20" name="Shape 17"/>
          <p:cNvSpPr/>
          <p:nvPr/>
        </p:nvSpPr>
        <p:spPr>
          <a:xfrm>
            <a:off x="5074920" y="1426464"/>
            <a:ext cx="1965960" cy="530352"/>
          </a:xfrm>
          <a:prstGeom prst="rect">
            <a:avLst/>
          </a:prstGeom>
          <a:solidFill>
            <a:srgbClr val="FFFFFF"/>
          </a:solidFill>
          <a:ln w="12700">
            <a:solidFill>
              <a:srgbClr val="CFD4DA"/>
            </a:solidFill>
            <a:prstDash val="solid"/>
          </a:ln>
        </p:spPr>
        <p:txBody>
          <a:bodyPr/>
          <a:lstStyle/>
          <a:p>
            <a:endParaRPr lang="en-IN" sz="3600"/>
          </a:p>
        </p:txBody>
      </p:sp>
      <p:sp>
        <p:nvSpPr>
          <p:cNvPr id="21" name="Text 18"/>
          <p:cNvSpPr/>
          <p:nvPr/>
        </p:nvSpPr>
        <p:spPr>
          <a:xfrm>
            <a:off x="5129784" y="1472184"/>
            <a:ext cx="185623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Lower precision, PEFT, sharding</a:t>
            </a:r>
            <a:endParaRPr lang="en-US" sz="1200" dirty="0"/>
          </a:p>
        </p:txBody>
      </p:sp>
      <p:sp>
        <p:nvSpPr>
          <p:cNvPr id="22" name="Shape 19"/>
          <p:cNvSpPr/>
          <p:nvPr/>
        </p:nvSpPr>
        <p:spPr>
          <a:xfrm>
            <a:off x="411480" y="1956816"/>
            <a:ext cx="1417320" cy="530352"/>
          </a:xfrm>
          <a:prstGeom prst="rect">
            <a:avLst/>
          </a:prstGeom>
          <a:solidFill>
            <a:srgbClr val="FFFFFF"/>
          </a:solidFill>
          <a:ln w="12700">
            <a:solidFill>
              <a:srgbClr val="CFD4DA"/>
            </a:solidFill>
            <a:prstDash val="solid"/>
          </a:ln>
        </p:spPr>
        <p:txBody>
          <a:bodyPr/>
          <a:lstStyle/>
          <a:p>
            <a:endParaRPr lang="en-IN" sz="3600"/>
          </a:p>
        </p:txBody>
      </p:sp>
      <p:sp>
        <p:nvSpPr>
          <p:cNvPr id="23" name="Text 20"/>
          <p:cNvSpPr/>
          <p:nvPr/>
        </p:nvSpPr>
        <p:spPr>
          <a:xfrm>
            <a:off x="466344" y="2002536"/>
            <a:ext cx="13075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Optimizer states</a:t>
            </a:r>
            <a:endParaRPr lang="en-US" sz="1200" dirty="0"/>
          </a:p>
        </p:txBody>
      </p:sp>
      <p:sp>
        <p:nvSpPr>
          <p:cNvPr id="24" name="Shape 21"/>
          <p:cNvSpPr/>
          <p:nvPr/>
        </p:nvSpPr>
        <p:spPr>
          <a:xfrm>
            <a:off x="1828800" y="1956816"/>
            <a:ext cx="3246120" cy="530352"/>
          </a:xfrm>
          <a:prstGeom prst="rect">
            <a:avLst/>
          </a:prstGeom>
          <a:solidFill>
            <a:srgbClr val="FFFFFF"/>
          </a:solidFill>
          <a:ln w="12700">
            <a:solidFill>
              <a:srgbClr val="CFD4DA"/>
            </a:solidFill>
            <a:prstDash val="solid"/>
          </a:ln>
        </p:spPr>
        <p:txBody>
          <a:bodyPr/>
          <a:lstStyle/>
          <a:p>
            <a:endParaRPr lang="en-IN" sz="3600"/>
          </a:p>
        </p:txBody>
      </p:sp>
      <p:sp>
        <p:nvSpPr>
          <p:cNvPr id="25" name="Text 22"/>
          <p:cNvSpPr/>
          <p:nvPr/>
        </p:nvSpPr>
        <p:spPr>
          <a:xfrm>
            <a:off x="1883664" y="2002536"/>
            <a:ext cx="31363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Optimizer choice (AdamW is expensive), precision, and sharding</a:t>
            </a:r>
            <a:endParaRPr lang="en-US" sz="1200" dirty="0"/>
          </a:p>
        </p:txBody>
      </p:sp>
      <p:sp>
        <p:nvSpPr>
          <p:cNvPr id="26" name="Shape 23"/>
          <p:cNvSpPr/>
          <p:nvPr/>
        </p:nvSpPr>
        <p:spPr>
          <a:xfrm>
            <a:off x="5074920" y="1956816"/>
            <a:ext cx="1965960" cy="530352"/>
          </a:xfrm>
          <a:prstGeom prst="rect">
            <a:avLst/>
          </a:prstGeom>
          <a:solidFill>
            <a:srgbClr val="FFFFFF"/>
          </a:solidFill>
          <a:ln w="12700">
            <a:solidFill>
              <a:srgbClr val="CFD4DA"/>
            </a:solidFill>
            <a:prstDash val="solid"/>
          </a:ln>
        </p:spPr>
        <p:txBody>
          <a:bodyPr/>
          <a:lstStyle/>
          <a:p>
            <a:endParaRPr lang="en-IN" sz="3600"/>
          </a:p>
        </p:txBody>
      </p:sp>
      <p:sp>
        <p:nvSpPr>
          <p:cNvPr id="27" name="Text 24"/>
          <p:cNvSpPr/>
          <p:nvPr/>
        </p:nvSpPr>
        <p:spPr>
          <a:xfrm>
            <a:off x="5129784" y="2002536"/>
            <a:ext cx="185623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8-bit optimizer, ZeRO/FSDP</a:t>
            </a:r>
            <a:endParaRPr lang="en-US" sz="1200" dirty="0"/>
          </a:p>
        </p:txBody>
      </p:sp>
      <p:sp>
        <p:nvSpPr>
          <p:cNvPr id="28" name="Shape 25"/>
          <p:cNvSpPr/>
          <p:nvPr/>
        </p:nvSpPr>
        <p:spPr>
          <a:xfrm>
            <a:off x="411480" y="2487168"/>
            <a:ext cx="1417320" cy="530352"/>
          </a:xfrm>
          <a:prstGeom prst="rect">
            <a:avLst/>
          </a:prstGeom>
          <a:solidFill>
            <a:srgbClr val="FFFFFF"/>
          </a:solidFill>
          <a:ln w="12700">
            <a:solidFill>
              <a:srgbClr val="CFD4DA"/>
            </a:solidFill>
            <a:prstDash val="solid"/>
          </a:ln>
        </p:spPr>
        <p:txBody>
          <a:bodyPr/>
          <a:lstStyle/>
          <a:p>
            <a:endParaRPr lang="en-IN" sz="3600"/>
          </a:p>
        </p:txBody>
      </p:sp>
      <p:sp>
        <p:nvSpPr>
          <p:cNvPr id="29" name="Text 26"/>
          <p:cNvSpPr/>
          <p:nvPr/>
        </p:nvSpPr>
        <p:spPr>
          <a:xfrm>
            <a:off x="466344" y="2532888"/>
            <a:ext cx="13075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Gradients</a:t>
            </a:r>
            <a:endParaRPr lang="en-US" sz="1200" dirty="0"/>
          </a:p>
        </p:txBody>
      </p:sp>
      <p:sp>
        <p:nvSpPr>
          <p:cNvPr id="30" name="Shape 27"/>
          <p:cNvSpPr/>
          <p:nvPr/>
        </p:nvSpPr>
        <p:spPr>
          <a:xfrm>
            <a:off x="1828800" y="2487168"/>
            <a:ext cx="3246120" cy="530352"/>
          </a:xfrm>
          <a:prstGeom prst="rect">
            <a:avLst/>
          </a:prstGeom>
          <a:solidFill>
            <a:srgbClr val="FFFFFF"/>
          </a:solidFill>
          <a:ln w="12700">
            <a:solidFill>
              <a:srgbClr val="CFD4DA"/>
            </a:solidFill>
            <a:prstDash val="solid"/>
          </a:ln>
        </p:spPr>
        <p:txBody>
          <a:bodyPr/>
          <a:lstStyle/>
          <a:p>
            <a:endParaRPr lang="en-IN" sz="3600"/>
          </a:p>
        </p:txBody>
      </p:sp>
      <p:sp>
        <p:nvSpPr>
          <p:cNvPr id="31" name="Text 28"/>
          <p:cNvSpPr/>
          <p:nvPr/>
        </p:nvSpPr>
        <p:spPr>
          <a:xfrm>
            <a:off x="1883664" y="2532888"/>
            <a:ext cx="31363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Model size and gradient dtype</a:t>
            </a:r>
            <a:endParaRPr lang="en-US" sz="1200" dirty="0"/>
          </a:p>
        </p:txBody>
      </p:sp>
      <p:sp>
        <p:nvSpPr>
          <p:cNvPr id="32" name="Shape 29"/>
          <p:cNvSpPr/>
          <p:nvPr/>
        </p:nvSpPr>
        <p:spPr>
          <a:xfrm>
            <a:off x="5074920" y="2487168"/>
            <a:ext cx="1965960" cy="530352"/>
          </a:xfrm>
          <a:prstGeom prst="rect">
            <a:avLst/>
          </a:prstGeom>
          <a:solidFill>
            <a:srgbClr val="FFFFFF"/>
          </a:solidFill>
          <a:ln w="12700">
            <a:solidFill>
              <a:srgbClr val="CFD4DA"/>
            </a:solidFill>
            <a:prstDash val="solid"/>
          </a:ln>
        </p:spPr>
        <p:txBody>
          <a:bodyPr/>
          <a:lstStyle/>
          <a:p>
            <a:endParaRPr lang="en-IN" sz="3600"/>
          </a:p>
        </p:txBody>
      </p:sp>
      <p:sp>
        <p:nvSpPr>
          <p:cNvPr id="33" name="Text 30"/>
          <p:cNvSpPr/>
          <p:nvPr/>
        </p:nvSpPr>
        <p:spPr>
          <a:xfrm>
            <a:off x="5129784" y="2532888"/>
            <a:ext cx="185623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Sharding, step-in-backward (conditional)</a:t>
            </a:r>
            <a:endParaRPr lang="en-US" sz="1200" dirty="0"/>
          </a:p>
        </p:txBody>
      </p:sp>
      <p:sp>
        <p:nvSpPr>
          <p:cNvPr id="34" name="Shape 31"/>
          <p:cNvSpPr/>
          <p:nvPr/>
        </p:nvSpPr>
        <p:spPr>
          <a:xfrm>
            <a:off x="411480" y="3017520"/>
            <a:ext cx="1417320" cy="530352"/>
          </a:xfrm>
          <a:prstGeom prst="rect">
            <a:avLst/>
          </a:prstGeom>
          <a:solidFill>
            <a:srgbClr val="FFFFFF"/>
          </a:solidFill>
          <a:ln w="12700">
            <a:solidFill>
              <a:srgbClr val="CFD4DA"/>
            </a:solidFill>
            <a:prstDash val="solid"/>
          </a:ln>
        </p:spPr>
        <p:txBody>
          <a:bodyPr/>
          <a:lstStyle/>
          <a:p>
            <a:endParaRPr lang="en-IN" sz="3600"/>
          </a:p>
        </p:txBody>
      </p:sp>
      <p:sp>
        <p:nvSpPr>
          <p:cNvPr id="35" name="Text 32"/>
          <p:cNvSpPr/>
          <p:nvPr/>
        </p:nvSpPr>
        <p:spPr>
          <a:xfrm>
            <a:off x="466344" y="3063240"/>
            <a:ext cx="13075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Saved activations</a:t>
            </a:r>
            <a:endParaRPr lang="en-US" sz="1200" dirty="0"/>
          </a:p>
        </p:txBody>
      </p:sp>
      <p:sp>
        <p:nvSpPr>
          <p:cNvPr id="36" name="Shape 33"/>
          <p:cNvSpPr/>
          <p:nvPr/>
        </p:nvSpPr>
        <p:spPr>
          <a:xfrm>
            <a:off x="1828800" y="3017520"/>
            <a:ext cx="3246120" cy="530352"/>
          </a:xfrm>
          <a:prstGeom prst="rect">
            <a:avLst/>
          </a:prstGeom>
          <a:solidFill>
            <a:srgbClr val="FFFFFF"/>
          </a:solidFill>
          <a:ln w="12700">
            <a:solidFill>
              <a:srgbClr val="CFD4DA"/>
            </a:solidFill>
            <a:prstDash val="solid"/>
          </a:ln>
        </p:spPr>
        <p:txBody>
          <a:bodyPr/>
          <a:lstStyle/>
          <a:p>
            <a:endParaRPr lang="en-IN" sz="3600"/>
          </a:p>
        </p:txBody>
      </p:sp>
      <p:sp>
        <p:nvSpPr>
          <p:cNvPr id="37" name="Text 34"/>
          <p:cNvSpPr/>
          <p:nvPr/>
        </p:nvSpPr>
        <p:spPr>
          <a:xfrm>
            <a:off x="1883664" y="3063240"/>
            <a:ext cx="31363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Microbatch size, sequence length, hidden size, depth</a:t>
            </a:r>
            <a:endParaRPr lang="en-US" sz="1200" dirty="0"/>
          </a:p>
        </p:txBody>
      </p:sp>
      <p:sp>
        <p:nvSpPr>
          <p:cNvPr id="38" name="Shape 35"/>
          <p:cNvSpPr/>
          <p:nvPr/>
        </p:nvSpPr>
        <p:spPr>
          <a:xfrm>
            <a:off x="5074920" y="3017520"/>
            <a:ext cx="1965960" cy="530352"/>
          </a:xfrm>
          <a:prstGeom prst="rect">
            <a:avLst/>
          </a:prstGeom>
          <a:solidFill>
            <a:srgbClr val="FFFFFF"/>
          </a:solidFill>
          <a:ln w="12700">
            <a:solidFill>
              <a:srgbClr val="CFD4DA"/>
            </a:solidFill>
            <a:prstDash val="solid"/>
          </a:ln>
        </p:spPr>
        <p:txBody>
          <a:bodyPr/>
          <a:lstStyle/>
          <a:p>
            <a:endParaRPr lang="en-IN" sz="3600"/>
          </a:p>
        </p:txBody>
      </p:sp>
      <p:sp>
        <p:nvSpPr>
          <p:cNvPr id="39" name="Text 36"/>
          <p:cNvSpPr/>
          <p:nvPr/>
        </p:nvSpPr>
        <p:spPr>
          <a:xfrm>
            <a:off x="5129784" y="3063240"/>
            <a:ext cx="185623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Checkpointing, smaller microbatch, packing</a:t>
            </a:r>
            <a:endParaRPr lang="en-US" sz="1200" dirty="0"/>
          </a:p>
        </p:txBody>
      </p:sp>
      <p:sp>
        <p:nvSpPr>
          <p:cNvPr id="40" name="Shape 37"/>
          <p:cNvSpPr/>
          <p:nvPr/>
        </p:nvSpPr>
        <p:spPr>
          <a:xfrm>
            <a:off x="411480" y="3547872"/>
            <a:ext cx="1417320" cy="530352"/>
          </a:xfrm>
          <a:prstGeom prst="rect">
            <a:avLst/>
          </a:prstGeom>
          <a:solidFill>
            <a:srgbClr val="FFFFFF"/>
          </a:solidFill>
          <a:ln w="12700">
            <a:solidFill>
              <a:srgbClr val="CFD4DA"/>
            </a:solidFill>
            <a:prstDash val="solid"/>
          </a:ln>
        </p:spPr>
        <p:txBody>
          <a:bodyPr/>
          <a:lstStyle/>
          <a:p>
            <a:endParaRPr lang="en-IN" sz="3600"/>
          </a:p>
        </p:txBody>
      </p:sp>
      <p:sp>
        <p:nvSpPr>
          <p:cNvPr id="41" name="Text 38"/>
          <p:cNvSpPr/>
          <p:nvPr/>
        </p:nvSpPr>
        <p:spPr>
          <a:xfrm>
            <a:off x="466344" y="3593592"/>
            <a:ext cx="13075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Temporary buffers</a:t>
            </a:r>
            <a:endParaRPr lang="en-US" sz="1200" dirty="0"/>
          </a:p>
        </p:txBody>
      </p:sp>
      <p:sp>
        <p:nvSpPr>
          <p:cNvPr id="42" name="Shape 39"/>
          <p:cNvSpPr/>
          <p:nvPr/>
        </p:nvSpPr>
        <p:spPr>
          <a:xfrm>
            <a:off x="1828800" y="3547872"/>
            <a:ext cx="3246120" cy="530352"/>
          </a:xfrm>
          <a:prstGeom prst="rect">
            <a:avLst/>
          </a:prstGeom>
          <a:solidFill>
            <a:srgbClr val="FFFFFF"/>
          </a:solidFill>
          <a:ln w="12700">
            <a:solidFill>
              <a:srgbClr val="CFD4DA"/>
            </a:solidFill>
            <a:prstDash val="solid"/>
          </a:ln>
        </p:spPr>
        <p:txBody>
          <a:bodyPr/>
          <a:lstStyle/>
          <a:p>
            <a:endParaRPr lang="en-IN" sz="3600"/>
          </a:p>
        </p:txBody>
      </p:sp>
      <p:sp>
        <p:nvSpPr>
          <p:cNvPr id="43" name="Text 40"/>
          <p:cNvSpPr/>
          <p:nvPr/>
        </p:nvSpPr>
        <p:spPr>
          <a:xfrm>
            <a:off x="1883664" y="3593592"/>
            <a:ext cx="313639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Kernel implementations and fused ops</a:t>
            </a:r>
            <a:endParaRPr lang="en-US" sz="1200" dirty="0"/>
          </a:p>
        </p:txBody>
      </p:sp>
      <p:sp>
        <p:nvSpPr>
          <p:cNvPr id="44" name="Shape 41"/>
          <p:cNvSpPr/>
          <p:nvPr/>
        </p:nvSpPr>
        <p:spPr>
          <a:xfrm>
            <a:off x="5074920" y="3547872"/>
            <a:ext cx="1965960" cy="530352"/>
          </a:xfrm>
          <a:prstGeom prst="rect">
            <a:avLst/>
          </a:prstGeom>
          <a:solidFill>
            <a:srgbClr val="FFFFFF"/>
          </a:solidFill>
          <a:ln w="12700">
            <a:solidFill>
              <a:srgbClr val="CFD4DA"/>
            </a:solidFill>
            <a:prstDash val="solid"/>
          </a:ln>
        </p:spPr>
        <p:txBody>
          <a:bodyPr/>
          <a:lstStyle/>
          <a:p>
            <a:endParaRPr lang="en-IN" sz="3600"/>
          </a:p>
        </p:txBody>
      </p:sp>
      <p:sp>
        <p:nvSpPr>
          <p:cNvPr id="45" name="Text 42"/>
          <p:cNvSpPr/>
          <p:nvPr/>
        </p:nvSpPr>
        <p:spPr>
          <a:xfrm>
            <a:off x="5129784" y="3593592"/>
            <a:ext cx="1856232" cy="438912"/>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SDPA / fused kernels / compile</a:t>
            </a:r>
            <a:endParaRPr lang="en-US" sz="1200" dirty="0"/>
          </a:p>
        </p:txBody>
      </p:sp>
      <p:sp>
        <p:nvSpPr>
          <p:cNvPr id="46" name="Shape 43"/>
          <p:cNvSpPr/>
          <p:nvPr/>
        </p:nvSpPr>
        <p:spPr>
          <a:xfrm>
            <a:off x="7315200" y="1078992"/>
            <a:ext cx="4434840" cy="1508760"/>
          </a:xfrm>
          <a:prstGeom prst="roundRect">
            <a:avLst>
              <a:gd name="adj" fmla="val 8485"/>
            </a:avLst>
          </a:prstGeom>
          <a:solidFill>
            <a:srgbClr val="DFE8F5"/>
          </a:solidFill>
          <a:ln w="12700">
            <a:solidFill>
              <a:srgbClr val="CFD4DA"/>
            </a:solidFill>
            <a:prstDash val="solid"/>
          </a:ln>
        </p:spPr>
        <p:txBody>
          <a:bodyPr/>
          <a:lstStyle/>
          <a:p>
            <a:endParaRPr lang="en-IN" sz="2800"/>
          </a:p>
        </p:txBody>
      </p:sp>
      <p:sp>
        <p:nvSpPr>
          <p:cNvPr id="47" name="Text 44"/>
          <p:cNvSpPr/>
          <p:nvPr/>
        </p:nvSpPr>
        <p:spPr>
          <a:xfrm>
            <a:off x="7424928" y="1170432"/>
            <a:ext cx="421538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Rule of thumb to remember</a:t>
            </a:r>
            <a:endParaRPr lang="en-US" sz="1600" dirty="0"/>
          </a:p>
        </p:txBody>
      </p:sp>
      <p:sp>
        <p:nvSpPr>
          <p:cNvPr id="48" name="Text 45"/>
          <p:cNvSpPr/>
          <p:nvPr/>
        </p:nvSpPr>
        <p:spPr>
          <a:xfrm>
            <a:off x="7424928" y="1389888"/>
            <a:ext cx="4215384" cy="1124712"/>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The classic Hugging Face mixed-precision AdamW estimate is roughly 18 bytes per parameter plus activation memory. That estimate assumes full optimizer state and a duplicated weight representation;</a:t>
            </a:r>
          </a:p>
          <a:p>
            <a:pPr marL="0" indent="0">
              <a:buNone/>
            </a:pPr>
            <a:r>
              <a:rPr lang="en-US" sz="1100" dirty="0">
                <a:solidFill>
                  <a:srgbClr val="202020"/>
                </a:solidFill>
                <a:latin typeface="Arial" pitchFamily="34" charset="0"/>
                <a:ea typeface="Arial" pitchFamily="34" charset="-122"/>
                <a:cs typeface="Arial" pitchFamily="34" charset="-120"/>
              </a:rPr>
              <a:t> modern BF16, 8-bit, PEFT, or sharded stacks can differ significantly.</a:t>
            </a:r>
            <a:endParaRPr lang="en-US" sz="1100" dirty="0"/>
          </a:p>
        </p:txBody>
      </p:sp>
      <p:sp>
        <p:nvSpPr>
          <p:cNvPr id="49" name="Shape 46"/>
          <p:cNvSpPr/>
          <p:nvPr/>
        </p:nvSpPr>
        <p:spPr>
          <a:xfrm>
            <a:off x="7315200" y="2743200"/>
            <a:ext cx="1325880" cy="1344168"/>
          </a:xfrm>
          <a:prstGeom prst="roundRect">
            <a:avLst>
              <a:gd name="adj" fmla="val 12174"/>
            </a:avLst>
          </a:prstGeom>
          <a:solidFill>
            <a:srgbClr val="F5DFDD"/>
          </a:solidFill>
          <a:ln w="12700">
            <a:solidFill>
              <a:srgbClr val="CFD4DA"/>
            </a:solidFill>
            <a:prstDash val="solid"/>
          </a:ln>
        </p:spPr>
        <p:txBody>
          <a:bodyPr/>
          <a:lstStyle/>
          <a:p>
            <a:endParaRPr lang="en-IN" sz="2800"/>
          </a:p>
        </p:txBody>
      </p:sp>
      <p:sp>
        <p:nvSpPr>
          <p:cNvPr id="50" name="Text 47"/>
          <p:cNvSpPr/>
          <p:nvPr/>
        </p:nvSpPr>
        <p:spPr>
          <a:xfrm>
            <a:off x="7424928" y="2834640"/>
            <a:ext cx="110642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Activations</a:t>
            </a:r>
            <a:endParaRPr lang="en-US" sz="1600" dirty="0"/>
          </a:p>
        </p:txBody>
      </p:sp>
      <p:sp>
        <p:nvSpPr>
          <p:cNvPr id="51" name="Text 48"/>
          <p:cNvSpPr/>
          <p:nvPr/>
        </p:nvSpPr>
        <p:spPr>
          <a:xfrm>
            <a:off x="7424928" y="3054096"/>
            <a:ext cx="1106424" cy="667512"/>
          </a:xfrm>
          <a:prstGeom prst="rect">
            <a:avLst/>
          </a:prstGeom>
          <a:noFill/>
          <a:ln/>
        </p:spPr>
        <p:txBody>
          <a:bodyPr wrap="square" lIns="0" tIns="0" rIns="0" bIns="0" rtlCol="0" anchor="t">
            <a:noAutofit/>
          </a:bodyPr>
          <a:lstStyle/>
          <a:p>
            <a:pPr marL="0" indent="0">
              <a:buNone/>
            </a:pPr>
            <a:r>
              <a:rPr lang="en-US" sz="1100" dirty="0">
                <a:solidFill>
                  <a:srgbClr val="202020"/>
                </a:solidFill>
                <a:latin typeface="Arial" pitchFamily="34" charset="0"/>
                <a:ea typeface="Arial" pitchFamily="34" charset="-122"/>
                <a:cs typeface="Arial" pitchFamily="34" charset="-120"/>
              </a:rPr>
              <a:t>Usually the first thing to explode when sequence length or microbatch rises.</a:t>
            </a:r>
            <a:endParaRPr lang="en-US" sz="1100" dirty="0"/>
          </a:p>
        </p:txBody>
      </p:sp>
      <p:sp>
        <p:nvSpPr>
          <p:cNvPr id="52" name="Shape 49"/>
          <p:cNvSpPr/>
          <p:nvPr/>
        </p:nvSpPr>
        <p:spPr>
          <a:xfrm>
            <a:off x="8823960" y="2743200"/>
            <a:ext cx="1325880" cy="1563624"/>
          </a:xfrm>
          <a:prstGeom prst="roundRect">
            <a:avLst>
              <a:gd name="adj" fmla="val 12174"/>
            </a:avLst>
          </a:prstGeom>
          <a:solidFill>
            <a:srgbClr val="F3E9B7"/>
          </a:solidFill>
          <a:ln w="12700">
            <a:solidFill>
              <a:srgbClr val="CFD4DA"/>
            </a:solidFill>
            <a:prstDash val="solid"/>
          </a:ln>
        </p:spPr>
        <p:txBody>
          <a:bodyPr/>
          <a:lstStyle/>
          <a:p>
            <a:endParaRPr lang="en-IN" sz="2800"/>
          </a:p>
        </p:txBody>
      </p:sp>
      <p:sp>
        <p:nvSpPr>
          <p:cNvPr id="53" name="Text 50"/>
          <p:cNvSpPr/>
          <p:nvPr/>
        </p:nvSpPr>
        <p:spPr>
          <a:xfrm>
            <a:off x="8933688" y="2834640"/>
            <a:ext cx="110642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Optimizer</a:t>
            </a:r>
            <a:endParaRPr lang="en-US" sz="1600" dirty="0"/>
          </a:p>
        </p:txBody>
      </p:sp>
      <p:sp>
        <p:nvSpPr>
          <p:cNvPr id="54" name="Text 51"/>
          <p:cNvSpPr/>
          <p:nvPr/>
        </p:nvSpPr>
        <p:spPr>
          <a:xfrm>
            <a:off x="8933688" y="3054096"/>
            <a:ext cx="1106424" cy="667512"/>
          </a:xfrm>
          <a:prstGeom prst="rect">
            <a:avLst/>
          </a:prstGeom>
          <a:noFill/>
          <a:ln/>
        </p:spPr>
        <p:txBody>
          <a:bodyPr wrap="square" lIns="0" tIns="0" rIns="0" bIns="0" rtlCol="0" anchor="t">
            <a:noAutofit/>
          </a:bodyPr>
          <a:lstStyle/>
          <a:p>
            <a:pPr marL="0" indent="0">
              <a:buNone/>
            </a:pPr>
            <a:r>
              <a:rPr lang="en-US" sz="1100" dirty="0">
                <a:solidFill>
                  <a:srgbClr val="202020"/>
                </a:solidFill>
                <a:latin typeface="Arial" pitchFamily="34" charset="0"/>
                <a:ea typeface="Arial" pitchFamily="34" charset="-122"/>
                <a:cs typeface="Arial" pitchFamily="34" charset="-120"/>
              </a:rPr>
              <a:t>AdamW moments often dominate parameter-state memory on single-GPU runs.</a:t>
            </a:r>
            <a:endParaRPr lang="en-US" sz="1100" dirty="0"/>
          </a:p>
        </p:txBody>
      </p:sp>
      <p:sp>
        <p:nvSpPr>
          <p:cNvPr id="55" name="Shape 52"/>
          <p:cNvSpPr/>
          <p:nvPr/>
        </p:nvSpPr>
        <p:spPr>
          <a:xfrm>
            <a:off x="10332720" y="2743200"/>
            <a:ext cx="1417320" cy="1380744"/>
          </a:xfrm>
          <a:prstGeom prst="roundRect">
            <a:avLst>
              <a:gd name="adj" fmla="val 12174"/>
            </a:avLst>
          </a:prstGeom>
          <a:solidFill>
            <a:srgbClr val="F6E6D8"/>
          </a:solidFill>
          <a:ln w="12700">
            <a:solidFill>
              <a:srgbClr val="CFD4DA"/>
            </a:solidFill>
            <a:prstDash val="solid"/>
          </a:ln>
        </p:spPr>
        <p:txBody>
          <a:bodyPr/>
          <a:lstStyle/>
          <a:p>
            <a:endParaRPr lang="en-IN" sz="2800"/>
          </a:p>
        </p:txBody>
      </p:sp>
      <p:sp>
        <p:nvSpPr>
          <p:cNvPr id="56" name="Text 53"/>
          <p:cNvSpPr/>
          <p:nvPr/>
        </p:nvSpPr>
        <p:spPr>
          <a:xfrm>
            <a:off x="10442448" y="2834640"/>
            <a:ext cx="119786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Buffers</a:t>
            </a:r>
            <a:endParaRPr lang="en-US" sz="1600" dirty="0"/>
          </a:p>
        </p:txBody>
      </p:sp>
      <p:sp>
        <p:nvSpPr>
          <p:cNvPr id="57" name="Text 54"/>
          <p:cNvSpPr/>
          <p:nvPr/>
        </p:nvSpPr>
        <p:spPr>
          <a:xfrm>
            <a:off x="10442448" y="3054096"/>
            <a:ext cx="1197864" cy="667512"/>
          </a:xfrm>
          <a:prstGeom prst="rect">
            <a:avLst/>
          </a:prstGeom>
          <a:noFill/>
          <a:ln/>
        </p:spPr>
        <p:txBody>
          <a:bodyPr wrap="square" lIns="0" tIns="0" rIns="0" bIns="0" rtlCol="0" anchor="t">
            <a:noAutofit/>
          </a:bodyPr>
          <a:lstStyle/>
          <a:p>
            <a:pPr marL="0" indent="0">
              <a:buNone/>
            </a:pPr>
            <a:r>
              <a:rPr lang="en-US" sz="1100" dirty="0">
                <a:solidFill>
                  <a:srgbClr val="202020"/>
                </a:solidFill>
                <a:latin typeface="Arial" pitchFamily="34" charset="0"/>
                <a:ea typeface="Arial" pitchFamily="34" charset="-122"/>
                <a:cs typeface="Arial" pitchFamily="34" charset="-120"/>
              </a:rPr>
              <a:t>Kernel choice can create hidden peaks even when the model “should fit”.</a:t>
            </a:r>
            <a:endParaRPr lang="en-US" sz="1100" dirty="0"/>
          </a:p>
        </p:txBody>
      </p:sp>
      <p:sp>
        <p:nvSpPr>
          <p:cNvPr id="58" name="Shape 55"/>
          <p:cNvSpPr/>
          <p:nvPr/>
        </p:nvSpPr>
        <p:spPr>
          <a:xfrm>
            <a:off x="7315200" y="5257800"/>
            <a:ext cx="4434840" cy="932688"/>
          </a:xfrm>
          <a:prstGeom prst="roundRect">
            <a:avLst>
              <a:gd name="adj" fmla="val 13725"/>
            </a:avLst>
          </a:prstGeom>
          <a:solidFill>
            <a:srgbClr val="FFFFFF"/>
          </a:solidFill>
          <a:ln w="12700">
            <a:solidFill>
              <a:srgbClr val="CFD4DA"/>
            </a:solidFill>
            <a:prstDash val="solid"/>
          </a:ln>
        </p:spPr>
        <p:txBody>
          <a:bodyPr/>
          <a:lstStyle/>
          <a:p>
            <a:endParaRPr lang="en-IN" sz="2800"/>
          </a:p>
        </p:txBody>
      </p:sp>
      <p:sp>
        <p:nvSpPr>
          <p:cNvPr id="59" name="Text 56"/>
          <p:cNvSpPr/>
          <p:nvPr/>
        </p:nvSpPr>
        <p:spPr>
          <a:xfrm>
            <a:off x="7424928" y="5367528"/>
            <a:ext cx="4215384" cy="768096"/>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Important correction to student intuition: an OOM is rarely caused by “model weights alone”. Long contexts, activations, optimizer states, and temporary attention workspaces are usually the real culprits.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5</a:t>
            </a:r>
            <a:endParaRPr lang="en-US" sz="700" dirty="0"/>
          </a:p>
        </p:txBody>
      </p:sp>
      <p:sp>
        <p:nvSpPr>
          <p:cNvPr id="9" name="Text 6"/>
          <p:cNvSpPr/>
          <p:nvPr/>
        </p:nvSpPr>
        <p:spPr>
          <a:xfrm>
            <a:off x="256032" y="182880"/>
            <a:ext cx="10202418" cy="484632"/>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Gradient accumulation: increase effective batch size without increasing microbatch memory</a:t>
            </a:r>
            <a:endParaRPr lang="en-US" sz="1750" dirty="0"/>
          </a:p>
        </p:txBody>
      </p:sp>
      <p:sp>
        <p:nvSpPr>
          <p:cNvPr id="10" name="Shape 7"/>
          <p:cNvSpPr/>
          <p:nvPr/>
        </p:nvSpPr>
        <p:spPr>
          <a:xfrm>
            <a:off x="2139696" y="2231136"/>
            <a:ext cx="128016" cy="274320"/>
          </a:xfrm>
          <a:prstGeom prst="chevron">
            <a:avLst/>
          </a:prstGeom>
          <a:solidFill>
            <a:srgbClr val="E8EDF5"/>
          </a:solidFill>
          <a:ln w="12700">
            <a:solidFill>
              <a:srgbClr val="9AA8BA"/>
            </a:solidFill>
            <a:prstDash val="solid"/>
          </a:ln>
        </p:spPr>
        <p:txBody>
          <a:bodyPr/>
          <a:lstStyle/>
          <a:p>
            <a:endParaRPr lang="en-IN" sz="3200"/>
          </a:p>
        </p:txBody>
      </p:sp>
      <p:sp>
        <p:nvSpPr>
          <p:cNvPr id="11" name="Shape 8"/>
          <p:cNvSpPr/>
          <p:nvPr/>
        </p:nvSpPr>
        <p:spPr>
          <a:xfrm>
            <a:off x="3803904" y="2231136"/>
            <a:ext cx="128016" cy="274320"/>
          </a:xfrm>
          <a:prstGeom prst="chevron">
            <a:avLst/>
          </a:prstGeom>
          <a:solidFill>
            <a:srgbClr val="E8EDF5"/>
          </a:solidFill>
          <a:ln w="12700">
            <a:solidFill>
              <a:srgbClr val="9AA8BA"/>
            </a:solidFill>
            <a:prstDash val="solid"/>
          </a:ln>
        </p:spPr>
        <p:txBody>
          <a:bodyPr/>
          <a:lstStyle/>
          <a:p>
            <a:endParaRPr lang="en-IN" sz="3200"/>
          </a:p>
        </p:txBody>
      </p:sp>
      <p:sp>
        <p:nvSpPr>
          <p:cNvPr id="12" name="Shape 9"/>
          <p:cNvSpPr/>
          <p:nvPr/>
        </p:nvSpPr>
        <p:spPr>
          <a:xfrm>
            <a:off x="5468112" y="2231136"/>
            <a:ext cx="128016" cy="274320"/>
          </a:xfrm>
          <a:prstGeom prst="chevron">
            <a:avLst/>
          </a:prstGeom>
          <a:solidFill>
            <a:srgbClr val="E8EDF5"/>
          </a:solidFill>
          <a:ln w="12700">
            <a:solidFill>
              <a:srgbClr val="9AA8BA"/>
            </a:solidFill>
            <a:prstDash val="solid"/>
          </a:ln>
        </p:spPr>
        <p:txBody>
          <a:bodyPr/>
          <a:lstStyle/>
          <a:p>
            <a:endParaRPr lang="en-IN" sz="3200"/>
          </a:p>
        </p:txBody>
      </p:sp>
      <p:sp>
        <p:nvSpPr>
          <p:cNvPr id="13" name="Shape 10"/>
          <p:cNvSpPr/>
          <p:nvPr/>
        </p:nvSpPr>
        <p:spPr>
          <a:xfrm>
            <a:off x="640080" y="1828800"/>
            <a:ext cx="1463040" cy="1097280"/>
          </a:xfrm>
          <a:prstGeom prst="roundRect">
            <a:avLst>
              <a:gd name="adj" fmla="val 11667"/>
            </a:avLst>
          </a:prstGeom>
          <a:solidFill>
            <a:srgbClr val="FFFFFF"/>
          </a:solidFill>
          <a:ln w="12700">
            <a:solidFill>
              <a:srgbClr val="CFD4DA"/>
            </a:solidFill>
            <a:prstDash val="solid"/>
          </a:ln>
        </p:spPr>
        <p:txBody>
          <a:bodyPr/>
          <a:lstStyle/>
          <a:p>
            <a:endParaRPr lang="en-IN" sz="3200"/>
          </a:p>
        </p:txBody>
      </p:sp>
      <p:sp>
        <p:nvSpPr>
          <p:cNvPr id="14" name="Text 11"/>
          <p:cNvSpPr/>
          <p:nvPr/>
        </p:nvSpPr>
        <p:spPr>
          <a:xfrm>
            <a:off x="749808" y="1920240"/>
            <a:ext cx="1243584" cy="201168"/>
          </a:xfrm>
          <a:prstGeom prst="rect">
            <a:avLst/>
          </a:prstGeom>
          <a:noFill/>
          <a:ln/>
        </p:spPr>
        <p:txBody>
          <a:bodyPr wrap="square" lIns="0" tIns="0" rIns="0" bIns="0" rtlCol="0" anchor="ctr"/>
          <a:lstStyle/>
          <a:p>
            <a:pPr marL="0" indent="0">
              <a:buNone/>
            </a:pPr>
            <a:r>
              <a:rPr lang="en-US" sz="1400" b="1" dirty="0">
                <a:solidFill>
                  <a:srgbClr val="202020"/>
                </a:solidFill>
                <a:latin typeface="Arial" pitchFamily="34" charset="0"/>
                <a:ea typeface="Arial" pitchFamily="34" charset="-122"/>
                <a:cs typeface="Arial" pitchFamily="34" charset="-120"/>
              </a:rPr>
              <a:t>Microbatch 1</a:t>
            </a:r>
            <a:endParaRPr lang="en-US" sz="1400" dirty="0"/>
          </a:p>
        </p:txBody>
      </p:sp>
      <p:sp>
        <p:nvSpPr>
          <p:cNvPr id="15" name="Text 12"/>
          <p:cNvSpPr/>
          <p:nvPr/>
        </p:nvSpPr>
        <p:spPr>
          <a:xfrm>
            <a:off x="749808" y="2139696"/>
            <a:ext cx="1243584" cy="713232"/>
          </a:xfrm>
          <a:prstGeom prst="rect">
            <a:avLst/>
          </a:prstGeom>
          <a:noFill/>
          <a:ln/>
        </p:spPr>
        <p:txBody>
          <a:bodyPr wrap="square" lIns="0" tIns="0" rIns="0" bIns="0" rtlCol="0" anchor="t">
            <a:normAutofit lnSpcReduction="10000"/>
          </a:bodyPr>
          <a:lstStyle/>
          <a:p>
            <a:pPr marL="0" indent="0">
              <a:buNone/>
            </a:pPr>
            <a:r>
              <a:rPr lang="en-US" sz="1200" dirty="0">
                <a:solidFill>
                  <a:srgbClr val="202020"/>
                </a:solidFill>
                <a:latin typeface="Arial" pitchFamily="34" charset="0"/>
                <a:ea typeface="Arial" pitchFamily="34" charset="-122"/>
                <a:cs typeface="Arial" pitchFamily="34" charset="-120"/>
              </a:rPr>
              <a:t>forward + backward</a:t>
            </a:r>
            <a:endParaRPr lang="en-US" sz="1200" dirty="0"/>
          </a:p>
          <a:p>
            <a:pPr marL="0" indent="0">
              <a:buNone/>
            </a:pPr>
            <a:r>
              <a:rPr lang="en-US" sz="1200" dirty="0">
                <a:solidFill>
                  <a:srgbClr val="202020"/>
                </a:solidFill>
                <a:latin typeface="Arial" pitchFamily="34" charset="0"/>
                <a:ea typeface="Arial" pitchFamily="34" charset="-122"/>
                <a:cs typeface="Arial" pitchFamily="34" charset="-120"/>
              </a:rPr>
              <a:t>accumulate gradients</a:t>
            </a:r>
            <a:endParaRPr lang="en-US" sz="1200" dirty="0"/>
          </a:p>
        </p:txBody>
      </p:sp>
      <p:sp>
        <p:nvSpPr>
          <p:cNvPr id="16" name="Shape 13"/>
          <p:cNvSpPr/>
          <p:nvPr/>
        </p:nvSpPr>
        <p:spPr>
          <a:xfrm>
            <a:off x="2304288" y="1828800"/>
            <a:ext cx="1463040" cy="1097280"/>
          </a:xfrm>
          <a:prstGeom prst="roundRect">
            <a:avLst>
              <a:gd name="adj" fmla="val 11667"/>
            </a:avLst>
          </a:prstGeom>
          <a:solidFill>
            <a:srgbClr val="FFFFFF"/>
          </a:solidFill>
          <a:ln w="12700">
            <a:solidFill>
              <a:srgbClr val="CFD4DA"/>
            </a:solidFill>
            <a:prstDash val="solid"/>
          </a:ln>
        </p:spPr>
        <p:txBody>
          <a:bodyPr/>
          <a:lstStyle/>
          <a:p>
            <a:endParaRPr lang="en-IN" sz="3200"/>
          </a:p>
        </p:txBody>
      </p:sp>
      <p:sp>
        <p:nvSpPr>
          <p:cNvPr id="17" name="Text 14"/>
          <p:cNvSpPr/>
          <p:nvPr/>
        </p:nvSpPr>
        <p:spPr>
          <a:xfrm>
            <a:off x="2414016" y="1920240"/>
            <a:ext cx="1243584" cy="201168"/>
          </a:xfrm>
          <a:prstGeom prst="rect">
            <a:avLst/>
          </a:prstGeom>
          <a:noFill/>
          <a:ln/>
        </p:spPr>
        <p:txBody>
          <a:bodyPr wrap="square" lIns="0" tIns="0" rIns="0" bIns="0" rtlCol="0" anchor="ctr"/>
          <a:lstStyle/>
          <a:p>
            <a:pPr marL="0" indent="0">
              <a:buNone/>
            </a:pPr>
            <a:r>
              <a:rPr lang="en-US" sz="1400" b="1" dirty="0">
                <a:solidFill>
                  <a:srgbClr val="202020"/>
                </a:solidFill>
                <a:latin typeface="Arial" pitchFamily="34" charset="0"/>
                <a:ea typeface="Arial" pitchFamily="34" charset="-122"/>
                <a:cs typeface="Arial" pitchFamily="34" charset="-120"/>
              </a:rPr>
              <a:t>Microbatch 2</a:t>
            </a:r>
            <a:endParaRPr lang="en-US" sz="1400" dirty="0"/>
          </a:p>
        </p:txBody>
      </p:sp>
      <p:sp>
        <p:nvSpPr>
          <p:cNvPr id="18" name="Text 15"/>
          <p:cNvSpPr/>
          <p:nvPr/>
        </p:nvSpPr>
        <p:spPr>
          <a:xfrm>
            <a:off x="2414016" y="2139696"/>
            <a:ext cx="1243584" cy="713232"/>
          </a:xfrm>
          <a:prstGeom prst="rect">
            <a:avLst/>
          </a:prstGeom>
          <a:noFill/>
          <a:ln/>
        </p:spPr>
        <p:txBody>
          <a:bodyPr wrap="square" lIns="0" tIns="0" rIns="0" bIns="0" rtlCol="0" anchor="t">
            <a:normAutofit lnSpcReduction="10000"/>
          </a:bodyPr>
          <a:lstStyle/>
          <a:p>
            <a:pPr marL="0" indent="0">
              <a:buNone/>
            </a:pPr>
            <a:r>
              <a:rPr lang="en-US" sz="1200" dirty="0">
                <a:solidFill>
                  <a:srgbClr val="202020"/>
                </a:solidFill>
                <a:latin typeface="Arial" pitchFamily="34" charset="0"/>
                <a:ea typeface="Arial" pitchFamily="34" charset="-122"/>
                <a:cs typeface="Arial" pitchFamily="34" charset="-120"/>
              </a:rPr>
              <a:t>forward + backward</a:t>
            </a:r>
            <a:endParaRPr lang="en-US" sz="1200" dirty="0"/>
          </a:p>
          <a:p>
            <a:pPr marL="0" indent="0">
              <a:buNone/>
            </a:pPr>
            <a:r>
              <a:rPr lang="en-US" sz="1200" dirty="0">
                <a:solidFill>
                  <a:srgbClr val="202020"/>
                </a:solidFill>
                <a:latin typeface="Arial" pitchFamily="34" charset="0"/>
                <a:ea typeface="Arial" pitchFamily="34" charset="-122"/>
                <a:cs typeface="Arial" pitchFamily="34" charset="-120"/>
              </a:rPr>
              <a:t>no optimizer step yet</a:t>
            </a:r>
            <a:endParaRPr lang="en-US" sz="1200" dirty="0"/>
          </a:p>
        </p:txBody>
      </p:sp>
      <p:sp>
        <p:nvSpPr>
          <p:cNvPr id="19" name="Shape 16"/>
          <p:cNvSpPr/>
          <p:nvPr/>
        </p:nvSpPr>
        <p:spPr>
          <a:xfrm>
            <a:off x="3968496" y="1828800"/>
            <a:ext cx="1463040" cy="1097280"/>
          </a:xfrm>
          <a:prstGeom prst="roundRect">
            <a:avLst>
              <a:gd name="adj" fmla="val 11667"/>
            </a:avLst>
          </a:prstGeom>
          <a:solidFill>
            <a:srgbClr val="FFFFFF"/>
          </a:solidFill>
          <a:ln w="12700">
            <a:solidFill>
              <a:srgbClr val="CFD4DA"/>
            </a:solidFill>
            <a:prstDash val="solid"/>
          </a:ln>
        </p:spPr>
        <p:txBody>
          <a:bodyPr/>
          <a:lstStyle/>
          <a:p>
            <a:endParaRPr lang="en-IN" sz="3200"/>
          </a:p>
        </p:txBody>
      </p:sp>
      <p:sp>
        <p:nvSpPr>
          <p:cNvPr id="20" name="Text 17"/>
          <p:cNvSpPr/>
          <p:nvPr/>
        </p:nvSpPr>
        <p:spPr>
          <a:xfrm>
            <a:off x="4078224" y="1920240"/>
            <a:ext cx="1243584" cy="201168"/>
          </a:xfrm>
          <a:prstGeom prst="rect">
            <a:avLst/>
          </a:prstGeom>
          <a:noFill/>
          <a:ln/>
        </p:spPr>
        <p:txBody>
          <a:bodyPr wrap="square" lIns="0" tIns="0" rIns="0" bIns="0" rtlCol="0" anchor="ctr"/>
          <a:lstStyle/>
          <a:p>
            <a:pPr marL="0" indent="0">
              <a:buNone/>
            </a:pPr>
            <a:r>
              <a:rPr lang="en-US" sz="1400" b="1" dirty="0">
                <a:solidFill>
                  <a:srgbClr val="202020"/>
                </a:solidFill>
                <a:latin typeface="Arial" pitchFamily="34" charset="0"/>
                <a:ea typeface="Arial" pitchFamily="34" charset="-122"/>
                <a:cs typeface="Arial" pitchFamily="34" charset="-120"/>
              </a:rPr>
              <a:t>Microbatch 3</a:t>
            </a:r>
            <a:endParaRPr lang="en-US" sz="1400" dirty="0"/>
          </a:p>
        </p:txBody>
      </p:sp>
      <p:sp>
        <p:nvSpPr>
          <p:cNvPr id="21" name="Text 18"/>
          <p:cNvSpPr/>
          <p:nvPr/>
        </p:nvSpPr>
        <p:spPr>
          <a:xfrm>
            <a:off x="4078224" y="2139696"/>
            <a:ext cx="1243584" cy="713232"/>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same parameter copy</a:t>
            </a:r>
            <a:endParaRPr lang="en-US" sz="1200" dirty="0"/>
          </a:p>
          <a:p>
            <a:pPr marL="0" indent="0">
              <a:buNone/>
            </a:pPr>
            <a:r>
              <a:rPr lang="en-US" sz="1200" dirty="0">
                <a:solidFill>
                  <a:srgbClr val="202020"/>
                </a:solidFill>
                <a:latin typeface="Arial" pitchFamily="34" charset="0"/>
                <a:ea typeface="Arial" pitchFamily="34" charset="-122"/>
                <a:cs typeface="Arial" pitchFamily="34" charset="-120"/>
              </a:rPr>
              <a:t>still accumulating</a:t>
            </a:r>
            <a:endParaRPr lang="en-US" sz="1200" dirty="0"/>
          </a:p>
        </p:txBody>
      </p:sp>
      <p:sp>
        <p:nvSpPr>
          <p:cNvPr id="22" name="Shape 19"/>
          <p:cNvSpPr/>
          <p:nvPr/>
        </p:nvSpPr>
        <p:spPr>
          <a:xfrm>
            <a:off x="5632704" y="1828800"/>
            <a:ext cx="1463040" cy="1097280"/>
          </a:xfrm>
          <a:prstGeom prst="roundRect">
            <a:avLst>
              <a:gd name="adj" fmla="val 11667"/>
            </a:avLst>
          </a:prstGeom>
          <a:solidFill>
            <a:srgbClr val="E2F0E6"/>
          </a:solidFill>
          <a:ln w="12700">
            <a:solidFill>
              <a:srgbClr val="CFD4DA"/>
            </a:solidFill>
            <a:prstDash val="solid"/>
          </a:ln>
        </p:spPr>
        <p:txBody>
          <a:bodyPr/>
          <a:lstStyle/>
          <a:p>
            <a:endParaRPr lang="en-IN" sz="3200"/>
          </a:p>
        </p:txBody>
      </p:sp>
      <p:sp>
        <p:nvSpPr>
          <p:cNvPr id="23" name="Text 20"/>
          <p:cNvSpPr/>
          <p:nvPr/>
        </p:nvSpPr>
        <p:spPr>
          <a:xfrm>
            <a:off x="5742432" y="1920240"/>
            <a:ext cx="1243584" cy="201168"/>
          </a:xfrm>
          <a:prstGeom prst="rect">
            <a:avLst/>
          </a:prstGeom>
          <a:noFill/>
          <a:ln/>
        </p:spPr>
        <p:txBody>
          <a:bodyPr wrap="square" lIns="0" tIns="0" rIns="0" bIns="0" rtlCol="0" anchor="ctr"/>
          <a:lstStyle/>
          <a:p>
            <a:pPr marL="0" indent="0">
              <a:buNone/>
            </a:pPr>
            <a:r>
              <a:rPr lang="en-US" sz="1400" b="1" dirty="0">
                <a:solidFill>
                  <a:srgbClr val="202020"/>
                </a:solidFill>
                <a:latin typeface="Arial" pitchFamily="34" charset="0"/>
                <a:ea typeface="Arial" pitchFamily="34" charset="-122"/>
                <a:cs typeface="Arial" pitchFamily="34" charset="-120"/>
              </a:rPr>
              <a:t>Microbatch 4</a:t>
            </a:r>
            <a:endParaRPr lang="en-US" sz="1400" dirty="0"/>
          </a:p>
        </p:txBody>
      </p:sp>
      <p:sp>
        <p:nvSpPr>
          <p:cNvPr id="24" name="Text 21"/>
          <p:cNvSpPr/>
          <p:nvPr/>
        </p:nvSpPr>
        <p:spPr>
          <a:xfrm>
            <a:off x="5742432" y="2139696"/>
            <a:ext cx="1243584" cy="713232"/>
          </a:xfrm>
          <a:prstGeom prst="rect">
            <a:avLst/>
          </a:prstGeom>
          <a:noFill/>
          <a:ln/>
        </p:spPr>
        <p:txBody>
          <a:bodyPr wrap="square" lIns="0" tIns="0" rIns="0" bIns="0" rtlCol="0" anchor="t">
            <a:normAutofit lnSpcReduction="10000"/>
          </a:bodyPr>
          <a:lstStyle/>
          <a:p>
            <a:pPr marL="0" indent="0">
              <a:buNone/>
            </a:pPr>
            <a:r>
              <a:rPr lang="en-US" sz="1200" dirty="0">
                <a:solidFill>
                  <a:srgbClr val="202020"/>
                </a:solidFill>
                <a:latin typeface="Arial" pitchFamily="34" charset="0"/>
                <a:ea typeface="Arial" pitchFamily="34" charset="-122"/>
                <a:cs typeface="Arial" pitchFamily="34" charset="-120"/>
              </a:rPr>
              <a:t>unscale/clip if needed</a:t>
            </a:r>
            <a:endParaRPr lang="en-US" sz="1200" dirty="0"/>
          </a:p>
          <a:p>
            <a:pPr marL="0" indent="0">
              <a:buNone/>
            </a:pPr>
            <a:r>
              <a:rPr lang="en-US" sz="1200" dirty="0">
                <a:solidFill>
                  <a:srgbClr val="202020"/>
                </a:solidFill>
                <a:latin typeface="Arial" pitchFamily="34" charset="0"/>
                <a:ea typeface="Arial" pitchFamily="34" charset="-122"/>
                <a:cs typeface="Arial" pitchFamily="34" charset="-120"/>
              </a:rPr>
              <a:t>then optimizer.step()</a:t>
            </a:r>
            <a:endParaRPr lang="en-US" sz="1200" dirty="0"/>
          </a:p>
        </p:txBody>
      </p:sp>
      <p:sp>
        <p:nvSpPr>
          <p:cNvPr id="25" name="Text 22"/>
          <p:cNvSpPr/>
          <p:nvPr/>
        </p:nvSpPr>
        <p:spPr>
          <a:xfrm>
            <a:off x="566928" y="3246120"/>
            <a:ext cx="6766560" cy="301752"/>
          </a:xfrm>
          <a:prstGeom prst="rect">
            <a:avLst/>
          </a:prstGeom>
          <a:noFill/>
          <a:ln/>
        </p:spPr>
        <p:txBody>
          <a:bodyPr wrap="square" lIns="0" tIns="0" rIns="0" bIns="0" rtlCol="0" anchor="ctr"/>
          <a:lstStyle/>
          <a:p>
            <a:pPr marL="0" indent="0">
              <a:buNone/>
            </a:pPr>
            <a:r>
              <a:rPr lang="en-US" sz="1400" b="1" dirty="0">
                <a:solidFill>
                  <a:srgbClr val="14386B"/>
                </a:solidFill>
                <a:latin typeface="Arial" pitchFamily="34" charset="0"/>
                <a:ea typeface="Arial" pitchFamily="34" charset="-122"/>
                <a:cs typeface="Arial" pitchFamily="34" charset="-120"/>
              </a:rPr>
              <a:t>Effective batch = microbatch × accumulation steps × data-parallel world size</a:t>
            </a:r>
            <a:endParaRPr lang="en-US" sz="1400" dirty="0"/>
          </a:p>
        </p:txBody>
      </p:sp>
      <p:pic>
        <p:nvPicPr>
          <p:cNvPr id="2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3000" y="3611880"/>
            <a:ext cx="3383280" cy="475488"/>
          </a:xfrm>
          <a:prstGeom prst="rect">
            <a:avLst/>
          </a:prstGeom>
        </p:spPr>
      </p:pic>
      <p:sp>
        <p:nvSpPr>
          <p:cNvPr id="27" name="Shape 23"/>
          <p:cNvSpPr/>
          <p:nvPr/>
        </p:nvSpPr>
        <p:spPr>
          <a:xfrm>
            <a:off x="7635240" y="1417320"/>
            <a:ext cx="3794760" cy="1234440"/>
          </a:xfrm>
          <a:prstGeom prst="roundRect">
            <a:avLst>
              <a:gd name="adj" fmla="val 10370"/>
            </a:avLst>
          </a:prstGeom>
          <a:solidFill>
            <a:srgbClr val="DFE8F5"/>
          </a:solidFill>
          <a:ln w="12700">
            <a:solidFill>
              <a:srgbClr val="CFD4DA"/>
            </a:solidFill>
            <a:prstDash val="solid"/>
          </a:ln>
        </p:spPr>
        <p:txBody>
          <a:bodyPr/>
          <a:lstStyle/>
          <a:p>
            <a:endParaRPr lang="en-IN" sz="2800"/>
          </a:p>
        </p:txBody>
      </p:sp>
      <p:sp>
        <p:nvSpPr>
          <p:cNvPr id="28" name="Text 24"/>
          <p:cNvSpPr/>
          <p:nvPr/>
        </p:nvSpPr>
        <p:spPr>
          <a:xfrm>
            <a:off x="7744968" y="1508760"/>
            <a:ext cx="357530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Concrete example</a:t>
            </a:r>
            <a:endParaRPr lang="en-US" sz="1600" dirty="0"/>
          </a:p>
        </p:txBody>
      </p:sp>
      <p:sp>
        <p:nvSpPr>
          <p:cNvPr id="29" name="Text 25"/>
          <p:cNvSpPr/>
          <p:nvPr/>
        </p:nvSpPr>
        <p:spPr>
          <a:xfrm>
            <a:off x="7744968" y="1728216"/>
            <a:ext cx="3575304" cy="850392"/>
          </a:xfrm>
          <a:prstGeom prst="rect">
            <a:avLst/>
          </a:prstGeom>
          <a:noFill/>
          <a:ln/>
        </p:spPr>
        <p:txBody>
          <a:bodyPr wrap="square" lIns="0" tIns="0" rIns="0" bIns="0" rtlCol="0" anchor="t">
            <a:normAutofit lnSpcReduction="10000"/>
          </a:bodyPr>
          <a:lstStyle/>
          <a:p>
            <a:pPr marL="0" indent="0">
              <a:buNone/>
            </a:pPr>
            <a:r>
              <a:rPr lang="en-US" sz="1400" dirty="0">
                <a:solidFill>
                  <a:srgbClr val="202020"/>
                </a:solidFill>
                <a:latin typeface="Arial" pitchFamily="34" charset="0"/>
                <a:ea typeface="Arial" pitchFamily="34" charset="-122"/>
                <a:cs typeface="Arial" pitchFamily="34" charset="-120"/>
              </a:rPr>
              <a:t>If a T4 fits only 2 sequences per GPU, but you accumulate for 8 steps across 4 GPUs, the effective batch is 2 × 8 × 4 = 64 sequences.</a:t>
            </a:r>
            <a:endParaRPr lang="en-US" sz="1400" dirty="0"/>
          </a:p>
        </p:txBody>
      </p:sp>
      <p:sp>
        <p:nvSpPr>
          <p:cNvPr id="30" name="Shape 26"/>
          <p:cNvSpPr/>
          <p:nvPr/>
        </p:nvSpPr>
        <p:spPr>
          <a:xfrm>
            <a:off x="7635240" y="2788920"/>
            <a:ext cx="1783080" cy="1600200"/>
          </a:xfrm>
          <a:prstGeom prst="roundRect">
            <a:avLst>
              <a:gd name="adj" fmla="val 8000"/>
            </a:avLst>
          </a:prstGeom>
          <a:solidFill>
            <a:srgbClr val="F5DFDD"/>
          </a:solidFill>
          <a:ln w="12700">
            <a:solidFill>
              <a:srgbClr val="CFD4DA"/>
            </a:solidFill>
            <a:prstDash val="solid"/>
          </a:ln>
        </p:spPr>
        <p:txBody>
          <a:bodyPr/>
          <a:lstStyle/>
          <a:p>
            <a:endParaRPr lang="en-IN" sz="2800"/>
          </a:p>
        </p:txBody>
      </p:sp>
      <p:sp>
        <p:nvSpPr>
          <p:cNvPr id="31" name="Text 27"/>
          <p:cNvSpPr/>
          <p:nvPr/>
        </p:nvSpPr>
        <p:spPr>
          <a:xfrm>
            <a:off x="7744968" y="2880360"/>
            <a:ext cx="1563624" cy="201168"/>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What it solves</a:t>
            </a:r>
            <a:endParaRPr lang="en-US" sz="1600" dirty="0"/>
          </a:p>
        </p:txBody>
      </p:sp>
      <p:sp>
        <p:nvSpPr>
          <p:cNvPr id="32" name="Text 28"/>
          <p:cNvSpPr/>
          <p:nvPr/>
        </p:nvSpPr>
        <p:spPr>
          <a:xfrm>
            <a:off x="7744968" y="3099816"/>
            <a:ext cx="1792224" cy="1216152"/>
          </a:xfrm>
          <a:prstGeom prst="rect">
            <a:avLst/>
          </a:prstGeom>
          <a:noFill/>
          <a:ln/>
        </p:spPr>
        <p:txBody>
          <a:bodyPr wrap="square" lIns="0" tIns="0" rIns="0" bIns="0" rtlCol="0" anchor="t">
            <a:noAutofit/>
          </a:bodyPr>
          <a:lstStyle/>
          <a:p>
            <a:pPr marL="0" indent="0">
              <a:buNone/>
            </a:pPr>
            <a:r>
              <a:rPr lang="en-US" sz="1100" dirty="0">
                <a:solidFill>
                  <a:srgbClr val="202020"/>
                </a:solidFill>
                <a:latin typeface="Arial" pitchFamily="34" charset="0"/>
                <a:ea typeface="Arial" pitchFamily="34" charset="-122"/>
                <a:cs typeface="Arial" pitchFamily="34" charset="-120"/>
              </a:rPr>
              <a:t>• lets activations fit by keeping the microbatch small</a:t>
            </a:r>
            <a:endParaRPr lang="en-US" sz="1100" dirty="0"/>
          </a:p>
          <a:p>
            <a:pPr marL="0" indent="0">
              <a:buNone/>
            </a:pPr>
            <a:r>
              <a:rPr lang="en-US" sz="1100" dirty="0">
                <a:solidFill>
                  <a:srgbClr val="202020"/>
                </a:solidFill>
                <a:latin typeface="Arial" pitchFamily="34" charset="0"/>
                <a:ea typeface="Arial" pitchFamily="34" charset="-122"/>
                <a:cs typeface="Arial" pitchFamily="34" charset="-120"/>
              </a:rPr>
              <a:t>• preserves a larger effective batch for optimization</a:t>
            </a:r>
            <a:endParaRPr lang="en-US" sz="1100" dirty="0"/>
          </a:p>
          <a:p>
            <a:pPr marL="0" indent="0">
              <a:buNone/>
            </a:pPr>
            <a:r>
              <a:rPr lang="en-US" sz="1100" dirty="0">
                <a:solidFill>
                  <a:srgbClr val="202020"/>
                </a:solidFill>
                <a:latin typeface="Arial" pitchFamily="34" charset="0"/>
                <a:ea typeface="Arial" pitchFamily="34" charset="-122"/>
                <a:cs typeface="Arial" pitchFamily="34" charset="-120"/>
              </a:rPr>
              <a:t>• useful on memory-constrained GPUs</a:t>
            </a:r>
            <a:endParaRPr lang="en-US" sz="1100" dirty="0"/>
          </a:p>
        </p:txBody>
      </p:sp>
      <p:sp>
        <p:nvSpPr>
          <p:cNvPr id="33" name="Shape 29"/>
          <p:cNvSpPr/>
          <p:nvPr/>
        </p:nvSpPr>
        <p:spPr>
          <a:xfrm>
            <a:off x="9601200" y="2788920"/>
            <a:ext cx="2404872" cy="1600200"/>
          </a:xfrm>
          <a:prstGeom prst="roundRect">
            <a:avLst>
              <a:gd name="adj" fmla="val 8000"/>
            </a:avLst>
          </a:prstGeom>
          <a:solidFill>
            <a:srgbClr val="F3E9B7"/>
          </a:solidFill>
          <a:ln w="12700">
            <a:solidFill>
              <a:srgbClr val="CFD4DA"/>
            </a:solidFill>
            <a:prstDash val="solid"/>
          </a:ln>
        </p:spPr>
        <p:txBody>
          <a:bodyPr/>
          <a:lstStyle/>
          <a:p>
            <a:endParaRPr lang="en-IN" sz="2800"/>
          </a:p>
        </p:txBody>
      </p:sp>
      <p:sp>
        <p:nvSpPr>
          <p:cNvPr id="34" name="Text 30"/>
          <p:cNvSpPr/>
          <p:nvPr/>
        </p:nvSpPr>
        <p:spPr>
          <a:xfrm>
            <a:off x="9710928" y="2880360"/>
            <a:ext cx="2404872" cy="146304"/>
          </a:xfrm>
          <a:prstGeom prst="rect">
            <a:avLst/>
          </a:prstGeom>
          <a:noFill/>
          <a:ln/>
        </p:spPr>
        <p:txBody>
          <a:bodyPr wrap="square" lIns="0" tIns="0" rIns="0" bIns="0" rtlCol="0" anchor="ctr"/>
          <a:lstStyle/>
          <a:p>
            <a:pPr marL="0" indent="0">
              <a:buNone/>
            </a:pPr>
            <a:r>
              <a:rPr lang="en-US" sz="1600" b="1" dirty="0">
                <a:solidFill>
                  <a:srgbClr val="202020"/>
                </a:solidFill>
                <a:latin typeface="Arial" pitchFamily="34" charset="0"/>
                <a:ea typeface="Arial" pitchFamily="34" charset="-122"/>
                <a:cs typeface="Arial" pitchFamily="34" charset="-120"/>
              </a:rPr>
              <a:t>What it does NOT solve</a:t>
            </a:r>
            <a:endParaRPr lang="en-US" sz="1600" dirty="0"/>
          </a:p>
        </p:txBody>
      </p:sp>
      <p:sp>
        <p:nvSpPr>
          <p:cNvPr id="35" name="Text 31"/>
          <p:cNvSpPr/>
          <p:nvPr/>
        </p:nvSpPr>
        <p:spPr>
          <a:xfrm>
            <a:off x="9710928" y="3099816"/>
            <a:ext cx="1609344" cy="1216152"/>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 parameter memory is unchanged</a:t>
            </a:r>
            <a:endParaRPr lang="en-US" sz="1100" dirty="0"/>
          </a:p>
          <a:p>
            <a:pPr marL="0" indent="0">
              <a:buNone/>
            </a:pPr>
            <a:r>
              <a:rPr lang="en-US" sz="1100" dirty="0">
                <a:solidFill>
                  <a:srgbClr val="202020"/>
                </a:solidFill>
                <a:latin typeface="Arial" pitchFamily="34" charset="0"/>
                <a:ea typeface="Arial" pitchFamily="34" charset="-122"/>
                <a:cs typeface="Arial" pitchFamily="34" charset="-120"/>
              </a:rPr>
              <a:t>• optimizer-state memory is unchanged</a:t>
            </a:r>
            <a:endParaRPr lang="en-US" sz="1100" dirty="0"/>
          </a:p>
          <a:p>
            <a:pPr marL="0" indent="0">
              <a:buNone/>
            </a:pPr>
            <a:r>
              <a:rPr lang="en-US" sz="1100" dirty="0">
                <a:solidFill>
                  <a:srgbClr val="202020"/>
                </a:solidFill>
                <a:latin typeface="Arial" pitchFamily="34" charset="0"/>
                <a:ea typeface="Arial" pitchFamily="34" charset="-122"/>
                <a:cs typeface="Arial" pitchFamily="34" charset="-120"/>
              </a:rPr>
              <a:t>• too many accumulation steps reduce throughput</a:t>
            </a:r>
            <a:endParaRPr lang="en-US" sz="1100" dirty="0"/>
          </a:p>
        </p:txBody>
      </p:sp>
      <p:sp>
        <p:nvSpPr>
          <p:cNvPr id="36" name="Shape 32"/>
          <p:cNvSpPr/>
          <p:nvPr/>
        </p:nvSpPr>
        <p:spPr>
          <a:xfrm>
            <a:off x="640080" y="4709160"/>
            <a:ext cx="10789920" cy="868680"/>
          </a:xfrm>
          <a:prstGeom prst="roundRect">
            <a:avLst>
              <a:gd name="adj" fmla="val 14737"/>
            </a:avLst>
          </a:prstGeom>
          <a:solidFill>
            <a:srgbClr val="FFFFFF"/>
          </a:solidFill>
          <a:ln w="12700">
            <a:solidFill>
              <a:srgbClr val="CFD4DA"/>
            </a:solidFill>
            <a:prstDash val="solid"/>
          </a:ln>
        </p:spPr>
        <p:txBody>
          <a:bodyPr/>
          <a:lstStyle/>
          <a:p>
            <a:endParaRPr lang="en-IN"/>
          </a:p>
        </p:txBody>
      </p:sp>
      <p:sp>
        <p:nvSpPr>
          <p:cNvPr id="37" name="Text 33"/>
          <p:cNvSpPr/>
          <p:nvPr/>
        </p:nvSpPr>
        <p:spPr>
          <a:xfrm>
            <a:off x="749808" y="4818888"/>
            <a:ext cx="10570464" cy="704088"/>
          </a:xfrm>
          <a:prstGeom prst="rect">
            <a:avLst/>
          </a:prstGeom>
          <a:noFill/>
          <a:ln/>
        </p:spPr>
        <p:txBody>
          <a:bodyPr wrap="square" lIns="0" tIns="0" rIns="0" bIns="0" rtlCol="0" anchor="t">
            <a:normAutofit lnSpcReduction="10000"/>
          </a:bodyPr>
          <a:lstStyle/>
          <a:p>
            <a:pPr marL="0" indent="0">
              <a:buNone/>
            </a:pPr>
            <a:r>
              <a:rPr lang="en-US" sz="1600" dirty="0">
                <a:solidFill>
                  <a:srgbClr val="202020"/>
                </a:solidFill>
                <a:latin typeface="Arial" pitchFamily="34" charset="0"/>
                <a:ea typeface="Arial" pitchFamily="34" charset="-122"/>
                <a:cs typeface="Arial" pitchFamily="34" charset="-120"/>
              </a:rPr>
              <a:t>Best practice: push the microbatch as high as the GPU can stably support, then add only as much accumulation as you need. Very tiny microbatches usually waste GPU parallelism even if they preserve the same effective batch mathematically.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6</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Activation checkpointing: trade recomputation for lower activation memory</a:t>
            </a:r>
            <a:endParaRPr lang="en-US" sz="1750" dirty="0"/>
          </a:p>
        </p:txBody>
      </p:sp>
      <p:sp>
        <p:nvSpPr>
          <p:cNvPr id="10" name="Text 7"/>
          <p:cNvSpPr/>
          <p:nvPr/>
        </p:nvSpPr>
        <p:spPr>
          <a:xfrm>
            <a:off x="502920" y="932688"/>
            <a:ext cx="5577840" cy="219456"/>
          </a:xfrm>
          <a:prstGeom prst="rect">
            <a:avLst/>
          </a:prstGeom>
          <a:noFill/>
          <a:ln/>
        </p:spPr>
        <p:txBody>
          <a:bodyPr wrap="square" lIns="0" tIns="0" rIns="0" bIns="0" rtlCol="0" anchor="ctr"/>
          <a:lstStyle/>
          <a:p>
            <a:pPr marL="0" indent="0">
              <a:buNone/>
            </a:pPr>
            <a:r>
              <a:rPr lang="en-US" sz="1150" b="1" dirty="0">
                <a:solidFill>
                  <a:srgbClr val="202020"/>
                </a:solidFill>
                <a:latin typeface="Arial" pitchFamily="34" charset="0"/>
                <a:ea typeface="Arial" pitchFamily="34" charset="-122"/>
                <a:cs typeface="Arial" pitchFamily="34" charset="-120"/>
              </a:rPr>
              <a:t>Three increasingly modern checkpointing choices</a:t>
            </a:r>
            <a:endParaRPr lang="en-US" sz="1150" dirty="0"/>
          </a:p>
        </p:txBody>
      </p:sp>
      <p:sp>
        <p:nvSpPr>
          <p:cNvPr id="11" name="Shape 8"/>
          <p:cNvSpPr/>
          <p:nvPr/>
        </p:nvSpPr>
        <p:spPr>
          <a:xfrm>
            <a:off x="937260" y="1997710"/>
            <a:ext cx="5349240" cy="0"/>
          </a:xfrm>
          <a:prstGeom prst="line">
            <a:avLst/>
          </a:prstGeom>
          <a:noFill/>
          <a:ln w="15240">
            <a:solidFill>
              <a:srgbClr val="AAB5C3"/>
            </a:solidFill>
            <a:prstDash val="solid"/>
          </a:ln>
        </p:spPr>
        <p:txBody>
          <a:bodyPr/>
          <a:lstStyle/>
          <a:p>
            <a:endParaRPr lang="en-IN"/>
          </a:p>
        </p:txBody>
      </p:sp>
      <p:sp>
        <p:nvSpPr>
          <p:cNvPr id="12" name="Shape 9"/>
          <p:cNvSpPr/>
          <p:nvPr/>
        </p:nvSpPr>
        <p:spPr>
          <a:xfrm>
            <a:off x="868680" y="1700784"/>
            <a:ext cx="384048" cy="585216"/>
          </a:xfrm>
          <a:prstGeom prst="roundRect">
            <a:avLst>
              <a:gd name="adj" fmla="val 14286"/>
            </a:avLst>
          </a:prstGeom>
          <a:solidFill>
            <a:srgbClr val="DFE8F5"/>
          </a:solidFill>
          <a:ln w="12700">
            <a:solidFill>
              <a:srgbClr val="14386B"/>
            </a:solidFill>
            <a:prstDash val="solid"/>
          </a:ln>
        </p:spPr>
        <p:txBody>
          <a:bodyPr/>
          <a:lstStyle/>
          <a:p>
            <a:endParaRPr lang="en-IN"/>
          </a:p>
        </p:txBody>
      </p:sp>
      <p:sp>
        <p:nvSpPr>
          <p:cNvPr id="13" name="Text 10"/>
          <p:cNvSpPr/>
          <p:nvPr/>
        </p:nvSpPr>
        <p:spPr>
          <a:xfrm>
            <a:off x="86868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B1</a:t>
            </a:r>
            <a:endParaRPr lang="en-US" sz="860" dirty="0"/>
          </a:p>
        </p:txBody>
      </p:sp>
      <p:sp>
        <p:nvSpPr>
          <p:cNvPr id="14" name="Shape 11"/>
          <p:cNvSpPr/>
          <p:nvPr/>
        </p:nvSpPr>
        <p:spPr>
          <a:xfrm>
            <a:off x="1417320" y="1700784"/>
            <a:ext cx="384048" cy="585216"/>
          </a:xfrm>
          <a:prstGeom prst="roundRect">
            <a:avLst>
              <a:gd name="adj" fmla="val 14286"/>
            </a:avLst>
          </a:prstGeom>
          <a:solidFill>
            <a:srgbClr val="FFFFFF"/>
          </a:solidFill>
          <a:ln w="12700">
            <a:solidFill>
              <a:srgbClr val="87A0BE"/>
            </a:solidFill>
            <a:prstDash val="solid"/>
          </a:ln>
        </p:spPr>
        <p:txBody>
          <a:bodyPr/>
          <a:lstStyle/>
          <a:p>
            <a:endParaRPr lang="en-IN"/>
          </a:p>
        </p:txBody>
      </p:sp>
      <p:sp>
        <p:nvSpPr>
          <p:cNvPr id="15" name="Text 12"/>
          <p:cNvSpPr/>
          <p:nvPr/>
        </p:nvSpPr>
        <p:spPr>
          <a:xfrm>
            <a:off x="141732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B2</a:t>
            </a:r>
            <a:endParaRPr lang="en-US" sz="860" dirty="0"/>
          </a:p>
        </p:txBody>
      </p:sp>
      <p:sp>
        <p:nvSpPr>
          <p:cNvPr id="16" name="Shape 13"/>
          <p:cNvSpPr/>
          <p:nvPr/>
        </p:nvSpPr>
        <p:spPr>
          <a:xfrm>
            <a:off x="1965960" y="1700784"/>
            <a:ext cx="384048" cy="585216"/>
          </a:xfrm>
          <a:prstGeom prst="roundRect">
            <a:avLst>
              <a:gd name="adj" fmla="val 14286"/>
            </a:avLst>
          </a:prstGeom>
          <a:solidFill>
            <a:srgbClr val="DFE8F5"/>
          </a:solidFill>
          <a:ln w="12700">
            <a:solidFill>
              <a:srgbClr val="14386B"/>
            </a:solidFill>
            <a:prstDash val="solid"/>
          </a:ln>
        </p:spPr>
        <p:txBody>
          <a:bodyPr/>
          <a:lstStyle/>
          <a:p>
            <a:endParaRPr lang="en-IN"/>
          </a:p>
        </p:txBody>
      </p:sp>
      <p:sp>
        <p:nvSpPr>
          <p:cNvPr id="17" name="Text 14"/>
          <p:cNvSpPr/>
          <p:nvPr/>
        </p:nvSpPr>
        <p:spPr>
          <a:xfrm>
            <a:off x="196596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B3</a:t>
            </a:r>
            <a:endParaRPr lang="en-US" sz="860" dirty="0"/>
          </a:p>
        </p:txBody>
      </p:sp>
      <p:sp>
        <p:nvSpPr>
          <p:cNvPr id="18" name="Shape 15"/>
          <p:cNvSpPr/>
          <p:nvPr/>
        </p:nvSpPr>
        <p:spPr>
          <a:xfrm>
            <a:off x="2514600" y="1700784"/>
            <a:ext cx="384048" cy="585216"/>
          </a:xfrm>
          <a:prstGeom prst="roundRect">
            <a:avLst>
              <a:gd name="adj" fmla="val 14286"/>
            </a:avLst>
          </a:prstGeom>
          <a:solidFill>
            <a:srgbClr val="FFFFFF"/>
          </a:solidFill>
          <a:ln w="12700">
            <a:solidFill>
              <a:srgbClr val="87A0BE"/>
            </a:solidFill>
            <a:prstDash val="solid"/>
          </a:ln>
        </p:spPr>
        <p:txBody>
          <a:bodyPr/>
          <a:lstStyle/>
          <a:p>
            <a:endParaRPr lang="en-IN"/>
          </a:p>
        </p:txBody>
      </p:sp>
      <p:sp>
        <p:nvSpPr>
          <p:cNvPr id="19" name="Text 16"/>
          <p:cNvSpPr/>
          <p:nvPr/>
        </p:nvSpPr>
        <p:spPr>
          <a:xfrm>
            <a:off x="251460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B4</a:t>
            </a:r>
            <a:endParaRPr lang="en-US" sz="860" dirty="0"/>
          </a:p>
        </p:txBody>
      </p:sp>
      <p:sp>
        <p:nvSpPr>
          <p:cNvPr id="20" name="Shape 17"/>
          <p:cNvSpPr/>
          <p:nvPr/>
        </p:nvSpPr>
        <p:spPr>
          <a:xfrm>
            <a:off x="3063240" y="1700784"/>
            <a:ext cx="384048" cy="585216"/>
          </a:xfrm>
          <a:prstGeom prst="roundRect">
            <a:avLst>
              <a:gd name="adj" fmla="val 14286"/>
            </a:avLst>
          </a:prstGeom>
          <a:solidFill>
            <a:srgbClr val="DFE8F5"/>
          </a:solidFill>
          <a:ln w="12700">
            <a:solidFill>
              <a:srgbClr val="14386B"/>
            </a:solidFill>
            <a:prstDash val="solid"/>
          </a:ln>
        </p:spPr>
        <p:txBody>
          <a:bodyPr/>
          <a:lstStyle/>
          <a:p>
            <a:endParaRPr lang="en-IN"/>
          </a:p>
        </p:txBody>
      </p:sp>
      <p:sp>
        <p:nvSpPr>
          <p:cNvPr id="21" name="Text 18"/>
          <p:cNvSpPr/>
          <p:nvPr/>
        </p:nvSpPr>
        <p:spPr>
          <a:xfrm>
            <a:off x="306324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B5</a:t>
            </a:r>
            <a:endParaRPr lang="en-US" sz="860" dirty="0"/>
          </a:p>
        </p:txBody>
      </p:sp>
      <p:sp>
        <p:nvSpPr>
          <p:cNvPr id="22" name="Shape 19"/>
          <p:cNvSpPr/>
          <p:nvPr/>
        </p:nvSpPr>
        <p:spPr>
          <a:xfrm>
            <a:off x="3611880" y="1700784"/>
            <a:ext cx="384048" cy="585216"/>
          </a:xfrm>
          <a:prstGeom prst="roundRect">
            <a:avLst>
              <a:gd name="adj" fmla="val 14286"/>
            </a:avLst>
          </a:prstGeom>
          <a:solidFill>
            <a:srgbClr val="FFFFFF"/>
          </a:solidFill>
          <a:ln w="12700">
            <a:solidFill>
              <a:srgbClr val="87A0BE"/>
            </a:solidFill>
            <a:prstDash val="solid"/>
          </a:ln>
        </p:spPr>
        <p:txBody>
          <a:bodyPr/>
          <a:lstStyle/>
          <a:p>
            <a:endParaRPr lang="en-IN"/>
          </a:p>
        </p:txBody>
      </p:sp>
      <p:sp>
        <p:nvSpPr>
          <p:cNvPr id="23" name="Text 20"/>
          <p:cNvSpPr/>
          <p:nvPr/>
        </p:nvSpPr>
        <p:spPr>
          <a:xfrm>
            <a:off x="361188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B6</a:t>
            </a:r>
            <a:endParaRPr lang="en-US" sz="860" dirty="0"/>
          </a:p>
        </p:txBody>
      </p:sp>
      <p:sp>
        <p:nvSpPr>
          <p:cNvPr id="24" name="Shape 21"/>
          <p:cNvSpPr/>
          <p:nvPr/>
        </p:nvSpPr>
        <p:spPr>
          <a:xfrm>
            <a:off x="4160520" y="1700784"/>
            <a:ext cx="384048" cy="585216"/>
          </a:xfrm>
          <a:prstGeom prst="roundRect">
            <a:avLst>
              <a:gd name="adj" fmla="val 14286"/>
            </a:avLst>
          </a:prstGeom>
          <a:solidFill>
            <a:srgbClr val="DFE8F5"/>
          </a:solidFill>
          <a:ln w="12700">
            <a:solidFill>
              <a:srgbClr val="14386B"/>
            </a:solidFill>
            <a:prstDash val="solid"/>
          </a:ln>
        </p:spPr>
        <p:txBody>
          <a:bodyPr/>
          <a:lstStyle/>
          <a:p>
            <a:endParaRPr lang="en-IN"/>
          </a:p>
        </p:txBody>
      </p:sp>
      <p:sp>
        <p:nvSpPr>
          <p:cNvPr id="25" name="Text 22"/>
          <p:cNvSpPr/>
          <p:nvPr/>
        </p:nvSpPr>
        <p:spPr>
          <a:xfrm>
            <a:off x="416052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B7</a:t>
            </a:r>
            <a:endParaRPr lang="en-US" sz="860" dirty="0"/>
          </a:p>
        </p:txBody>
      </p:sp>
      <p:sp>
        <p:nvSpPr>
          <p:cNvPr id="26" name="Shape 23"/>
          <p:cNvSpPr/>
          <p:nvPr/>
        </p:nvSpPr>
        <p:spPr>
          <a:xfrm>
            <a:off x="4709160" y="1700784"/>
            <a:ext cx="384048" cy="585216"/>
          </a:xfrm>
          <a:prstGeom prst="roundRect">
            <a:avLst>
              <a:gd name="adj" fmla="val 14286"/>
            </a:avLst>
          </a:prstGeom>
          <a:solidFill>
            <a:srgbClr val="FFFFFF"/>
          </a:solidFill>
          <a:ln w="12700">
            <a:solidFill>
              <a:srgbClr val="87A0BE"/>
            </a:solidFill>
            <a:prstDash val="solid"/>
          </a:ln>
        </p:spPr>
        <p:txBody>
          <a:bodyPr/>
          <a:lstStyle/>
          <a:p>
            <a:endParaRPr lang="en-IN"/>
          </a:p>
        </p:txBody>
      </p:sp>
      <p:sp>
        <p:nvSpPr>
          <p:cNvPr id="27" name="Text 24"/>
          <p:cNvSpPr/>
          <p:nvPr/>
        </p:nvSpPr>
        <p:spPr>
          <a:xfrm>
            <a:off x="4709160" y="1901952"/>
            <a:ext cx="384048" cy="128016"/>
          </a:xfrm>
          <a:prstGeom prst="rect">
            <a:avLst/>
          </a:prstGeom>
          <a:noFill/>
          <a:ln/>
        </p:spPr>
        <p:txBody>
          <a:bodyPr wrap="square" lIns="0" tIns="0" rIns="0" bIns="0" rtlCol="0" anchor="ctr"/>
          <a:lstStyle/>
          <a:p>
            <a:pPr marL="0" indent="0" algn="ctr">
              <a:buNone/>
            </a:pPr>
            <a:r>
              <a:rPr lang="en-US" sz="860" b="1" dirty="0">
                <a:solidFill>
                  <a:srgbClr val="202020"/>
                </a:solidFill>
                <a:latin typeface="Arial" pitchFamily="34" charset="0"/>
                <a:ea typeface="Arial" pitchFamily="34" charset="-122"/>
                <a:cs typeface="Arial" pitchFamily="34" charset="-120"/>
              </a:rPr>
              <a:t>B8</a:t>
            </a:r>
            <a:endParaRPr lang="en-US" sz="860" dirty="0"/>
          </a:p>
        </p:txBody>
      </p:sp>
      <p:sp>
        <p:nvSpPr>
          <p:cNvPr id="28" name="Text 25"/>
          <p:cNvSpPr/>
          <p:nvPr/>
        </p:nvSpPr>
        <p:spPr>
          <a:xfrm>
            <a:off x="841248" y="2395728"/>
            <a:ext cx="2011680" cy="164592"/>
          </a:xfrm>
          <a:prstGeom prst="rect">
            <a:avLst/>
          </a:prstGeom>
          <a:noFill/>
          <a:ln/>
        </p:spPr>
        <p:txBody>
          <a:bodyPr wrap="square" lIns="0" tIns="0" rIns="0" bIns="0" rtlCol="0" anchor="ctr"/>
          <a:lstStyle/>
          <a:p>
            <a:pPr marL="0" indent="0">
              <a:buNone/>
            </a:pPr>
            <a:r>
              <a:rPr lang="en-US" sz="880" dirty="0">
                <a:solidFill>
                  <a:srgbClr val="6B6B6B"/>
                </a:solidFill>
                <a:latin typeface="Arial" pitchFamily="34" charset="0"/>
                <a:ea typeface="Arial" pitchFamily="34" charset="-122"/>
                <a:cs typeface="Arial" pitchFamily="34" charset="-120"/>
              </a:rPr>
              <a:t>Checkpoint boundaries</a:t>
            </a:r>
            <a:endParaRPr lang="en-US" sz="880" dirty="0"/>
          </a:p>
        </p:txBody>
      </p:sp>
      <p:sp>
        <p:nvSpPr>
          <p:cNvPr id="29" name="Shape 26"/>
          <p:cNvSpPr/>
          <p:nvPr/>
        </p:nvSpPr>
        <p:spPr>
          <a:xfrm>
            <a:off x="502920" y="2834640"/>
            <a:ext cx="1874520" cy="1325880"/>
          </a:xfrm>
          <a:prstGeom prst="roundRect">
            <a:avLst>
              <a:gd name="adj" fmla="val 9655"/>
            </a:avLst>
          </a:prstGeom>
          <a:solidFill>
            <a:srgbClr val="FFFFFF"/>
          </a:solidFill>
          <a:ln w="12700">
            <a:solidFill>
              <a:srgbClr val="CFD4DA"/>
            </a:solidFill>
            <a:prstDash val="solid"/>
          </a:ln>
        </p:spPr>
        <p:txBody>
          <a:bodyPr/>
          <a:lstStyle/>
          <a:p>
            <a:endParaRPr lang="en-IN"/>
          </a:p>
        </p:txBody>
      </p:sp>
      <p:sp>
        <p:nvSpPr>
          <p:cNvPr id="30" name="Text 27"/>
          <p:cNvSpPr/>
          <p:nvPr/>
        </p:nvSpPr>
        <p:spPr>
          <a:xfrm>
            <a:off x="612648" y="2926080"/>
            <a:ext cx="165506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Plain checkpointing</a:t>
            </a:r>
            <a:endParaRPr lang="en-US" sz="1100" dirty="0"/>
          </a:p>
        </p:txBody>
      </p:sp>
      <p:sp>
        <p:nvSpPr>
          <p:cNvPr id="31" name="Text 28"/>
          <p:cNvSpPr/>
          <p:nvPr/>
        </p:nvSpPr>
        <p:spPr>
          <a:xfrm>
            <a:off x="612648" y="3145536"/>
            <a:ext cx="1655064" cy="941832"/>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Save only the inputs/outputs of selected regions. Recompute the interior of each region during backward.</a:t>
            </a:r>
            <a:endParaRPr lang="en-US" sz="1100" dirty="0"/>
          </a:p>
        </p:txBody>
      </p:sp>
      <p:sp>
        <p:nvSpPr>
          <p:cNvPr id="32" name="Shape 29"/>
          <p:cNvSpPr/>
          <p:nvPr/>
        </p:nvSpPr>
        <p:spPr>
          <a:xfrm>
            <a:off x="2578608" y="2834640"/>
            <a:ext cx="1874520" cy="1325880"/>
          </a:xfrm>
          <a:prstGeom prst="roundRect">
            <a:avLst>
              <a:gd name="adj" fmla="val 9655"/>
            </a:avLst>
          </a:prstGeom>
          <a:solidFill>
            <a:srgbClr val="DFE8F5"/>
          </a:solidFill>
          <a:ln w="12700">
            <a:solidFill>
              <a:srgbClr val="CFD4DA"/>
            </a:solidFill>
            <a:prstDash val="solid"/>
          </a:ln>
        </p:spPr>
        <p:txBody>
          <a:bodyPr/>
          <a:lstStyle/>
          <a:p>
            <a:endParaRPr lang="en-IN"/>
          </a:p>
        </p:txBody>
      </p:sp>
      <p:sp>
        <p:nvSpPr>
          <p:cNvPr id="33" name="Text 30"/>
          <p:cNvSpPr/>
          <p:nvPr/>
        </p:nvSpPr>
        <p:spPr>
          <a:xfrm>
            <a:off x="2688336" y="2926080"/>
            <a:ext cx="165506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Selective AC (newer)</a:t>
            </a:r>
            <a:endParaRPr lang="en-US" sz="1100" dirty="0"/>
          </a:p>
        </p:txBody>
      </p:sp>
      <p:sp>
        <p:nvSpPr>
          <p:cNvPr id="34" name="Text 31"/>
          <p:cNvSpPr/>
          <p:nvPr/>
        </p:nvSpPr>
        <p:spPr>
          <a:xfrm>
            <a:off x="2688336" y="3145536"/>
            <a:ext cx="1655064" cy="941832"/>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Within a checkpointed region, keep expensive ops such as matmuls and recompute cheaper pointwise ops.</a:t>
            </a:r>
            <a:endParaRPr lang="en-US" sz="1200" dirty="0"/>
          </a:p>
        </p:txBody>
      </p:sp>
      <p:sp>
        <p:nvSpPr>
          <p:cNvPr id="35" name="Shape 32"/>
          <p:cNvSpPr/>
          <p:nvPr/>
        </p:nvSpPr>
        <p:spPr>
          <a:xfrm>
            <a:off x="4654296" y="2834640"/>
            <a:ext cx="1874520" cy="1325880"/>
          </a:xfrm>
          <a:prstGeom prst="roundRect">
            <a:avLst>
              <a:gd name="adj" fmla="val 9655"/>
            </a:avLst>
          </a:prstGeom>
          <a:solidFill>
            <a:srgbClr val="E2F0E6"/>
          </a:solidFill>
          <a:ln w="12700">
            <a:solidFill>
              <a:srgbClr val="CFD4DA"/>
            </a:solidFill>
            <a:prstDash val="solid"/>
          </a:ln>
        </p:spPr>
        <p:txBody>
          <a:bodyPr/>
          <a:lstStyle/>
          <a:p>
            <a:endParaRPr lang="en-IN"/>
          </a:p>
        </p:txBody>
      </p:sp>
      <p:sp>
        <p:nvSpPr>
          <p:cNvPr id="36" name="Text 33"/>
          <p:cNvSpPr/>
          <p:nvPr/>
        </p:nvSpPr>
        <p:spPr>
          <a:xfrm>
            <a:off x="4764024" y="2926080"/>
            <a:ext cx="1874520" cy="182880"/>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Compile + memory budget</a:t>
            </a:r>
            <a:endParaRPr lang="en-US" sz="1100" dirty="0"/>
          </a:p>
        </p:txBody>
      </p:sp>
      <p:sp>
        <p:nvSpPr>
          <p:cNvPr id="37" name="Text 34"/>
          <p:cNvSpPr/>
          <p:nvPr/>
        </p:nvSpPr>
        <p:spPr>
          <a:xfrm>
            <a:off x="4764024" y="3145536"/>
            <a:ext cx="1655064" cy="941832"/>
          </a:xfrm>
          <a:prstGeom prst="rect">
            <a:avLst/>
          </a:prstGeom>
          <a:noFill/>
          <a:ln/>
        </p:spPr>
        <p:txBody>
          <a:bodyPr wrap="square" lIns="0" tIns="0" rIns="0" bIns="0" rtlCol="0" anchor="t">
            <a:normAutofit fontScale="92500"/>
          </a:bodyPr>
          <a:lstStyle/>
          <a:p>
            <a:pPr marL="0" indent="0">
              <a:buNone/>
            </a:pPr>
            <a:r>
              <a:rPr lang="en-US" sz="1200" dirty="0">
                <a:solidFill>
                  <a:srgbClr val="202020"/>
                </a:solidFill>
                <a:latin typeface="Arial" pitchFamily="34" charset="0"/>
                <a:ea typeface="Arial" pitchFamily="34" charset="-122"/>
                <a:cs typeface="Arial" pitchFamily="34" charset="-120"/>
              </a:rPr>
              <a:t>On compiled regions, PyTorch can search for a better speed–memory point instead of using one fixed checkpoint policy.</a:t>
            </a:r>
            <a:endParaRPr lang="en-US" sz="1200" dirty="0"/>
          </a:p>
        </p:txBody>
      </p:sp>
      <p:sp>
        <p:nvSpPr>
          <p:cNvPr id="38" name="Shape 35"/>
          <p:cNvSpPr/>
          <p:nvPr/>
        </p:nvSpPr>
        <p:spPr>
          <a:xfrm>
            <a:off x="6995160" y="1097280"/>
            <a:ext cx="4572000" cy="1078992"/>
          </a:xfrm>
          <a:prstGeom prst="roundRect">
            <a:avLst>
              <a:gd name="adj" fmla="val 11864"/>
            </a:avLst>
          </a:prstGeom>
          <a:solidFill>
            <a:srgbClr val="F5DFDD"/>
          </a:solidFill>
          <a:ln w="12700">
            <a:solidFill>
              <a:srgbClr val="CFD4DA"/>
            </a:solidFill>
            <a:prstDash val="solid"/>
          </a:ln>
        </p:spPr>
        <p:txBody>
          <a:bodyPr/>
          <a:lstStyle/>
          <a:p>
            <a:endParaRPr lang="en-IN"/>
          </a:p>
        </p:txBody>
      </p:sp>
      <p:sp>
        <p:nvSpPr>
          <p:cNvPr id="39" name="Text 36"/>
          <p:cNvSpPr/>
          <p:nvPr/>
        </p:nvSpPr>
        <p:spPr>
          <a:xfrm>
            <a:off x="7104888" y="1188720"/>
            <a:ext cx="43525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What it buys</a:t>
            </a:r>
            <a:endParaRPr lang="en-US" sz="1100" dirty="0"/>
          </a:p>
        </p:txBody>
      </p:sp>
      <p:sp>
        <p:nvSpPr>
          <p:cNvPr id="40" name="Text 37"/>
          <p:cNvSpPr/>
          <p:nvPr/>
        </p:nvSpPr>
        <p:spPr>
          <a:xfrm>
            <a:off x="7104888" y="1408176"/>
            <a:ext cx="4352544" cy="694944"/>
          </a:xfrm>
          <a:prstGeom prst="rect">
            <a:avLst/>
          </a:prstGeom>
          <a:noFill/>
          <a:ln/>
        </p:spPr>
        <p:txBody>
          <a:bodyPr wrap="square" lIns="0" tIns="0" rIns="0" bIns="0" rtlCol="0" anchor="t">
            <a:normAutofit lnSpcReduction="10000"/>
          </a:bodyPr>
          <a:lstStyle/>
          <a:p>
            <a:pPr marL="0" indent="0">
              <a:buNone/>
            </a:pPr>
            <a:r>
              <a:rPr lang="en-US" sz="1200" dirty="0">
                <a:solidFill>
                  <a:srgbClr val="202020"/>
                </a:solidFill>
                <a:latin typeface="Arial" pitchFamily="34" charset="0"/>
                <a:ea typeface="Arial" pitchFamily="34" charset="-122"/>
                <a:cs typeface="Arial" pitchFamily="34" charset="-120"/>
              </a:rPr>
              <a:t>Activation memory falls because forward intermediates are not all kept alive until backward. This is especially valuable for deep transformers and long-context training where saved activations dominate.</a:t>
            </a:r>
            <a:endParaRPr lang="en-US" sz="1200" dirty="0"/>
          </a:p>
        </p:txBody>
      </p:sp>
      <p:sp>
        <p:nvSpPr>
          <p:cNvPr id="41" name="Shape 38"/>
          <p:cNvSpPr/>
          <p:nvPr/>
        </p:nvSpPr>
        <p:spPr>
          <a:xfrm>
            <a:off x="6995160" y="2377440"/>
            <a:ext cx="4572000" cy="1078992"/>
          </a:xfrm>
          <a:prstGeom prst="roundRect">
            <a:avLst>
              <a:gd name="adj" fmla="val 11864"/>
            </a:avLst>
          </a:prstGeom>
          <a:solidFill>
            <a:srgbClr val="F3E9B7"/>
          </a:solidFill>
          <a:ln w="12700">
            <a:solidFill>
              <a:srgbClr val="CFD4DA"/>
            </a:solidFill>
            <a:prstDash val="solid"/>
          </a:ln>
        </p:spPr>
        <p:txBody>
          <a:bodyPr/>
          <a:lstStyle/>
          <a:p>
            <a:endParaRPr lang="en-IN"/>
          </a:p>
        </p:txBody>
      </p:sp>
      <p:sp>
        <p:nvSpPr>
          <p:cNvPr id="42" name="Text 39"/>
          <p:cNvSpPr/>
          <p:nvPr/>
        </p:nvSpPr>
        <p:spPr>
          <a:xfrm>
            <a:off x="7104888" y="2468880"/>
            <a:ext cx="43525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What it costs</a:t>
            </a:r>
            <a:endParaRPr lang="en-US" sz="1100" dirty="0"/>
          </a:p>
        </p:txBody>
      </p:sp>
      <p:sp>
        <p:nvSpPr>
          <p:cNvPr id="43" name="Text 40"/>
          <p:cNvSpPr/>
          <p:nvPr/>
        </p:nvSpPr>
        <p:spPr>
          <a:xfrm>
            <a:off x="7104888" y="2688336"/>
            <a:ext cx="4352544" cy="694944"/>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Extra compute. Hugging Face’s trainer guide uses ~20% slower as a rough expectation for standard gradient checkpointing, though the exact trade-off depends on model structure, kernel quality, and checkpoint placement.</a:t>
            </a:r>
            <a:endParaRPr lang="en-US" sz="1100" dirty="0"/>
          </a:p>
        </p:txBody>
      </p:sp>
      <p:sp>
        <p:nvSpPr>
          <p:cNvPr id="44" name="Shape 41"/>
          <p:cNvSpPr/>
          <p:nvPr/>
        </p:nvSpPr>
        <p:spPr>
          <a:xfrm>
            <a:off x="6995160" y="3657600"/>
            <a:ext cx="4572000" cy="1234440"/>
          </a:xfrm>
          <a:prstGeom prst="roundRect">
            <a:avLst>
              <a:gd name="adj" fmla="val 10370"/>
            </a:avLst>
          </a:prstGeom>
          <a:solidFill>
            <a:srgbClr val="FFFFFF"/>
          </a:solidFill>
          <a:ln w="12700">
            <a:solidFill>
              <a:srgbClr val="CFD4DA"/>
            </a:solidFill>
            <a:prstDash val="solid"/>
          </a:ln>
        </p:spPr>
        <p:txBody>
          <a:bodyPr/>
          <a:lstStyle/>
          <a:p>
            <a:endParaRPr lang="en-IN"/>
          </a:p>
        </p:txBody>
      </p:sp>
      <p:sp>
        <p:nvSpPr>
          <p:cNvPr id="45" name="Text 42"/>
          <p:cNvSpPr/>
          <p:nvPr/>
        </p:nvSpPr>
        <p:spPr>
          <a:xfrm>
            <a:off x="7104888" y="3749040"/>
            <a:ext cx="43525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Placement strategy</a:t>
            </a:r>
            <a:endParaRPr lang="en-US" sz="1100" dirty="0"/>
          </a:p>
        </p:txBody>
      </p:sp>
      <p:sp>
        <p:nvSpPr>
          <p:cNvPr id="46" name="Text 43"/>
          <p:cNvSpPr/>
          <p:nvPr/>
        </p:nvSpPr>
        <p:spPr>
          <a:xfrm>
            <a:off x="7104888" y="3968496"/>
            <a:ext cx="4352544" cy="850392"/>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Checkpoint memory-heavy transformer blocks first. For selective policies, recompute cheap pointwise ops before recomputing attention or large GEMMs. Validate the trade-off with profiler traces, not guesswork.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7</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Attention and long-context bottlenecks: use the optimized kernel path</a:t>
            </a:r>
            <a:endParaRPr lang="en-US" sz="1750" dirty="0"/>
          </a:p>
        </p:txBody>
      </p:sp>
      <p:sp>
        <p:nvSpPr>
          <p:cNvPr id="10" name="Shape 7"/>
          <p:cNvSpPr/>
          <p:nvPr/>
        </p:nvSpPr>
        <p:spPr>
          <a:xfrm>
            <a:off x="566928" y="1051560"/>
            <a:ext cx="2834640" cy="1417320"/>
          </a:xfrm>
          <a:prstGeom prst="roundRect">
            <a:avLst>
              <a:gd name="adj" fmla="val 9032"/>
            </a:avLst>
          </a:prstGeom>
          <a:solidFill>
            <a:srgbClr val="F5DFDD"/>
          </a:solidFill>
          <a:ln w="12700">
            <a:solidFill>
              <a:srgbClr val="CFD4DA"/>
            </a:solidFill>
            <a:prstDash val="solid"/>
          </a:ln>
        </p:spPr>
        <p:txBody>
          <a:bodyPr/>
          <a:lstStyle/>
          <a:p>
            <a:endParaRPr lang="en-IN"/>
          </a:p>
        </p:txBody>
      </p:sp>
      <p:sp>
        <p:nvSpPr>
          <p:cNvPr id="11" name="Text 8"/>
          <p:cNvSpPr/>
          <p:nvPr/>
        </p:nvSpPr>
        <p:spPr>
          <a:xfrm>
            <a:off x="676656" y="1143000"/>
            <a:ext cx="26151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The scaling problem</a:t>
            </a:r>
            <a:endParaRPr lang="en-US" sz="1100" dirty="0"/>
          </a:p>
        </p:txBody>
      </p:sp>
      <p:sp>
        <p:nvSpPr>
          <p:cNvPr id="12" name="Text 9"/>
          <p:cNvSpPr/>
          <p:nvPr/>
        </p:nvSpPr>
        <p:spPr>
          <a:xfrm>
            <a:off x="676656" y="1362456"/>
            <a:ext cx="2615184" cy="1033272"/>
          </a:xfrm>
          <a:prstGeom prst="rect">
            <a:avLst/>
          </a:prstGeom>
          <a:noFill/>
          <a:ln/>
        </p:spPr>
        <p:txBody>
          <a:bodyPr wrap="square" lIns="0" tIns="0" rIns="0" bIns="0" rtlCol="0" anchor="t">
            <a:normAutofit/>
          </a:bodyPr>
          <a:lstStyle/>
          <a:p>
            <a:pPr marL="0" indent="0">
              <a:buNone/>
            </a:pPr>
            <a:r>
              <a:rPr lang="en-US" sz="935" dirty="0">
                <a:solidFill>
                  <a:srgbClr val="202020"/>
                </a:solidFill>
                <a:latin typeface="Arial" pitchFamily="34" charset="0"/>
                <a:ea typeface="Arial" pitchFamily="34" charset="-122"/>
                <a:cs typeface="Arial" pitchFamily="34" charset="-120"/>
              </a:rPr>
              <a:t>Naive attention work and memory grow with sequence length. The score tensor alone scales roughly with batch × heads × L², so doubling context length can create a ~4× jump in score-matrix size.</a:t>
            </a:r>
            <a:endParaRPr lang="en-US" sz="935"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72868" y="5495544"/>
            <a:ext cx="2057400" cy="347472"/>
          </a:xfrm>
          <a:prstGeom prst="rect">
            <a:avLst/>
          </a:prstGeom>
        </p:spPr>
      </p:pic>
      <p:sp>
        <p:nvSpPr>
          <p:cNvPr id="14" name="Shape 10"/>
          <p:cNvSpPr/>
          <p:nvPr/>
        </p:nvSpPr>
        <p:spPr>
          <a:xfrm>
            <a:off x="3657600" y="1051560"/>
            <a:ext cx="3749040" cy="1417320"/>
          </a:xfrm>
          <a:prstGeom prst="roundRect">
            <a:avLst>
              <a:gd name="adj" fmla="val 9032"/>
            </a:avLst>
          </a:prstGeom>
          <a:solidFill>
            <a:srgbClr val="DFE8F5"/>
          </a:solidFill>
          <a:ln w="12700">
            <a:solidFill>
              <a:srgbClr val="CFD4DA"/>
            </a:solidFill>
            <a:prstDash val="solid"/>
          </a:ln>
        </p:spPr>
        <p:txBody>
          <a:bodyPr/>
          <a:lstStyle/>
          <a:p>
            <a:endParaRPr lang="en-IN"/>
          </a:p>
        </p:txBody>
      </p:sp>
      <p:sp>
        <p:nvSpPr>
          <p:cNvPr id="15" name="Text 11"/>
          <p:cNvSpPr/>
          <p:nvPr/>
        </p:nvSpPr>
        <p:spPr>
          <a:xfrm>
            <a:off x="3767328" y="1143000"/>
            <a:ext cx="35295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Current PyTorch practice</a:t>
            </a:r>
            <a:endParaRPr lang="en-US" sz="1100" dirty="0"/>
          </a:p>
        </p:txBody>
      </p:sp>
      <p:sp>
        <p:nvSpPr>
          <p:cNvPr id="16" name="Text 12"/>
          <p:cNvSpPr/>
          <p:nvPr/>
        </p:nvSpPr>
        <p:spPr>
          <a:xfrm>
            <a:off x="3767328" y="1362456"/>
            <a:ext cx="3529584" cy="1033272"/>
          </a:xfrm>
          <a:prstGeom prst="rect">
            <a:avLst/>
          </a:prstGeom>
          <a:noFill/>
          <a:ln/>
        </p:spPr>
        <p:txBody>
          <a:bodyPr wrap="square" lIns="0" tIns="0" rIns="0" bIns="0" rtlCol="0" anchor="t">
            <a:normAutofit/>
          </a:bodyPr>
          <a:lstStyle/>
          <a:p>
            <a:pPr marL="0" indent="0">
              <a:buNone/>
            </a:pPr>
            <a:r>
              <a:rPr lang="en-US" sz="925" dirty="0">
                <a:solidFill>
                  <a:srgbClr val="202020"/>
                </a:solidFill>
                <a:latin typeface="Arial" pitchFamily="34" charset="0"/>
                <a:ea typeface="Arial" pitchFamily="34" charset="-122"/>
                <a:cs typeface="Arial" pitchFamily="34" charset="-120"/>
              </a:rPr>
              <a:t>Prefer torch.nn.functional.scaled_dot_product_attention (SDPA) or framework paths that delegate to it. PyTorch documents three implementations behind SDPA on CUDA: FlashAttention-2, Memory-Efficient Attention, and a math/C++ path, with automatic kernel selection.</a:t>
            </a:r>
            <a:endParaRPr lang="en-US" sz="925" dirty="0"/>
          </a:p>
        </p:txBody>
      </p:sp>
      <p:sp>
        <p:nvSpPr>
          <p:cNvPr id="17" name="Shape 13"/>
          <p:cNvSpPr/>
          <p:nvPr/>
        </p:nvSpPr>
        <p:spPr>
          <a:xfrm>
            <a:off x="7635240" y="1051560"/>
            <a:ext cx="3977640" cy="1417320"/>
          </a:xfrm>
          <a:prstGeom prst="roundRect">
            <a:avLst>
              <a:gd name="adj" fmla="val 9032"/>
            </a:avLst>
          </a:prstGeom>
          <a:solidFill>
            <a:srgbClr val="E2F0E6"/>
          </a:solidFill>
          <a:ln w="12700">
            <a:solidFill>
              <a:srgbClr val="CFD4DA"/>
            </a:solidFill>
            <a:prstDash val="solid"/>
          </a:ln>
        </p:spPr>
        <p:txBody>
          <a:bodyPr/>
          <a:lstStyle/>
          <a:p>
            <a:endParaRPr lang="en-IN"/>
          </a:p>
        </p:txBody>
      </p:sp>
      <p:sp>
        <p:nvSpPr>
          <p:cNvPr id="18" name="Text 14"/>
          <p:cNvSpPr/>
          <p:nvPr/>
        </p:nvSpPr>
        <p:spPr>
          <a:xfrm>
            <a:off x="7744968" y="1143000"/>
            <a:ext cx="37581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Updated variable-length practice</a:t>
            </a:r>
            <a:endParaRPr lang="en-US" sz="1100" dirty="0"/>
          </a:p>
        </p:txBody>
      </p:sp>
      <p:sp>
        <p:nvSpPr>
          <p:cNvPr id="19" name="Text 15"/>
          <p:cNvSpPr/>
          <p:nvPr/>
        </p:nvSpPr>
        <p:spPr>
          <a:xfrm>
            <a:off x="7744968" y="1362456"/>
            <a:ext cx="3758184" cy="1033272"/>
          </a:xfrm>
          <a:prstGeom prst="rect">
            <a:avLst/>
          </a:prstGeom>
          <a:noFill/>
          <a:ln/>
        </p:spPr>
        <p:txBody>
          <a:bodyPr wrap="square" lIns="0" tIns="0" rIns="0" bIns="0" rtlCol="0" anchor="t">
            <a:normAutofit/>
          </a:bodyPr>
          <a:lstStyle/>
          <a:p>
            <a:pPr marL="0" indent="0">
              <a:buNone/>
            </a:pPr>
            <a:r>
              <a:rPr lang="en-US" sz="920" dirty="0">
                <a:solidFill>
                  <a:srgbClr val="202020"/>
                </a:solidFill>
                <a:latin typeface="Arial" pitchFamily="34" charset="0"/>
                <a:ea typeface="Arial" pitchFamily="34" charset="-122"/>
                <a:cs typeface="Arial" pitchFamily="34" charset="-120"/>
              </a:rPr>
              <a:t>Padding-free or packed fine-tuning works best when the attention kernel understands sequence boundaries. Newer stacks increasingly expose variable-length FlashAttention-style paths instead of forcing every batch back to dense padded tensors.</a:t>
            </a:r>
            <a:endParaRPr lang="en-US" sz="920" dirty="0"/>
          </a:p>
        </p:txBody>
      </p:sp>
      <p:sp>
        <p:nvSpPr>
          <p:cNvPr id="20" name="Shape 16"/>
          <p:cNvSpPr/>
          <p:nvPr/>
        </p:nvSpPr>
        <p:spPr>
          <a:xfrm>
            <a:off x="566928" y="2743200"/>
            <a:ext cx="2148840" cy="1371600"/>
          </a:xfrm>
          <a:prstGeom prst="roundRect">
            <a:avLst>
              <a:gd name="adj" fmla="val 9333"/>
            </a:avLst>
          </a:prstGeom>
          <a:solidFill>
            <a:srgbClr val="FFFFFF"/>
          </a:solidFill>
          <a:ln w="12700">
            <a:solidFill>
              <a:srgbClr val="CFD4DA"/>
            </a:solidFill>
            <a:prstDash val="solid"/>
          </a:ln>
        </p:spPr>
        <p:txBody>
          <a:bodyPr/>
          <a:lstStyle/>
          <a:p>
            <a:endParaRPr lang="en-IN"/>
          </a:p>
        </p:txBody>
      </p:sp>
      <p:sp>
        <p:nvSpPr>
          <p:cNvPr id="21" name="Text 17"/>
          <p:cNvSpPr/>
          <p:nvPr/>
        </p:nvSpPr>
        <p:spPr>
          <a:xfrm>
            <a:off x="676656" y="2834640"/>
            <a:ext cx="19293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Do</a:t>
            </a:r>
            <a:endParaRPr lang="en-US" sz="1100" dirty="0"/>
          </a:p>
        </p:txBody>
      </p:sp>
      <p:sp>
        <p:nvSpPr>
          <p:cNvPr id="22" name="Text 18"/>
          <p:cNvSpPr/>
          <p:nvPr/>
        </p:nvSpPr>
        <p:spPr>
          <a:xfrm>
            <a:off x="676656" y="3054096"/>
            <a:ext cx="1929384" cy="987552"/>
          </a:xfrm>
          <a:prstGeom prst="rect">
            <a:avLst/>
          </a:prstGeom>
          <a:noFill/>
          <a:ln/>
        </p:spPr>
        <p:txBody>
          <a:bodyPr wrap="square" lIns="0" tIns="0" rIns="0" bIns="0" rtlCol="0" anchor="t">
            <a:normAutofit/>
          </a:bodyPr>
          <a:lstStyle/>
          <a:p>
            <a:pPr marL="0" indent="0">
              <a:buNone/>
            </a:pPr>
            <a:r>
              <a:rPr lang="en-US" sz="900" dirty="0">
                <a:solidFill>
                  <a:srgbClr val="202020"/>
                </a:solidFill>
                <a:latin typeface="Arial" pitchFamily="34" charset="0"/>
                <a:ea typeface="Arial" pitchFamily="34" charset="-122"/>
                <a:cs typeface="Arial" pitchFamily="34" charset="-120"/>
              </a:rPr>
              <a:t>• use SDPA or a fused attention backend</a:t>
            </a:r>
            <a:endParaRPr lang="en-US" sz="900" dirty="0"/>
          </a:p>
          <a:p>
            <a:pPr marL="0" indent="0">
              <a:buNone/>
            </a:pPr>
            <a:r>
              <a:rPr lang="en-US" sz="900" dirty="0">
                <a:solidFill>
                  <a:srgbClr val="202020"/>
                </a:solidFill>
                <a:latin typeface="Arial" pitchFamily="34" charset="0"/>
                <a:ea typeface="Arial" pitchFamily="34" charset="-122"/>
                <a:cs typeface="Arial" pitchFamily="34" charset="-120"/>
              </a:rPr>
              <a:t>• keep attention masks semantically correct</a:t>
            </a:r>
            <a:endParaRPr lang="en-US" sz="900" dirty="0"/>
          </a:p>
          <a:p>
            <a:pPr marL="0" indent="0">
              <a:buNone/>
            </a:pPr>
            <a:r>
              <a:rPr lang="en-US" sz="900" dirty="0">
                <a:solidFill>
                  <a:srgbClr val="202020"/>
                </a:solidFill>
                <a:latin typeface="Arial" pitchFamily="34" charset="0"/>
                <a:ea typeface="Arial" pitchFamily="34" charset="-122"/>
                <a:cs typeface="Arial" pitchFamily="34" charset="-120"/>
              </a:rPr>
              <a:t>• benchmark long contexts separately</a:t>
            </a:r>
            <a:endParaRPr lang="en-US" sz="900" dirty="0"/>
          </a:p>
        </p:txBody>
      </p:sp>
      <p:sp>
        <p:nvSpPr>
          <p:cNvPr id="23" name="Shape 19"/>
          <p:cNvSpPr/>
          <p:nvPr/>
        </p:nvSpPr>
        <p:spPr>
          <a:xfrm>
            <a:off x="2926080" y="2743200"/>
            <a:ext cx="2148840" cy="1371600"/>
          </a:xfrm>
          <a:prstGeom prst="roundRect">
            <a:avLst>
              <a:gd name="adj" fmla="val 9333"/>
            </a:avLst>
          </a:prstGeom>
          <a:solidFill>
            <a:srgbClr val="F6E6D8"/>
          </a:solidFill>
          <a:ln w="12700">
            <a:solidFill>
              <a:srgbClr val="CFD4DA"/>
            </a:solidFill>
            <a:prstDash val="solid"/>
          </a:ln>
        </p:spPr>
        <p:txBody>
          <a:bodyPr/>
          <a:lstStyle/>
          <a:p>
            <a:endParaRPr lang="en-IN"/>
          </a:p>
        </p:txBody>
      </p:sp>
      <p:sp>
        <p:nvSpPr>
          <p:cNvPr id="24" name="Text 20"/>
          <p:cNvSpPr/>
          <p:nvPr/>
        </p:nvSpPr>
        <p:spPr>
          <a:xfrm>
            <a:off x="3035808" y="2834640"/>
            <a:ext cx="19293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Avoid</a:t>
            </a:r>
            <a:endParaRPr lang="en-US" sz="1100" dirty="0"/>
          </a:p>
        </p:txBody>
      </p:sp>
      <p:sp>
        <p:nvSpPr>
          <p:cNvPr id="25" name="Text 21"/>
          <p:cNvSpPr/>
          <p:nvPr/>
        </p:nvSpPr>
        <p:spPr>
          <a:xfrm>
            <a:off x="3035808" y="3054096"/>
            <a:ext cx="1929384" cy="987552"/>
          </a:xfrm>
          <a:prstGeom prst="rect">
            <a:avLst/>
          </a:prstGeom>
          <a:noFill/>
          <a:ln/>
        </p:spPr>
        <p:txBody>
          <a:bodyPr wrap="square" lIns="0" tIns="0" rIns="0" bIns="0" rtlCol="0" anchor="t">
            <a:normAutofit/>
          </a:bodyPr>
          <a:lstStyle/>
          <a:p>
            <a:pPr marL="0" indent="0">
              <a:buNone/>
            </a:pPr>
            <a:r>
              <a:rPr lang="en-US" sz="900" dirty="0">
                <a:solidFill>
                  <a:srgbClr val="202020"/>
                </a:solidFill>
                <a:latin typeface="Arial" pitchFamily="34" charset="0"/>
                <a:ea typeface="Arial" pitchFamily="34" charset="-122"/>
                <a:cs typeface="Arial" pitchFamily="34" charset="-120"/>
              </a:rPr>
              <a:t>• hand-written attention unless you need a custom variant</a:t>
            </a:r>
            <a:endParaRPr lang="en-US" sz="900" dirty="0"/>
          </a:p>
          <a:p>
            <a:pPr marL="0" indent="0">
              <a:buNone/>
            </a:pPr>
            <a:r>
              <a:rPr lang="en-US" sz="900" dirty="0">
                <a:solidFill>
                  <a:srgbClr val="202020"/>
                </a:solidFill>
                <a:latin typeface="Arial" pitchFamily="34" charset="0"/>
                <a:ea typeface="Arial" pitchFamily="34" charset="-122"/>
                <a:cs typeface="Arial" pitchFamily="34" charset="-120"/>
              </a:rPr>
              <a:t>• silent fallbacks to slow math kernels</a:t>
            </a:r>
            <a:endParaRPr lang="en-US" sz="900" dirty="0"/>
          </a:p>
          <a:p>
            <a:pPr marL="0" indent="0">
              <a:buNone/>
            </a:pPr>
            <a:r>
              <a:rPr lang="en-US" sz="900" dirty="0">
                <a:solidFill>
                  <a:srgbClr val="202020"/>
                </a:solidFill>
                <a:latin typeface="Arial" pitchFamily="34" charset="0"/>
                <a:ea typeface="Arial" pitchFamily="34" charset="-122"/>
                <a:cs typeface="Arial" pitchFamily="34" charset="-120"/>
              </a:rPr>
              <a:t>• mixing padding-heavy batches with long contexts</a:t>
            </a:r>
            <a:endParaRPr lang="en-US" sz="900" dirty="0"/>
          </a:p>
        </p:txBody>
      </p:sp>
      <p:sp>
        <p:nvSpPr>
          <p:cNvPr id="26" name="Shape 22"/>
          <p:cNvSpPr/>
          <p:nvPr/>
        </p:nvSpPr>
        <p:spPr>
          <a:xfrm>
            <a:off x="5285232" y="2743200"/>
            <a:ext cx="2148840" cy="1371600"/>
          </a:xfrm>
          <a:prstGeom prst="roundRect">
            <a:avLst>
              <a:gd name="adj" fmla="val 9333"/>
            </a:avLst>
          </a:prstGeom>
          <a:solidFill>
            <a:srgbClr val="F3E9B7"/>
          </a:solidFill>
          <a:ln w="12700">
            <a:solidFill>
              <a:srgbClr val="CFD4DA"/>
            </a:solidFill>
            <a:prstDash val="solid"/>
          </a:ln>
        </p:spPr>
        <p:txBody>
          <a:bodyPr/>
          <a:lstStyle/>
          <a:p>
            <a:endParaRPr lang="en-IN"/>
          </a:p>
        </p:txBody>
      </p:sp>
      <p:sp>
        <p:nvSpPr>
          <p:cNvPr id="27" name="Text 23"/>
          <p:cNvSpPr/>
          <p:nvPr/>
        </p:nvSpPr>
        <p:spPr>
          <a:xfrm>
            <a:off x="5394960" y="2834640"/>
            <a:ext cx="19293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Debug clue</a:t>
            </a:r>
            <a:endParaRPr lang="en-US" sz="1100" dirty="0"/>
          </a:p>
        </p:txBody>
      </p:sp>
      <p:sp>
        <p:nvSpPr>
          <p:cNvPr id="28" name="Text 24"/>
          <p:cNvSpPr/>
          <p:nvPr/>
        </p:nvSpPr>
        <p:spPr>
          <a:xfrm>
            <a:off x="5394960" y="3054096"/>
            <a:ext cx="1929384" cy="987552"/>
          </a:xfrm>
          <a:prstGeom prst="rect">
            <a:avLst/>
          </a:prstGeom>
          <a:noFill/>
          <a:ln/>
        </p:spPr>
        <p:txBody>
          <a:bodyPr wrap="square" lIns="0" tIns="0" rIns="0" bIns="0" rtlCol="0" anchor="t">
            <a:normAutofit/>
          </a:bodyPr>
          <a:lstStyle/>
          <a:p>
            <a:pPr marL="0" indent="0">
              <a:buNone/>
            </a:pPr>
            <a:r>
              <a:rPr lang="en-US" sz="900" dirty="0">
                <a:solidFill>
                  <a:srgbClr val="202020"/>
                </a:solidFill>
                <a:latin typeface="Arial" pitchFamily="34" charset="0"/>
                <a:ea typeface="Arial" pitchFamily="34" charset="-122"/>
                <a:cs typeface="Arial" pitchFamily="34" charset="-120"/>
              </a:rPr>
              <a:t>If memory jumps sharply with sequence length, inspect attention first: masks, kernel path, and whether the batch is dominated by padding.</a:t>
            </a:r>
            <a:endParaRPr lang="en-US" sz="900" dirty="0"/>
          </a:p>
        </p:txBody>
      </p:sp>
      <p:sp>
        <p:nvSpPr>
          <p:cNvPr id="29" name="Shape 25"/>
          <p:cNvSpPr/>
          <p:nvPr/>
        </p:nvSpPr>
        <p:spPr>
          <a:xfrm>
            <a:off x="7635240" y="2743200"/>
            <a:ext cx="3977640" cy="1371600"/>
          </a:xfrm>
          <a:prstGeom prst="roundRect">
            <a:avLst>
              <a:gd name="adj" fmla="val 9333"/>
            </a:avLst>
          </a:prstGeom>
          <a:solidFill>
            <a:srgbClr val="FFFFFF"/>
          </a:solidFill>
          <a:ln w="12700">
            <a:solidFill>
              <a:srgbClr val="CFD4DA"/>
            </a:solidFill>
            <a:prstDash val="solid"/>
          </a:ln>
        </p:spPr>
        <p:txBody>
          <a:bodyPr/>
          <a:lstStyle/>
          <a:p>
            <a:endParaRPr lang="en-IN"/>
          </a:p>
        </p:txBody>
      </p:sp>
      <p:sp>
        <p:nvSpPr>
          <p:cNvPr id="30" name="Text 26"/>
          <p:cNvSpPr/>
          <p:nvPr/>
        </p:nvSpPr>
        <p:spPr>
          <a:xfrm>
            <a:off x="7744968" y="2834640"/>
            <a:ext cx="37581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Operational recommendation</a:t>
            </a:r>
            <a:endParaRPr lang="en-US" sz="1100" dirty="0"/>
          </a:p>
        </p:txBody>
      </p:sp>
      <p:sp>
        <p:nvSpPr>
          <p:cNvPr id="31" name="Text 27"/>
          <p:cNvSpPr/>
          <p:nvPr/>
        </p:nvSpPr>
        <p:spPr>
          <a:xfrm>
            <a:off x="7744968" y="3054096"/>
            <a:ext cx="3758184" cy="987552"/>
          </a:xfrm>
          <a:prstGeom prst="rect">
            <a:avLst/>
          </a:prstGeom>
          <a:noFill/>
          <a:ln/>
        </p:spPr>
        <p:txBody>
          <a:bodyPr wrap="square" lIns="0" tIns="0" rIns="0" bIns="0" rtlCol="0" anchor="t">
            <a:normAutofit/>
          </a:bodyPr>
          <a:lstStyle/>
          <a:p>
            <a:pPr marL="0" indent="0">
              <a:buNone/>
            </a:pPr>
            <a:r>
              <a:rPr lang="en-US" sz="915" dirty="0">
                <a:solidFill>
                  <a:srgbClr val="202020"/>
                </a:solidFill>
                <a:latin typeface="Arial" pitchFamily="34" charset="0"/>
                <a:ea typeface="Arial" pitchFamily="34" charset="-122"/>
                <a:cs typeface="Arial" pitchFamily="34" charset="-120"/>
              </a:rPr>
              <a:t>On supported PyTorch/Transformers stacks, start with SDPA. If you are doing packed or variable-length fine-tuning and your hardware supports it, move to padding-free / varlen attention paths only after validating correctness against a simpler baseline.</a:t>
            </a:r>
            <a:endParaRPr lang="en-US" sz="91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8</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Efficient batching: bucketing, token budgets, and sequence packing</a:t>
            </a:r>
            <a:endParaRPr lang="en-US" sz="1750" dirty="0"/>
          </a:p>
        </p:txBody>
      </p:sp>
      <p:sp>
        <p:nvSpPr>
          <p:cNvPr id="10" name="Shape 7"/>
          <p:cNvSpPr/>
          <p:nvPr/>
        </p:nvSpPr>
        <p:spPr>
          <a:xfrm>
            <a:off x="502920" y="1024128"/>
            <a:ext cx="2057400" cy="1280160"/>
          </a:xfrm>
          <a:prstGeom prst="roundRect">
            <a:avLst>
              <a:gd name="adj" fmla="val 10000"/>
            </a:avLst>
          </a:prstGeom>
          <a:solidFill>
            <a:srgbClr val="F5DFDD"/>
          </a:solidFill>
          <a:ln w="12700">
            <a:solidFill>
              <a:srgbClr val="CFD4DA"/>
            </a:solidFill>
            <a:prstDash val="solid"/>
          </a:ln>
        </p:spPr>
        <p:txBody>
          <a:bodyPr/>
          <a:lstStyle/>
          <a:p>
            <a:endParaRPr lang="en-IN"/>
          </a:p>
        </p:txBody>
      </p:sp>
      <p:sp>
        <p:nvSpPr>
          <p:cNvPr id="11" name="Text 8"/>
          <p:cNvSpPr/>
          <p:nvPr/>
        </p:nvSpPr>
        <p:spPr>
          <a:xfrm>
            <a:off x="612648" y="1115568"/>
            <a:ext cx="18379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Length bucketing</a:t>
            </a:r>
            <a:endParaRPr lang="en-US" sz="1100" dirty="0"/>
          </a:p>
        </p:txBody>
      </p:sp>
      <p:sp>
        <p:nvSpPr>
          <p:cNvPr id="12" name="Text 9"/>
          <p:cNvSpPr/>
          <p:nvPr/>
        </p:nvSpPr>
        <p:spPr>
          <a:xfrm>
            <a:off x="612648" y="1335024"/>
            <a:ext cx="1837944" cy="896112"/>
          </a:xfrm>
          <a:prstGeom prst="rect">
            <a:avLst/>
          </a:prstGeom>
          <a:noFill/>
          <a:ln/>
        </p:spPr>
        <p:txBody>
          <a:bodyPr wrap="square" lIns="0" tIns="0" rIns="0" bIns="0" rtlCol="0" anchor="t">
            <a:normAutofit/>
          </a:bodyPr>
          <a:lstStyle/>
          <a:p>
            <a:pPr marL="0" indent="0">
              <a:buNone/>
            </a:pPr>
            <a:r>
              <a:rPr lang="en-US" sz="920" dirty="0">
                <a:solidFill>
                  <a:srgbClr val="202020"/>
                </a:solidFill>
                <a:latin typeface="Arial" pitchFamily="34" charset="0"/>
                <a:ea typeface="Arial" pitchFamily="34" charset="-122"/>
                <a:cs typeface="Arial" pitchFamily="34" charset="-120"/>
              </a:rPr>
              <a:t>Group examples of similar length so that each batch wastes fewer tokens on padding.</a:t>
            </a:r>
            <a:endParaRPr lang="en-US" sz="920" dirty="0"/>
          </a:p>
        </p:txBody>
      </p:sp>
      <p:sp>
        <p:nvSpPr>
          <p:cNvPr id="13" name="Shape 10"/>
          <p:cNvSpPr/>
          <p:nvPr/>
        </p:nvSpPr>
        <p:spPr>
          <a:xfrm>
            <a:off x="2761488" y="1024128"/>
            <a:ext cx="2057400" cy="1280160"/>
          </a:xfrm>
          <a:prstGeom prst="roundRect">
            <a:avLst>
              <a:gd name="adj" fmla="val 10000"/>
            </a:avLst>
          </a:prstGeom>
          <a:solidFill>
            <a:srgbClr val="F3E9B7"/>
          </a:solidFill>
          <a:ln w="12700">
            <a:solidFill>
              <a:srgbClr val="CFD4DA"/>
            </a:solidFill>
            <a:prstDash val="solid"/>
          </a:ln>
        </p:spPr>
        <p:txBody>
          <a:bodyPr/>
          <a:lstStyle/>
          <a:p>
            <a:endParaRPr lang="en-IN"/>
          </a:p>
        </p:txBody>
      </p:sp>
      <p:sp>
        <p:nvSpPr>
          <p:cNvPr id="14" name="Text 11"/>
          <p:cNvSpPr/>
          <p:nvPr/>
        </p:nvSpPr>
        <p:spPr>
          <a:xfrm>
            <a:off x="2871216" y="1115568"/>
            <a:ext cx="18379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Token-budget batching</a:t>
            </a:r>
            <a:endParaRPr lang="en-US" sz="1100" dirty="0"/>
          </a:p>
        </p:txBody>
      </p:sp>
      <p:sp>
        <p:nvSpPr>
          <p:cNvPr id="15" name="Text 12"/>
          <p:cNvSpPr/>
          <p:nvPr/>
        </p:nvSpPr>
        <p:spPr>
          <a:xfrm>
            <a:off x="2871216" y="1335024"/>
            <a:ext cx="1837944" cy="896112"/>
          </a:xfrm>
          <a:prstGeom prst="rect">
            <a:avLst/>
          </a:prstGeom>
          <a:noFill/>
          <a:ln/>
        </p:spPr>
        <p:txBody>
          <a:bodyPr wrap="square" lIns="0" tIns="0" rIns="0" bIns="0" rtlCol="0" anchor="t">
            <a:normAutofit/>
          </a:bodyPr>
          <a:lstStyle/>
          <a:p>
            <a:pPr marL="0" indent="0">
              <a:buNone/>
            </a:pPr>
            <a:r>
              <a:rPr lang="en-US" sz="920" dirty="0">
                <a:solidFill>
                  <a:srgbClr val="202020"/>
                </a:solidFill>
                <a:latin typeface="Arial" pitchFamily="34" charset="0"/>
                <a:ea typeface="Arial" pitchFamily="34" charset="-122"/>
                <a:cs typeface="Arial" pitchFamily="34" charset="-120"/>
              </a:rPr>
              <a:t>Keep “tokens per batch” approximately constant, rather than “examples per batch”. This stabilizes memory across varying lengths.</a:t>
            </a:r>
            <a:endParaRPr lang="en-US" sz="920" dirty="0"/>
          </a:p>
        </p:txBody>
      </p:sp>
      <p:sp>
        <p:nvSpPr>
          <p:cNvPr id="16" name="Shape 13"/>
          <p:cNvSpPr/>
          <p:nvPr/>
        </p:nvSpPr>
        <p:spPr>
          <a:xfrm>
            <a:off x="5020056" y="1024128"/>
            <a:ext cx="2057400" cy="1280160"/>
          </a:xfrm>
          <a:prstGeom prst="roundRect">
            <a:avLst>
              <a:gd name="adj" fmla="val 10000"/>
            </a:avLst>
          </a:prstGeom>
          <a:solidFill>
            <a:srgbClr val="E2F0E6"/>
          </a:solidFill>
          <a:ln w="12700">
            <a:solidFill>
              <a:srgbClr val="CFD4DA"/>
            </a:solidFill>
            <a:prstDash val="solid"/>
          </a:ln>
        </p:spPr>
        <p:txBody>
          <a:bodyPr/>
          <a:lstStyle/>
          <a:p>
            <a:endParaRPr lang="en-IN"/>
          </a:p>
        </p:txBody>
      </p:sp>
      <p:sp>
        <p:nvSpPr>
          <p:cNvPr id="17" name="Text 14"/>
          <p:cNvSpPr/>
          <p:nvPr/>
        </p:nvSpPr>
        <p:spPr>
          <a:xfrm>
            <a:off x="5129784" y="1115568"/>
            <a:ext cx="18379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Sequence packing</a:t>
            </a:r>
            <a:endParaRPr lang="en-US" sz="1100" dirty="0"/>
          </a:p>
        </p:txBody>
      </p:sp>
      <p:sp>
        <p:nvSpPr>
          <p:cNvPr id="18" name="Text 15"/>
          <p:cNvSpPr/>
          <p:nvPr/>
        </p:nvSpPr>
        <p:spPr>
          <a:xfrm>
            <a:off x="5129784" y="1335024"/>
            <a:ext cx="1837944" cy="896112"/>
          </a:xfrm>
          <a:prstGeom prst="rect">
            <a:avLst/>
          </a:prstGeom>
          <a:noFill/>
          <a:ln/>
        </p:spPr>
        <p:txBody>
          <a:bodyPr wrap="square" lIns="0" tIns="0" rIns="0" bIns="0" rtlCol="0" anchor="t">
            <a:normAutofit/>
          </a:bodyPr>
          <a:lstStyle/>
          <a:p>
            <a:pPr marL="0" indent="0">
              <a:buNone/>
            </a:pPr>
            <a:r>
              <a:rPr lang="en-US" sz="920" dirty="0">
                <a:solidFill>
                  <a:srgbClr val="202020"/>
                </a:solidFill>
                <a:latin typeface="Arial" pitchFamily="34" charset="0"/>
                <a:ea typeface="Arial" pitchFamily="34" charset="-122"/>
                <a:cs typeface="Arial" pitchFamily="34" charset="-120"/>
              </a:rPr>
              <a:t>Concatenate several short examples into one longer packed sequence and prevent cross-example attention with boundary-aware masks.</a:t>
            </a:r>
            <a:endParaRPr lang="en-US" sz="920" dirty="0"/>
          </a:p>
        </p:txBody>
      </p:sp>
      <p:sp>
        <p:nvSpPr>
          <p:cNvPr id="19" name="Shape 16"/>
          <p:cNvSpPr/>
          <p:nvPr/>
        </p:nvSpPr>
        <p:spPr>
          <a:xfrm>
            <a:off x="7360920" y="960120"/>
            <a:ext cx="4251960" cy="1417320"/>
          </a:xfrm>
          <a:prstGeom prst="roundRect">
            <a:avLst>
              <a:gd name="adj" fmla="val 9032"/>
            </a:avLst>
          </a:prstGeom>
          <a:solidFill>
            <a:srgbClr val="DFE8F5"/>
          </a:solidFill>
          <a:ln w="12700">
            <a:solidFill>
              <a:srgbClr val="CFD4DA"/>
            </a:solidFill>
            <a:prstDash val="solid"/>
          </a:ln>
        </p:spPr>
        <p:txBody>
          <a:bodyPr/>
          <a:lstStyle/>
          <a:p>
            <a:endParaRPr lang="en-IN"/>
          </a:p>
        </p:txBody>
      </p:sp>
      <p:sp>
        <p:nvSpPr>
          <p:cNvPr id="20" name="Text 17"/>
          <p:cNvSpPr/>
          <p:nvPr/>
        </p:nvSpPr>
        <p:spPr>
          <a:xfrm>
            <a:off x="7470648" y="1051560"/>
            <a:ext cx="403250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Concrete waste example</a:t>
            </a:r>
            <a:endParaRPr lang="en-US" sz="1100" dirty="0"/>
          </a:p>
        </p:txBody>
      </p:sp>
      <p:sp>
        <p:nvSpPr>
          <p:cNvPr id="21" name="Text 18"/>
          <p:cNvSpPr/>
          <p:nvPr/>
        </p:nvSpPr>
        <p:spPr>
          <a:xfrm>
            <a:off x="7470648" y="1271016"/>
            <a:ext cx="4032504" cy="1033272"/>
          </a:xfrm>
          <a:prstGeom prst="rect">
            <a:avLst/>
          </a:prstGeom>
          <a:noFill/>
          <a:ln/>
        </p:spPr>
        <p:txBody>
          <a:bodyPr wrap="square" lIns="0" tIns="0" rIns="0" bIns="0" rtlCol="0" anchor="t">
            <a:normAutofit/>
          </a:bodyPr>
          <a:lstStyle/>
          <a:p>
            <a:pPr marL="0" indent="0">
              <a:buNone/>
            </a:pPr>
            <a:r>
              <a:rPr lang="en-US" sz="925" dirty="0">
                <a:solidFill>
                  <a:srgbClr val="202020"/>
                </a:solidFill>
                <a:latin typeface="Arial" pitchFamily="34" charset="0"/>
                <a:ea typeface="Arial" pitchFamily="34" charset="-122"/>
                <a:cs typeface="Arial" pitchFamily="34" charset="-120"/>
              </a:rPr>
              <a:t>Suppose one microbatch has lengths [2048, 512, 480, 448]. Dense padding forces all four examples to length 2048, so the batch processes 8192 token positions but only 3488 are meaningful. That is ~57% padding waste before the model learns anything.</a:t>
            </a:r>
            <a:endParaRPr lang="en-US" sz="925" dirty="0"/>
          </a:p>
        </p:txBody>
      </p:sp>
      <p:sp>
        <p:nvSpPr>
          <p:cNvPr id="22" name="Shape 19"/>
          <p:cNvSpPr/>
          <p:nvPr/>
        </p:nvSpPr>
        <p:spPr>
          <a:xfrm>
            <a:off x="640080" y="2788920"/>
            <a:ext cx="2834640" cy="365760"/>
          </a:xfrm>
          <a:prstGeom prst="roundRect">
            <a:avLst>
              <a:gd name="adj" fmla="val 15000"/>
            </a:avLst>
          </a:prstGeom>
          <a:solidFill>
            <a:srgbClr val="FFFFFF"/>
          </a:solidFill>
          <a:ln w="12700">
            <a:solidFill>
              <a:srgbClr val="14386B"/>
            </a:solidFill>
            <a:prstDash val="solid"/>
          </a:ln>
        </p:spPr>
        <p:txBody>
          <a:bodyPr/>
          <a:lstStyle/>
          <a:p>
            <a:endParaRPr lang="en-IN"/>
          </a:p>
        </p:txBody>
      </p:sp>
      <p:sp>
        <p:nvSpPr>
          <p:cNvPr id="23" name="Text 20"/>
          <p:cNvSpPr/>
          <p:nvPr/>
        </p:nvSpPr>
        <p:spPr>
          <a:xfrm>
            <a:off x="868680" y="2871216"/>
            <a:ext cx="457200" cy="109728"/>
          </a:xfrm>
          <a:prstGeom prst="rect">
            <a:avLst/>
          </a:prstGeom>
          <a:noFill/>
          <a:ln/>
        </p:spPr>
        <p:txBody>
          <a:bodyPr wrap="square" lIns="0" tIns="0" rIns="0" bIns="0" rtlCol="0" anchor="ctr"/>
          <a:lstStyle/>
          <a:p>
            <a:pPr marL="0" indent="0" algn="ctr">
              <a:buNone/>
            </a:pPr>
            <a:r>
              <a:rPr lang="en-US" sz="920" dirty="0">
                <a:solidFill>
                  <a:srgbClr val="202020"/>
                </a:solidFill>
                <a:latin typeface="Arial" pitchFamily="34" charset="0"/>
                <a:ea typeface="Arial" pitchFamily="34" charset="-122"/>
                <a:cs typeface="Arial" pitchFamily="34" charset="-120"/>
              </a:rPr>
              <a:t>2048</a:t>
            </a:r>
            <a:endParaRPr lang="en-US" sz="920" dirty="0"/>
          </a:p>
        </p:txBody>
      </p:sp>
      <p:sp>
        <p:nvSpPr>
          <p:cNvPr id="24" name="Text 21"/>
          <p:cNvSpPr/>
          <p:nvPr/>
        </p:nvSpPr>
        <p:spPr>
          <a:xfrm>
            <a:off x="1527048" y="2871216"/>
            <a:ext cx="457200" cy="109728"/>
          </a:xfrm>
          <a:prstGeom prst="rect">
            <a:avLst/>
          </a:prstGeom>
          <a:noFill/>
          <a:ln/>
        </p:spPr>
        <p:txBody>
          <a:bodyPr wrap="square" lIns="0" tIns="0" rIns="0" bIns="0" rtlCol="0" anchor="ctr"/>
          <a:lstStyle/>
          <a:p>
            <a:pPr marL="0" indent="0" algn="ctr">
              <a:buNone/>
            </a:pPr>
            <a:r>
              <a:rPr lang="en-US" sz="920" dirty="0">
                <a:solidFill>
                  <a:srgbClr val="202020"/>
                </a:solidFill>
                <a:latin typeface="Arial" pitchFamily="34" charset="0"/>
                <a:ea typeface="Arial" pitchFamily="34" charset="-122"/>
                <a:cs typeface="Arial" pitchFamily="34" charset="-120"/>
              </a:rPr>
              <a:t>512</a:t>
            </a:r>
            <a:endParaRPr lang="en-US" sz="920" dirty="0"/>
          </a:p>
        </p:txBody>
      </p:sp>
      <p:sp>
        <p:nvSpPr>
          <p:cNvPr id="25" name="Text 22"/>
          <p:cNvSpPr/>
          <p:nvPr/>
        </p:nvSpPr>
        <p:spPr>
          <a:xfrm>
            <a:off x="2185416" y="2871216"/>
            <a:ext cx="457200" cy="109728"/>
          </a:xfrm>
          <a:prstGeom prst="rect">
            <a:avLst/>
          </a:prstGeom>
          <a:noFill/>
          <a:ln/>
        </p:spPr>
        <p:txBody>
          <a:bodyPr wrap="square" lIns="0" tIns="0" rIns="0" bIns="0" rtlCol="0" anchor="ctr"/>
          <a:lstStyle/>
          <a:p>
            <a:pPr marL="0" indent="0" algn="ctr">
              <a:buNone/>
            </a:pPr>
            <a:r>
              <a:rPr lang="en-US" sz="920" dirty="0">
                <a:solidFill>
                  <a:srgbClr val="202020"/>
                </a:solidFill>
                <a:latin typeface="Arial" pitchFamily="34" charset="0"/>
                <a:ea typeface="Arial" pitchFamily="34" charset="-122"/>
                <a:cs typeface="Arial" pitchFamily="34" charset="-120"/>
              </a:rPr>
              <a:t>480</a:t>
            </a:r>
            <a:endParaRPr lang="en-US" sz="920" dirty="0"/>
          </a:p>
        </p:txBody>
      </p:sp>
      <p:sp>
        <p:nvSpPr>
          <p:cNvPr id="26" name="Text 23"/>
          <p:cNvSpPr/>
          <p:nvPr/>
        </p:nvSpPr>
        <p:spPr>
          <a:xfrm>
            <a:off x="2843784" y="2871216"/>
            <a:ext cx="457200" cy="109728"/>
          </a:xfrm>
          <a:prstGeom prst="rect">
            <a:avLst/>
          </a:prstGeom>
          <a:noFill/>
          <a:ln/>
        </p:spPr>
        <p:txBody>
          <a:bodyPr wrap="square" lIns="0" tIns="0" rIns="0" bIns="0" rtlCol="0" anchor="ctr"/>
          <a:lstStyle/>
          <a:p>
            <a:pPr marL="0" indent="0" algn="ctr">
              <a:buNone/>
            </a:pPr>
            <a:r>
              <a:rPr lang="en-US" sz="920" dirty="0">
                <a:solidFill>
                  <a:srgbClr val="202020"/>
                </a:solidFill>
                <a:latin typeface="Arial" pitchFamily="34" charset="0"/>
                <a:ea typeface="Arial" pitchFamily="34" charset="-122"/>
                <a:cs typeface="Arial" pitchFamily="34" charset="-120"/>
              </a:rPr>
              <a:t>448</a:t>
            </a:r>
            <a:endParaRPr lang="en-US" sz="920" dirty="0"/>
          </a:p>
        </p:txBody>
      </p:sp>
      <p:sp>
        <p:nvSpPr>
          <p:cNvPr id="27" name="Text 24"/>
          <p:cNvSpPr/>
          <p:nvPr/>
        </p:nvSpPr>
        <p:spPr>
          <a:xfrm>
            <a:off x="667512" y="3200400"/>
            <a:ext cx="2697480" cy="128016"/>
          </a:xfrm>
          <a:prstGeom prst="rect">
            <a:avLst/>
          </a:prstGeom>
          <a:noFill/>
          <a:ln/>
        </p:spPr>
        <p:txBody>
          <a:bodyPr wrap="square" lIns="0" tIns="0" rIns="0" bIns="0" rtlCol="0" anchor="ctr"/>
          <a:lstStyle/>
          <a:p>
            <a:pPr marL="0" indent="0" algn="ctr">
              <a:buNone/>
            </a:pPr>
            <a:r>
              <a:rPr lang="en-US" sz="860" dirty="0">
                <a:solidFill>
                  <a:srgbClr val="6B6B6B"/>
                </a:solidFill>
                <a:latin typeface="Arial" pitchFamily="34" charset="0"/>
                <a:ea typeface="Arial" pitchFamily="34" charset="-122"/>
                <a:cs typeface="Arial" pitchFamily="34" charset="-120"/>
              </a:rPr>
              <a:t>naive padded batch</a:t>
            </a:r>
            <a:endParaRPr lang="en-US" sz="860" dirty="0"/>
          </a:p>
        </p:txBody>
      </p:sp>
      <p:sp>
        <p:nvSpPr>
          <p:cNvPr id="28" name="Shape 25"/>
          <p:cNvSpPr/>
          <p:nvPr/>
        </p:nvSpPr>
        <p:spPr>
          <a:xfrm>
            <a:off x="3657600" y="2816352"/>
            <a:ext cx="411480" cy="292608"/>
          </a:xfrm>
          <a:prstGeom prst="chevron">
            <a:avLst/>
          </a:prstGeom>
          <a:solidFill>
            <a:srgbClr val="E8EDF5"/>
          </a:solidFill>
          <a:ln w="12700">
            <a:solidFill>
              <a:srgbClr val="9AA8BA"/>
            </a:solidFill>
            <a:prstDash val="solid"/>
          </a:ln>
        </p:spPr>
        <p:txBody>
          <a:bodyPr/>
          <a:lstStyle/>
          <a:p>
            <a:endParaRPr lang="en-IN"/>
          </a:p>
        </p:txBody>
      </p:sp>
      <p:sp>
        <p:nvSpPr>
          <p:cNvPr id="29" name="Shape 26"/>
          <p:cNvSpPr/>
          <p:nvPr/>
        </p:nvSpPr>
        <p:spPr>
          <a:xfrm>
            <a:off x="4297680" y="2788920"/>
            <a:ext cx="3749040" cy="365760"/>
          </a:xfrm>
          <a:prstGeom prst="roundRect">
            <a:avLst>
              <a:gd name="adj" fmla="val 15000"/>
            </a:avLst>
          </a:prstGeom>
          <a:solidFill>
            <a:srgbClr val="FFFFFF"/>
          </a:solidFill>
          <a:ln w="12700">
            <a:solidFill>
              <a:srgbClr val="14386B"/>
            </a:solidFill>
            <a:prstDash val="solid"/>
          </a:ln>
        </p:spPr>
        <p:txBody>
          <a:bodyPr/>
          <a:lstStyle/>
          <a:p>
            <a:endParaRPr lang="en-IN"/>
          </a:p>
        </p:txBody>
      </p:sp>
      <p:sp>
        <p:nvSpPr>
          <p:cNvPr id="30" name="Shape 27"/>
          <p:cNvSpPr/>
          <p:nvPr/>
        </p:nvSpPr>
        <p:spPr>
          <a:xfrm>
            <a:off x="4325112" y="2816352"/>
            <a:ext cx="1417320" cy="310896"/>
          </a:xfrm>
          <a:prstGeom prst="rect">
            <a:avLst/>
          </a:prstGeom>
          <a:solidFill>
            <a:srgbClr val="BFD4F0"/>
          </a:solidFill>
          <a:ln w="12700">
            <a:solidFill>
              <a:srgbClr val="5B7DAA">
                <a:alpha val="0"/>
              </a:srgbClr>
            </a:solidFill>
            <a:prstDash val="solid"/>
          </a:ln>
        </p:spPr>
        <p:txBody>
          <a:bodyPr/>
          <a:lstStyle/>
          <a:p>
            <a:endParaRPr lang="en-IN"/>
          </a:p>
        </p:txBody>
      </p:sp>
      <p:sp>
        <p:nvSpPr>
          <p:cNvPr id="31" name="Shape 28"/>
          <p:cNvSpPr/>
          <p:nvPr/>
        </p:nvSpPr>
        <p:spPr>
          <a:xfrm>
            <a:off x="5742432" y="2816352"/>
            <a:ext cx="356616" cy="310896"/>
          </a:xfrm>
          <a:prstGeom prst="rect">
            <a:avLst/>
          </a:prstGeom>
          <a:solidFill>
            <a:srgbClr val="F3E1A5"/>
          </a:solidFill>
          <a:ln w="12700">
            <a:solidFill>
              <a:srgbClr val="B3913D">
                <a:alpha val="0"/>
              </a:srgbClr>
            </a:solidFill>
            <a:prstDash val="solid"/>
          </a:ln>
        </p:spPr>
        <p:txBody>
          <a:bodyPr/>
          <a:lstStyle/>
          <a:p>
            <a:endParaRPr lang="en-IN"/>
          </a:p>
        </p:txBody>
      </p:sp>
      <p:sp>
        <p:nvSpPr>
          <p:cNvPr id="32" name="Shape 29"/>
          <p:cNvSpPr/>
          <p:nvPr/>
        </p:nvSpPr>
        <p:spPr>
          <a:xfrm>
            <a:off x="6099048" y="2816352"/>
            <a:ext cx="329184" cy="310896"/>
          </a:xfrm>
          <a:prstGeom prst="rect">
            <a:avLst/>
          </a:prstGeom>
          <a:solidFill>
            <a:srgbClr val="CDE9D5"/>
          </a:solidFill>
          <a:ln w="12700">
            <a:solidFill>
              <a:srgbClr val="5B9A70">
                <a:alpha val="0"/>
              </a:srgbClr>
            </a:solidFill>
            <a:prstDash val="solid"/>
          </a:ln>
        </p:spPr>
        <p:txBody>
          <a:bodyPr/>
          <a:lstStyle/>
          <a:p>
            <a:endParaRPr lang="en-IN"/>
          </a:p>
        </p:txBody>
      </p:sp>
      <p:sp>
        <p:nvSpPr>
          <p:cNvPr id="33" name="Shape 30"/>
          <p:cNvSpPr/>
          <p:nvPr/>
        </p:nvSpPr>
        <p:spPr>
          <a:xfrm>
            <a:off x="6428232" y="2816352"/>
            <a:ext cx="301752" cy="310896"/>
          </a:xfrm>
          <a:prstGeom prst="rect">
            <a:avLst/>
          </a:prstGeom>
          <a:solidFill>
            <a:srgbClr val="F1CDCD"/>
          </a:solidFill>
          <a:ln w="12700">
            <a:solidFill>
              <a:srgbClr val="C37A7A">
                <a:alpha val="0"/>
              </a:srgbClr>
            </a:solidFill>
            <a:prstDash val="solid"/>
          </a:ln>
        </p:spPr>
        <p:txBody>
          <a:bodyPr/>
          <a:lstStyle/>
          <a:p>
            <a:endParaRPr lang="en-IN"/>
          </a:p>
        </p:txBody>
      </p:sp>
      <p:sp>
        <p:nvSpPr>
          <p:cNvPr id="34" name="Text 31"/>
          <p:cNvSpPr/>
          <p:nvPr/>
        </p:nvSpPr>
        <p:spPr>
          <a:xfrm>
            <a:off x="4773168" y="3200400"/>
            <a:ext cx="2880360" cy="128016"/>
          </a:xfrm>
          <a:prstGeom prst="rect">
            <a:avLst/>
          </a:prstGeom>
          <a:noFill/>
          <a:ln/>
        </p:spPr>
        <p:txBody>
          <a:bodyPr wrap="square" lIns="0" tIns="0" rIns="0" bIns="0" rtlCol="0" anchor="ctr"/>
          <a:lstStyle/>
          <a:p>
            <a:pPr marL="0" indent="0" algn="ctr">
              <a:buNone/>
            </a:pPr>
            <a:r>
              <a:rPr lang="en-US" sz="860" dirty="0">
                <a:solidFill>
                  <a:srgbClr val="6B6B6B"/>
                </a:solidFill>
                <a:latin typeface="Arial" pitchFamily="34" charset="0"/>
                <a:ea typeface="Arial" pitchFamily="34" charset="-122"/>
                <a:cs typeface="Arial" pitchFamily="34" charset="-120"/>
              </a:rPr>
              <a:t>packed/flattened useful tokens</a:t>
            </a:r>
            <a:endParaRPr lang="en-US" sz="860" dirty="0"/>
          </a:p>
        </p:txBody>
      </p:sp>
      <p:sp>
        <p:nvSpPr>
          <p:cNvPr id="35" name="Shape 32"/>
          <p:cNvSpPr/>
          <p:nvPr/>
        </p:nvSpPr>
        <p:spPr>
          <a:xfrm>
            <a:off x="502920" y="3703320"/>
            <a:ext cx="3611880" cy="1143000"/>
          </a:xfrm>
          <a:prstGeom prst="roundRect">
            <a:avLst>
              <a:gd name="adj" fmla="val 11200"/>
            </a:avLst>
          </a:prstGeom>
          <a:solidFill>
            <a:srgbClr val="FFFFFF"/>
          </a:solidFill>
          <a:ln w="12700">
            <a:solidFill>
              <a:srgbClr val="CFD4DA"/>
            </a:solidFill>
            <a:prstDash val="solid"/>
          </a:ln>
        </p:spPr>
        <p:txBody>
          <a:bodyPr/>
          <a:lstStyle/>
          <a:p>
            <a:endParaRPr lang="en-IN"/>
          </a:p>
        </p:txBody>
      </p:sp>
      <p:sp>
        <p:nvSpPr>
          <p:cNvPr id="36" name="Text 33"/>
          <p:cNvSpPr/>
          <p:nvPr/>
        </p:nvSpPr>
        <p:spPr>
          <a:xfrm>
            <a:off x="612648" y="3794760"/>
            <a:ext cx="3392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Where packing helps most</a:t>
            </a:r>
            <a:endParaRPr lang="en-US" sz="1100" dirty="0"/>
          </a:p>
        </p:txBody>
      </p:sp>
      <p:sp>
        <p:nvSpPr>
          <p:cNvPr id="37" name="Text 34"/>
          <p:cNvSpPr/>
          <p:nvPr/>
        </p:nvSpPr>
        <p:spPr>
          <a:xfrm>
            <a:off x="612648" y="4014216"/>
            <a:ext cx="3392424" cy="758952"/>
          </a:xfrm>
          <a:prstGeom prst="rect">
            <a:avLst/>
          </a:prstGeom>
          <a:noFill/>
          <a:ln/>
        </p:spPr>
        <p:txBody>
          <a:bodyPr wrap="square" lIns="0" tIns="0" rIns="0" bIns="0" rtlCol="0" anchor="t">
            <a:normAutofit/>
          </a:bodyPr>
          <a:lstStyle/>
          <a:p>
            <a:pPr marL="0" indent="0">
              <a:buNone/>
            </a:pPr>
            <a:r>
              <a:rPr lang="en-US" sz="915" dirty="0">
                <a:solidFill>
                  <a:srgbClr val="202020"/>
                </a:solidFill>
                <a:latin typeface="Arial" pitchFamily="34" charset="0"/>
                <a:ea typeface="Arial" pitchFamily="34" charset="-122"/>
                <a:cs typeface="Arial" pitchFamily="34" charset="-120"/>
              </a:rPr>
              <a:t>Supervised fine-tuning datasets often have a long tail of short examples. Packing can dramatically raise GPU utilization when lengths are highly skewed.</a:t>
            </a:r>
            <a:endParaRPr lang="en-US" sz="915" dirty="0"/>
          </a:p>
        </p:txBody>
      </p:sp>
      <p:sp>
        <p:nvSpPr>
          <p:cNvPr id="38" name="Shape 35"/>
          <p:cNvSpPr/>
          <p:nvPr/>
        </p:nvSpPr>
        <p:spPr>
          <a:xfrm>
            <a:off x="4343400" y="3703320"/>
            <a:ext cx="3611880" cy="1143000"/>
          </a:xfrm>
          <a:prstGeom prst="roundRect">
            <a:avLst>
              <a:gd name="adj" fmla="val 11200"/>
            </a:avLst>
          </a:prstGeom>
          <a:solidFill>
            <a:srgbClr val="F6E6D8"/>
          </a:solidFill>
          <a:ln w="12700">
            <a:solidFill>
              <a:srgbClr val="CFD4DA"/>
            </a:solidFill>
            <a:prstDash val="solid"/>
          </a:ln>
        </p:spPr>
        <p:txBody>
          <a:bodyPr/>
          <a:lstStyle/>
          <a:p>
            <a:endParaRPr lang="en-IN"/>
          </a:p>
        </p:txBody>
      </p:sp>
      <p:sp>
        <p:nvSpPr>
          <p:cNvPr id="39" name="Text 36"/>
          <p:cNvSpPr/>
          <p:nvPr/>
        </p:nvSpPr>
        <p:spPr>
          <a:xfrm>
            <a:off x="4453128" y="3794760"/>
            <a:ext cx="3392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Safety constraint</a:t>
            </a:r>
            <a:endParaRPr lang="en-US" sz="1100" dirty="0"/>
          </a:p>
        </p:txBody>
      </p:sp>
      <p:sp>
        <p:nvSpPr>
          <p:cNvPr id="40" name="Text 37"/>
          <p:cNvSpPr/>
          <p:nvPr/>
        </p:nvSpPr>
        <p:spPr>
          <a:xfrm>
            <a:off x="4453128" y="4014216"/>
            <a:ext cx="3392424" cy="758952"/>
          </a:xfrm>
          <a:prstGeom prst="rect">
            <a:avLst/>
          </a:prstGeom>
          <a:noFill/>
          <a:ln/>
        </p:spPr>
        <p:txBody>
          <a:bodyPr wrap="square" lIns="0" tIns="0" rIns="0" bIns="0" rtlCol="0" anchor="t">
            <a:normAutofit/>
          </a:bodyPr>
          <a:lstStyle/>
          <a:p>
            <a:pPr marL="0" indent="0">
              <a:buNone/>
            </a:pPr>
            <a:r>
              <a:rPr lang="en-US" sz="915" dirty="0">
                <a:solidFill>
                  <a:srgbClr val="202020"/>
                </a:solidFill>
                <a:latin typeface="Arial" pitchFamily="34" charset="0"/>
                <a:ea typeface="Arial" pitchFamily="34" charset="-122"/>
                <a:cs typeface="Arial" pitchFamily="34" charset="-120"/>
              </a:rPr>
              <a:t>Packing is not the same as blind concatenation. The model must not attend across example boundaries unless that is explicitly intended by the task design.</a:t>
            </a:r>
            <a:endParaRPr lang="en-US" sz="915" dirty="0"/>
          </a:p>
        </p:txBody>
      </p:sp>
      <p:sp>
        <p:nvSpPr>
          <p:cNvPr id="41" name="Shape 38"/>
          <p:cNvSpPr/>
          <p:nvPr/>
        </p:nvSpPr>
        <p:spPr>
          <a:xfrm>
            <a:off x="8183880" y="3703320"/>
            <a:ext cx="3429000" cy="1143000"/>
          </a:xfrm>
          <a:prstGeom prst="roundRect">
            <a:avLst>
              <a:gd name="adj" fmla="val 11200"/>
            </a:avLst>
          </a:prstGeom>
          <a:solidFill>
            <a:srgbClr val="FFFFFF"/>
          </a:solidFill>
          <a:ln w="12700">
            <a:solidFill>
              <a:srgbClr val="CFD4DA"/>
            </a:solidFill>
            <a:prstDash val="solid"/>
          </a:ln>
        </p:spPr>
        <p:txBody>
          <a:bodyPr/>
          <a:lstStyle/>
          <a:p>
            <a:endParaRPr lang="en-IN"/>
          </a:p>
        </p:txBody>
      </p:sp>
      <p:sp>
        <p:nvSpPr>
          <p:cNvPr id="42" name="Text 39"/>
          <p:cNvSpPr/>
          <p:nvPr/>
        </p:nvSpPr>
        <p:spPr>
          <a:xfrm>
            <a:off x="8293608" y="3794760"/>
            <a:ext cx="32095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Current practice</a:t>
            </a:r>
            <a:endParaRPr lang="en-US" sz="1100" dirty="0"/>
          </a:p>
        </p:txBody>
      </p:sp>
      <p:sp>
        <p:nvSpPr>
          <p:cNvPr id="43" name="Text 40"/>
          <p:cNvSpPr/>
          <p:nvPr/>
        </p:nvSpPr>
        <p:spPr>
          <a:xfrm>
            <a:off x="8293608" y="4014216"/>
            <a:ext cx="3209544" cy="758952"/>
          </a:xfrm>
          <a:prstGeom prst="rect">
            <a:avLst/>
          </a:prstGeom>
          <a:noFill/>
          <a:ln/>
        </p:spPr>
        <p:txBody>
          <a:bodyPr wrap="square" lIns="0" tIns="0" rIns="0" bIns="0" rtlCol="0" anchor="t">
            <a:normAutofit/>
          </a:bodyPr>
          <a:lstStyle/>
          <a:p>
            <a:pPr marL="0" indent="0">
              <a:buNone/>
            </a:pPr>
            <a:r>
              <a:rPr lang="en-US" sz="905" dirty="0">
                <a:solidFill>
                  <a:srgbClr val="202020"/>
                </a:solidFill>
                <a:latin typeface="Arial" pitchFamily="34" charset="0"/>
                <a:ea typeface="Arial" pitchFamily="34" charset="-122"/>
                <a:cs typeface="Arial" pitchFamily="34" charset="-120"/>
              </a:rPr>
              <a:t>Transformers and Megatron-family stacks increasingly expose packing-aware collators and varlen attention paths. Fine-tuning tends to benefit more than pretraining because pretraining data loaders often already concatenate to fill blocks.</a:t>
            </a:r>
            <a:endParaRPr lang="en-US" sz="90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9</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Optimizer and gradient memory: choose the right lever for the actual bottleneck</a:t>
            </a:r>
            <a:endParaRPr lang="en-US" sz="1750" dirty="0"/>
          </a:p>
        </p:txBody>
      </p:sp>
      <p:sp>
        <p:nvSpPr>
          <p:cNvPr id="10" name="Shape 7"/>
          <p:cNvSpPr/>
          <p:nvPr/>
        </p:nvSpPr>
        <p:spPr>
          <a:xfrm>
            <a:off x="548640" y="1051560"/>
            <a:ext cx="3611880" cy="1508760"/>
          </a:xfrm>
          <a:prstGeom prst="roundRect">
            <a:avLst>
              <a:gd name="adj" fmla="val 8485"/>
            </a:avLst>
          </a:prstGeom>
          <a:solidFill>
            <a:srgbClr val="DFE8F5"/>
          </a:solidFill>
          <a:ln w="12700">
            <a:solidFill>
              <a:srgbClr val="CFD4DA"/>
            </a:solidFill>
            <a:prstDash val="solid"/>
          </a:ln>
        </p:spPr>
        <p:txBody>
          <a:bodyPr/>
          <a:lstStyle/>
          <a:p>
            <a:endParaRPr lang="en-IN"/>
          </a:p>
        </p:txBody>
      </p:sp>
      <p:sp>
        <p:nvSpPr>
          <p:cNvPr id="11" name="Text 8"/>
          <p:cNvSpPr/>
          <p:nvPr/>
        </p:nvSpPr>
        <p:spPr>
          <a:xfrm>
            <a:off x="658368" y="1143000"/>
            <a:ext cx="3392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1) Reduce optimizer-state memory</a:t>
            </a:r>
            <a:endParaRPr lang="en-US" sz="1100" dirty="0"/>
          </a:p>
        </p:txBody>
      </p:sp>
      <p:sp>
        <p:nvSpPr>
          <p:cNvPr id="12" name="Text 9"/>
          <p:cNvSpPr/>
          <p:nvPr/>
        </p:nvSpPr>
        <p:spPr>
          <a:xfrm>
            <a:off x="658368" y="1362456"/>
            <a:ext cx="3392424" cy="1124712"/>
          </a:xfrm>
          <a:prstGeom prst="rect">
            <a:avLst/>
          </a:prstGeom>
          <a:noFill/>
          <a:ln/>
        </p:spPr>
        <p:txBody>
          <a:bodyPr wrap="square" lIns="0" tIns="0" rIns="0" bIns="0" rtlCol="0" anchor="t">
            <a:normAutofit/>
          </a:bodyPr>
          <a:lstStyle/>
          <a:p>
            <a:pPr marL="0" indent="0">
              <a:buNone/>
            </a:pPr>
            <a:r>
              <a:rPr lang="en-US" sz="920" dirty="0">
                <a:solidFill>
                  <a:srgbClr val="202020"/>
                </a:solidFill>
                <a:latin typeface="Arial" pitchFamily="34" charset="0"/>
                <a:ea typeface="Arial" pitchFamily="34" charset="-122"/>
                <a:cs typeface="Arial" pitchFamily="34" charset="-120"/>
              </a:rPr>
              <a:t>8-bit optimizers are most useful when parameters and optimizer states dominate memory. Hugging Face’s bitsandbytes guide states that 8-bit optimizers can cut optimizer memory substantially—up to 75% versus standard 32-bit states—while leaving activations untouched.</a:t>
            </a:r>
            <a:endParaRPr lang="en-US" sz="920" dirty="0"/>
          </a:p>
        </p:txBody>
      </p:sp>
      <p:sp>
        <p:nvSpPr>
          <p:cNvPr id="13" name="Shape 10"/>
          <p:cNvSpPr/>
          <p:nvPr/>
        </p:nvSpPr>
        <p:spPr>
          <a:xfrm>
            <a:off x="4297680" y="1051560"/>
            <a:ext cx="3611880" cy="1508760"/>
          </a:xfrm>
          <a:prstGeom prst="roundRect">
            <a:avLst>
              <a:gd name="adj" fmla="val 8485"/>
            </a:avLst>
          </a:prstGeom>
          <a:solidFill>
            <a:srgbClr val="F3E9B7"/>
          </a:solidFill>
          <a:ln w="12700">
            <a:solidFill>
              <a:srgbClr val="CFD4DA"/>
            </a:solidFill>
            <a:prstDash val="solid"/>
          </a:ln>
        </p:spPr>
        <p:txBody>
          <a:bodyPr/>
          <a:lstStyle/>
          <a:p>
            <a:endParaRPr lang="en-IN"/>
          </a:p>
        </p:txBody>
      </p:sp>
      <p:sp>
        <p:nvSpPr>
          <p:cNvPr id="14" name="Text 11"/>
          <p:cNvSpPr/>
          <p:nvPr/>
        </p:nvSpPr>
        <p:spPr>
          <a:xfrm>
            <a:off x="4407408" y="1143000"/>
            <a:ext cx="3392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2) Fuse optimizer step into backward (advanced)</a:t>
            </a:r>
            <a:endParaRPr lang="en-US" sz="1100" dirty="0"/>
          </a:p>
        </p:txBody>
      </p:sp>
      <p:sp>
        <p:nvSpPr>
          <p:cNvPr id="15" name="Text 12"/>
          <p:cNvSpPr/>
          <p:nvPr/>
        </p:nvSpPr>
        <p:spPr>
          <a:xfrm>
            <a:off x="4407408" y="1362456"/>
            <a:ext cx="3392424" cy="1124712"/>
          </a:xfrm>
          <a:prstGeom prst="rect">
            <a:avLst/>
          </a:prstGeom>
          <a:noFill/>
          <a:ln/>
        </p:spPr>
        <p:txBody>
          <a:bodyPr wrap="square" lIns="0" tIns="0" rIns="0" bIns="0" rtlCol="0" anchor="t">
            <a:normAutofit/>
          </a:bodyPr>
          <a:lstStyle/>
          <a:p>
            <a:pPr marL="0" indent="0">
              <a:buNone/>
            </a:pPr>
            <a:r>
              <a:rPr lang="en-US" sz="915" dirty="0">
                <a:solidFill>
                  <a:srgbClr val="202020"/>
                </a:solidFill>
                <a:latin typeface="Arial" pitchFamily="34" charset="0"/>
                <a:ea typeface="Arial" pitchFamily="34" charset="-122"/>
                <a:cs typeface="Arial" pitchFamily="34" charset="-120"/>
              </a:rPr>
              <a:t>PyTorch’s post-accumulate grad hook lets you update a parameter as soon as its gradient has been accumulated, so you do not need to keep a large gradient buffer until the end of backward. This is useful only when gradient memory is significant and you are not relying on gradient accumulation.</a:t>
            </a:r>
            <a:endParaRPr lang="en-US" sz="915" dirty="0"/>
          </a:p>
        </p:txBody>
      </p:sp>
      <p:sp>
        <p:nvSpPr>
          <p:cNvPr id="16" name="Shape 13"/>
          <p:cNvSpPr/>
          <p:nvPr/>
        </p:nvSpPr>
        <p:spPr>
          <a:xfrm>
            <a:off x="8046720" y="1051560"/>
            <a:ext cx="3611880" cy="1508760"/>
          </a:xfrm>
          <a:prstGeom prst="roundRect">
            <a:avLst>
              <a:gd name="adj" fmla="val 8485"/>
            </a:avLst>
          </a:prstGeom>
          <a:solidFill>
            <a:srgbClr val="F5DFDD"/>
          </a:solidFill>
          <a:ln w="12700">
            <a:solidFill>
              <a:srgbClr val="CFD4DA"/>
            </a:solidFill>
            <a:prstDash val="solid"/>
          </a:ln>
        </p:spPr>
        <p:txBody>
          <a:bodyPr/>
          <a:lstStyle/>
          <a:p>
            <a:endParaRPr lang="en-IN"/>
          </a:p>
        </p:txBody>
      </p:sp>
      <p:sp>
        <p:nvSpPr>
          <p:cNvPr id="17" name="Text 14"/>
          <p:cNvSpPr/>
          <p:nvPr/>
        </p:nvSpPr>
        <p:spPr>
          <a:xfrm>
            <a:off x="8156448" y="1143000"/>
            <a:ext cx="3392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3) Offload only when necessary</a:t>
            </a:r>
            <a:endParaRPr lang="en-US" sz="1100" dirty="0"/>
          </a:p>
        </p:txBody>
      </p:sp>
      <p:sp>
        <p:nvSpPr>
          <p:cNvPr id="18" name="Text 15"/>
          <p:cNvSpPr/>
          <p:nvPr/>
        </p:nvSpPr>
        <p:spPr>
          <a:xfrm>
            <a:off x="8156448" y="1362456"/>
            <a:ext cx="3392424" cy="1124712"/>
          </a:xfrm>
          <a:prstGeom prst="rect">
            <a:avLst/>
          </a:prstGeom>
          <a:noFill/>
          <a:ln/>
        </p:spPr>
        <p:txBody>
          <a:bodyPr wrap="square" lIns="0" tIns="0" rIns="0" bIns="0" rtlCol="0" anchor="t">
            <a:normAutofit/>
          </a:bodyPr>
          <a:lstStyle/>
          <a:p>
            <a:pPr marL="0" indent="0">
              <a:buNone/>
            </a:pPr>
            <a:r>
              <a:rPr lang="en-US" sz="910" dirty="0">
                <a:solidFill>
                  <a:srgbClr val="202020"/>
                </a:solidFill>
                <a:latin typeface="Arial" pitchFamily="34" charset="0"/>
                <a:ea typeface="Arial" pitchFamily="34" charset="-122"/>
                <a:cs typeface="Arial" pitchFamily="34" charset="-120"/>
              </a:rPr>
              <a:t>CPU/NVMe offload can rescue runs that otherwise do not fit, but it turns memory pressure into bandwidth/latency pressure. Use it after you have already reduced padding waste and activation peaks.</a:t>
            </a:r>
            <a:endParaRPr lang="en-US" sz="910" dirty="0"/>
          </a:p>
        </p:txBody>
      </p:sp>
      <p:sp>
        <p:nvSpPr>
          <p:cNvPr id="19" name="Shape 16"/>
          <p:cNvSpPr/>
          <p:nvPr/>
        </p:nvSpPr>
        <p:spPr>
          <a:xfrm>
            <a:off x="566928" y="2926080"/>
            <a:ext cx="2331720" cy="384048"/>
          </a:xfrm>
          <a:prstGeom prst="rect">
            <a:avLst/>
          </a:prstGeom>
          <a:solidFill>
            <a:srgbClr val="E8EEF7"/>
          </a:solidFill>
          <a:ln w="12700">
            <a:solidFill>
              <a:srgbClr val="CFD4DA"/>
            </a:solidFill>
            <a:prstDash val="solid"/>
          </a:ln>
        </p:spPr>
        <p:txBody>
          <a:bodyPr/>
          <a:lstStyle/>
          <a:p>
            <a:endParaRPr lang="en-IN"/>
          </a:p>
        </p:txBody>
      </p:sp>
      <p:sp>
        <p:nvSpPr>
          <p:cNvPr id="20" name="Text 17"/>
          <p:cNvSpPr/>
          <p:nvPr/>
        </p:nvSpPr>
        <p:spPr>
          <a:xfrm>
            <a:off x="621792" y="2971800"/>
            <a:ext cx="2221992" cy="292608"/>
          </a:xfrm>
          <a:prstGeom prst="rect">
            <a:avLst/>
          </a:prstGeom>
          <a:noFill/>
          <a:ln/>
        </p:spPr>
        <p:txBody>
          <a:bodyPr wrap="square" lIns="0" tIns="0" rIns="0" bIns="0" rtlCol="0" anchor="ctr">
            <a:normAutofit/>
          </a:bodyPr>
          <a:lstStyle/>
          <a:p>
            <a:pPr marL="0" indent="0">
              <a:buNone/>
            </a:pPr>
            <a:r>
              <a:rPr lang="en-US" sz="880" b="1" dirty="0">
                <a:solidFill>
                  <a:srgbClr val="202020"/>
                </a:solidFill>
                <a:latin typeface="Arial" pitchFamily="34" charset="0"/>
                <a:ea typeface="Arial" pitchFamily="34" charset="-122"/>
                <a:cs typeface="Arial" pitchFamily="34" charset="-120"/>
              </a:rPr>
              <a:t>Symptom</a:t>
            </a:r>
            <a:endParaRPr lang="en-US" sz="880" dirty="0"/>
          </a:p>
        </p:txBody>
      </p:sp>
      <p:sp>
        <p:nvSpPr>
          <p:cNvPr id="21" name="Shape 18"/>
          <p:cNvSpPr/>
          <p:nvPr/>
        </p:nvSpPr>
        <p:spPr>
          <a:xfrm>
            <a:off x="2898648" y="2926080"/>
            <a:ext cx="2148840" cy="384048"/>
          </a:xfrm>
          <a:prstGeom prst="rect">
            <a:avLst/>
          </a:prstGeom>
          <a:solidFill>
            <a:srgbClr val="E8EEF7"/>
          </a:solidFill>
          <a:ln w="12700">
            <a:solidFill>
              <a:srgbClr val="CFD4DA"/>
            </a:solidFill>
            <a:prstDash val="solid"/>
          </a:ln>
        </p:spPr>
        <p:txBody>
          <a:bodyPr/>
          <a:lstStyle/>
          <a:p>
            <a:endParaRPr lang="en-IN"/>
          </a:p>
        </p:txBody>
      </p:sp>
      <p:sp>
        <p:nvSpPr>
          <p:cNvPr id="22" name="Text 19"/>
          <p:cNvSpPr/>
          <p:nvPr/>
        </p:nvSpPr>
        <p:spPr>
          <a:xfrm>
            <a:off x="2953512" y="2971800"/>
            <a:ext cx="2039112" cy="292608"/>
          </a:xfrm>
          <a:prstGeom prst="rect">
            <a:avLst/>
          </a:prstGeom>
          <a:noFill/>
          <a:ln/>
        </p:spPr>
        <p:txBody>
          <a:bodyPr wrap="square" lIns="0" tIns="0" rIns="0" bIns="0" rtlCol="0" anchor="ctr">
            <a:normAutofit/>
          </a:bodyPr>
          <a:lstStyle/>
          <a:p>
            <a:pPr marL="0" indent="0">
              <a:buNone/>
            </a:pPr>
            <a:r>
              <a:rPr lang="en-US" sz="880" b="1" dirty="0">
                <a:solidFill>
                  <a:srgbClr val="202020"/>
                </a:solidFill>
                <a:latin typeface="Arial" pitchFamily="34" charset="0"/>
                <a:ea typeface="Arial" pitchFamily="34" charset="-122"/>
                <a:cs typeface="Arial" pitchFamily="34" charset="-120"/>
              </a:rPr>
              <a:t>Try first</a:t>
            </a:r>
            <a:endParaRPr lang="en-US" sz="880" dirty="0"/>
          </a:p>
        </p:txBody>
      </p:sp>
      <p:sp>
        <p:nvSpPr>
          <p:cNvPr id="23" name="Shape 20"/>
          <p:cNvSpPr/>
          <p:nvPr/>
        </p:nvSpPr>
        <p:spPr>
          <a:xfrm>
            <a:off x="5047488" y="2926080"/>
            <a:ext cx="2926080" cy="384048"/>
          </a:xfrm>
          <a:prstGeom prst="rect">
            <a:avLst/>
          </a:prstGeom>
          <a:solidFill>
            <a:srgbClr val="E8EEF7"/>
          </a:solidFill>
          <a:ln w="12700">
            <a:solidFill>
              <a:srgbClr val="CFD4DA"/>
            </a:solidFill>
            <a:prstDash val="solid"/>
          </a:ln>
        </p:spPr>
        <p:txBody>
          <a:bodyPr/>
          <a:lstStyle/>
          <a:p>
            <a:endParaRPr lang="en-IN"/>
          </a:p>
        </p:txBody>
      </p:sp>
      <p:sp>
        <p:nvSpPr>
          <p:cNvPr id="24" name="Text 21"/>
          <p:cNvSpPr/>
          <p:nvPr/>
        </p:nvSpPr>
        <p:spPr>
          <a:xfrm>
            <a:off x="5102352" y="2971800"/>
            <a:ext cx="2816352" cy="292608"/>
          </a:xfrm>
          <a:prstGeom prst="rect">
            <a:avLst/>
          </a:prstGeom>
          <a:noFill/>
          <a:ln/>
        </p:spPr>
        <p:txBody>
          <a:bodyPr wrap="square" lIns="0" tIns="0" rIns="0" bIns="0" rtlCol="0" anchor="ctr">
            <a:normAutofit/>
          </a:bodyPr>
          <a:lstStyle/>
          <a:p>
            <a:pPr marL="0" indent="0">
              <a:buNone/>
            </a:pPr>
            <a:r>
              <a:rPr lang="en-US" sz="880" b="1" dirty="0">
                <a:solidFill>
                  <a:srgbClr val="202020"/>
                </a:solidFill>
                <a:latin typeface="Arial" pitchFamily="34" charset="0"/>
                <a:ea typeface="Arial" pitchFamily="34" charset="-122"/>
                <a:cs typeface="Arial" pitchFamily="34" charset="-120"/>
              </a:rPr>
              <a:t>Why</a:t>
            </a:r>
            <a:endParaRPr lang="en-US" sz="880" dirty="0"/>
          </a:p>
        </p:txBody>
      </p:sp>
      <p:sp>
        <p:nvSpPr>
          <p:cNvPr id="25" name="Shape 22"/>
          <p:cNvSpPr/>
          <p:nvPr/>
        </p:nvSpPr>
        <p:spPr>
          <a:xfrm>
            <a:off x="566928" y="3310128"/>
            <a:ext cx="2331720" cy="411480"/>
          </a:xfrm>
          <a:prstGeom prst="rect">
            <a:avLst/>
          </a:prstGeom>
          <a:solidFill>
            <a:srgbClr val="FFFFFF"/>
          </a:solidFill>
          <a:ln w="12700">
            <a:solidFill>
              <a:srgbClr val="CFD4DA"/>
            </a:solidFill>
            <a:prstDash val="solid"/>
          </a:ln>
        </p:spPr>
        <p:txBody>
          <a:bodyPr/>
          <a:lstStyle/>
          <a:p>
            <a:endParaRPr lang="en-IN"/>
          </a:p>
        </p:txBody>
      </p:sp>
      <p:sp>
        <p:nvSpPr>
          <p:cNvPr id="26" name="Text 23"/>
          <p:cNvSpPr/>
          <p:nvPr/>
        </p:nvSpPr>
        <p:spPr>
          <a:xfrm>
            <a:off x="621792" y="3355848"/>
            <a:ext cx="222199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OOM grows after first optimizer step</a:t>
            </a:r>
            <a:endParaRPr lang="en-US" sz="870" dirty="0"/>
          </a:p>
        </p:txBody>
      </p:sp>
      <p:sp>
        <p:nvSpPr>
          <p:cNvPr id="27" name="Shape 24"/>
          <p:cNvSpPr/>
          <p:nvPr/>
        </p:nvSpPr>
        <p:spPr>
          <a:xfrm>
            <a:off x="2898648" y="3310128"/>
            <a:ext cx="2148840" cy="411480"/>
          </a:xfrm>
          <a:prstGeom prst="rect">
            <a:avLst/>
          </a:prstGeom>
          <a:solidFill>
            <a:srgbClr val="FFFFFF"/>
          </a:solidFill>
          <a:ln w="12700">
            <a:solidFill>
              <a:srgbClr val="CFD4DA"/>
            </a:solidFill>
            <a:prstDash val="solid"/>
          </a:ln>
        </p:spPr>
        <p:txBody>
          <a:bodyPr/>
          <a:lstStyle/>
          <a:p>
            <a:endParaRPr lang="en-IN"/>
          </a:p>
        </p:txBody>
      </p:sp>
      <p:sp>
        <p:nvSpPr>
          <p:cNvPr id="28" name="Text 25"/>
          <p:cNvSpPr/>
          <p:nvPr/>
        </p:nvSpPr>
        <p:spPr>
          <a:xfrm>
            <a:off x="2953512" y="3355848"/>
            <a:ext cx="203911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8-bit optimizer or sharding</a:t>
            </a:r>
            <a:endParaRPr lang="en-US" sz="870" dirty="0"/>
          </a:p>
        </p:txBody>
      </p:sp>
      <p:sp>
        <p:nvSpPr>
          <p:cNvPr id="29" name="Shape 26"/>
          <p:cNvSpPr/>
          <p:nvPr/>
        </p:nvSpPr>
        <p:spPr>
          <a:xfrm>
            <a:off x="5047488" y="3310128"/>
            <a:ext cx="2926080" cy="411480"/>
          </a:xfrm>
          <a:prstGeom prst="rect">
            <a:avLst/>
          </a:prstGeom>
          <a:solidFill>
            <a:srgbClr val="FFFFFF"/>
          </a:solidFill>
          <a:ln w="12700">
            <a:solidFill>
              <a:srgbClr val="CFD4DA"/>
            </a:solidFill>
            <a:prstDash val="solid"/>
          </a:ln>
        </p:spPr>
        <p:txBody>
          <a:bodyPr/>
          <a:lstStyle/>
          <a:p>
            <a:endParaRPr lang="en-IN"/>
          </a:p>
        </p:txBody>
      </p:sp>
      <p:sp>
        <p:nvSpPr>
          <p:cNvPr id="30" name="Text 27"/>
          <p:cNvSpPr/>
          <p:nvPr/>
        </p:nvSpPr>
        <p:spPr>
          <a:xfrm>
            <a:off x="5102352" y="3355848"/>
            <a:ext cx="281635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Optimizer states likely dominate</a:t>
            </a:r>
            <a:endParaRPr lang="en-US" sz="870" dirty="0"/>
          </a:p>
        </p:txBody>
      </p:sp>
      <p:sp>
        <p:nvSpPr>
          <p:cNvPr id="31" name="Shape 28"/>
          <p:cNvSpPr/>
          <p:nvPr/>
        </p:nvSpPr>
        <p:spPr>
          <a:xfrm>
            <a:off x="566928" y="3721608"/>
            <a:ext cx="2331720" cy="411480"/>
          </a:xfrm>
          <a:prstGeom prst="rect">
            <a:avLst/>
          </a:prstGeom>
          <a:solidFill>
            <a:srgbClr val="FFFFFF"/>
          </a:solidFill>
          <a:ln w="12700">
            <a:solidFill>
              <a:srgbClr val="CFD4DA"/>
            </a:solidFill>
            <a:prstDash val="solid"/>
          </a:ln>
        </p:spPr>
        <p:txBody>
          <a:bodyPr/>
          <a:lstStyle/>
          <a:p>
            <a:endParaRPr lang="en-IN"/>
          </a:p>
        </p:txBody>
      </p:sp>
      <p:sp>
        <p:nvSpPr>
          <p:cNvPr id="32" name="Text 29"/>
          <p:cNvSpPr/>
          <p:nvPr/>
        </p:nvSpPr>
        <p:spPr>
          <a:xfrm>
            <a:off x="621792" y="3767328"/>
            <a:ext cx="222199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OOM during backward on long contexts</a:t>
            </a:r>
            <a:endParaRPr lang="en-US" sz="870" dirty="0"/>
          </a:p>
        </p:txBody>
      </p:sp>
      <p:sp>
        <p:nvSpPr>
          <p:cNvPr id="33" name="Shape 30"/>
          <p:cNvSpPr/>
          <p:nvPr/>
        </p:nvSpPr>
        <p:spPr>
          <a:xfrm>
            <a:off x="2898648" y="3721608"/>
            <a:ext cx="2148840" cy="411480"/>
          </a:xfrm>
          <a:prstGeom prst="rect">
            <a:avLst/>
          </a:prstGeom>
          <a:solidFill>
            <a:srgbClr val="FFFFFF"/>
          </a:solidFill>
          <a:ln w="12700">
            <a:solidFill>
              <a:srgbClr val="CFD4DA"/>
            </a:solidFill>
            <a:prstDash val="solid"/>
          </a:ln>
        </p:spPr>
        <p:txBody>
          <a:bodyPr/>
          <a:lstStyle/>
          <a:p>
            <a:endParaRPr lang="en-IN"/>
          </a:p>
        </p:txBody>
      </p:sp>
      <p:sp>
        <p:nvSpPr>
          <p:cNvPr id="34" name="Text 31"/>
          <p:cNvSpPr/>
          <p:nvPr/>
        </p:nvSpPr>
        <p:spPr>
          <a:xfrm>
            <a:off x="2953512" y="3767328"/>
            <a:ext cx="203911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Checkpointing / smaller microbatch</a:t>
            </a:r>
            <a:endParaRPr lang="en-US" sz="870" dirty="0"/>
          </a:p>
        </p:txBody>
      </p:sp>
      <p:sp>
        <p:nvSpPr>
          <p:cNvPr id="35" name="Shape 32"/>
          <p:cNvSpPr/>
          <p:nvPr/>
        </p:nvSpPr>
        <p:spPr>
          <a:xfrm>
            <a:off x="5047488" y="3721608"/>
            <a:ext cx="2926080" cy="411480"/>
          </a:xfrm>
          <a:prstGeom prst="rect">
            <a:avLst/>
          </a:prstGeom>
          <a:solidFill>
            <a:srgbClr val="FFFFFF"/>
          </a:solidFill>
          <a:ln w="12700">
            <a:solidFill>
              <a:srgbClr val="CFD4DA"/>
            </a:solidFill>
            <a:prstDash val="solid"/>
          </a:ln>
        </p:spPr>
        <p:txBody>
          <a:bodyPr/>
          <a:lstStyle/>
          <a:p>
            <a:endParaRPr lang="en-IN"/>
          </a:p>
        </p:txBody>
      </p:sp>
      <p:sp>
        <p:nvSpPr>
          <p:cNvPr id="36" name="Text 33"/>
          <p:cNvSpPr/>
          <p:nvPr/>
        </p:nvSpPr>
        <p:spPr>
          <a:xfrm>
            <a:off x="5102352" y="3767328"/>
            <a:ext cx="281635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Saved activations are the likely problem</a:t>
            </a:r>
            <a:endParaRPr lang="en-US" sz="870" dirty="0"/>
          </a:p>
        </p:txBody>
      </p:sp>
      <p:sp>
        <p:nvSpPr>
          <p:cNvPr id="37" name="Shape 34"/>
          <p:cNvSpPr/>
          <p:nvPr/>
        </p:nvSpPr>
        <p:spPr>
          <a:xfrm>
            <a:off x="566928" y="4133088"/>
            <a:ext cx="2331720" cy="411480"/>
          </a:xfrm>
          <a:prstGeom prst="rect">
            <a:avLst/>
          </a:prstGeom>
          <a:solidFill>
            <a:srgbClr val="FFFFFF"/>
          </a:solidFill>
          <a:ln w="12700">
            <a:solidFill>
              <a:srgbClr val="CFD4DA"/>
            </a:solidFill>
            <a:prstDash val="solid"/>
          </a:ln>
        </p:spPr>
        <p:txBody>
          <a:bodyPr/>
          <a:lstStyle/>
          <a:p>
            <a:endParaRPr lang="en-IN"/>
          </a:p>
        </p:txBody>
      </p:sp>
      <p:sp>
        <p:nvSpPr>
          <p:cNvPr id="38" name="Text 35"/>
          <p:cNvSpPr/>
          <p:nvPr/>
        </p:nvSpPr>
        <p:spPr>
          <a:xfrm>
            <a:off x="621792" y="4178808"/>
            <a:ext cx="222199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Plenty of memory but poor tokens/s</a:t>
            </a:r>
            <a:endParaRPr lang="en-US" sz="870" dirty="0"/>
          </a:p>
        </p:txBody>
      </p:sp>
      <p:sp>
        <p:nvSpPr>
          <p:cNvPr id="39" name="Shape 36"/>
          <p:cNvSpPr/>
          <p:nvPr/>
        </p:nvSpPr>
        <p:spPr>
          <a:xfrm>
            <a:off x="2898648" y="4133088"/>
            <a:ext cx="2148840" cy="411480"/>
          </a:xfrm>
          <a:prstGeom prst="rect">
            <a:avLst/>
          </a:prstGeom>
          <a:solidFill>
            <a:srgbClr val="FFFFFF"/>
          </a:solidFill>
          <a:ln w="12700">
            <a:solidFill>
              <a:srgbClr val="CFD4DA"/>
            </a:solidFill>
            <a:prstDash val="solid"/>
          </a:ln>
        </p:spPr>
        <p:txBody>
          <a:bodyPr/>
          <a:lstStyle/>
          <a:p>
            <a:endParaRPr lang="en-IN"/>
          </a:p>
        </p:txBody>
      </p:sp>
      <p:sp>
        <p:nvSpPr>
          <p:cNvPr id="40" name="Text 37"/>
          <p:cNvSpPr/>
          <p:nvPr/>
        </p:nvSpPr>
        <p:spPr>
          <a:xfrm>
            <a:off x="2953512" y="4178808"/>
            <a:ext cx="203911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Packing / SDPA / dataloader overlap</a:t>
            </a:r>
            <a:endParaRPr lang="en-US" sz="870" dirty="0"/>
          </a:p>
        </p:txBody>
      </p:sp>
      <p:sp>
        <p:nvSpPr>
          <p:cNvPr id="41" name="Shape 38"/>
          <p:cNvSpPr/>
          <p:nvPr/>
        </p:nvSpPr>
        <p:spPr>
          <a:xfrm>
            <a:off x="5047488" y="4133088"/>
            <a:ext cx="2926080" cy="411480"/>
          </a:xfrm>
          <a:prstGeom prst="rect">
            <a:avLst/>
          </a:prstGeom>
          <a:solidFill>
            <a:srgbClr val="FFFFFF"/>
          </a:solidFill>
          <a:ln w="12700">
            <a:solidFill>
              <a:srgbClr val="CFD4DA"/>
            </a:solidFill>
            <a:prstDash val="solid"/>
          </a:ln>
        </p:spPr>
        <p:txBody>
          <a:bodyPr/>
          <a:lstStyle/>
          <a:p>
            <a:endParaRPr lang="en-IN"/>
          </a:p>
        </p:txBody>
      </p:sp>
      <p:sp>
        <p:nvSpPr>
          <p:cNvPr id="42" name="Text 39"/>
          <p:cNvSpPr/>
          <p:nvPr/>
        </p:nvSpPr>
        <p:spPr>
          <a:xfrm>
            <a:off x="5102352" y="4178808"/>
            <a:ext cx="2816352" cy="320040"/>
          </a:xfrm>
          <a:prstGeom prst="rect">
            <a:avLst/>
          </a:prstGeom>
          <a:noFill/>
          <a:ln/>
        </p:spPr>
        <p:txBody>
          <a:bodyPr wrap="square" lIns="0" tIns="0" rIns="0" bIns="0" rtlCol="0" anchor="ctr">
            <a:normAutofit/>
          </a:bodyPr>
          <a:lstStyle/>
          <a:p>
            <a:pPr marL="0" indent="0">
              <a:buNone/>
            </a:pPr>
            <a:r>
              <a:rPr lang="en-US" sz="870" dirty="0">
                <a:solidFill>
                  <a:srgbClr val="202020"/>
                </a:solidFill>
                <a:latin typeface="Arial" pitchFamily="34" charset="0"/>
                <a:ea typeface="Arial" pitchFamily="34" charset="-122"/>
                <a:cs typeface="Arial" pitchFamily="34" charset="-120"/>
              </a:rPr>
              <a:t>Compute is being wasted, not just memory</a:t>
            </a:r>
            <a:endParaRPr lang="en-US" sz="870" dirty="0"/>
          </a:p>
        </p:txBody>
      </p:sp>
      <p:sp>
        <p:nvSpPr>
          <p:cNvPr id="43" name="Shape 40"/>
          <p:cNvSpPr/>
          <p:nvPr/>
        </p:nvSpPr>
        <p:spPr>
          <a:xfrm>
            <a:off x="8275320" y="2926080"/>
            <a:ext cx="3383280" cy="1554480"/>
          </a:xfrm>
          <a:prstGeom prst="roundRect">
            <a:avLst>
              <a:gd name="adj" fmla="val 8235"/>
            </a:avLst>
          </a:prstGeom>
          <a:solidFill>
            <a:srgbClr val="E2F0E6"/>
          </a:solidFill>
          <a:ln w="12700">
            <a:solidFill>
              <a:srgbClr val="CFD4DA"/>
            </a:solidFill>
            <a:prstDash val="solid"/>
          </a:ln>
        </p:spPr>
        <p:txBody>
          <a:bodyPr/>
          <a:lstStyle/>
          <a:p>
            <a:endParaRPr lang="en-IN"/>
          </a:p>
        </p:txBody>
      </p:sp>
      <p:sp>
        <p:nvSpPr>
          <p:cNvPr id="44" name="Text 41"/>
          <p:cNvSpPr/>
          <p:nvPr/>
        </p:nvSpPr>
        <p:spPr>
          <a:xfrm>
            <a:off x="8385048" y="3017520"/>
            <a:ext cx="31638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Priority order on one GPU</a:t>
            </a:r>
            <a:endParaRPr lang="en-US" sz="1100" dirty="0"/>
          </a:p>
        </p:txBody>
      </p:sp>
      <p:sp>
        <p:nvSpPr>
          <p:cNvPr id="45" name="Text 42"/>
          <p:cNvSpPr/>
          <p:nvPr/>
        </p:nvSpPr>
        <p:spPr>
          <a:xfrm>
            <a:off x="8385048" y="3236976"/>
            <a:ext cx="3163824" cy="1170432"/>
          </a:xfrm>
          <a:prstGeom prst="rect">
            <a:avLst/>
          </a:prstGeom>
          <a:noFill/>
          <a:ln/>
        </p:spPr>
        <p:txBody>
          <a:bodyPr wrap="square" lIns="0" tIns="0" rIns="0" bIns="0" rtlCol="0" anchor="t">
            <a:normAutofit/>
          </a:bodyPr>
          <a:lstStyle/>
          <a:p>
            <a:pPr marL="0" indent="0">
              <a:buNone/>
            </a:pPr>
            <a:r>
              <a:rPr lang="en-US" sz="905" dirty="0">
                <a:solidFill>
                  <a:srgbClr val="202020"/>
                </a:solidFill>
                <a:latin typeface="Arial" pitchFamily="34" charset="0"/>
                <a:ea typeface="Arial" pitchFamily="34" charset="-122"/>
                <a:cs typeface="Arial" pitchFamily="34" charset="-120"/>
              </a:rPr>
              <a:t>Previous segment: mixed precision</a:t>
            </a:r>
            <a:endParaRPr lang="en-US" sz="905" dirty="0"/>
          </a:p>
          <a:p>
            <a:pPr marL="0" indent="0">
              <a:buNone/>
            </a:pPr>
            <a:r>
              <a:rPr lang="en-US" sz="905" dirty="0">
                <a:solidFill>
                  <a:srgbClr val="202020"/>
                </a:solidFill>
                <a:latin typeface="Arial" pitchFamily="34" charset="0"/>
                <a:ea typeface="Arial" pitchFamily="34" charset="-122"/>
                <a:cs typeface="Arial" pitchFamily="34" charset="-120"/>
              </a:rPr>
              <a:t>→ remove padding waste</a:t>
            </a:r>
            <a:endParaRPr lang="en-US" sz="905" dirty="0"/>
          </a:p>
          <a:p>
            <a:pPr marL="0" indent="0">
              <a:buNone/>
            </a:pPr>
            <a:r>
              <a:rPr lang="en-US" sz="905" dirty="0">
                <a:solidFill>
                  <a:srgbClr val="202020"/>
                </a:solidFill>
                <a:latin typeface="Arial" pitchFamily="34" charset="0"/>
                <a:ea typeface="Arial" pitchFamily="34" charset="-122"/>
                <a:cs typeface="Arial" pitchFamily="34" charset="-120"/>
              </a:rPr>
              <a:t>→ raise microbatch until memory fills</a:t>
            </a:r>
            <a:endParaRPr lang="en-US" sz="905" dirty="0"/>
          </a:p>
          <a:p>
            <a:pPr marL="0" indent="0">
              <a:buNone/>
            </a:pPr>
            <a:r>
              <a:rPr lang="en-US" sz="905" dirty="0">
                <a:solidFill>
                  <a:srgbClr val="202020"/>
                </a:solidFill>
                <a:latin typeface="Arial" pitchFamily="34" charset="0"/>
                <a:ea typeface="Arial" pitchFamily="34" charset="-122"/>
                <a:cs typeface="Arial" pitchFamily="34" charset="-120"/>
              </a:rPr>
              <a:t>→ add accumulation as needed</a:t>
            </a:r>
            <a:endParaRPr lang="en-US" sz="905" dirty="0"/>
          </a:p>
          <a:p>
            <a:pPr marL="0" indent="0">
              <a:buNone/>
            </a:pPr>
            <a:r>
              <a:rPr lang="en-US" sz="905" dirty="0">
                <a:solidFill>
                  <a:srgbClr val="202020"/>
                </a:solidFill>
                <a:latin typeface="Arial" pitchFamily="34" charset="0"/>
                <a:ea typeface="Arial" pitchFamily="34" charset="-122"/>
                <a:cs typeface="Arial" pitchFamily="34" charset="-120"/>
              </a:rPr>
              <a:t>→ add checkpointing</a:t>
            </a:r>
            <a:endParaRPr lang="en-US" sz="905" dirty="0"/>
          </a:p>
          <a:p>
            <a:pPr marL="0" indent="0">
              <a:buNone/>
            </a:pPr>
            <a:r>
              <a:rPr lang="en-US" sz="905" dirty="0">
                <a:solidFill>
                  <a:srgbClr val="202020"/>
                </a:solidFill>
                <a:latin typeface="Arial" pitchFamily="34" charset="0"/>
                <a:ea typeface="Arial" pitchFamily="34" charset="-122"/>
                <a:cs typeface="Arial" pitchFamily="34" charset="-120"/>
              </a:rPr>
              <a:t>→ then consider 8-bit optimizer or offload</a:t>
            </a:r>
            <a:endParaRPr lang="en-US" sz="90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10</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When one GPU is not enough: FSDP and ZeRO shard model states across ranks</a:t>
            </a:r>
            <a:endParaRPr lang="en-US" sz="1750" dirty="0"/>
          </a:p>
        </p:txBody>
      </p:sp>
      <p:sp>
        <p:nvSpPr>
          <p:cNvPr id="10" name="Shape 7"/>
          <p:cNvSpPr/>
          <p:nvPr/>
        </p:nvSpPr>
        <p:spPr>
          <a:xfrm>
            <a:off x="502920" y="1024128"/>
            <a:ext cx="1051560" cy="384048"/>
          </a:xfrm>
          <a:prstGeom prst="rect">
            <a:avLst/>
          </a:prstGeom>
          <a:solidFill>
            <a:srgbClr val="E8EEF7"/>
          </a:solidFill>
          <a:ln w="12700">
            <a:solidFill>
              <a:srgbClr val="CFD4DA"/>
            </a:solidFill>
            <a:prstDash val="solid"/>
          </a:ln>
        </p:spPr>
        <p:txBody>
          <a:bodyPr/>
          <a:lstStyle/>
          <a:p>
            <a:endParaRPr lang="en-IN" sz="3200"/>
          </a:p>
        </p:txBody>
      </p:sp>
      <p:sp>
        <p:nvSpPr>
          <p:cNvPr id="11" name="Text 8"/>
          <p:cNvSpPr/>
          <p:nvPr/>
        </p:nvSpPr>
        <p:spPr>
          <a:xfrm>
            <a:off x="557784" y="1069848"/>
            <a:ext cx="941832" cy="292608"/>
          </a:xfrm>
          <a:prstGeom prst="rect">
            <a:avLst/>
          </a:prstGeom>
          <a:noFill/>
          <a:ln/>
        </p:spPr>
        <p:txBody>
          <a:bodyPr wrap="square" lIns="0" tIns="0" rIns="0" bIns="0" rtlCol="0" anchor="ctr">
            <a:normAutofit/>
          </a:bodyPr>
          <a:lstStyle/>
          <a:p>
            <a:pPr marL="0" indent="0">
              <a:buNone/>
            </a:pPr>
            <a:r>
              <a:rPr lang="en-US" sz="1100" b="1" dirty="0">
                <a:solidFill>
                  <a:srgbClr val="202020"/>
                </a:solidFill>
                <a:latin typeface="Arial" pitchFamily="34" charset="0"/>
                <a:ea typeface="Arial" pitchFamily="34" charset="-122"/>
                <a:cs typeface="Arial" pitchFamily="34" charset="-120"/>
              </a:rPr>
              <a:t>Method</a:t>
            </a:r>
            <a:endParaRPr lang="en-US" sz="1100" dirty="0"/>
          </a:p>
        </p:txBody>
      </p:sp>
      <p:sp>
        <p:nvSpPr>
          <p:cNvPr id="12" name="Shape 9"/>
          <p:cNvSpPr/>
          <p:nvPr/>
        </p:nvSpPr>
        <p:spPr>
          <a:xfrm>
            <a:off x="1554480" y="1024128"/>
            <a:ext cx="2057400" cy="384048"/>
          </a:xfrm>
          <a:prstGeom prst="rect">
            <a:avLst/>
          </a:prstGeom>
          <a:solidFill>
            <a:srgbClr val="E8EEF7"/>
          </a:solidFill>
          <a:ln w="12700">
            <a:solidFill>
              <a:srgbClr val="CFD4DA"/>
            </a:solidFill>
            <a:prstDash val="solid"/>
          </a:ln>
        </p:spPr>
        <p:txBody>
          <a:bodyPr/>
          <a:lstStyle/>
          <a:p>
            <a:endParaRPr lang="en-IN" sz="3200"/>
          </a:p>
        </p:txBody>
      </p:sp>
      <p:sp>
        <p:nvSpPr>
          <p:cNvPr id="13" name="Text 10"/>
          <p:cNvSpPr/>
          <p:nvPr/>
        </p:nvSpPr>
        <p:spPr>
          <a:xfrm>
            <a:off x="1609344" y="1069848"/>
            <a:ext cx="1947672" cy="292608"/>
          </a:xfrm>
          <a:prstGeom prst="rect">
            <a:avLst/>
          </a:prstGeom>
          <a:noFill/>
          <a:ln/>
        </p:spPr>
        <p:txBody>
          <a:bodyPr wrap="square" lIns="0" tIns="0" rIns="0" bIns="0" rtlCol="0" anchor="ctr">
            <a:normAutofit/>
          </a:bodyPr>
          <a:lstStyle/>
          <a:p>
            <a:pPr marL="0" indent="0">
              <a:buNone/>
            </a:pPr>
            <a:r>
              <a:rPr lang="en-US" sz="1100" b="1" dirty="0">
                <a:solidFill>
                  <a:srgbClr val="202020"/>
                </a:solidFill>
                <a:latin typeface="Arial" pitchFamily="34" charset="0"/>
                <a:ea typeface="Arial" pitchFamily="34" charset="-122"/>
                <a:cs typeface="Arial" pitchFamily="34" charset="-120"/>
              </a:rPr>
              <a:t>What is sharded?</a:t>
            </a:r>
            <a:endParaRPr lang="en-US" sz="1100" dirty="0"/>
          </a:p>
        </p:txBody>
      </p:sp>
      <p:sp>
        <p:nvSpPr>
          <p:cNvPr id="14" name="Shape 11"/>
          <p:cNvSpPr/>
          <p:nvPr/>
        </p:nvSpPr>
        <p:spPr>
          <a:xfrm>
            <a:off x="3611880" y="1024128"/>
            <a:ext cx="1828800" cy="384048"/>
          </a:xfrm>
          <a:prstGeom prst="rect">
            <a:avLst/>
          </a:prstGeom>
          <a:solidFill>
            <a:srgbClr val="E8EEF7"/>
          </a:solidFill>
          <a:ln w="12700">
            <a:solidFill>
              <a:srgbClr val="CFD4DA"/>
            </a:solidFill>
            <a:prstDash val="solid"/>
          </a:ln>
        </p:spPr>
        <p:txBody>
          <a:bodyPr/>
          <a:lstStyle/>
          <a:p>
            <a:endParaRPr lang="en-IN" sz="3200"/>
          </a:p>
        </p:txBody>
      </p:sp>
      <p:sp>
        <p:nvSpPr>
          <p:cNvPr id="15" name="Text 12"/>
          <p:cNvSpPr/>
          <p:nvPr/>
        </p:nvSpPr>
        <p:spPr>
          <a:xfrm>
            <a:off x="3666744" y="1069848"/>
            <a:ext cx="1719072" cy="292608"/>
          </a:xfrm>
          <a:prstGeom prst="rect">
            <a:avLst/>
          </a:prstGeom>
          <a:noFill/>
          <a:ln/>
        </p:spPr>
        <p:txBody>
          <a:bodyPr wrap="square" lIns="0" tIns="0" rIns="0" bIns="0" rtlCol="0" anchor="ctr">
            <a:normAutofit/>
          </a:bodyPr>
          <a:lstStyle/>
          <a:p>
            <a:pPr marL="0" indent="0">
              <a:buNone/>
            </a:pPr>
            <a:r>
              <a:rPr lang="en-US" sz="1100" b="1" dirty="0">
                <a:solidFill>
                  <a:srgbClr val="202020"/>
                </a:solidFill>
                <a:latin typeface="Arial" pitchFamily="34" charset="0"/>
                <a:ea typeface="Arial" pitchFamily="34" charset="-122"/>
                <a:cs typeface="Arial" pitchFamily="34" charset="-120"/>
              </a:rPr>
              <a:t>Best use</a:t>
            </a:r>
            <a:endParaRPr lang="en-US" sz="1100" dirty="0"/>
          </a:p>
        </p:txBody>
      </p:sp>
      <p:sp>
        <p:nvSpPr>
          <p:cNvPr id="16" name="Shape 13"/>
          <p:cNvSpPr/>
          <p:nvPr/>
        </p:nvSpPr>
        <p:spPr>
          <a:xfrm>
            <a:off x="5440680" y="1024128"/>
            <a:ext cx="2560320" cy="384048"/>
          </a:xfrm>
          <a:prstGeom prst="rect">
            <a:avLst/>
          </a:prstGeom>
          <a:solidFill>
            <a:srgbClr val="E8EEF7"/>
          </a:solidFill>
          <a:ln w="12700">
            <a:solidFill>
              <a:srgbClr val="CFD4DA"/>
            </a:solidFill>
            <a:prstDash val="solid"/>
          </a:ln>
        </p:spPr>
        <p:txBody>
          <a:bodyPr/>
          <a:lstStyle/>
          <a:p>
            <a:endParaRPr lang="en-IN" sz="3200"/>
          </a:p>
        </p:txBody>
      </p:sp>
      <p:sp>
        <p:nvSpPr>
          <p:cNvPr id="17" name="Text 14"/>
          <p:cNvSpPr/>
          <p:nvPr/>
        </p:nvSpPr>
        <p:spPr>
          <a:xfrm>
            <a:off x="5495544" y="1069848"/>
            <a:ext cx="2450592" cy="292608"/>
          </a:xfrm>
          <a:prstGeom prst="rect">
            <a:avLst/>
          </a:prstGeom>
          <a:noFill/>
          <a:ln/>
        </p:spPr>
        <p:txBody>
          <a:bodyPr wrap="square" lIns="0" tIns="0" rIns="0" bIns="0" rtlCol="0" anchor="ctr">
            <a:normAutofit/>
          </a:bodyPr>
          <a:lstStyle/>
          <a:p>
            <a:pPr marL="0" indent="0">
              <a:buNone/>
            </a:pPr>
            <a:r>
              <a:rPr lang="en-US" sz="1100" b="1" dirty="0">
                <a:solidFill>
                  <a:srgbClr val="202020"/>
                </a:solidFill>
                <a:latin typeface="Arial" pitchFamily="34" charset="0"/>
                <a:ea typeface="Arial" pitchFamily="34" charset="-122"/>
                <a:cs typeface="Arial" pitchFamily="34" charset="-120"/>
              </a:rPr>
              <a:t>Trade-off</a:t>
            </a:r>
            <a:endParaRPr lang="en-US" sz="1100" dirty="0"/>
          </a:p>
        </p:txBody>
      </p:sp>
      <p:sp>
        <p:nvSpPr>
          <p:cNvPr id="18" name="Shape 15"/>
          <p:cNvSpPr/>
          <p:nvPr/>
        </p:nvSpPr>
        <p:spPr>
          <a:xfrm>
            <a:off x="502920" y="1408176"/>
            <a:ext cx="1051560" cy="438912"/>
          </a:xfrm>
          <a:prstGeom prst="rect">
            <a:avLst/>
          </a:prstGeom>
          <a:solidFill>
            <a:srgbClr val="FFFFFF"/>
          </a:solidFill>
          <a:ln w="12700">
            <a:solidFill>
              <a:srgbClr val="CFD4DA"/>
            </a:solidFill>
            <a:prstDash val="solid"/>
          </a:ln>
        </p:spPr>
        <p:txBody>
          <a:bodyPr/>
          <a:lstStyle/>
          <a:p>
            <a:endParaRPr lang="en-IN" sz="3200"/>
          </a:p>
        </p:txBody>
      </p:sp>
      <p:sp>
        <p:nvSpPr>
          <p:cNvPr id="19" name="Text 16"/>
          <p:cNvSpPr/>
          <p:nvPr/>
        </p:nvSpPr>
        <p:spPr>
          <a:xfrm>
            <a:off x="557784" y="1453896"/>
            <a:ext cx="94183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DDP</a:t>
            </a:r>
            <a:endParaRPr lang="en-US" sz="1100" dirty="0"/>
          </a:p>
        </p:txBody>
      </p:sp>
      <p:sp>
        <p:nvSpPr>
          <p:cNvPr id="20" name="Shape 17"/>
          <p:cNvSpPr/>
          <p:nvPr/>
        </p:nvSpPr>
        <p:spPr>
          <a:xfrm>
            <a:off x="1554480" y="1408176"/>
            <a:ext cx="2057400" cy="438912"/>
          </a:xfrm>
          <a:prstGeom prst="rect">
            <a:avLst/>
          </a:prstGeom>
          <a:solidFill>
            <a:srgbClr val="FFFFFF"/>
          </a:solidFill>
          <a:ln w="12700">
            <a:solidFill>
              <a:srgbClr val="CFD4DA"/>
            </a:solidFill>
            <a:prstDash val="solid"/>
          </a:ln>
        </p:spPr>
        <p:txBody>
          <a:bodyPr/>
          <a:lstStyle/>
          <a:p>
            <a:endParaRPr lang="en-IN" sz="3200"/>
          </a:p>
        </p:txBody>
      </p:sp>
      <p:sp>
        <p:nvSpPr>
          <p:cNvPr id="21" name="Text 18"/>
          <p:cNvSpPr/>
          <p:nvPr/>
        </p:nvSpPr>
        <p:spPr>
          <a:xfrm>
            <a:off x="1609344" y="1453896"/>
            <a:ext cx="194767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Nothing; full replicas on every rank</a:t>
            </a:r>
            <a:endParaRPr lang="en-US" sz="1100" dirty="0"/>
          </a:p>
        </p:txBody>
      </p:sp>
      <p:sp>
        <p:nvSpPr>
          <p:cNvPr id="22" name="Shape 19"/>
          <p:cNvSpPr/>
          <p:nvPr/>
        </p:nvSpPr>
        <p:spPr>
          <a:xfrm>
            <a:off x="3611880" y="1408176"/>
            <a:ext cx="1828800" cy="438912"/>
          </a:xfrm>
          <a:prstGeom prst="rect">
            <a:avLst/>
          </a:prstGeom>
          <a:solidFill>
            <a:srgbClr val="FFFFFF"/>
          </a:solidFill>
          <a:ln w="12700">
            <a:solidFill>
              <a:srgbClr val="CFD4DA"/>
            </a:solidFill>
            <a:prstDash val="solid"/>
          </a:ln>
        </p:spPr>
        <p:txBody>
          <a:bodyPr/>
          <a:lstStyle/>
          <a:p>
            <a:endParaRPr lang="en-IN" sz="3200"/>
          </a:p>
        </p:txBody>
      </p:sp>
      <p:sp>
        <p:nvSpPr>
          <p:cNvPr id="23" name="Text 20"/>
          <p:cNvSpPr/>
          <p:nvPr/>
        </p:nvSpPr>
        <p:spPr>
          <a:xfrm>
            <a:off x="3666744" y="1453896"/>
            <a:ext cx="171907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Fits already, simplest scale-out</a:t>
            </a:r>
            <a:endParaRPr lang="en-US" sz="1100" dirty="0"/>
          </a:p>
        </p:txBody>
      </p:sp>
      <p:sp>
        <p:nvSpPr>
          <p:cNvPr id="24" name="Shape 21"/>
          <p:cNvSpPr/>
          <p:nvPr/>
        </p:nvSpPr>
        <p:spPr>
          <a:xfrm>
            <a:off x="5440680" y="1408176"/>
            <a:ext cx="2560320" cy="438912"/>
          </a:xfrm>
          <a:prstGeom prst="rect">
            <a:avLst/>
          </a:prstGeom>
          <a:solidFill>
            <a:srgbClr val="FFFFFF"/>
          </a:solidFill>
          <a:ln w="12700">
            <a:solidFill>
              <a:srgbClr val="CFD4DA"/>
            </a:solidFill>
            <a:prstDash val="solid"/>
          </a:ln>
        </p:spPr>
        <p:txBody>
          <a:bodyPr/>
          <a:lstStyle/>
          <a:p>
            <a:endParaRPr lang="en-IN" sz="3200"/>
          </a:p>
        </p:txBody>
      </p:sp>
      <p:sp>
        <p:nvSpPr>
          <p:cNvPr id="25" name="Text 22"/>
          <p:cNvSpPr/>
          <p:nvPr/>
        </p:nvSpPr>
        <p:spPr>
          <a:xfrm>
            <a:off x="5495544" y="1453896"/>
            <a:ext cx="245059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Highest memory redundancy</a:t>
            </a:r>
            <a:endParaRPr lang="en-US" sz="1100" dirty="0"/>
          </a:p>
        </p:txBody>
      </p:sp>
      <p:sp>
        <p:nvSpPr>
          <p:cNvPr id="26" name="Shape 23"/>
          <p:cNvSpPr/>
          <p:nvPr/>
        </p:nvSpPr>
        <p:spPr>
          <a:xfrm>
            <a:off x="502920" y="1847088"/>
            <a:ext cx="1051560" cy="438912"/>
          </a:xfrm>
          <a:prstGeom prst="rect">
            <a:avLst/>
          </a:prstGeom>
          <a:solidFill>
            <a:srgbClr val="FFFFFF"/>
          </a:solidFill>
          <a:ln w="12700">
            <a:solidFill>
              <a:srgbClr val="CFD4DA"/>
            </a:solidFill>
            <a:prstDash val="solid"/>
          </a:ln>
        </p:spPr>
        <p:txBody>
          <a:bodyPr/>
          <a:lstStyle/>
          <a:p>
            <a:endParaRPr lang="en-IN" sz="3200"/>
          </a:p>
        </p:txBody>
      </p:sp>
      <p:sp>
        <p:nvSpPr>
          <p:cNvPr id="27" name="Text 24"/>
          <p:cNvSpPr/>
          <p:nvPr/>
        </p:nvSpPr>
        <p:spPr>
          <a:xfrm>
            <a:off x="557784" y="1892808"/>
            <a:ext cx="94183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ZeRO-1</a:t>
            </a:r>
            <a:endParaRPr lang="en-US" sz="1100" dirty="0"/>
          </a:p>
        </p:txBody>
      </p:sp>
      <p:sp>
        <p:nvSpPr>
          <p:cNvPr id="28" name="Shape 25"/>
          <p:cNvSpPr/>
          <p:nvPr/>
        </p:nvSpPr>
        <p:spPr>
          <a:xfrm>
            <a:off x="1554480" y="1847088"/>
            <a:ext cx="2057400" cy="438912"/>
          </a:xfrm>
          <a:prstGeom prst="rect">
            <a:avLst/>
          </a:prstGeom>
          <a:solidFill>
            <a:srgbClr val="FFFFFF"/>
          </a:solidFill>
          <a:ln w="12700">
            <a:solidFill>
              <a:srgbClr val="CFD4DA"/>
            </a:solidFill>
            <a:prstDash val="solid"/>
          </a:ln>
        </p:spPr>
        <p:txBody>
          <a:bodyPr/>
          <a:lstStyle/>
          <a:p>
            <a:endParaRPr lang="en-IN" sz="3200"/>
          </a:p>
        </p:txBody>
      </p:sp>
      <p:sp>
        <p:nvSpPr>
          <p:cNvPr id="29" name="Text 26"/>
          <p:cNvSpPr/>
          <p:nvPr/>
        </p:nvSpPr>
        <p:spPr>
          <a:xfrm>
            <a:off x="1609344" y="1892808"/>
            <a:ext cx="194767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Optimizer states</a:t>
            </a:r>
            <a:endParaRPr lang="en-US" sz="1100" dirty="0"/>
          </a:p>
        </p:txBody>
      </p:sp>
      <p:sp>
        <p:nvSpPr>
          <p:cNvPr id="30" name="Shape 27"/>
          <p:cNvSpPr/>
          <p:nvPr/>
        </p:nvSpPr>
        <p:spPr>
          <a:xfrm>
            <a:off x="3611880" y="1847088"/>
            <a:ext cx="1828800" cy="438912"/>
          </a:xfrm>
          <a:prstGeom prst="rect">
            <a:avLst/>
          </a:prstGeom>
          <a:solidFill>
            <a:srgbClr val="FFFFFF"/>
          </a:solidFill>
          <a:ln w="12700">
            <a:solidFill>
              <a:srgbClr val="CFD4DA"/>
            </a:solidFill>
            <a:prstDash val="solid"/>
          </a:ln>
        </p:spPr>
        <p:txBody>
          <a:bodyPr/>
          <a:lstStyle/>
          <a:p>
            <a:endParaRPr lang="en-IN" sz="3200"/>
          </a:p>
        </p:txBody>
      </p:sp>
      <p:sp>
        <p:nvSpPr>
          <p:cNvPr id="31" name="Text 28"/>
          <p:cNvSpPr/>
          <p:nvPr/>
        </p:nvSpPr>
        <p:spPr>
          <a:xfrm>
            <a:off x="3666744" y="1892808"/>
            <a:ext cx="171907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Optimizer memory dominates</a:t>
            </a:r>
            <a:endParaRPr lang="en-US" sz="1100" dirty="0"/>
          </a:p>
        </p:txBody>
      </p:sp>
      <p:sp>
        <p:nvSpPr>
          <p:cNvPr id="32" name="Shape 29"/>
          <p:cNvSpPr/>
          <p:nvPr/>
        </p:nvSpPr>
        <p:spPr>
          <a:xfrm>
            <a:off x="5440680" y="1847088"/>
            <a:ext cx="2560320" cy="438912"/>
          </a:xfrm>
          <a:prstGeom prst="rect">
            <a:avLst/>
          </a:prstGeom>
          <a:solidFill>
            <a:srgbClr val="FFFFFF"/>
          </a:solidFill>
          <a:ln w="12700">
            <a:solidFill>
              <a:srgbClr val="CFD4DA"/>
            </a:solidFill>
            <a:prstDash val="solid"/>
          </a:ln>
        </p:spPr>
        <p:txBody>
          <a:bodyPr/>
          <a:lstStyle/>
          <a:p>
            <a:endParaRPr lang="en-IN" sz="3200"/>
          </a:p>
        </p:txBody>
      </p:sp>
      <p:sp>
        <p:nvSpPr>
          <p:cNvPr id="33" name="Text 30"/>
          <p:cNvSpPr/>
          <p:nvPr/>
        </p:nvSpPr>
        <p:spPr>
          <a:xfrm>
            <a:off x="5495544" y="1892808"/>
            <a:ext cx="245059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Extra coordination; parameters still replicated</a:t>
            </a:r>
            <a:endParaRPr lang="en-US" sz="1100" dirty="0"/>
          </a:p>
        </p:txBody>
      </p:sp>
      <p:sp>
        <p:nvSpPr>
          <p:cNvPr id="34" name="Shape 31"/>
          <p:cNvSpPr/>
          <p:nvPr/>
        </p:nvSpPr>
        <p:spPr>
          <a:xfrm>
            <a:off x="502920" y="2286000"/>
            <a:ext cx="1051560" cy="438912"/>
          </a:xfrm>
          <a:prstGeom prst="rect">
            <a:avLst/>
          </a:prstGeom>
          <a:solidFill>
            <a:srgbClr val="FFFFFF"/>
          </a:solidFill>
          <a:ln w="12700">
            <a:solidFill>
              <a:srgbClr val="CFD4DA"/>
            </a:solidFill>
            <a:prstDash val="solid"/>
          </a:ln>
        </p:spPr>
        <p:txBody>
          <a:bodyPr/>
          <a:lstStyle/>
          <a:p>
            <a:endParaRPr lang="en-IN" sz="3200"/>
          </a:p>
        </p:txBody>
      </p:sp>
      <p:sp>
        <p:nvSpPr>
          <p:cNvPr id="35" name="Text 32"/>
          <p:cNvSpPr/>
          <p:nvPr/>
        </p:nvSpPr>
        <p:spPr>
          <a:xfrm>
            <a:off x="557784" y="2331720"/>
            <a:ext cx="94183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ZeRO-2</a:t>
            </a:r>
            <a:endParaRPr lang="en-US" sz="1100" dirty="0"/>
          </a:p>
        </p:txBody>
      </p:sp>
      <p:sp>
        <p:nvSpPr>
          <p:cNvPr id="36" name="Shape 33"/>
          <p:cNvSpPr/>
          <p:nvPr/>
        </p:nvSpPr>
        <p:spPr>
          <a:xfrm>
            <a:off x="1554480" y="2286000"/>
            <a:ext cx="2057400" cy="438912"/>
          </a:xfrm>
          <a:prstGeom prst="rect">
            <a:avLst/>
          </a:prstGeom>
          <a:solidFill>
            <a:srgbClr val="FFFFFF"/>
          </a:solidFill>
          <a:ln w="12700">
            <a:solidFill>
              <a:srgbClr val="CFD4DA"/>
            </a:solidFill>
            <a:prstDash val="solid"/>
          </a:ln>
        </p:spPr>
        <p:txBody>
          <a:bodyPr/>
          <a:lstStyle/>
          <a:p>
            <a:endParaRPr lang="en-IN" sz="3200"/>
          </a:p>
        </p:txBody>
      </p:sp>
      <p:sp>
        <p:nvSpPr>
          <p:cNvPr id="37" name="Text 34"/>
          <p:cNvSpPr/>
          <p:nvPr/>
        </p:nvSpPr>
        <p:spPr>
          <a:xfrm>
            <a:off x="1609344" y="2331720"/>
            <a:ext cx="194767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Optimizer states + gradients</a:t>
            </a:r>
            <a:endParaRPr lang="en-US" sz="1100" dirty="0"/>
          </a:p>
        </p:txBody>
      </p:sp>
      <p:sp>
        <p:nvSpPr>
          <p:cNvPr id="38" name="Shape 35"/>
          <p:cNvSpPr/>
          <p:nvPr/>
        </p:nvSpPr>
        <p:spPr>
          <a:xfrm>
            <a:off x="3611880" y="2286000"/>
            <a:ext cx="1828800" cy="438912"/>
          </a:xfrm>
          <a:prstGeom prst="rect">
            <a:avLst/>
          </a:prstGeom>
          <a:solidFill>
            <a:srgbClr val="FFFFFF"/>
          </a:solidFill>
          <a:ln w="12700">
            <a:solidFill>
              <a:srgbClr val="CFD4DA"/>
            </a:solidFill>
            <a:prstDash val="solid"/>
          </a:ln>
        </p:spPr>
        <p:txBody>
          <a:bodyPr/>
          <a:lstStyle/>
          <a:p>
            <a:endParaRPr lang="en-IN" sz="3200"/>
          </a:p>
        </p:txBody>
      </p:sp>
      <p:sp>
        <p:nvSpPr>
          <p:cNvPr id="39" name="Text 36"/>
          <p:cNvSpPr/>
          <p:nvPr/>
        </p:nvSpPr>
        <p:spPr>
          <a:xfrm>
            <a:off x="3666744" y="2331720"/>
            <a:ext cx="171907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Need more room for training states</a:t>
            </a:r>
            <a:endParaRPr lang="en-US" sz="1100" dirty="0"/>
          </a:p>
        </p:txBody>
      </p:sp>
      <p:sp>
        <p:nvSpPr>
          <p:cNvPr id="40" name="Shape 37"/>
          <p:cNvSpPr/>
          <p:nvPr/>
        </p:nvSpPr>
        <p:spPr>
          <a:xfrm>
            <a:off x="5440680" y="2286000"/>
            <a:ext cx="2560320" cy="438912"/>
          </a:xfrm>
          <a:prstGeom prst="rect">
            <a:avLst/>
          </a:prstGeom>
          <a:solidFill>
            <a:srgbClr val="FFFFFF"/>
          </a:solidFill>
          <a:ln w="12700">
            <a:solidFill>
              <a:srgbClr val="CFD4DA"/>
            </a:solidFill>
            <a:prstDash val="solid"/>
          </a:ln>
        </p:spPr>
        <p:txBody>
          <a:bodyPr/>
          <a:lstStyle/>
          <a:p>
            <a:endParaRPr lang="en-IN" sz="3200"/>
          </a:p>
        </p:txBody>
      </p:sp>
      <p:sp>
        <p:nvSpPr>
          <p:cNvPr id="41" name="Text 38"/>
          <p:cNvSpPr/>
          <p:nvPr/>
        </p:nvSpPr>
        <p:spPr>
          <a:xfrm>
            <a:off x="5495544" y="2331720"/>
            <a:ext cx="2450592" cy="34747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More communication than ZeRO-1</a:t>
            </a:r>
            <a:endParaRPr lang="en-US" sz="1100" dirty="0"/>
          </a:p>
        </p:txBody>
      </p:sp>
      <p:sp>
        <p:nvSpPr>
          <p:cNvPr id="42" name="Shape 39"/>
          <p:cNvSpPr/>
          <p:nvPr/>
        </p:nvSpPr>
        <p:spPr>
          <a:xfrm>
            <a:off x="502920" y="2724912"/>
            <a:ext cx="1051560" cy="493776"/>
          </a:xfrm>
          <a:prstGeom prst="rect">
            <a:avLst/>
          </a:prstGeom>
          <a:solidFill>
            <a:srgbClr val="FFFFFF"/>
          </a:solidFill>
          <a:ln w="12700">
            <a:solidFill>
              <a:srgbClr val="CFD4DA"/>
            </a:solidFill>
            <a:prstDash val="solid"/>
          </a:ln>
        </p:spPr>
        <p:txBody>
          <a:bodyPr/>
          <a:lstStyle/>
          <a:p>
            <a:endParaRPr lang="en-IN" sz="3200"/>
          </a:p>
        </p:txBody>
      </p:sp>
      <p:sp>
        <p:nvSpPr>
          <p:cNvPr id="43" name="Text 40"/>
          <p:cNvSpPr/>
          <p:nvPr/>
        </p:nvSpPr>
        <p:spPr>
          <a:xfrm>
            <a:off x="557784" y="2770632"/>
            <a:ext cx="94183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ZeRO-3</a:t>
            </a:r>
            <a:endParaRPr lang="en-US" sz="1100" dirty="0"/>
          </a:p>
        </p:txBody>
      </p:sp>
      <p:sp>
        <p:nvSpPr>
          <p:cNvPr id="44" name="Shape 41"/>
          <p:cNvSpPr/>
          <p:nvPr/>
        </p:nvSpPr>
        <p:spPr>
          <a:xfrm>
            <a:off x="1554480" y="2724912"/>
            <a:ext cx="2057400" cy="493776"/>
          </a:xfrm>
          <a:prstGeom prst="rect">
            <a:avLst/>
          </a:prstGeom>
          <a:solidFill>
            <a:srgbClr val="FFFFFF"/>
          </a:solidFill>
          <a:ln w="12700">
            <a:solidFill>
              <a:srgbClr val="CFD4DA"/>
            </a:solidFill>
            <a:prstDash val="solid"/>
          </a:ln>
        </p:spPr>
        <p:txBody>
          <a:bodyPr/>
          <a:lstStyle/>
          <a:p>
            <a:endParaRPr lang="en-IN" sz="3200"/>
          </a:p>
        </p:txBody>
      </p:sp>
      <p:sp>
        <p:nvSpPr>
          <p:cNvPr id="45" name="Text 42"/>
          <p:cNvSpPr/>
          <p:nvPr/>
        </p:nvSpPr>
        <p:spPr>
          <a:xfrm>
            <a:off x="1609344" y="2770632"/>
            <a:ext cx="194767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Optimizer states + gradients + parameters</a:t>
            </a:r>
            <a:endParaRPr lang="en-US" sz="1100" dirty="0"/>
          </a:p>
        </p:txBody>
      </p:sp>
      <p:sp>
        <p:nvSpPr>
          <p:cNvPr id="46" name="Shape 43"/>
          <p:cNvSpPr/>
          <p:nvPr/>
        </p:nvSpPr>
        <p:spPr>
          <a:xfrm>
            <a:off x="3611880" y="2724912"/>
            <a:ext cx="1828800" cy="493776"/>
          </a:xfrm>
          <a:prstGeom prst="rect">
            <a:avLst/>
          </a:prstGeom>
          <a:solidFill>
            <a:srgbClr val="FFFFFF"/>
          </a:solidFill>
          <a:ln w="12700">
            <a:solidFill>
              <a:srgbClr val="CFD4DA"/>
            </a:solidFill>
            <a:prstDash val="solid"/>
          </a:ln>
        </p:spPr>
        <p:txBody>
          <a:bodyPr/>
          <a:lstStyle/>
          <a:p>
            <a:endParaRPr lang="en-IN" sz="3200"/>
          </a:p>
        </p:txBody>
      </p:sp>
      <p:sp>
        <p:nvSpPr>
          <p:cNvPr id="47" name="Text 44"/>
          <p:cNvSpPr/>
          <p:nvPr/>
        </p:nvSpPr>
        <p:spPr>
          <a:xfrm>
            <a:off x="3666744" y="2770632"/>
            <a:ext cx="171907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Model no longer fits per rank</a:t>
            </a:r>
            <a:endParaRPr lang="en-US" sz="1100" dirty="0"/>
          </a:p>
        </p:txBody>
      </p:sp>
      <p:sp>
        <p:nvSpPr>
          <p:cNvPr id="48" name="Shape 45"/>
          <p:cNvSpPr/>
          <p:nvPr/>
        </p:nvSpPr>
        <p:spPr>
          <a:xfrm>
            <a:off x="5440680" y="2724912"/>
            <a:ext cx="2560320" cy="493776"/>
          </a:xfrm>
          <a:prstGeom prst="rect">
            <a:avLst/>
          </a:prstGeom>
          <a:solidFill>
            <a:srgbClr val="FFFFFF"/>
          </a:solidFill>
          <a:ln w="12700">
            <a:solidFill>
              <a:srgbClr val="CFD4DA"/>
            </a:solidFill>
            <a:prstDash val="solid"/>
          </a:ln>
        </p:spPr>
        <p:txBody>
          <a:bodyPr/>
          <a:lstStyle/>
          <a:p>
            <a:endParaRPr lang="en-IN" sz="3200"/>
          </a:p>
        </p:txBody>
      </p:sp>
      <p:sp>
        <p:nvSpPr>
          <p:cNvPr id="49" name="Text 46"/>
          <p:cNvSpPr/>
          <p:nvPr/>
        </p:nvSpPr>
        <p:spPr>
          <a:xfrm>
            <a:off x="5495544" y="2770632"/>
            <a:ext cx="245059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Highest memory savings, more all-gathers / bookkeeping</a:t>
            </a:r>
            <a:endParaRPr lang="en-US" sz="1100" dirty="0"/>
          </a:p>
        </p:txBody>
      </p:sp>
      <p:sp>
        <p:nvSpPr>
          <p:cNvPr id="50" name="Shape 47"/>
          <p:cNvSpPr/>
          <p:nvPr/>
        </p:nvSpPr>
        <p:spPr>
          <a:xfrm>
            <a:off x="502920" y="3218688"/>
            <a:ext cx="1051560" cy="493776"/>
          </a:xfrm>
          <a:prstGeom prst="rect">
            <a:avLst/>
          </a:prstGeom>
          <a:solidFill>
            <a:srgbClr val="FFFFFF"/>
          </a:solidFill>
          <a:ln w="12700">
            <a:solidFill>
              <a:srgbClr val="CFD4DA"/>
            </a:solidFill>
            <a:prstDash val="solid"/>
          </a:ln>
        </p:spPr>
        <p:txBody>
          <a:bodyPr/>
          <a:lstStyle/>
          <a:p>
            <a:endParaRPr lang="en-IN" sz="3200"/>
          </a:p>
        </p:txBody>
      </p:sp>
      <p:sp>
        <p:nvSpPr>
          <p:cNvPr id="51" name="Text 48"/>
          <p:cNvSpPr/>
          <p:nvPr/>
        </p:nvSpPr>
        <p:spPr>
          <a:xfrm>
            <a:off x="557784" y="3264408"/>
            <a:ext cx="94183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FSDP FULL_SHARD</a:t>
            </a:r>
            <a:endParaRPr lang="en-US" sz="1100" dirty="0"/>
          </a:p>
        </p:txBody>
      </p:sp>
      <p:sp>
        <p:nvSpPr>
          <p:cNvPr id="52" name="Shape 49"/>
          <p:cNvSpPr/>
          <p:nvPr/>
        </p:nvSpPr>
        <p:spPr>
          <a:xfrm>
            <a:off x="1554480" y="3218688"/>
            <a:ext cx="2057400" cy="493776"/>
          </a:xfrm>
          <a:prstGeom prst="rect">
            <a:avLst/>
          </a:prstGeom>
          <a:solidFill>
            <a:srgbClr val="FFFFFF"/>
          </a:solidFill>
          <a:ln w="12700">
            <a:solidFill>
              <a:srgbClr val="CFD4DA"/>
            </a:solidFill>
            <a:prstDash val="solid"/>
          </a:ln>
        </p:spPr>
        <p:txBody>
          <a:bodyPr/>
          <a:lstStyle/>
          <a:p>
            <a:endParaRPr lang="en-IN" sz="3200"/>
          </a:p>
        </p:txBody>
      </p:sp>
      <p:sp>
        <p:nvSpPr>
          <p:cNvPr id="53" name="Text 50"/>
          <p:cNvSpPr/>
          <p:nvPr/>
        </p:nvSpPr>
        <p:spPr>
          <a:xfrm>
            <a:off x="1609344" y="3264408"/>
            <a:ext cx="194767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Parameters + gradients + optimizer states</a:t>
            </a:r>
            <a:endParaRPr lang="en-US" sz="1100" dirty="0"/>
          </a:p>
        </p:txBody>
      </p:sp>
      <p:sp>
        <p:nvSpPr>
          <p:cNvPr id="54" name="Shape 51"/>
          <p:cNvSpPr/>
          <p:nvPr/>
        </p:nvSpPr>
        <p:spPr>
          <a:xfrm>
            <a:off x="3611880" y="3218688"/>
            <a:ext cx="1828800" cy="493776"/>
          </a:xfrm>
          <a:prstGeom prst="rect">
            <a:avLst/>
          </a:prstGeom>
          <a:solidFill>
            <a:srgbClr val="FFFFFF"/>
          </a:solidFill>
          <a:ln w="12700">
            <a:solidFill>
              <a:srgbClr val="CFD4DA"/>
            </a:solidFill>
            <a:prstDash val="solid"/>
          </a:ln>
        </p:spPr>
        <p:txBody>
          <a:bodyPr/>
          <a:lstStyle/>
          <a:p>
            <a:endParaRPr lang="en-IN" sz="3200"/>
          </a:p>
        </p:txBody>
      </p:sp>
      <p:sp>
        <p:nvSpPr>
          <p:cNvPr id="55" name="Text 52"/>
          <p:cNvSpPr/>
          <p:nvPr/>
        </p:nvSpPr>
        <p:spPr>
          <a:xfrm>
            <a:off x="3666744" y="3264408"/>
            <a:ext cx="171907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Native PyTorch sharded training</a:t>
            </a:r>
            <a:endParaRPr lang="en-US" sz="1100" dirty="0"/>
          </a:p>
        </p:txBody>
      </p:sp>
      <p:sp>
        <p:nvSpPr>
          <p:cNvPr id="56" name="Shape 53"/>
          <p:cNvSpPr/>
          <p:nvPr/>
        </p:nvSpPr>
        <p:spPr>
          <a:xfrm>
            <a:off x="5440680" y="3218688"/>
            <a:ext cx="2560320" cy="493776"/>
          </a:xfrm>
          <a:prstGeom prst="rect">
            <a:avLst/>
          </a:prstGeom>
          <a:solidFill>
            <a:srgbClr val="FFFFFF"/>
          </a:solidFill>
          <a:ln w="12700">
            <a:solidFill>
              <a:srgbClr val="CFD4DA"/>
            </a:solidFill>
            <a:prstDash val="solid"/>
          </a:ln>
        </p:spPr>
        <p:txBody>
          <a:bodyPr/>
          <a:lstStyle/>
          <a:p>
            <a:endParaRPr lang="en-IN" sz="3200"/>
          </a:p>
        </p:txBody>
      </p:sp>
      <p:sp>
        <p:nvSpPr>
          <p:cNvPr id="57" name="Text 54"/>
          <p:cNvSpPr/>
          <p:nvPr/>
        </p:nvSpPr>
        <p:spPr>
          <a:xfrm>
            <a:off x="5495544" y="3264408"/>
            <a:ext cx="2450592" cy="40233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rial" pitchFamily="34" charset="0"/>
                <a:ea typeface="Arial" pitchFamily="34" charset="-122"/>
                <a:cs typeface="Arial" pitchFamily="34" charset="-120"/>
              </a:rPr>
              <a:t>Communication-sensitive; layout and wrapping matter</a:t>
            </a:r>
            <a:endParaRPr lang="en-US" sz="1100" dirty="0"/>
          </a:p>
        </p:txBody>
      </p:sp>
      <p:sp>
        <p:nvSpPr>
          <p:cNvPr id="58" name="Shape 55"/>
          <p:cNvSpPr/>
          <p:nvPr/>
        </p:nvSpPr>
        <p:spPr>
          <a:xfrm>
            <a:off x="8275320" y="1097280"/>
            <a:ext cx="3291840" cy="1051560"/>
          </a:xfrm>
          <a:prstGeom prst="roundRect">
            <a:avLst>
              <a:gd name="adj" fmla="val 12174"/>
            </a:avLst>
          </a:prstGeom>
          <a:solidFill>
            <a:srgbClr val="DFE8F5"/>
          </a:solidFill>
          <a:ln w="12700">
            <a:solidFill>
              <a:srgbClr val="CFD4DA"/>
            </a:solidFill>
            <a:prstDash val="solid"/>
          </a:ln>
        </p:spPr>
        <p:txBody>
          <a:bodyPr/>
          <a:lstStyle/>
          <a:p>
            <a:endParaRPr lang="en-IN"/>
          </a:p>
        </p:txBody>
      </p:sp>
      <p:sp>
        <p:nvSpPr>
          <p:cNvPr id="59" name="Text 56"/>
          <p:cNvSpPr/>
          <p:nvPr/>
        </p:nvSpPr>
        <p:spPr>
          <a:xfrm>
            <a:off x="8385048" y="1188720"/>
            <a:ext cx="30723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FSDP in one sentence</a:t>
            </a:r>
            <a:endParaRPr lang="en-US" sz="1100" dirty="0"/>
          </a:p>
        </p:txBody>
      </p:sp>
      <p:sp>
        <p:nvSpPr>
          <p:cNvPr id="60" name="Text 57"/>
          <p:cNvSpPr/>
          <p:nvPr/>
        </p:nvSpPr>
        <p:spPr>
          <a:xfrm>
            <a:off x="8385048" y="1408176"/>
            <a:ext cx="3072384" cy="667512"/>
          </a:xfrm>
          <a:prstGeom prst="rect">
            <a:avLst/>
          </a:prstGeom>
          <a:noFill/>
          <a:ln/>
        </p:spPr>
        <p:txBody>
          <a:bodyPr wrap="square" lIns="0" tIns="0" rIns="0" bIns="0" rtlCol="0" anchor="t">
            <a:normAutofit lnSpcReduction="10000"/>
          </a:bodyPr>
          <a:lstStyle/>
          <a:p>
            <a:pPr marL="0" indent="0">
              <a:buNone/>
            </a:pPr>
            <a:r>
              <a:rPr lang="en-US" sz="1200" dirty="0">
                <a:solidFill>
                  <a:srgbClr val="202020"/>
                </a:solidFill>
                <a:latin typeface="Arial" pitchFamily="34" charset="0"/>
                <a:ea typeface="Arial" pitchFamily="34" charset="-122"/>
                <a:cs typeface="Arial" pitchFamily="34" charset="-120"/>
              </a:rPr>
              <a:t>PyTorch FULL_SHARD keeps parameters, gradients, and optimizer states sharded outside compute, then all-gathers what each rank needs for forward/backward.</a:t>
            </a:r>
            <a:endParaRPr lang="en-US" sz="1200" dirty="0"/>
          </a:p>
        </p:txBody>
      </p:sp>
      <p:sp>
        <p:nvSpPr>
          <p:cNvPr id="61" name="Shape 58"/>
          <p:cNvSpPr/>
          <p:nvPr/>
        </p:nvSpPr>
        <p:spPr>
          <a:xfrm>
            <a:off x="8275320" y="2331720"/>
            <a:ext cx="3291840" cy="1051560"/>
          </a:xfrm>
          <a:prstGeom prst="roundRect">
            <a:avLst>
              <a:gd name="adj" fmla="val 12174"/>
            </a:avLst>
          </a:prstGeom>
          <a:solidFill>
            <a:srgbClr val="E2F0E6"/>
          </a:solidFill>
          <a:ln w="12700">
            <a:solidFill>
              <a:srgbClr val="CFD4DA"/>
            </a:solidFill>
            <a:prstDash val="solid"/>
          </a:ln>
        </p:spPr>
        <p:txBody>
          <a:bodyPr/>
          <a:lstStyle/>
          <a:p>
            <a:endParaRPr lang="en-IN"/>
          </a:p>
        </p:txBody>
      </p:sp>
      <p:sp>
        <p:nvSpPr>
          <p:cNvPr id="62" name="Text 59"/>
          <p:cNvSpPr/>
          <p:nvPr/>
        </p:nvSpPr>
        <p:spPr>
          <a:xfrm>
            <a:off x="8385048" y="2423160"/>
            <a:ext cx="307238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ZeRO in one sentence</a:t>
            </a:r>
            <a:endParaRPr lang="en-US" sz="1100" dirty="0"/>
          </a:p>
        </p:txBody>
      </p:sp>
      <p:sp>
        <p:nvSpPr>
          <p:cNvPr id="63" name="Text 60"/>
          <p:cNvSpPr/>
          <p:nvPr/>
        </p:nvSpPr>
        <p:spPr>
          <a:xfrm>
            <a:off x="8385048" y="2642616"/>
            <a:ext cx="3072384" cy="832104"/>
          </a:xfrm>
          <a:prstGeom prst="rect">
            <a:avLst/>
          </a:prstGeom>
          <a:noFill/>
          <a:ln/>
        </p:spPr>
        <p:txBody>
          <a:bodyPr wrap="square" lIns="0" tIns="0" rIns="0" bIns="0" rtlCol="0" anchor="t">
            <a:normAutofit lnSpcReduction="10000"/>
          </a:bodyPr>
          <a:lstStyle/>
          <a:p>
            <a:pPr marL="0" indent="0">
              <a:buNone/>
            </a:pPr>
            <a:r>
              <a:rPr lang="en-US" sz="1100" dirty="0">
                <a:solidFill>
                  <a:srgbClr val="202020"/>
                </a:solidFill>
                <a:latin typeface="Arial" pitchFamily="34" charset="0"/>
                <a:ea typeface="Arial" pitchFamily="34" charset="-122"/>
                <a:cs typeface="Arial" pitchFamily="34" charset="-120"/>
              </a:rPr>
              <a:t>DeepSpeed ZeRO removes data-parallel redundancy progressively: stage 1 shards optimizer states, stage 2 adds gradients, stage 3 adds parameters, and offload extends the idea to CPU/NVMe.</a:t>
            </a:r>
            <a:endParaRPr lang="en-US" sz="1100" dirty="0"/>
          </a:p>
        </p:txBody>
      </p:sp>
      <p:sp>
        <p:nvSpPr>
          <p:cNvPr id="64" name="Shape 61"/>
          <p:cNvSpPr/>
          <p:nvPr/>
        </p:nvSpPr>
        <p:spPr>
          <a:xfrm>
            <a:off x="502920" y="4251960"/>
            <a:ext cx="11064240" cy="1005840"/>
          </a:xfrm>
          <a:prstGeom prst="roundRect">
            <a:avLst>
              <a:gd name="adj" fmla="val 12727"/>
            </a:avLst>
          </a:prstGeom>
          <a:solidFill>
            <a:srgbClr val="FFFFFF"/>
          </a:solidFill>
          <a:ln w="12700">
            <a:solidFill>
              <a:srgbClr val="CFD4DA"/>
            </a:solidFill>
            <a:prstDash val="solid"/>
          </a:ln>
        </p:spPr>
        <p:txBody>
          <a:bodyPr/>
          <a:lstStyle/>
          <a:p>
            <a:endParaRPr lang="en-IN"/>
          </a:p>
        </p:txBody>
      </p:sp>
      <p:sp>
        <p:nvSpPr>
          <p:cNvPr id="65" name="Text 62"/>
          <p:cNvSpPr/>
          <p:nvPr/>
        </p:nvSpPr>
        <p:spPr>
          <a:xfrm>
            <a:off x="612648" y="4361688"/>
            <a:ext cx="10844784" cy="841248"/>
          </a:xfrm>
          <a:prstGeom prst="rect">
            <a:avLst/>
          </a:prstGeom>
          <a:noFill/>
          <a:ln/>
        </p:spPr>
        <p:txBody>
          <a:bodyPr wrap="square" lIns="0" tIns="0" rIns="0" bIns="0" rtlCol="0" anchor="t">
            <a:normAutofit/>
          </a:bodyPr>
          <a:lstStyle/>
          <a:p>
            <a:pPr marL="0" indent="0">
              <a:buNone/>
            </a:pPr>
            <a:r>
              <a:rPr lang="en-US" sz="1600" dirty="0">
                <a:solidFill>
                  <a:srgbClr val="202020"/>
                </a:solidFill>
                <a:latin typeface="Arial" pitchFamily="34" charset="0"/>
                <a:ea typeface="Arial" pitchFamily="34" charset="-122"/>
                <a:cs typeface="Arial" pitchFamily="34" charset="-120"/>
              </a:rPr>
              <a:t>Best practice: exhaust single-GPU levers first (precision, packing, accumulation, checkpointing, optimizer choice). Then move to sharding when the model state itself no longer fits. This also prepares students for Week 7, where distributed communication and synchronization are treated explicitly.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11</a:t>
            </a:r>
            <a:endParaRPr lang="en-US" sz="700" dirty="0"/>
          </a:p>
        </p:txBody>
      </p:sp>
      <p:sp>
        <p:nvSpPr>
          <p:cNvPr id="9" name="Text 6"/>
          <p:cNvSpPr/>
          <p:nvPr/>
        </p:nvSpPr>
        <p:spPr>
          <a:xfrm>
            <a:off x="256032" y="182880"/>
            <a:ext cx="10189718" cy="5212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Throughput optimization outside the model: keep the GPU fed and remove Python overhead</a:t>
            </a:r>
            <a:endParaRPr lang="en-US" sz="1750" dirty="0"/>
          </a:p>
        </p:txBody>
      </p:sp>
      <p:sp>
        <p:nvSpPr>
          <p:cNvPr id="10" name="Shape 7"/>
          <p:cNvSpPr/>
          <p:nvPr/>
        </p:nvSpPr>
        <p:spPr>
          <a:xfrm>
            <a:off x="502920" y="1024128"/>
            <a:ext cx="2743200" cy="1325880"/>
          </a:xfrm>
          <a:prstGeom prst="roundRect">
            <a:avLst>
              <a:gd name="adj" fmla="val 9655"/>
            </a:avLst>
          </a:prstGeom>
          <a:solidFill>
            <a:srgbClr val="DFE8F5"/>
          </a:solidFill>
          <a:ln w="12700">
            <a:solidFill>
              <a:srgbClr val="CFD4DA"/>
            </a:solidFill>
            <a:prstDash val="solid"/>
          </a:ln>
        </p:spPr>
        <p:txBody>
          <a:bodyPr/>
          <a:lstStyle/>
          <a:p>
            <a:endParaRPr lang="en-IN"/>
          </a:p>
        </p:txBody>
      </p:sp>
      <p:sp>
        <p:nvSpPr>
          <p:cNvPr id="11" name="Text 8"/>
          <p:cNvSpPr/>
          <p:nvPr/>
        </p:nvSpPr>
        <p:spPr>
          <a:xfrm>
            <a:off x="612648" y="1115568"/>
            <a:ext cx="25237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Data pipeline overlap</a:t>
            </a:r>
            <a:endParaRPr lang="en-US" sz="1100" dirty="0"/>
          </a:p>
        </p:txBody>
      </p:sp>
      <p:sp>
        <p:nvSpPr>
          <p:cNvPr id="12" name="Text 9"/>
          <p:cNvSpPr/>
          <p:nvPr/>
        </p:nvSpPr>
        <p:spPr>
          <a:xfrm>
            <a:off x="612648" y="1335024"/>
            <a:ext cx="2523744" cy="941832"/>
          </a:xfrm>
          <a:prstGeom prst="rect">
            <a:avLst/>
          </a:prstGeom>
          <a:noFill/>
          <a:ln/>
        </p:spPr>
        <p:txBody>
          <a:bodyPr wrap="square" lIns="0" tIns="0" rIns="0" bIns="0" rtlCol="0" anchor="t">
            <a:normAutofit/>
          </a:bodyPr>
          <a:lstStyle/>
          <a:p>
            <a:pPr marL="0" indent="0">
              <a:buNone/>
            </a:pPr>
            <a:r>
              <a:rPr lang="en-US" sz="915" dirty="0">
                <a:solidFill>
                  <a:srgbClr val="202020"/>
                </a:solidFill>
                <a:latin typeface="Arial" pitchFamily="34" charset="0"/>
                <a:ea typeface="Arial" pitchFamily="34" charset="-122"/>
                <a:cs typeface="Arial" pitchFamily="34" charset="-120"/>
              </a:rPr>
              <a:t>Use num_workers &gt; 0 so loading and preprocessing overlap with training. Use pin_memory=True on GPU runs for faster asynchronous host→device copies. Tune workers empirically; more is not automatically better.</a:t>
            </a:r>
            <a:endParaRPr lang="en-US" sz="915" dirty="0"/>
          </a:p>
        </p:txBody>
      </p:sp>
      <p:sp>
        <p:nvSpPr>
          <p:cNvPr id="13" name="Shape 10"/>
          <p:cNvSpPr/>
          <p:nvPr/>
        </p:nvSpPr>
        <p:spPr>
          <a:xfrm>
            <a:off x="3456432" y="1024128"/>
            <a:ext cx="2743200" cy="1325880"/>
          </a:xfrm>
          <a:prstGeom prst="roundRect">
            <a:avLst>
              <a:gd name="adj" fmla="val 9655"/>
            </a:avLst>
          </a:prstGeom>
          <a:solidFill>
            <a:srgbClr val="F3E9B7"/>
          </a:solidFill>
          <a:ln w="12700">
            <a:solidFill>
              <a:srgbClr val="CFD4DA"/>
            </a:solidFill>
            <a:prstDash val="solid"/>
          </a:ln>
        </p:spPr>
        <p:txBody>
          <a:bodyPr/>
          <a:lstStyle/>
          <a:p>
            <a:endParaRPr lang="en-IN"/>
          </a:p>
        </p:txBody>
      </p:sp>
      <p:sp>
        <p:nvSpPr>
          <p:cNvPr id="14" name="Text 11"/>
          <p:cNvSpPr/>
          <p:nvPr/>
        </p:nvSpPr>
        <p:spPr>
          <a:xfrm>
            <a:off x="3566160" y="1115568"/>
            <a:ext cx="25237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Compiled execution</a:t>
            </a:r>
            <a:endParaRPr lang="en-US" sz="1100" dirty="0"/>
          </a:p>
        </p:txBody>
      </p:sp>
      <p:sp>
        <p:nvSpPr>
          <p:cNvPr id="15" name="Text 12"/>
          <p:cNvSpPr/>
          <p:nvPr/>
        </p:nvSpPr>
        <p:spPr>
          <a:xfrm>
            <a:off x="3566160" y="1335024"/>
            <a:ext cx="2523744" cy="941832"/>
          </a:xfrm>
          <a:prstGeom prst="rect">
            <a:avLst/>
          </a:prstGeom>
          <a:noFill/>
          <a:ln/>
        </p:spPr>
        <p:txBody>
          <a:bodyPr wrap="square" lIns="0" tIns="0" rIns="0" bIns="0" rtlCol="0" anchor="t">
            <a:normAutofit/>
          </a:bodyPr>
          <a:lstStyle/>
          <a:p>
            <a:pPr marL="0" indent="0">
              <a:buNone/>
            </a:pPr>
            <a:r>
              <a:rPr lang="en-US" sz="915" dirty="0">
                <a:solidFill>
                  <a:srgbClr val="202020"/>
                </a:solidFill>
                <a:latin typeface="Arial" pitchFamily="34" charset="0"/>
                <a:ea typeface="Arial" pitchFamily="34" charset="-122"/>
                <a:cs typeface="Arial" pitchFamily="34" charset="-120"/>
              </a:rPr>
              <a:t>torch.compile is now PyTorch’s standard “minimal code change” route to optimized kernels and lower Python overhead. Validate correctness first, then add compile and watch for graph breaks.</a:t>
            </a:r>
            <a:endParaRPr lang="en-US" sz="915" dirty="0"/>
          </a:p>
        </p:txBody>
      </p:sp>
      <p:sp>
        <p:nvSpPr>
          <p:cNvPr id="16" name="Shape 13"/>
          <p:cNvSpPr/>
          <p:nvPr/>
        </p:nvSpPr>
        <p:spPr>
          <a:xfrm>
            <a:off x="6409944" y="1024128"/>
            <a:ext cx="2468880" cy="1325880"/>
          </a:xfrm>
          <a:prstGeom prst="roundRect">
            <a:avLst>
              <a:gd name="adj" fmla="val 9655"/>
            </a:avLst>
          </a:prstGeom>
          <a:solidFill>
            <a:srgbClr val="E2F0E6"/>
          </a:solidFill>
          <a:ln w="12700">
            <a:solidFill>
              <a:srgbClr val="CFD4DA"/>
            </a:solidFill>
            <a:prstDash val="solid"/>
          </a:ln>
        </p:spPr>
        <p:txBody>
          <a:bodyPr/>
          <a:lstStyle/>
          <a:p>
            <a:endParaRPr lang="en-IN"/>
          </a:p>
        </p:txBody>
      </p:sp>
      <p:sp>
        <p:nvSpPr>
          <p:cNvPr id="17" name="Text 14"/>
          <p:cNvSpPr/>
          <p:nvPr/>
        </p:nvSpPr>
        <p:spPr>
          <a:xfrm>
            <a:off x="6519672" y="1115568"/>
            <a:ext cx="2249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Attention / fused kernels</a:t>
            </a:r>
            <a:endParaRPr lang="en-US" sz="1100" dirty="0"/>
          </a:p>
        </p:txBody>
      </p:sp>
      <p:sp>
        <p:nvSpPr>
          <p:cNvPr id="18" name="Text 15"/>
          <p:cNvSpPr/>
          <p:nvPr/>
        </p:nvSpPr>
        <p:spPr>
          <a:xfrm>
            <a:off x="6519672" y="1335024"/>
            <a:ext cx="2249424" cy="941832"/>
          </a:xfrm>
          <a:prstGeom prst="rect">
            <a:avLst/>
          </a:prstGeom>
          <a:noFill/>
          <a:ln/>
        </p:spPr>
        <p:txBody>
          <a:bodyPr wrap="square" lIns="0" tIns="0" rIns="0" bIns="0" rtlCol="0" anchor="t">
            <a:normAutofit/>
          </a:bodyPr>
          <a:lstStyle/>
          <a:p>
            <a:pPr marL="0" indent="0">
              <a:buNone/>
            </a:pPr>
            <a:r>
              <a:rPr lang="en-US" sz="905" dirty="0">
                <a:solidFill>
                  <a:srgbClr val="202020"/>
                </a:solidFill>
                <a:latin typeface="Arial" pitchFamily="34" charset="0"/>
                <a:ea typeface="Arial" pitchFamily="34" charset="-122"/>
                <a:cs typeface="Arial" pitchFamily="34" charset="-120"/>
              </a:rPr>
              <a:t>Use SDPA, and when your model family supports it, consider Liger-style fused kernels for RMSNorm, RoPE, SwiGLU, or fused cross-entropy.</a:t>
            </a:r>
            <a:endParaRPr lang="en-US" sz="905" dirty="0"/>
          </a:p>
        </p:txBody>
      </p:sp>
      <p:sp>
        <p:nvSpPr>
          <p:cNvPr id="19" name="Shape 16"/>
          <p:cNvSpPr/>
          <p:nvPr/>
        </p:nvSpPr>
        <p:spPr>
          <a:xfrm>
            <a:off x="9089136" y="1024128"/>
            <a:ext cx="2468880" cy="1325880"/>
          </a:xfrm>
          <a:prstGeom prst="roundRect">
            <a:avLst>
              <a:gd name="adj" fmla="val 9655"/>
            </a:avLst>
          </a:prstGeom>
          <a:solidFill>
            <a:srgbClr val="F6E6D8"/>
          </a:solidFill>
          <a:ln w="12700">
            <a:solidFill>
              <a:srgbClr val="CFD4DA"/>
            </a:solidFill>
            <a:prstDash val="solid"/>
          </a:ln>
        </p:spPr>
        <p:txBody>
          <a:bodyPr/>
          <a:lstStyle/>
          <a:p>
            <a:endParaRPr lang="en-IN"/>
          </a:p>
        </p:txBody>
      </p:sp>
      <p:sp>
        <p:nvSpPr>
          <p:cNvPr id="20" name="Text 17"/>
          <p:cNvSpPr/>
          <p:nvPr/>
        </p:nvSpPr>
        <p:spPr>
          <a:xfrm>
            <a:off x="9198864" y="1115568"/>
            <a:ext cx="2249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Transfer hygiene</a:t>
            </a:r>
            <a:endParaRPr lang="en-US" sz="1100" dirty="0"/>
          </a:p>
        </p:txBody>
      </p:sp>
      <p:sp>
        <p:nvSpPr>
          <p:cNvPr id="21" name="Text 18"/>
          <p:cNvSpPr/>
          <p:nvPr/>
        </p:nvSpPr>
        <p:spPr>
          <a:xfrm>
            <a:off x="9198864" y="1335024"/>
            <a:ext cx="2249424" cy="941832"/>
          </a:xfrm>
          <a:prstGeom prst="rect">
            <a:avLst/>
          </a:prstGeom>
          <a:noFill/>
          <a:ln/>
        </p:spPr>
        <p:txBody>
          <a:bodyPr wrap="square" lIns="0" tIns="0" rIns="0" bIns="0" rtlCol="0" anchor="t">
            <a:normAutofit/>
          </a:bodyPr>
          <a:lstStyle/>
          <a:p>
            <a:pPr marL="0" indent="0">
              <a:buNone/>
            </a:pPr>
            <a:r>
              <a:rPr lang="en-US" sz="900" dirty="0">
                <a:solidFill>
                  <a:srgbClr val="202020"/>
                </a:solidFill>
                <a:latin typeface="Arial" pitchFamily="34" charset="0"/>
                <a:ea typeface="Arial" pitchFamily="34" charset="-122"/>
                <a:cs typeface="Arial" pitchFamily="34" charset="-120"/>
              </a:rPr>
              <a:t>Use pinned memory plus non_blocking transfers in the hot path. Avoid synchronous CPU prints, frequent .item() calls, and other hidden stalls inside the step loop.</a:t>
            </a:r>
            <a:endParaRPr lang="en-US" sz="900" dirty="0"/>
          </a:p>
        </p:txBody>
      </p:sp>
      <p:sp>
        <p:nvSpPr>
          <p:cNvPr id="22" name="Shape 19"/>
          <p:cNvSpPr/>
          <p:nvPr/>
        </p:nvSpPr>
        <p:spPr>
          <a:xfrm>
            <a:off x="502920" y="2697480"/>
            <a:ext cx="4937760" cy="1325880"/>
          </a:xfrm>
          <a:prstGeom prst="roundRect">
            <a:avLst>
              <a:gd name="adj" fmla="val 9655"/>
            </a:avLst>
          </a:prstGeom>
          <a:solidFill>
            <a:srgbClr val="FFFFFF"/>
          </a:solidFill>
          <a:ln w="12700">
            <a:solidFill>
              <a:srgbClr val="CFD4DA"/>
            </a:solidFill>
            <a:prstDash val="solid"/>
          </a:ln>
        </p:spPr>
        <p:txBody>
          <a:bodyPr/>
          <a:lstStyle/>
          <a:p>
            <a:endParaRPr lang="en-IN"/>
          </a:p>
        </p:txBody>
      </p:sp>
      <p:sp>
        <p:nvSpPr>
          <p:cNvPr id="23" name="Text 20"/>
          <p:cNvSpPr/>
          <p:nvPr/>
        </p:nvSpPr>
        <p:spPr>
          <a:xfrm>
            <a:off x="612648" y="2788920"/>
            <a:ext cx="471830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What to measure</a:t>
            </a:r>
            <a:endParaRPr lang="en-US" sz="1100" dirty="0"/>
          </a:p>
        </p:txBody>
      </p:sp>
      <p:sp>
        <p:nvSpPr>
          <p:cNvPr id="24" name="Text 21"/>
          <p:cNvSpPr/>
          <p:nvPr/>
        </p:nvSpPr>
        <p:spPr>
          <a:xfrm>
            <a:off x="612648" y="3008376"/>
            <a:ext cx="4718304" cy="941832"/>
          </a:xfrm>
          <a:prstGeom prst="rect">
            <a:avLst/>
          </a:prstGeom>
          <a:noFill/>
          <a:ln/>
        </p:spPr>
        <p:txBody>
          <a:bodyPr wrap="square" lIns="0" tIns="0" rIns="0" bIns="0" rtlCol="0" anchor="t">
            <a:normAutofit/>
          </a:bodyPr>
          <a:lstStyle/>
          <a:p>
            <a:pPr marL="0" indent="0">
              <a:buNone/>
            </a:pPr>
            <a:r>
              <a:rPr lang="en-US" sz="920" dirty="0">
                <a:solidFill>
                  <a:srgbClr val="202020"/>
                </a:solidFill>
                <a:latin typeface="Arial" pitchFamily="34" charset="0"/>
                <a:ea typeface="Arial" pitchFamily="34" charset="-122"/>
                <a:cs typeface="Arial" pitchFamily="34" charset="-120"/>
              </a:rPr>
              <a:t>Tokens/s, step time, dataloader wait time, max memory allocated, max memory reserved, and the fraction of each batch that is useful non-pad tokens. Sample/s alone can be misleading when sequence lengths vary.</a:t>
            </a:r>
            <a:endParaRPr lang="en-US" sz="920" dirty="0"/>
          </a:p>
        </p:txBody>
      </p:sp>
      <p:sp>
        <p:nvSpPr>
          <p:cNvPr id="25" name="Shape 22"/>
          <p:cNvSpPr/>
          <p:nvPr/>
        </p:nvSpPr>
        <p:spPr>
          <a:xfrm>
            <a:off x="5650992" y="2697480"/>
            <a:ext cx="5907024" cy="1325880"/>
          </a:xfrm>
          <a:prstGeom prst="roundRect">
            <a:avLst>
              <a:gd name="adj" fmla="val 9655"/>
            </a:avLst>
          </a:prstGeom>
          <a:solidFill>
            <a:srgbClr val="F5DFDD"/>
          </a:solidFill>
          <a:ln w="12700">
            <a:solidFill>
              <a:srgbClr val="CFD4DA"/>
            </a:solidFill>
            <a:prstDash val="solid"/>
          </a:ln>
        </p:spPr>
        <p:txBody>
          <a:bodyPr/>
          <a:lstStyle/>
          <a:p>
            <a:endParaRPr lang="en-IN"/>
          </a:p>
        </p:txBody>
      </p:sp>
      <p:sp>
        <p:nvSpPr>
          <p:cNvPr id="26" name="Text 23"/>
          <p:cNvSpPr/>
          <p:nvPr/>
        </p:nvSpPr>
        <p:spPr>
          <a:xfrm>
            <a:off x="5760720" y="2788920"/>
            <a:ext cx="5687568"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A practical order for adding knobs</a:t>
            </a:r>
            <a:endParaRPr lang="en-US" sz="1100" dirty="0"/>
          </a:p>
        </p:txBody>
      </p:sp>
      <p:sp>
        <p:nvSpPr>
          <p:cNvPr id="27" name="Text 24"/>
          <p:cNvSpPr/>
          <p:nvPr/>
        </p:nvSpPr>
        <p:spPr>
          <a:xfrm>
            <a:off x="5760720" y="3008376"/>
            <a:ext cx="5687568" cy="941832"/>
          </a:xfrm>
          <a:prstGeom prst="rect">
            <a:avLst/>
          </a:prstGeom>
          <a:noFill/>
          <a:ln/>
        </p:spPr>
        <p:txBody>
          <a:bodyPr wrap="square" lIns="0" tIns="0" rIns="0" bIns="0" rtlCol="0" anchor="t">
            <a:normAutofit/>
          </a:bodyPr>
          <a:lstStyle/>
          <a:p>
            <a:pPr marL="0" indent="0">
              <a:buNone/>
            </a:pPr>
            <a:r>
              <a:rPr lang="en-US" sz="920" dirty="0">
                <a:solidFill>
                  <a:srgbClr val="202020"/>
                </a:solidFill>
                <a:latin typeface="Arial" pitchFamily="34" charset="0"/>
                <a:ea typeface="Arial" pitchFamily="34" charset="-122"/>
                <a:cs typeface="Arial" pitchFamily="34" charset="-120"/>
              </a:rPr>
              <a:t>1) fix batching waste and attention kernels</a:t>
            </a:r>
            <a:endParaRPr lang="en-US" sz="920" dirty="0"/>
          </a:p>
          <a:p>
            <a:pPr marL="0" indent="0">
              <a:buNone/>
            </a:pPr>
            <a:r>
              <a:rPr lang="en-US" sz="920" dirty="0">
                <a:solidFill>
                  <a:srgbClr val="202020"/>
                </a:solidFill>
                <a:latin typeface="Arial" pitchFamily="34" charset="0"/>
                <a:ea typeface="Arial" pitchFamily="34" charset="-122"/>
                <a:cs typeface="Arial" pitchFamily="34" charset="-120"/>
              </a:rPr>
              <a:t>2) verify mixed precision baseline</a:t>
            </a:r>
            <a:endParaRPr lang="en-US" sz="920" dirty="0"/>
          </a:p>
          <a:p>
            <a:pPr marL="0" indent="0">
              <a:buNone/>
            </a:pPr>
            <a:r>
              <a:rPr lang="en-US" sz="920" dirty="0">
                <a:solidFill>
                  <a:srgbClr val="202020"/>
                </a:solidFill>
                <a:latin typeface="Arial" pitchFamily="34" charset="0"/>
                <a:ea typeface="Arial" pitchFamily="34" charset="-122"/>
                <a:cs typeface="Arial" pitchFamily="34" charset="-120"/>
              </a:rPr>
              <a:t>3) add dataloader overlap</a:t>
            </a:r>
            <a:endParaRPr lang="en-US" sz="920" dirty="0"/>
          </a:p>
          <a:p>
            <a:pPr marL="0" indent="0">
              <a:buNone/>
            </a:pPr>
            <a:r>
              <a:rPr lang="en-US" sz="920" dirty="0">
                <a:solidFill>
                  <a:srgbClr val="202020"/>
                </a:solidFill>
                <a:latin typeface="Arial" pitchFamily="34" charset="0"/>
                <a:ea typeface="Arial" pitchFamily="34" charset="-122"/>
                <a:cs typeface="Arial" pitchFamily="34" charset="-120"/>
              </a:rPr>
              <a:t>4) add compile</a:t>
            </a:r>
            <a:endParaRPr lang="en-US" sz="920" dirty="0"/>
          </a:p>
          <a:p>
            <a:pPr marL="0" indent="0">
              <a:buNone/>
            </a:pPr>
            <a:r>
              <a:rPr lang="en-US" sz="920" dirty="0">
                <a:solidFill>
                  <a:srgbClr val="202020"/>
                </a:solidFill>
                <a:latin typeface="Arial" pitchFamily="34" charset="0"/>
                <a:ea typeface="Arial" pitchFamily="34" charset="-122"/>
                <a:cs typeface="Arial" pitchFamily="34" charset="-120"/>
              </a:rPr>
              <a:t>5) revisit sharding or offload only if memory is still the limiter</a:t>
            </a:r>
            <a:endParaRPr lang="en-US" sz="920" dirty="0"/>
          </a:p>
        </p:txBody>
      </p:sp>
      <p:sp>
        <p:nvSpPr>
          <p:cNvPr id="28" name="Shape 25"/>
          <p:cNvSpPr/>
          <p:nvPr/>
        </p:nvSpPr>
        <p:spPr>
          <a:xfrm>
            <a:off x="502920" y="4343400"/>
            <a:ext cx="11064240" cy="841248"/>
          </a:xfrm>
          <a:prstGeom prst="roundRect">
            <a:avLst>
              <a:gd name="adj" fmla="val 15217"/>
            </a:avLst>
          </a:prstGeom>
          <a:solidFill>
            <a:srgbClr val="FFFFFF"/>
          </a:solidFill>
          <a:ln w="12700">
            <a:solidFill>
              <a:srgbClr val="CFD4DA"/>
            </a:solidFill>
            <a:prstDash val="solid"/>
          </a:ln>
        </p:spPr>
        <p:txBody>
          <a:bodyPr/>
          <a:lstStyle/>
          <a:p>
            <a:endParaRPr lang="en-IN"/>
          </a:p>
        </p:txBody>
      </p:sp>
      <p:sp>
        <p:nvSpPr>
          <p:cNvPr id="29" name="Text 26"/>
          <p:cNvSpPr/>
          <p:nvPr/>
        </p:nvSpPr>
        <p:spPr>
          <a:xfrm>
            <a:off x="612648" y="4453128"/>
            <a:ext cx="10844784" cy="676656"/>
          </a:xfrm>
          <a:prstGeom prst="rect">
            <a:avLst/>
          </a:prstGeom>
          <a:noFill/>
          <a:ln/>
        </p:spPr>
        <p:txBody>
          <a:bodyPr wrap="square" lIns="0" tIns="0" rIns="0" bIns="0" rtlCol="0" anchor="t">
            <a:normAutofit/>
          </a:bodyPr>
          <a:lstStyle/>
          <a:p>
            <a:pPr marL="0" indent="0">
              <a:buNone/>
            </a:pPr>
            <a:r>
              <a:rPr lang="en-US" sz="935" dirty="0">
                <a:solidFill>
                  <a:srgbClr val="202020"/>
                </a:solidFill>
                <a:latin typeface="Arial" pitchFamily="34" charset="0"/>
                <a:ea typeface="Arial" pitchFamily="34" charset="-122"/>
                <a:cs typeface="Arial" pitchFamily="34" charset="-120"/>
              </a:rPr>
              <a:t>Updated practice in 2026 is not “turn on every optimization”. It is “add one knob, profile, validate numerics, then keep only the knobs that move tokens/s or memory in the right direction.”</a:t>
            </a:r>
            <a:endParaRPr lang="en-US" sz="93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12</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Practical playbook by hardware tier</a:t>
            </a:r>
            <a:endParaRPr lang="en-US" sz="1750" dirty="0"/>
          </a:p>
        </p:txBody>
      </p:sp>
      <p:sp>
        <p:nvSpPr>
          <p:cNvPr id="10" name="Shape 7"/>
          <p:cNvSpPr/>
          <p:nvPr/>
        </p:nvSpPr>
        <p:spPr>
          <a:xfrm>
            <a:off x="502920" y="1024128"/>
            <a:ext cx="1920240" cy="384048"/>
          </a:xfrm>
          <a:prstGeom prst="rect">
            <a:avLst/>
          </a:prstGeom>
          <a:solidFill>
            <a:srgbClr val="E8EEF7"/>
          </a:solidFill>
          <a:ln w="12700">
            <a:solidFill>
              <a:srgbClr val="CFD4DA"/>
            </a:solidFill>
            <a:prstDash val="solid"/>
          </a:ln>
        </p:spPr>
        <p:txBody>
          <a:bodyPr/>
          <a:lstStyle/>
          <a:p>
            <a:endParaRPr lang="en-IN" sz="3600"/>
          </a:p>
        </p:txBody>
      </p:sp>
      <p:sp>
        <p:nvSpPr>
          <p:cNvPr id="11" name="Text 8"/>
          <p:cNvSpPr/>
          <p:nvPr/>
        </p:nvSpPr>
        <p:spPr>
          <a:xfrm>
            <a:off x="557784" y="1069848"/>
            <a:ext cx="1810512" cy="292608"/>
          </a:xfrm>
          <a:prstGeom prst="rect">
            <a:avLst/>
          </a:prstGeom>
          <a:noFill/>
          <a:ln/>
        </p:spPr>
        <p:txBody>
          <a:bodyPr wrap="square" lIns="0" tIns="0" rIns="0" bIns="0" rtlCol="0" anchor="ctr">
            <a:normAutofit/>
          </a:bodyPr>
          <a:lstStyle/>
          <a:p>
            <a:pPr marL="0" indent="0">
              <a:buNone/>
            </a:pPr>
            <a:r>
              <a:rPr lang="en-US" sz="1200" b="1" dirty="0">
                <a:solidFill>
                  <a:srgbClr val="202020"/>
                </a:solidFill>
                <a:latin typeface="Arial" pitchFamily="34" charset="0"/>
                <a:ea typeface="Arial" pitchFamily="34" charset="-122"/>
                <a:cs typeface="Arial" pitchFamily="34" charset="-120"/>
              </a:rPr>
              <a:t>Scenario</a:t>
            </a:r>
            <a:endParaRPr lang="en-US" sz="1200" dirty="0"/>
          </a:p>
        </p:txBody>
      </p:sp>
      <p:sp>
        <p:nvSpPr>
          <p:cNvPr id="12" name="Shape 9"/>
          <p:cNvSpPr/>
          <p:nvPr/>
        </p:nvSpPr>
        <p:spPr>
          <a:xfrm>
            <a:off x="2423160" y="1024128"/>
            <a:ext cx="2926080" cy="384048"/>
          </a:xfrm>
          <a:prstGeom prst="rect">
            <a:avLst/>
          </a:prstGeom>
          <a:solidFill>
            <a:srgbClr val="E8EEF7"/>
          </a:solidFill>
          <a:ln w="12700">
            <a:solidFill>
              <a:srgbClr val="CFD4DA"/>
            </a:solidFill>
            <a:prstDash val="solid"/>
          </a:ln>
        </p:spPr>
        <p:txBody>
          <a:bodyPr/>
          <a:lstStyle/>
          <a:p>
            <a:endParaRPr lang="en-IN" sz="3600"/>
          </a:p>
        </p:txBody>
      </p:sp>
      <p:sp>
        <p:nvSpPr>
          <p:cNvPr id="13" name="Text 10"/>
          <p:cNvSpPr/>
          <p:nvPr/>
        </p:nvSpPr>
        <p:spPr>
          <a:xfrm>
            <a:off x="2478024" y="1069848"/>
            <a:ext cx="2816352" cy="292608"/>
          </a:xfrm>
          <a:prstGeom prst="rect">
            <a:avLst/>
          </a:prstGeom>
          <a:noFill/>
          <a:ln/>
        </p:spPr>
        <p:txBody>
          <a:bodyPr wrap="square" lIns="0" tIns="0" rIns="0" bIns="0" rtlCol="0" anchor="ctr">
            <a:normAutofit/>
          </a:bodyPr>
          <a:lstStyle/>
          <a:p>
            <a:pPr marL="0" indent="0">
              <a:buNone/>
            </a:pPr>
            <a:r>
              <a:rPr lang="en-US" sz="1200" b="1" dirty="0">
                <a:solidFill>
                  <a:srgbClr val="202020"/>
                </a:solidFill>
                <a:latin typeface="Arial" pitchFamily="34" charset="0"/>
                <a:ea typeface="Arial" pitchFamily="34" charset="-122"/>
                <a:cs typeface="Arial" pitchFamily="34" charset="-120"/>
              </a:rPr>
              <a:t>Default starting point</a:t>
            </a:r>
            <a:endParaRPr lang="en-US" sz="1200" dirty="0"/>
          </a:p>
        </p:txBody>
      </p:sp>
      <p:sp>
        <p:nvSpPr>
          <p:cNvPr id="14" name="Shape 11"/>
          <p:cNvSpPr/>
          <p:nvPr/>
        </p:nvSpPr>
        <p:spPr>
          <a:xfrm>
            <a:off x="5349240" y="1024128"/>
            <a:ext cx="2971800" cy="384048"/>
          </a:xfrm>
          <a:prstGeom prst="rect">
            <a:avLst/>
          </a:prstGeom>
          <a:solidFill>
            <a:srgbClr val="E8EEF7"/>
          </a:solidFill>
          <a:ln w="12700">
            <a:solidFill>
              <a:srgbClr val="CFD4DA"/>
            </a:solidFill>
            <a:prstDash val="solid"/>
          </a:ln>
        </p:spPr>
        <p:txBody>
          <a:bodyPr/>
          <a:lstStyle/>
          <a:p>
            <a:endParaRPr lang="en-IN" sz="3600"/>
          </a:p>
        </p:txBody>
      </p:sp>
      <p:sp>
        <p:nvSpPr>
          <p:cNvPr id="15" name="Text 12"/>
          <p:cNvSpPr/>
          <p:nvPr/>
        </p:nvSpPr>
        <p:spPr>
          <a:xfrm>
            <a:off x="5404104" y="1069848"/>
            <a:ext cx="2862072" cy="292608"/>
          </a:xfrm>
          <a:prstGeom prst="rect">
            <a:avLst/>
          </a:prstGeom>
          <a:noFill/>
          <a:ln/>
        </p:spPr>
        <p:txBody>
          <a:bodyPr wrap="square" lIns="0" tIns="0" rIns="0" bIns="0" rtlCol="0" anchor="ctr">
            <a:normAutofit/>
          </a:bodyPr>
          <a:lstStyle/>
          <a:p>
            <a:pPr marL="0" indent="0">
              <a:buNone/>
            </a:pPr>
            <a:r>
              <a:rPr lang="en-US" sz="1200" b="1" dirty="0">
                <a:solidFill>
                  <a:srgbClr val="202020"/>
                </a:solidFill>
                <a:latin typeface="Arial" pitchFamily="34" charset="0"/>
                <a:ea typeface="Arial" pitchFamily="34" charset="-122"/>
                <a:cs typeface="Arial" pitchFamily="34" charset="-120"/>
              </a:rPr>
              <a:t>Add next if needed</a:t>
            </a:r>
            <a:endParaRPr lang="en-US" sz="1200" dirty="0"/>
          </a:p>
        </p:txBody>
      </p:sp>
      <p:sp>
        <p:nvSpPr>
          <p:cNvPr id="16" name="Shape 13"/>
          <p:cNvSpPr/>
          <p:nvPr/>
        </p:nvSpPr>
        <p:spPr>
          <a:xfrm>
            <a:off x="502920" y="1408176"/>
            <a:ext cx="1920240" cy="566928"/>
          </a:xfrm>
          <a:prstGeom prst="rect">
            <a:avLst/>
          </a:prstGeom>
          <a:solidFill>
            <a:srgbClr val="FFFFFF"/>
          </a:solidFill>
          <a:ln w="12700">
            <a:solidFill>
              <a:srgbClr val="CFD4DA"/>
            </a:solidFill>
            <a:prstDash val="solid"/>
          </a:ln>
        </p:spPr>
        <p:txBody>
          <a:bodyPr/>
          <a:lstStyle/>
          <a:p>
            <a:endParaRPr lang="en-IN" sz="3600"/>
          </a:p>
        </p:txBody>
      </p:sp>
      <p:sp>
        <p:nvSpPr>
          <p:cNvPr id="17" name="Text 14"/>
          <p:cNvSpPr/>
          <p:nvPr/>
        </p:nvSpPr>
        <p:spPr>
          <a:xfrm>
            <a:off x="557784" y="1453896"/>
            <a:ext cx="181051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Colab T4 / 16 GB class GPU</a:t>
            </a:r>
            <a:endParaRPr lang="en-US" sz="1200" dirty="0"/>
          </a:p>
        </p:txBody>
      </p:sp>
      <p:sp>
        <p:nvSpPr>
          <p:cNvPr id="18" name="Shape 15"/>
          <p:cNvSpPr/>
          <p:nvPr/>
        </p:nvSpPr>
        <p:spPr>
          <a:xfrm>
            <a:off x="2423160" y="1408176"/>
            <a:ext cx="2926080" cy="566928"/>
          </a:xfrm>
          <a:prstGeom prst="rect">
            <a:avLst/>
          </a:prstGeom>
          <a:solidFill>
            <a:srgbClr val="FFFFFF"/>
          </a:solidFill>
          <a:ln w="12700">
            <a:solidFill>
              <a:srgbClr val="CFD4DA"/>
            </a:solidFill>
            <a:prstDash val="solid"/>
          </a:ln>
        </p:spPr>
        <p:txBody>
          <a:bodyPr/>
          <a:lstStyle/>
          <a:p>
            <a:endParaRPr lang="en-IN" sz="3600"/>
          </a:p>
        </p:txBody>
      </p:sp>
      <p:sp>
        <p:nvSpPr>
          <p:cNvPr id="19" name="Text 16"/>
          <p:cNvSpPr/>
          <p:nvPr/>
        </p:nvSpPr>
        <p:spPr>
          <a:xfrm>
            <a:off x="2478024" y="1453896"/>
            <a:ext cx="2816352" cy="475488"/>
          </a:xfrm>
          <a:prstGeom prst="rect">
            <a:avLst/>
          </a:prstGeom>
          <a:noFill/>
          <a:ln/>
        </p:spPr>
        <p:txBody>
          <a:bodyPr wrap="square" lIns="0" tIns="0" rIns="0" bIns="0" rtlCol="0" anchor="ctr">
            <a:noAutofit/>
          </a:bodyPr>
          <a:lstStyle/>
          <a:p>
            <a:pPr marL="0" indent="0">
              <a:buNone/>
            </a:pPr>
            <a:r>
              <a:rPr lang="en-US" sz="1100" dirty="0">
                <a:solidFill>
                  <a:srgbClr val="202020"/>
                </a:solidFill>
                <a:latin typeface="Arial" pitchFamily="34" charset="0"/>
                <a:ea typeface="Arial" pitchFamily="34" charset="-122"/>
                <a:cs typeface="Arial" pitchFamily="34" charset="-120"/>
              </a:rPr>
              <a:t>FP16 path, tiny microbatch, gradient accumulation, checkpointing, SDPA, length bucketing / packing where supported</a:t>
            </a:r>
            <a:endParaRPr lang="en-US" sz="1100" dirty="0"/>
          </a:p>
        </p:txBody>
      </p:sp>
      <p:sp>
        <p:nvSpPr>
          <p:cNvPr id="20" name="Shape 17"/>
          <p:cNvSpPr/>
          <p:nvPr/>
        </p:nvSpPr>
        <p:spPr>
          <a:xfrm>
            <a:off x="5349240" y="1408176"/>
            <a:ext cx="2971800" cy="566928"/>
          </a:xfrm>
          <a:prstGeom prst="rect">
            <a:avLst/>
          </a:prstGeom>
          <a:solidFill>
            <a:srgbClr val="FFFFFF"/>
          </a:solidFill>
          <a:ln w="12700">
            <a:solidFill>
              <a:srgbClr val="CFD4DA"/>
            </a:solidFill>
            <a:prstDash val="solid"/>
          </a:ln>
        </p:spPr>
        <p:txBody>
          <a:bodyPr/>
          <a:lstStyle/>
          <a:p>
            <a:endParaRPr lang="en-IN" sz="3600"/>
          </a:p>
        </p:txBody>
      </p:sp>
      <p:sp>
        <p:nvSpPr>
          <p:cNvPr id="21" name="Text 18"/>
          <p:cNvSpPr/>
          <p:nvPr/>
        </p:nvSpPr>
        <p:spPr>
          <a:xfrm>
            <a:off x="5404104" y="1453896"/>
            <a:ext cx="286207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8-bit optimizer; offload only as a last resort</a:t>
            </a:r>
            <a:endParaRPr lang="en-US" sz="1200" dirty="0"/>
          </a:p>
        </p:txBody>
      </p:sp>
      <p:sp>
        <p:nvSpPr>
          <p:cNvPr id="22" name="Shape 19"/>
          <p:cNvSpPr/>
          <p:nvPr/>
        </p:nvSpPr>
        <p:spPr>
          <a:xfrm>
            <a:off x="502920" y="1975104"/>
            <a:ext cx="1920240" cy="566928"/>
          </a:xfrm>
          <a:prstGeom prst="rect">
            <a:avLst/>
          </a:prstGeom>
          <a:solidFill>
            <a:srgbClr val="FFFFFF"/>
          </a:solidFill>
          <a:ln w="12700">
            <a:solidFill>
              <a:srgbClr val="CFD4DA"/>
            </a:solidFill>
            <a:prstDash val="solid"/>
          </a:ln>
        </p:spPr>
        <p:txBody>
          <a:bodyPr/>
          <a:lstStyle/>
          <a:p>
            <a:endParaRPr lang="en-IN" sz="3600"/>
          </a:p>
        </p:txBody>
      </p:sp>
      <p:sp>
        <p:nvSpPr>
          <p:cNvPr id="23" name="Text 20"/>
          <p:cNvSpPr/>
          <p:nvPr/>
        </p:nvSpPr>
        <p:spPr>
          <a:xfrm>
            <a:off x="557784" y="2020824"/>
            <a:ext cx="181051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Single A100 / H100 / Blackwell-class GPU</a:t>
            </a:r>
            <a:endParaRPr lang="en-US" sz="1200" dirty="0"/>
          </a:p>
        </p:txBody>
      </p:sp>
      <p:sp>
        <p:nvSpPr>
          <p:cNvPr id="24" name="Shape 21"/>
          <p:cNvSpPr/>
          <p:nvPr/>
        </p:nvSpPr>
        <p:spPr>
          <a:xfrm>
            <a:off x="2423160" y="1975104"/>
            <a:ext cx="2926080" cy="566928"/>
          </a:xfrm>
          <a:prstGeom prst="rect">
            <a:avLst/>
          </a:prstGeom>
          <a:solidFill>
            <a:srgbClr val="FFFFFF"/>
          </a:solidFill>
          <a:ln w="12700">
            <a:solidFill>
              <a:srgbClr val="CFD4DA"/>
            </a:solidFill>
            <a:prstDash val="solid"/>
          </a:ln>
        </p:spPr>
        <p:txBody>
          <a:bodyPr/>
          <a:lstStyle/>
          <a:p>
            <a:endParaRPr lang="en-IN" sz="3600"/>
          </a:p>
        </p:txBody>
      </p:sp>
      <p:sp>
        <p:nvSpPr>
          <p:cNvPr id="25" name="Text 22"/>
          <p:cNvSpPr/>
          <p:nvPr/>
        </p:nvSpPr>
        <p:spPr>
          <a:xfrm>
            <a:off x="2478024" y="2020824"/>
            <a:ext cx="2816352" cy="475488"/>
          </a:xfrm>
          <a:prstGeom prst="rect">
            <a:avLst/>
          </a:prstGeom>
          <a:noFill/>
          <a:ln/>
        </p:spPr>
        <p:txBody>
          <a:bodyPr wrap="square" lIns="0" tIns="0" rIns="0" bIns="0" rtlCol="0" anchor="ctr">
            <a:noAutofit/>
          </a:bodyPr>
          <a:lstStyle/>
          <a:p>
            <a:pPr marL="0" indent="0">
              <a:buNone/>
            </a:pPr>
            <a:r>
              <a:rPr lang="en-US" sz="1200" dirty="0">
                <a:solidFill>
                  <a:srgbClr val="202020"/>
                </a:solidFill>
                <a:latin typeface="Arial" pitchFamily="34" charset="0"/>
                <a:ea typeface="Arial" pitchFamily="34" charset="-122"/>
                <a:cs typeface="Arial" pitchFamily="34" charset="-120"/>
              </a:rPr>
              <a:t>BF16, larger token-budget batches, SDPA/FlashAttention path, packing for skewed SFT data</a:t>
            </a:r>
            <a:endParaRPr lang="en-US" sz="1200" dirty="0"/>
          </a:p>
        </p:txBody>
      </p:sp>
      <p:sp>
        <p:nvSpPr>
          <p:cNvPr id="26" name="Shape 23"/>
          <p:cNvSpPr/>
          <p:nvPr/>
        </p:nvSpPr>
        <p:spPr>
          <a:xfrm>
            <a:off x="5349240" y="1975104"/>
            <a:ext cx="2971800" cy="566928"/>
          </a:xfrm>
          <a:prstGeom prst="rect">
            <a:avLst/>
          </a:prstGeom>
          <a:solidFill>
            <a:srgbClr val="FFFFFF"/>
          </a:solidFill>
          <a:ln w="12700">
            <a:solidFill>
              <a:srgbClr val="CFD4DA"/>
            </a:solidFill>
            <a:prstDash val="solid"/>
          </a:ln>
        </p:spPr>
        <p:txBody>
          <a:bodyPr/>
          <a:lstStyle/>
          <a:p>
            <a:endParaRPr lang="en-IN" sz="3600"/>
          </a:p>
        </p:txBody>
      </p:sp>
      <p:sp>
        <p:nvSpPr>
          <p:cNvPr id="27" name="Text 24"/>
          <p:cNvSpPr/>
          <p:nvPr/>
        </p:nvSpPr>
        <p:spPr>
          <a:xfrm>
            <a:off x="5404104" y="2020824"/>
            <a:ext cx="286207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Selective checkpointing, torch.compile, fused kernels</a:t>
            </a:r>
            <a:endParaRPr lang="en-US" sz="1200" dirty="0"/>
          </a:p>
        </p:txBody>
      </p:sp>
      <p:sp>
        <p:nvSpPr>
          <p:cNvPr id="28" name="Shape 25"/>
          <p:cNvSpPr/>
          <p:nvPr/>
        </p:nvSpPr>
        <p:spPr>
          <a:xfrm>
            <a:off x="502920" y="2542032"/>
            <a:ext cx="1920240" cy="566928"/>
          </a:xfrm>
          <a:prstGeom prst="rect">
            <a:avLst/>
          </a:prstGeom>
          <a:solidFill>
            <a:srgbClr val="FFFFFF"/>
          </a:solidFill>
          <a:ln w="12700">
            <a:solidFill>
              <a:srgbClr val="CFD4DA"/>
            </a:solidFill>
            <a:prstDash val="solid"/>
          </a:ln>
        </p:spPr>
        <p:txBody>
          <a:bodyPr/>
          <a:lstStyle/>
          <a:p>
            <a:endParaRPr lang="en-IN" sz="3600"/>
          </a:p>
        </p:txBody>
      </p:sp>
      <p:sp>
        <p:nvSpPr>
          <p:cNvPr id="29" name="Text 26"/>
          <p:cNvSpPr/>
          <p:nvPr/>
        </p:nvSpPr>
        <p:spPr>
          <a:xfrm>
            <a:off x="557784" y="2587752"/>
            <a:ext cx="181051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Multi-GPU node</a:t>
            </a:r>
            <a:endParaRPr lang="en-US" sz="1200" dirty="0"/>
          </a:p>
        </p:txBody>
      </p:sp>
      <p:sp>
        <p:nvSpPr>
          <p:cNvPr id="30" name="Shape 27"/>
          <p:cNvSpPr/>
          <p:nvPr/>
        </p:nvSpPr>
        <p:spPr>
          <a:xfrm>
            <a:off x="2423160" y="2542032"/>
            <a:ext cx="2926080" cy="566928"/>
          </a:xfrm>
          <a:prstGeom prst="rect">
            <a:avLst/>
          </a:prstGeom>
          <a:solidFill>
            <a:srgbClr val="FFFFFF"/>
          </a:solidFill>
          <a:ln w="12700">
            <a:solidFill>
              <a:srgbClr val="CFD4DA"/>
            </a:solidFill>
            <a:prstDash val="solid"/>
          </a:ln>
        </p:spPr>
        <p:txBody>
          <a:bodyPr/>
          <a:lstStyle/>
          <a:p>
            <a:endParaRPr lang="en-IN" sz="3600"/>
          </a:p>
        </p:txBody>
      </p:sp>
      <p:sp>
        <p:nvSpPr>
          <p:cNvPr id="31" name="Text 28"/>
          <p:cNvSpPr/>
          <p:nvPr/>
        </p:nvSpPr>
        <p:spPr>
          <a:xfrm>
            <a:off x="2478024" y="2587752"/>
            <a:ext cx="281635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BF16 + FSDP/ZeRO when model state no longer fits per rank</a:t>
            </a:r>
            <a:endParaRPr lang="en-US" sz="1200" dirty="0"/>
          </a:p>
        </p:txBody>
      </p:sp>
      <p:sp>
        <p:nvSpPr>
          <p:cNvPr id="32" name="Shape 29"/>
          <p:cNvSpPr/>
          <p:nvPr/>
        </p:nvSpPr>
        <p:spPr>
          <a:xfrm>
            <a:off x="5349240" y="2542032"/>
            <a:ext cx="2971800" cy="566928"/>
          </a:xfrm>
          <a:prstGeom prst="rect">
            <a:avLst/>
          </a:prstGeom>
          <a:solidFill>
            <a:srgbClr val="FFFFFF"/>
          </a:solidFill>
          <a:ln w="12700">
            <a:solidFill>
              <a:srgbClr val="CFD4DA"/>
            </a:solidFill>
            <a:prstDash val="solid"/>
          </a:ln>
        </p:spPr>
        <p:txBody>
          <a:bodyPr/>
          <a:lstStyle/>
          <a:p>
            <a:endParaRPr lang="en-IN" sz="3600"/>
          </a:p>
        </p:txBody>
      </p:sp>
      <p:sp>
        <p:nvSpPr>
          <p:cNvPr id="33" name="Text 30"/>
          <p:cNvSpPr/>
          <p:nvPr/>
        </p:nvSpPr>
        <p:spPr>
          <a:xfrm>
            <a:off x="5404104" y="2587752"/>
            <a:ext cx="286207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Communication overlap, sharded optimizer, packed sequences</a:t>
            </a:r>
            <a:endParaRPr lang="en-US" sz="1200" dirty="0"/>
          </a:p>
        </p:txBody>
      </p:sp>
      <p:sp>
        <p:nvSpPr>
          <p:cNvPr id="34" name="Shape 31"/>
          <p:cNvSpPr/>
          <p:nvPr/>
        </p:nvSpPr>
        <p:spPr>
          <a:xfrm>
            <a:off x="502920" y="3108960"/>
            <a:ext cx="1920240" cy="566928"/>
          </a:xfrm>
          <a:prstGeom prst="rect">
            <a:avLst/>
          </a:prstGeom>
          <a:solidFill>
            <a:srgbClr val="FFFFFF"/>
          </a:solidFill>
          <a:ln w="12700">
            <a:solidFill>
              <a:srgbClr val="CFD4DA"/>
            </a:solidFill>
            <a:prstDash val="solid"/>
          </a:ln>
        </p:spPr>
        <p:txBody>
          <a:bodyPr/>
          <a:lstStyle/>
          <a:p>
            <a:endParaRPr lang="en-IN" sz="3600"/>
          </a:p>
        </p:txBody>
      </p:sp>
      <p:sp>
        <p:nvSpPr>
          <p:cNvPr id="35" name="Text 32"/>
          <p:cNvSpPr/>
          <p:nvPr/>
        </p:nvSpPr>
        <p:spPr>
          <a:xfrm>
            <a:off x="557784" y="3154680"/>
            <a:ext cx="181051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Long-context or ragged SFT workload</a:t>
            </a:r>
            <a:endParaRPr lang="en-US" sz="1200" dirty="0"/>
          </a:p>
        </p:txBody>
      </p:sp>
      <p:sp>
        <p:nvSpPr>
          <p:cNvPr id="36" name="Shape 33"/>
          <p:cNvSpPr/>
          <p:nvPr/>
        </p:nvSpPr>
        <p:spPr>
          <a:xfrm>
            <a:off x="2423160" y="3108960"/>
            <a:ext cx="2926080" cy="566928"/>
          </a:xfrm>
          <a:prstGeom prst="rect">
            <a:avLst/>
          </a:prstGeom>
          <a:solidFill>
            <a:srgbClr val="FFFFFF"/>
          </a:solidFill>
          <a:ln w="12700">
            <a:solidFill>
              <a:srgbClr val="CFD4DA"/>
            </a:solidFill>
            <a:prstDash val="solid"/>
          </a:ln>
        </p:spPr>
        <p:txBody>
          <a:bodyPr/>
          <a:lstStyle/>
          <a:p>
            <a:endParaRPr lang="en-IN" sz="3600"/>
          </a:p>
        </p:txBody>
      </p:sp>
      <p:sp>
        <p:nvSpPr>
          <p:cNvPr id="37" name="Text 34"/>
          <p:cNvSpPr/>
          <p:nvPr/>
        </p:nvSpPr>
        <p:spPr>
          <a:xfrm>
            <a:off x="2478024" y="3154680"/>
            <a:ext cx="281635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Token-budget batching + packing-aware attention path</a:t>
            </a:r>
            <a:endParaRPr lang="en-US" sz="1200" dirty="0"/>
          </a:p>
        </p:txBody>
      </p:sp>
      <p:sp>
        <p:nvSpPr>
          <p:cNvPr id="38" name="Shape 35"/>
          <p:cNvSpPr/>
          <p:nvPr/>
        </p:nvSpPr>
        <p:spPr>
          <a:xfrm>
            <a:off x="5349240" y="3108960"/>
            <a:ext cx="2971800" cy="566928"/>
          </a:xfrm>
          <a:prstGeom prst="rect">
            <a:avLst/>
          </a:prstGeom>
          <a:solidFill>
            <a:srgbClr val="FFFFFF"/>
          </a:solidFill>
          <a:ln w="12700">
            <a:solidFill>
              <a:srgbClr val="CFD4DA"/>
            </a:solidFill>
            <a:prstDash val="solid"/>
          </a:ln>
        </p:spPr>
        <p:txBody>
          <a:bodyPr/>
          <a:lstStyle/>
          <a:p>
            <a:endParaRPr lang="en-IN" sz="3600"/>
          </a:p>
        </p:txBody>
      </p:sp>
      <p:sp>
        <p:nvSpPr>
          <p:cNvPr id="39" name="Text 36"/>
          <p:cNvSpPr/>
          <p:nvPr/>
        </p:nvSpPr>
        <p:spPr>
          <a:xfrm>
            <a:off x="5404104" y="3154680"/>
            <a:ext cx="2862072" cy="475488"/>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rial" pitchFamily="34" charset="0"/>
                <a:ea typeface="Arial" pitchFamily="34" charset="-122"/>
                <a:cs typeface="Arial" pitchFamily="34" charset="-120"/>
              </a:rPr>
              <a:t>Varlen attention / padding-free collators on validated stacks</a:t>
            </a:r>
            <a:endParaRPr lang="en-US" sz="1200" dirty="0"/>
          </a:p>
        </p:txBody>
      </p:sp>
      <p:sp>
        <p:nvSpPr>
          <p:cNvPr id="40" name="Shape 37"/>
          <p:cNvSpPr/>
          <p:nvPr/>
        </p:nvSpPr>
        <p:spPr>
          <a:xfrm>
            <a:off x="8549640" y="1097280"/>
            <a:ext cx="3017520" cy="1143000"/>
          </a:xfrm>
          <a:prstGeom prst="roundRect">
            <a:avLst>
              <a:gd name="adj" fmla="val 11200"/>
            </a:avLst>
          </a:prstGeom>
          <a:solidFill>
            <a:srgbClr val="DFE8F5"/>
          </a:solidFill>
          <a:ln w="12700">
            <a:solidFill>
              <a:srgbClr val="CFD4DA"/>
            </a:solidFill>
            <a:prstDash val="solid"/>
          </a:ln>
        </p:spPr>
        <p:txBody>
          <a:bodyPr/>
          <a:lstStyle/>
          <a:p>
            <a:endParaRPr lang="en-IN"/>
          </a:p>
        </p:txBody>
      </p:sp>
      <p:sp>
        <p:nvSpPr>
          <p:cNvPr id="41" name="Text 38"/>
          <p:cNvSpPr/>
          <p:nvPr/>
        </p:nvSpPr>
        <p:spPr>
          <a:xfrm>
            <a:off x="8659368" y="1188720"/>
            <a:ext cx="279806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Rule 1</a:t>
            </a:r>
            <a:endParaRPr lang="en-US" sz="1100" dirty="0"/>
          </a:p>
        </p:txBody>
      </p:sp>
      <p:sp>
        <p:nvSpPr>
          <p:cNvPr id="42" name="Text 39"/>
          <p:cNvSpPr/>
          <p:nvPr/>
        </p:nvSpPr>
        <p:spPr>
          <a:xfrm>
            <a:off x="8659368" y="1408176"/>
            <a:ext cx="2798064" cy="758952"/>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Remove wasted tokens before adding complicated memory tricks. Packing and better batching frequently beat heroic offload setups.</a:t>
            </a:r>
            <a:endParaRPr lang="en-US" sz="1200" dirty="0"/>
          </a:p>
        </p:txBody>
      </p:sp>
      <p:sp>
        <p:nvSpPr>
          <p:cNvPr id="43" name="Shape 40"/>
          <p:cNvSpPr/>
          <p:nvPr/>
        </p:nvSpPr>
        <p:spPr>
          <a:xfrm>
            <a:off x="8549640" y="2423160"/>
            <a:ext cx="3017520" cy="1143000"/>
          </a:xfrm>
          <a:prstGeom prst="roundRect">
            <a:avLst>
              <a:gd name="adj" fmla="val 11200"/>
            </a:avLst>
          </a:prstGeom>
          <a:solidFill>
            <a:srgbClr val="F3E9B7"/>
          </a:solidFill>
          <a:ln w="12700">
            <a:solidFill>
              <a:srgbClr val="CFD4DA"/>
            </a:solidFill>
            <a:prstDash val="solid"/>
          </a:ln>
        </p:spPr>
        <p:txBody>
          <a:bodyPr/>
          <a:lstStyle/>
          <a:p>
            <a:endParaRPr lang="en-IN"/>
          </a:p>
        </p:txBody>
      </p:sp>
      <p:sp>
        <p:nvSpPr>
          <p:cNvPr id="44" name="Text 41"/>
          <p:cNvSpPr/>
          <p:nvPr/>
        </p:nvSpPr>
        <p:spPr>
          <a:xfrm>
            <a:off x="8659368" y="2514600"/>
            <a:ext cx="279806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Rule 2</a:t>
            </a:r>
            <a:endParaRPr lang="en-US" sz="1100" dirty="0"/>
          </a:p>
        </p:txBody>
      </p:sp>
      <p:sp>
        <p:nvSpPr>
          <p:cNvPr id="45" name="Text 42"/>
          <p:cNvSpPr/>
          <p:nvPr/>
        </p:nvSpPr>
        <p:spPr>
          <a:xfrm>
            <a:off x="8659368" y="2734056"/>
            <a:ext cx="2798064" cy="758952"/>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Raise useful tokens per step, not just nominal batch size. Effective throughput is about meaningful work delivered to the model.</a:t>
            </a:r>
            <a:endParaRPr lang="en-US" sz="1100" dirty="0"/>
          </a:p>
        </p:txBody>
      </p:sp>
      <p:sp>
        <p:nvSpPr>
          <p:cNvPr id="46" name="Shape 43"/>
          <p:cNvSpPr/>
          <p:nvPr/>
        </p:nvSpPr>
        <p:spPr>
          <a:xfrm>
            <a:off x="8549640" y="3749040"/>
            <a:ext cx="3017520" cy="1143000"/>
          </a:xfrm>
          <a:prstGeom prst="roundRect">
            <a:avLst>
              <a:gd name="adj" fmla="val 11200"/>
            </a:avLst>
          </a:prstGeom>
          <a:solidFill>
            <a:srgbClr val="E2F0E6"/>
          </a:solidFill>
          <a:ln w="12700">
            <a:solidFill>
              <a:srgbClr val="CFD4DA"/>
            </a:solidFill>
            <a:prstDash val="solid"/>
          </a:ln>
        </p:spPr>
        <p:txBody>
          <a:bodyPr/>
          <a:lstStyle/>
          <a:p>
            <a:endParaRPr lang="en-IN"/>
          </a:p>
        </p:txBody>
      </p:sp>
      <p:sp>
        <p:nvSpPr>
          <p:cNvPr id="47" name="Text 44"/>
          <p:cNvSpPr/>
          <p:nvPr/>
        </p:nvSpPr>
        <p:spPr>
          <a:xfrm>
            <a:off x="8659368" y="3840480"/>
            <a:ext cx="279806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Rule 3</a:t>
            </a:r>
            <a:endParaRPr lang="en-US" sz="1100" dirty="0"/>
          </a:p>
        </p:txBody>
      </p:sp>
      <p:sp>
        <p:nvSpPr>
          <p:cNvPr id="48" name="Text 45"/>
          <p:cNvSpPr/>
          <p:nvPr/>
        </p:nvSpPr>
        <p:spPr>
          <a:xfrm>
            <a:off x="8659368" y="4059936"/>
            <a:ext cx="2798064" cy="758952"/>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Escalate complexity gradually: precision → batching → accumulation → checkpointing → optimizer choice → sharding/offload.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13</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Profiling and debugging: optimize by evidence, not folklore</a:t>
            </a:r>
            <a:endParaRPr lang="en-US" sz="1750" dirty="0"/>
          </a:p>
        </p:txBody>
      </p:sp>
      <p:sp>
        <p:nvSpPr>
          <p:cNvPr id="10" name="Shape 7"/>
          <p:cNvSpPr/>
          <p:nvPr/>
        </p:nvSpPr>
        <p:spPr>
          <a:xfrm>
            <a:off x="502920" y="1024128"/>
            <a:ext cx="3657600" cy="1097280"/>
          </a:xfrm>
          <a:prstGeom prst="roundRect">
            <a:avLst>
              <a:gd name="adj" fmla="val 11667"/>
            </a:avLst>
          </a:prstGeom>
          <a:solidFill>
            <a:srgbClr val="DFE8F5"/>
          </a:solidFill>
          <a:ln w="12700">
            <a:solidFill>
              <a:srgbClr val="CFD4DA"/>
            </a:solidFill>
            <a:prstDash val="solid"/>
          </a:ln>
        </p:spPr>
        <p:txBody>
          <a:bodyPr/>
          <a:lstStyle/>
          <a:p>
            <a:endParaRPr lang="en-IN"/>
          </a:p>
        </p:txBody>
      </p:sp>
      <p:sp>
        <p:nvSpPr>
          <p:cNvPr id="11" name="Text 8"/>
          <p:cNvSpPr/>
          <p:nvPr/>
        </p:nvSpPr>
        <p:spPr>
          <a:xfrm>
            <a:off x="612648" y="1115568"/>
            <a:ext cx="34381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Memory visibility</a:t>
            </a:r>
            <a:endParaRPr lang="en-US" sz="1100" dirty="0"/>
          </a:p>
        </p:txBody>
      </p:sp>
      <p:sp>
        <p:nvSpPr>
          <p:cNvPr id="12" name="Text 9"/>
          <p:cNvSpPr/>
          <p:nvPr/>
        </p:nvSpPr>
        <p:spPr>
          <a:xfrm>
            <a:off x="612648" y="1335024"/>
            <a:ext cx="3438144" cy="923544"/>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PyTorch now provides memory snapshots and memory_viz tooling. Capture a snapshot before changing multiple knobs at once; otherwise you do not know which allocation category actually caused the peak.</a:t>
            </a:r>
            <a:endParaRPr lang="en-US" sz="1100" dirty="0"/>
          </a:p>
        </p:txBody>
      </p:sp>
      <p:sp>
        <p:nvSpPr>
          <p:cNvPr id="13" name="Shape 10"/>
          <p:cNvSpPr/>
          <p:nvPr/>
        </p:nvSpPr>
        <p:spPr>
          <a:xfrm>
            <a:off x="4370832" y="1024128"/>
            <a:ext cx="3657600" cy="1097280"/>
          </a:xfrm>
          <a:prstGeom prst="roundRect">
            <a:avLst>
              <a:gd name="adj" fmla="val 11667"/>
            </a:avLst>
          </a:prstGeom>
          <a:solidFill>
            <a:srgbClr val="F3E9B7"/>
          </a:solidFill>
          <a:ln w="12700">
            <a:solidFill>
              <a:srgbClr val="CFD4DA"/>
            </a:solidFill>
            <a:prstDash val="solid"/>
          </a:ln>
        </p:spPr>
        <p:txBody>
          <a:bodyPr/>
          <a:lstStyle/>
          <a:p>
            <a:endParaRPr lang="en-IN"/>
          </a:p>
        </p:txBody>
      </p:sp>
      <p:sp>
        <p:nvSpPr>
          <p:cNvPr id="14" name="Text 11"/>
          <p:cNvSpPr/>
          <p:nvPr/>
        </p:nvSpPr>
        <p:spPr>
          <a:xfrm>
            <a:off x="4480560" y="1115568"/>
            <a:ext cx="34381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Throughput visibility</a:t>
            </a:r>
            <a:endParaRPr lang="en-US" sz="1100" dirty="0"/>
          </a:p>
        </p:txBody>
      </p:sp>
      <p:sp>
        <p:nvSpPr>
          <p:cNvPr id="15" name="Text 12"/>
          <p:cNvSpPr/>
          <p:nvPr/>
        </p:nvSpPr>
        <p:spPr>
          <a:xfrm>
            <a:off x="4480560" y="1335024"/>
            <a:ext cx="3438144" cy="786384"/>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Measure tokens/s, dataloader stalls, and per-step timeline—not just epoch time. A faster optimizer or kernel can be masked by a slow CPU input pipeline.</a:t>
            </a:r>
            <a:endParaRPr lang="en-US" sz="1200" dirty="0"/>
          </a:p>
        </p:txBody>
      </p:sp>
      <p:sp>
        <p:nvSpPr>
          <p:cNvPr id="16" name="Shape 13"/>
          <p:cNvSpPr/>
          <p:nvPr/>
        </p:nvSpPr>
        <p:spPr>
          <a:xfrm>
            <a:off x="8238744" y="1024128"/>
            <a:ext cx="3328416" cy="1097280"/>
          </a:xfrm>
          <a:prstGeom prst="roundRect">
            <a:avLst>
              <a:gd name="adj" fmla="val 11667"/>
            </a:avLst>
          </a:prstGeom>
          <a:solidFill>
            <a:srgbClr val="E2F0E6"/>
          </a:solidFill>
          <a:ln w="12700">
            <a:solidFill>
              <a:srgbClr val="CFD4DA"/>
            </a:solidFill>
            <a:prstDash val="solid"/>
          </a:ln>
        </p:spPr>
        <p:txBody>
          <a:bodyPr/>
          <a:lstStyle/>
          <a:p>
            <a:endParaRPr lang="en-IN"/>
          </a:p>
        </p:txBody>
      </p:sp>
      <p:sp>
        <p:nvSpPr>
          <p:cNvPr id="17" name="Text 14"/>
          <p:cNvSpPr/>
          <p:nvPr/>
        </p:nvSpPr>
        <p:spPr>
          <a:xfrm>
            <a:off x="8348472" y="1115568"/>
            <a:ext cx="3108960"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Regression discipline</a:t>
            </a:r>
            <a:endParaRPr lang="en-US" sz="1100" dirty="0"/>
          </a:p>
        </p:txBody>
      </p:sp>
      <p:sp>
        <p:nvSpPr>
          <p:cNvPr id="18" name="Text 15"/>
          <p:cNvSpPr/>
          <p:nvPr/>
        </p:nvSpPr>
        <p:spPr>
          <a:xfrm>
            <a:off x="8348472" y="1335024"/>
            <a:ext cx="3108960" cy="713232"/>
          </a:xfrm>
          <a:prstGeom prst="rect">
            <a:avLst/>
          </a:prstGeom>
          <a:noFill/>
          <a:ln/>
        </p:spPr>
        <p:txBody>
          <a:bodyPr wrap="square" lIns="0" tIns="0" rIns="0" bIns="0" rtlCol="0" anchor="t">
            <a:normAutofit lnSpcReduction="10000"/>
          </a:bodyPr>
          <a:lstStyle/>
          <a:p>
            <a:pPr marL="0" indent="0">
              <a:buNone/>
            </a:pPr>
            <a:r>
              <a:rPr lang="en-US" sz="1200" dirty="0">
                <a:solidFill>
                  <a:srgbClr val="202020"/>
                </a:solidFill>
                <a:latin typeface="Arial" pitchFamily="34" charset="0"/>
                <a:ea typeface="Arial" pitchFamily="34" charset="-122"/>
                <a:cs typeface="Arial" pitchFamily="34" charset="-120"/>
              </a:rPr>
              <a:t>After each optimization, compare loss curves and step time against a simple BF16/FP32 baseline. More complexity is not automatically better.</a:t>
            </a:r>
            <a:endParaRPr lang="en-US" sz="1200" dirty="0"/>
          </a:p>
        </p:txBody>
      </p:sp>
      <p:sp>
        <p:nvSpPr>
          <p:cNvPr id="19" name="Shape 16"/>
          <p:cNvSpPr/>
          <p:nvPr/>
        </p:nvSpPr>
        <p:spPr>
          <a:xfrm>
            <a:off x="502920" y="2468880"/>
            <a:ext cx="3474720" cy="2011680"/>
          </a:xfrm>
          <a:prstGeom prst="roundRect">
            <a:avLst>
              <a:gd name="adj" fmla="val 6364"/>
            </a:avLst>
          </a:prstGeom>
          <a:solidFill>
            <a:srgbClr val="FFFFFF"/>
          </a:solidFill>
          <a:ln w="12700">
            <a:solidFill>
              <a:srgbClr val="CFD4DA"/>
            </a:solidFill>
            <a:prstDash val="solid"/>
          </a:ln>
        </p:spPr>
        <p:txBody>
          <a:bodyPr/>
          <a:lstStyle/>
          <a:p>
            <a:endParaRPr lang="en-IN"/>
          </a:p>
        </p:txBody>
      </p:sp>
      <p:sp>
        <p:nvSpPr>
          <p:cNvPr id="20" name="Text 17"/>
          <p:cNvSpPr/>
          <p:nvPr/>
        </p:nvSpPr>
        <p:spPr>
          <a:xfrm>
            <a:off x="612648" y="2560320"/>
            <a:ext cx="325526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Fast diagnosis by failure pattern</a:t>
            </a:r>
            <a:endParaRPr lang="en-US" sz="1100" dirty="0"/>
          </a:p>
        </p:txBody>
      </p:sp>
      <p:sp>
        <p:nvSpPr>
          <p:cNvPr id="21" name="Text 18"/>
          <p:cNvSpPr/>
          <p:nvPr/>
        </p:nvSpPr>
        <p:spPr>
          <a:xfrm>
            <a:off x="612648" y="2779776"/>
            <a:ext cx="3255264" cy="1627632"/>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 OOM before the first backward → model state or workspace footprint is too large</a:t>
            </a:r>
            <a:endParaRPr lang="en-US" sz="1200" dirty="0"/>
          </a:p>
          <a:p>
            <a:pPr marL="0" indent="0">
              <a:buNone/>
            </a:pPr>
            <a:r>
              <a:rPr lang="en-US" sz="1200" dirty="0">
                <a:solidFill>
                  <a:srgbClr val="202020"/>
                </a:solidFill>
                <a:latin typeface="Arial" pitchFamily="34" charset="0"/>
                <a:ea typeface="Arial" pitchFamily="34" charset="-122"/>
                <a:cs typeface="Arial" pitchFamily="34" charset="-120"/>
              </a:rPr>
              <a:t>• OOM during backward → saved activations or attention intermediates dominate</a:t>
            </a:r>
            <a:endParaRPr lang="en-US" sz="1200" dirty="0"/>
          </a:p>
          <a:p>
            <a:pPr marL="0" indent="0">
              <a:buNone/>
            </a:pPr>
            <a:r>
              <a:rPr lang="en-US" sz="1200" dirty="0">
                <a:solidFill>
                  <a:srgbClr val="202020"/>
                </a:solidFill>
                <a:latin typeface="Arial" pitchFamily="34" charset="0"/>
                <a:ea typeface="Arial" pitchFamily="34" charset="-122"/>
                <a:cs typeface="Arial" pitchFamily="34" charset="-120"/>
              </a:rPr>
              <a:t>• GPU utilization low but memory modest → dataloader / host-device transfer bottleneck</a:t>
            </a:r>
            <a:endParaRPr lang="en-US" sz="1200" dirty="0"/>
          </a:p>
          <a:p>
            <a:pPr marL="0" indent="0">
              <a:buNone/>
            </a:pPr>
            <a:r>
              <a:rPr lang="en-US" sz="1200" dirty="0">
                <a:solidFill>
                  <a:srgbClr val="202020"/>
                </a:solidFill>
                <a:latin typeface="Arial" pitchFamily="34" charset="0"/>
                <a:ea typeface="Arial" pitchFamily="34" charset="-122"/>
                <a:cs typeface="Arial" pitchFamily="34" charset="-120"/>
              </a:rPr>
              <a:t>• Good samples/s but poor tokens/s → padding waste or ragged batching</a:t>
            </a:r>
            <a:endParaRPr lang="en-US" sz="1200" dirty="0"/>
          </a:p>
        </p:txBody>
      </p:sp>
      <p:sp>
        <p:nvSpPr>
          <p:cNvPr id="22" name="Shape 19"/>
          <p:cNvSpPr/>
          <p:nvPr/>
        </p:nvSpPr>
        <p:spPr>
          <a:xfrm>
            <a:off x="4187952" y="2468880"/>
            <a:ext cx="3611880" cy="2011680"/>
          </a:xfrm>
          <a:prstGeom prst="roundRect">
            <a:avLst>
              <a:gd name="adj" fmla="val 6364"/>
            </a:avLst>
          </a:prstGeom>
          <a:solidFill>
            <a:srgbClr val="F6E6D8"/>
          </a:solidFill>
          <a:ln w="12700">
            <a:solidFill>
              <a:srgbClr val="CFD4DA"/>
            </a:solidFill>
            <a:prstDash val="solid"/>
          </a:ln>
        </p:spPr>
        <p:txBody>
          <a:bodyPr/>
          <a:lstStyle/>
          <a:p>
            <a:endParaRPr lang="en-IN"/>
          </a:p>
        </p:txBody>
      </p:sp>
      <p:sp>
        <p:nvSpPr>
          <p:cNvPr id="23" name="Text 20"/>
          <p:cNvSpPr/>
          <p:nvPr/>
        </p:nvSpPr>
        <p:spPr>
          <a:xfrm>
            <a:off x="4297680" y="2560320"/>
            <a:ext cx="339242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PyTorch tools worth knowing</a:t>
            </a:r>
            <a:endParaRPr lang="en-US" sz="1100" dirty="0"/>
          </a:p>
        </p:txBody>
      </p:sp>
      <p:sp>
        <p:nvSpPr>
          <p:cNvPr id="24" name="Text 21"/>
          <p:cNvSpPr/>
          <p:nvPr/>
        </p:nvSpPr>
        <p:spPr>
          <a:xfrm>
            <a:off x="4297680" y="2779776"/>
            <a:ext cx="3392424" cy="1627632"/>
          </a:xfrm>
          <a:prstGeom prst="rect">
            <a:avLst/>
          </a:prstGeom>
          <a:noFill/>
          <a:ln/>
        </p:spPr>
        <p:txBody>
          <a:bodyPr wrap="square" lIns="0" tIns="0" rIns="0" bIns="0" rtlCol="0" anchor="t">
            <a:normAutofit lnSpcReduction="10000"/>
          </a:bodyPr>
          <a:lstStyle/>
          <a:p>
            <a:pPr marL="0" indent="0">
              <a:buNone/>
            </a:pPr>
            <a:r>
              <a:rPr lang="en-US" sz="1400" dirty="0">
                <a:solidFill>
                  <a:srgbClr val="202020"/>
                </a:solidFill>
                <a:latin typeface="Arial" pitchFamily="34" charset="0"/>
                <a:ea typeface="Arial" pitchFamily="34" charset="-122"/>
                <a:cs typeface="Arial" pitchFamily="34" charset="-120"/>
              </a:rPr>
              <a:t>• torch.cuda.memory._record_memory_history()</a:t>
            </a:r>
            <a:endParaRPr lang="en-US" sz="1400" dirty="0"/>
          </a:p>
          <a:p>
            <a:pPr marL="0" indent="0">
              <a:buNone/>
            </a:pPr>
            <a:r>
              <a:rPr lang="en-US" sz="1400" dirty="0">
                <a:solidFill>
                  <a:srgbClr val="202020"/>
                </a:solidFill>
                <a:latin typeface="Arial" pitchFamily="34" charset="0"/>
                <a:ea typeface="Arial" pitchFamily="34" charset="-122"/>
                <a:cs typeface="Arial" pitchFamily="34" charset="-120"/>
              </a:rPr>
              <a:t>• memory snapshot dump + memory_viz viewer</a:t>
            </a:r>
            <a:endParaRPr lang="en-US" sz="1400" dirty="0"/>
          </a:p>
          <a:p>
            <a:pPr marL="0" indent="0">
              <a:buNone/>
            </a:pPr>
            <a:r>
              <a:rPr lang="en-US" sz="1400" dirty="0">
                <a:solidFill>
                  <a:srgbClr val="202020"/>
                </a:solidFill>
                <a:latin typeface="Arial" pitchFamily="34" charset="0"/>
                <a:ea typeface="Arial" pitchFamily="34" charset="-122"/>
                <a:cs typeface="Arial" pitchFamily="34" charset="-120"/>
              </a:rPr>
              <a:t>• max_memory_allocated / reserved</a:t>
            </a:r>
            <a:endParaRPr lang="en-US" sz="1400" dirty="0"/>
          </a:p>
          <a:p>
            <a:pPr marL="0" indent="0">
              <a:buNone/>
            </a:pPr>
            <a:r>
              <a:rPr lang="en-US" sz="1400" dirty="0">
                <a:solidFill>
                  <a:srgbClr val="202020"/>
                </a:solidFill>
                <a:latin typeface="Arial" pitchFamily="34" charset="0"/>
                <a:ea typeface="Arial" pitchFamily="34" charset="-122"/>
                <a:cs typeface="Arial" pitchFamily="34" charset="-120"/>
              </a:rPr>
              <a:t>• profiler traces around data loading, forward, backward, optimizer step</a:t>
            </a:r>
            <a:endParaRPr lang="en-US" sz="1400" dirty="0"/>
          </a:p>
        </p:txBody>
      </p:sp>
      <p:sp>
        <p:nvSpPr>
          <p:cNvPr id="25" name="Shape 22"/>
          <p:cNvSpPr/>
          <p:nvPr/>
        </p:nvSpPr>
        <p:spPr>
          <a:xfrm>
            <a:off x="8010144" y="2468880"/>
            <a:ext cx="3557016" cy="2011680"/>
          </a:xfrm>
          <a:prstGeom prst="roundRect">
            <a:avLst>
              <a:gd name="adj" fmla="val 6364"/>
            </a:avLst>
          </a:prstGeom>
          <a:solidFill>
            <a:srgbClr val="F5DFDD"/>
          </a:solidFill>
          <a:ln w="12700">
            <a:solidFill>
              <a:srgbClr val="CFD4DA"/>
            </a:solidFill>
            <a:prstDash val="solid"/>
          </a:ln>
        </p:spPr>
        <p:txBody>
          <a:bodyPr/>
          <a:lstStyle/>
          <a:p>
            <a:endParaRPr lang="en-IN"/>
          </a:p>
        </p:txBody>
      </p:sp>
      <p:sp>
        <p:nvSpPr>
          <p:cNvPr id="26" name="Text 23"/>
          <p:cNvSpPr/>
          <p:nvPr/>
        </p:nvSpPr>
        <p:spPr>
          <a:xfrm>
            <a:off x="8119872" y="2560320"/>
            <a:ext cx="3337560"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A useful student habit</a:t>
            </a:r>
            <a:endParaRPr lang="en-US" sz="1100" dirty="0"/>
          </a:p>
        </p:txBody>
      </p:sp>
      <p:sp>
        <p:nvSpPr>
          <p:cNvPr id="27" name="Text 24"/>
          <p:cNvSpPr/>
          <p:nvPr/>
        </p:nvSpPr>
        <p:spPr>
          <a:xfrm>
            <a:off x="8119872" y="2779776"/>
            <a:ext cx="3337560" cy="1627632"/>
          </a:xfrm>
          <a:prstGeom prst="rect">
            <a:avLst/>
          </a:prstGeom>
          <a:noFill/>
          <a:ln/>
        </p:spPr>
        <p:txBody>
          <a:bodyPr wrap="square" lIns="0" tIns="0" rIns="0" bIns="0" rtlCol="0" anchor="t">
            <a:normAutofit/>
          </a:bodyPr>
          <a:lstStyle/>
          <a:p>
            <a:pPr marL="0" indent="0">
              <a:buNone/>
            </a:pPr>
            <a:r>
              <a:rPr lang="en-US" sz="1400" dirty="0">
                <a:solidFill>
                  <a:srgbClr val="202020"/>
                </a:solidFill>
                <a:latin typeface="Arial" pitchFamily="34" charset="0"/>
                <a:ea typeface="Arial" pitchFamily="34" charset="-122"/>
                <a:cs typeface="Arial" pitchFamily="34" charset="-120"/>
              </a:rPr>
              <a:t>When an optimization fails, do not immediately change five other knobs. Reproduce the failure with the smallest possible script, shortest sequence, and simplest precision mode, then scale back up deliberately.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386B"/>
          </a:solidFill>
          <a:ln w="12700">
            <a:solidFill>
              <a:srgbClr val="14386B">
                <a:alpha val="0"/>
              </a:srgbClr>
            </a:solidFill>
            <a:prstDash val="solid"/>
          </a:ln>
        </p:spPr>
        <p:txBody>
          <a:bodyPr/>
          <a:lstStyle/>
          <a:p>
            <a:endParaRPr lang="en-IN"/>
          </a:p>
        </p:txBody>
      </p:sp>
      <p:sp>
        <p:nvSpPr>
          <p:cNvPr id="3" name="Shape 1"/>
          <p:cNvSpPr/>
          <p:nvPr/>
        </p:nvSpPr>
        <p:spPr>
          <a:xfrm>
            <a:off x="0" y="6793992"/>
            <a:ext cx="12191695" cy="36576"/>
          </a:xfrm>
          <a:prstGeom prst="rect">
            <a:avLst/>
          </a:prstGeom>
          <a:solidFill>
            <a:srgbClr val="14386B"/>
          </a:solidFill>
          <a:ln w="12700">
            <a:solidFill>
              <a:srgbClr val="14386B">
                <a:alpha val="0"/>
              </a:srgbClr>
            </a:solidFill>
            <a:prstDash val="solid"/>
          </a:ln>
        </p:spPr>
        <p:txBody>
          <a:bodyPr/>
          <a:lstStyle/>
          <a:p>
            <a:endParaRPr lang="en-IN"/>
          </a:p>
        </p:txBody>
      </p:sp>
      <p:pic>
        <p:nvPicPr>
          <p:cNvPr id="4" name="Image 0" descr="/mnt/data/template_extract/image2.png"/>
          <p:cNvPicPr>
            <a:picLocks noChangeAspect="1"/>
          </p:cNvPicPr>
          <p:nvPr/>
        </p:nvPicPr>
        <p:blipFill>
          <a:blip r:embed="rId3"/>
          <a:stretch>
            <a:fillRect/>
          </a:stretch>
        </p:blipFill>
        <p:spPr>
          <a:xfrm>
            <a:off x="11384280" y="109728"/>
            <a:ext cx="347472" cy="347472"/>
          </a:xfrm>
          <a:prstGeom prst="rect">
            <a:avLst/>
          </a:prstGeom>
        </p:spPr>
      </p:pic>
      <p:sp>
        <p:nvSpPr>
          <p:cNvPr id="5" name="Shape 2"/>
          <p:cNvSpPr/>
          <p:nvPr/>
        </p:nvSpPr>
        <p:spPr>
          <a:xfrm>
            <a:off x="91440" y="6647688"/>
            <a:ext cx="54864" cy="54864"/>
          </a:xfrm>
          <a:prstGeom prst="ellipse">
            <a:avLst/>
          </a:prstGeom>
          <a:solidFill>
            <a:srgbClr val="D94A4A"/>
          </a:solidFill>
          <a:ln w="12700">
            <a:solidFill>
              <a:srgbClr val="D94A4A">
                <a:alpha val="0"/>
              </a:srgbClr>
            </a:solidFill>
            <a:prstDash val="solid"/>
          </a:ln>
        </p:spPr>
        <p:txBody>
          <a:bodyPr/>
          <a:lstStyle/>
          <a:p>
            <a:endParaRPr lang="en-IN"/>
          </a:p>
        </p:txBody>
      </p:sp>
      <p:sp>
        <p:nvSpPr>
          <p:cNvPr id="6" name="Shape 3"/>
          <p:cNvSpPr/>
          <p:nvPr/>
        </p:nvSpPr>
        <p:spPr>
          <a:xfrm>
            <a:off x="173736" y="6647688"/>
            <a:ext cx="54864" cy="54864"/>
          </a:xfrm>
          <a:prstGeom prst="ellipse">
            <a:avLst/>
          </a:prstGeom>
          <a:solidFill>
            <a:srgbClr val="E0B630"/>
          </a:solidFill>
          <a:ln w="12700">
            <a:solidFill>
              <a:srgbClr val="E0B630">
                <a:alpha val="0"/>
              </a:srgbClr>
            </a:solidFill>
            <a:prstDash val="solid"/>
          </a:ln>
        </p:spPr>
        <p:txBody>
          <a:bodyPr/>
          <a:lstStyle/>
          <a:p>
            <a:endParaRPr lang="en-IN"/>
          </a:p>
        </p:txBody>
      </p:sp>
      <p:sp>
        <p:nvSpPr>
          <p:cNvPr id="7" name="Shape 4"/>
          <p:cNvSpPr/>
          <p:nvPr/>
        </p:nvSpPr>
        <p:spPr>
          <a:xfrm>
            <a:off x="256032" y="6647688"/>
            <a:ext cx="54864" cy="54864"/>
          </a:xfrm>
          <a:prstGeom prst="ellipse">
            <a:avLst/>
          </a:prstGeom>
          <a:solidFill>
            <a:srgbClr val="24538A"/>
          </a:solidFill>
          <a:ln w="12700">
            <a:solidFill>
              <a:srgbClr val="24538A">
                <a:alpha val="0"/>
              </a:srgbClr>
            </a:solidFill>
            <a:prstDash val="solid"/>
          </a:ln>
        </p:spPr>
        <p:txBody>
          <a:bodyPr/>
          <a:lstStyle/>
          <a:p>
            <a:endParaRPr lang="en-IN"/>
          </a:p>
        </p:txBody>
      </p:sp>
      <p:sp>
        <p:nvSpPr>
          <p:cNvPr id="8" name="Text 5"/>
          <p:cNvSpPr/>
          <p:nvPr/>
        </p:nvSpPr>
        <p:spPr>
          <a:xfrm>
            <a:off x="11475720" y="6492240"/>
            <a:ext cx="384048" cy="164592"/>
          </a:xfrm>
          <a:prstGeom prst="rect">
            <a:avLst/>
          </a:prstGeom>
          <a:noFill/>
          <a:ln/>
        </p:spPr>
        <p:txBody>
          <a:bodyPr wrap="square" rtlCol="0" anchor="ctr"/>
          <a:lstStyle/>
          <a:p>
            <a:pPr marL="0" indent="0" algn="ctr">
              <a:buNone/>
            </a:pPr>
            <a:r>
              <a:rPr lang="en-US" sz="700" dirty="0">
                <a:solidFill>
                  <a:srgbClr val="7A7A7A"/>
                </a:solidFill>
                <a:latin typeface="Arial" pitchFamily="34" charset="0"/>
                <a:ea typeface="Arial" pitchFamily="34" charset="-122"/>
                <a:cs typeface="Arial" pitchFamily="34" charset="-120"/>
              </a:rPr>
              <a:t>14</a:t>
            </a:r>
            <a:endParaRPr lang="en-US" sz="700" dirty="0"/>
          </a:p>
        </p:txBody>
      </p:sp>
      <p:sp>
        <p:nvSpPr>
          <p:cNvPr id="9" name="Text 6"/>
          <p:cNvSpPr/>
          <p:nvPr/>
        </p:nvSpPr>
        <p:spPr>
          <a:xfrm>
            <a:off x="256032" y="182880"/>
            <a:ext cx="8961120" cy="292608"/>
          </a:xfrm>
          <a:prstGeom prst="rect">
            <a:avLst/>
          </a:prstGeom>
          <a:noFill/>
          <a:ln/>
        </p:spPr>
        <p:txBody>
          <a:bodyPr wrap="square" lIns="0" tIns="0" rIns="0" bIns="0" rtlCol="0" anchor="ctr"/>
          <a:lstStyle/>
          <a:p>
            <a:pPr marL="0" indent="0">
              <a:buNone/>
            </a:pPr>
            <a:r>
              <a:rPr lang="en-US" sz="1750" b="1" dirty="0">
                <a:solidFill>
                  <a:srgbClr val="202020"/>
                </a:solidFill>
                <a:latin typeface="Arial" pitchFamily="34" charset="0"/>
                <a:ea typeface="Arial" pitchFamily="34" charset="-122"/>
                <a:cs typeface="Arial" pitchFamily="34" charset="-120"/>
              </a:rPr>
              <a:t>Summary</a:t>
            </a:r>
            <a:endParaRPr lang="en-US" sz="1750" dirty="0"/>
          </a:p>
        </p:txBody>
      </p:sp>
      <p:sp>
        <p:nvSpPr>
          <p:cNvPr id="10" name="Text 7"/>
          <p:cNvSpPr/>
          <p:nvPr/>
        </p:nvSpPr>
        <p:spPr>
          <a:xfrm>
            <a:off x="640080" y="960120"/>
            <a:ext cx="7269480" cy="4389120"/>
          </a:xfrm>
          <a:prstGeom prst="rect">
            <a:avLst/>
          </a:prstGeom>
          <a:noFill/>
          <a:ln/>
        </p:spPr>
        <p:txBody>
          <a:bodyPr wrap="square" lIns="0" tIns="0" rIns="0" bIns="0" rtlCol="0" anchor="ctr">
            <a:normAutofit/>
          </a:bodyPr>
          <a:lstStyle/>
          <a:p>
            <a:pPr marL="152400" indent="-152400">
              <a:buSzPct val="100000"/>
              <a:buChar char="•"/>
            </a:pPr>
            <a:r>
              <a:rPr lang="en-US" sz="1400" dirty="0">
                <a:solidFill>
                  <a:srgbClr val="202020"/>
                </a:solidFill>
                <a:latin typeface="Arial" pitchFamily="34" charset="0"/>
                <a:ea typeface="Arial" pitchFamily="34" charset="-122"/>
                <a:cs typeface="Arial" pitchFamily="34" charset="-120"/>
              </a:rPr>
              <a:t>Training memory is not just model weights. For LLMs, optimizer states, gradients, saved activations, temporary buffers, and padding waste often decide whether a run fits.</a:t>
            </a:r>
            <a:endParaRPr lang="en-US" sz="1400" dirty="0"/>
          </a:p>
          <a:p>
            <a:pPr marL="152400" indent="-152400">
              <a:buSzPct val="100000"/>
              <a:buChar char="•"/>
            </a:pPr>
            <a:r>
              <a:rPr lang="en-US" sz="1400" dirty="0">
                <a:solidFill>
                  <a:srgbClr val="202020"/>
                </a:solidFill>
                <a:latin typeface="Arial" pitchFamily="34" charset="0"/>
                <a:ea typeface="Arial" pitchFamily="34" charset="-122"/>
                <a:cs typeface="Arial" pitchFamily="34" charset="-120"/>
              </a:rPr>
              <a:t>Gradient accumulation is the right tool when the microbatch is activation-limited; it preserves a larger effective batch but does not solve parameter or optimizer-state memory.</a:t>
            </a:r>
            <a:endParaRPr lang="en-US" sz="1400" dirty="0"/>
          </a:p>
          <a:p>
            <a:pPr marL="152400" indent="-152400">
              <a:buSzPct val="100000"/>
              <a:buChar char="•"/>
            </a:pPr>
            <a:r>
              <a:rPr lang="en-US" sz="1400" dirty="0">
                <a:solidFill>
                  <a:srgbClr val="202020"/>
                </a:solidFill>
                <a:latin typeface="Arial" pitchFamily="34" charset="0"/>
                <a:ea typeface="Arial" pitchFamily="34" charset="-122"/>
                <a:cs typeface="Arial" pitchFamily="34" charset="-120"/>
              </a:rPr>
              <a:t>Activation checkpointing and newer selective rematerialization techniques reduce activation memory by recomputing part of the forward pass during backward.</a:t>
            </a:r>
            <a:endParaRPr lang="en-US" sz="1400" dirty="0"/>
          </a:p>
          <a:p>
            <a:pPr marL="152400" indent="-152400">
              <a:buSzPct val="100000"/>
              <a:buChar char="•"/>
            </a:pPr>
            <a:r>
              <a:rPr lang="en-US" sz="1400" dirty="0">
                <a:solidFill>
                  <a:srgbClr val="202020"/>
                </a:solidFill>
                <a:latin typeface="Arial" pitchFamily="34" charset="0"/>
                <a:ea typeface="Arial" pitchFamily="34" charset="-122"/>
                <a:cs typeface="Arial" pitchFamily="34" charset="-120"/>
              </a:rPr>
              <a:t>Throughput is frequently lost outside the model: padding-heavy batches, slow host→device copies, dataloader stalls, and fallback attention kernels can waste more time than raw FLOPs.</a:t>
            </a:r>
            <a:endParaRPr lang="en-US" sz="1400" dirty="0"/>
          </a:p>
          <a:p>
            <a:pPr marL="152400" indent="-152400">
              <a:buSzPct val="100000"/>
              <a:buChar char="•"/>
            </a:pPr>
            <a:r>
              <a:rPr lang="en-US" sz="1400" dirty="0">
                <a:solidFill>
                  <a:srgbClr val="202020"/>
                </a:solidFill>
                <a:latin typeface="Arial" pitchFamily="34" charset="0"/>
                <a:ea typeface="Arial" pitchFamily="34" charset="-122"/>
                <a:cs typeface="Arial" pitchFamily="34" charset="-120"/>
              </a:rPr>
              <a:t>A modern practical stack is usually: mixed precision from Segment 2, SDPA/FlashAttention-class kernels, better batching or packing, then checkpointing, then optimizer or sharding choices if still needed.</a:t>
            </a:r>
            <a:endParaRPr lang="en-US" sz="1400" dirty="0"/>
          </a:p>
          <a:p>
            <a:pPr marL="152400" indent="-152400">
              <a:buSzPct val="100000"/>
              <a:buChar char="•"/>
            </a:pPr>
            <a:r>
              <a:rPr lang="en-US" sz="1400" dirty="0">
                <a:solidFill>
                  <a:srgbClr val="202020"/>
                </a:solidFill>
                <a:latin typeface="Arial" pitchFamily="34" charset="0"/>
                <a:ea typeface="Arial" pitchFamily="34" charset="-122"/>
                <a:cs typeface="Arial" pitchFamily="34" charset="-120"/>
              </a:rPr>
              <a:t>Always measure speed, memory, and convergence together. An optimization that improves only one of the three is often the wrong optimization for the real training objective.</a:t>
            </a:r>
            <a:endParaRPr lang="en-US" sz="1400" dirty="0"/>
          </a:p>
        </p:txBody>
      </p:sp>
      <p:sp>
        <p:nvSpPr>
          <p:cNvPr id="11" name="Shape 8"/>
          <p:cNvSpPr/>
          <p:nvPr/>
        </p:nvSpPr>
        <p:spPr>
          <a:xfrm>
            <a:off x="8458200" y="1097280"/>
            <a:ext cx="2743200" cy="868680"/>
          </a:xfrm>
          <a:prstGeom prst="roundRect">
            <a:avLst>
              <a:gd name="adj" fmla="val 14737"/>
            </a:avLst>
          </a:prstGeom>
          <a:solidFill>
            <a:srgbClr val="F3E9B7"/>
          </a:solidFill>
          <a:ln w="12700">
            <a:solidFill>
              <a:srgbClr val="CFD4DA"/>
            </a:solidFill>
            <a:prstDash val="solid"/>
          </a:ln>
        </p:spPr>
        <p:txBody>
          <a:bodyPr/>
          <a:lstStyle/>
          <a:p>
            <a:endParaRPr lang="en-IN"/>
          </a:p>
        </p:txBody>
      </p:sp>
      <p:sp>
        <p:nvSpPr>
          <p:cNvPr id="12" name="Text 9"/>
          <p:cNvSpPr/>
          <p:nvPr/>
        </p:nvSpPr>
        <p:spPr>
          <a:xfrm>
            <a:off x="8567928" y="1188720"/>
            <a:ext cx="25237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Memory ladder</a:t>
            </a:r>
            <a:endParaRPr lang="en-US" sz="1100" dirty="0"/>
          </a:p>
        </p:txBody>
      </p:sp>
      <p:sp>
        <p:nvSpPr>
          <p:cNvPr id="13" name="Text 10"/>
          <p:cNvSpPr/>
          <p:nvPr/>
        </p:nvSpPr>
        <p:spPr>
          <a:xfrm>
            <a:off x="8567928" y="1408176"/>
            <a:ext cx="2523744" cy="484632"/>
          </a:xfrm>
          <a:prstGeom prst="rect">
            <a:avLst/>
          </a:prstGeom>
          <a:noFill/>
          <a:ln/>
        </p:spPr>
        <p:txBody>
          <a:bodyPr wrap="square" lIns="0" tIns="0" rIns="0" bIns="0" rtlCol="0" anchor="t">
            <a:normAutofit/>
          </a:bodyPr>
          <a:lstStyle/>
          <a:p>
            <a:pPr marL="0" indent="0">
              <a:buNone/>
            </a:pPr>
            <a:r>
              <a:rPr lang="en-US" sz="1100" dirty="0">
                <a:solidFill>
                  <a:srgbClr val="202020"/>
                </a:solidFill>
                <a:latin typeface="Arial" pitchFamily="34" charset="0"/>
                <a:ea typeface="Arial" pitchFamily="34" charset="-122"/>
                <a:cs typeface="Arial" pitchFamily="34" charset="-120"/>
              </a:rPr>
              <a:t>padding / batching → checkpointing → sharding / offload</a:t>
            </a:r>
            <a:endParaRPr lang="en-US" sz="1100" dirty="0"/>
          </a:p>
        </p:txBody>
      </p:sp>
      <p:sp>
        <p:nvSpPr>
          <p:cNvPr id="14" name="Shape 11"/>
          <p:cNvSpPr/>
          <p:nvPr/>
        </p:nvSpPr>
        <p:spPr>
          <a:xfrm>
            <a:off x="8458200" y="2240280"/>
            <a:ext cx="2743200" cy="868680"/>
          </a:xfrm>
          <a:prstGeom prst="roundRect">
            <a:avLst>
              <a:gd name="adj" fmla="val 14737"/>
            </a:avLst>
          </a:prstGeom>
          <a:solidFill>
            <a:srgbClr val="F5DFDD"/>
          </a:solidFill>
          <a:ln w="12700">
            <a:solidFill>
              <a:srgbClr val="CFD4DA"/>
            </a:solidFill>
            <a:prstDash val="solid"/>
          </a:ln>
        </p:spPr>
        <p:txBody>
          <a:bodyPr/>
          <a:lstStyle/>
          <a:p>
            <a:endParaRPr lang="en-IN"/>
          </a:p>
        </p:txBody>
      </p:sp>
      <p:sp>
        <p:nvSpPr>
          <p:cNvPr id="15" name="Text 12"/>
          <p:cNvSpPr/>
          <p:nvPr/>
        </p:nvSpPr>
        <p:spPr>
          <a:xfrm>
            <a:off x="8567928" y="2331720"/>
            <a:ext cx="25237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Throughput ladder</a:t>
            </a:r>
            <a:endParaRPr lang="en-US" sz="1100" dirty="0"/>
          </a:p>
        </p:txBody>
      </p:sp>
      <p:sp>
        <p:nvSpPr>
          <p:cNvPr id="16" name="Text 13"/>
          <p:cNvSpPr/>
          <p:nvPr/>
        </p:nvSpPr>
        <p:spPr>
          <a:xfrm>
            <a:off x="8567928" y="2551176"/>
            <a:ext cx="2523744" cy="484632"/>
          </a:xfrm>
          <a:prstGeom prst="rect">
            <a:avLst/>
          </a:prstGeom>
          <a:noFill/>
          <a:ln/>
        </p:spPr>
        <p:txBody>
          <a:bodyPr wrap="square" lIns="0" tIns="0" rIns="0" bIns="0" rtlCol="0" anchor="t">
            <a:normAutofit/>
          </a:bodyPr>
          <a:lstStyle/>
          <a:p>
            <a:pPr marL="0" indent="0">
              <a:buNone/>
            </a:pPr>
            <a:r>
              <a:rPr lang="en-US" sz="1200" dirty="0">
                <a:solidFill>
                  <a:srgbClr val="202020"/>
                </a:solidFill>
                <a:latin typeface="Arial" pitchFamily="34" charset="0"/>
                <a:ea typeface="Arial" pitchFamily="34" charset="-122"/>
                <a:cs typeface="Arial" pitchFamily="34" charset="-120"/>
              </a:rPr>
              <a:t>keep GPU fed → reduce waste → use optimized kernels → compile</a:t>
            </a:r>
            <a:endParaRPr lang="en-US" sz="1200" dirty="0"/>
          </a:p>
        </p:txBody>
      </p:sp>
      <p:sp>
        <p:nvSpPr>
          <p:cNvPr id="17" name="Shape 14"/>
          <p:cNvSpPr/>
          <p:nvPr/>
        </p:nvSpPr>
        <p:spPr>
          <a:xfrm>
            <a:off x="8458200" y="3383280"/>
            <a:ext cx="2743200" cy="868680"/>
          </a:xfrm>
          <a:prstGeom prst="roundRect">
            <a:avLst>
              <a:gd name="adj" fmla="val 14737"/>
            </a:avLst>
          </a:prstGeom>
          <a:solidFill>
            <a:srgbClr val="DFE8F5"/>
          </a:solidFill>
          <a:ln w="12700">
            <a:solidFill>
              <a:srgbClr val="CFD4DA"/>
            </a:solidFill>
            <a:prstDash val="solid"/>
          </a:ln>
        </p:spPr>
        <p:txBody>
          <a:bodyPr/>
          <a:lstStyle/>
          <a:p>
            <a:endParaRPr lang="en-IN"/>
          </a:p>
        </p:txBody>
      </p:sp>
      <p:sp>
        <p:nvSpPr>
          <p:cNvPr id="18" name="Text 15"/>
          <p:cNvSpPr/>
          <p:nvPr/>
        </p:nvSpPr>
        <p:spPr>
          <a:xfrm>
            <a:off x="8567928" y="3474720"/>
            <a:ext cx="2523744" cy="201168"/>
          </a:xfrm>
          <a:prstGeom prst="rect">
            <a:avLst/>
          </a:prstGeom>
          <a:noFill/>
          <a:ln/>
        </p:spPr>
        <p:txBody>
          <a:bodyPr wrap="square" lIns="0" tIns="0" rIns="0" bIns="0" rtlCol="0" anchor="ctr"/>
          <a:lstStyle/>
          <a:p>
            <a:pPr marL="0" indent="0">
              <a:buNone/>
            </a:pPr>
            <a:r>
              <a:rPr lang="en-US" sz="1100" b="1" dirty="0">
                <a:solidFill>
                  <a:srgbClr val="202020"/>
                </a:solidFill>
                <a:latin typeface="Arial" pitchFamily="34" charset="0"/>
                <a:ea typeface="Arial" pitchFamily="34" charset="-122"/>
                <a:cs typeface="Arial" pitchFamily="34" charset="-120"/>
              </a:rPr>
              <a:t>Engineering ladder</a:t>
            </a:r>
            <a:endParaRPr lang="en-US" sz="1100" dirty="0"/>
          </a:p>
        </p:txBody>
      </p:sp>
      <p:sp>
        <p:nvSpPr>
          <p:cNvPr id="19" name="Text 16"/>
          <p:cNvSpPr/>
          <p:nvPr/>
        </p:nvSpPr>
        <p:spPr>
          <a:xfrm>
            <a:off x="8567928" y="3694176"/>
            <a:ext cx="2523744" cy="484632"/>
          </a:xfrm>
          <a:prstGeom prst="rect">
            <a:avLst/>
          </a:prstGeom>
          <a:noFill/>
          <a:ln/>
        </p:spPr>
        <p:txBody>
          <a:bodyPr wrap="square" lIns="0" tIns="0" rIns="0" bIns="0" rtlCol="0" anchor="t">
            <a:normAutofit fontScale="92500"/>
          </a:bodyPr>
          <a:lstStyle/>
          <a:p>
            <a:pPr marL="0" indent="0">
              <a:buNone/>
            </a:pPr>
            <a:r>
              <a:rPr lang="en-US" sz="1200" dirty="0">
                <a:solidFill>
                  <a:srgbClr val="202020"/>
                </a:solidFill>
                <a:latin typeface="Arial" pitchFamily="34" charset="0"/>
                <a:ea typeface="Arial" pitchFamily="34" charset="-122"/>
                <a:cs typeface="Arial" pitchFamily="34" charset="-120"/>
              </a:rPr>
              <a:t>baseline first → add one knob → profile → validate → keep only what works</a:t>
            </a:r>
            <a:endParaRPr lang="en-US" sz="1200" dirty="0"/>
          </a:p>
        </p:txBody>
      </p:sp>
      <p:sp>
        <p:nvSpPr>
          <p:cNvPr id="20" name="Text 17"/>
          <p:cNvSpPr/>
          <p:nvPr/>
        </p:nvSpPr>
        <p:spPr>
          <a:xfrm>
            <a:off x="658368" y="6382512"/>
            <a:ext cx="3749040" cy="146304"/>
          </a:xfrm>
          <a:prstGeom prst="rect">
            <a:avLst/>
          </a:prstGeom>
          <a:noFill/>
          <a:ln/>
        </p:spPr>
        <p:txBody>
          <a:bodyPr wrap="square" lIns="0" tIns="0" rIns="0" bIns="0" rtlCol="0" anchor="ctr"/>
          <a:lstStyle/>
          <a:p>
            <a:pPr marL="0" indent="0">
              <a:buNone/>
            </a:pPr>
            <a:r>
              <a:rPr lang="en-US" sz="820" b="1" dirty="0">
                <a:solidFill>
                  <a:srgbClr val="14386B"/>
                </a:solidFill>
                <a:latin typeface="Arial" pitchFamily="34" charset="0"/>
                <a:ea typeface="Arial" pitchFamily="34" charset="-122"/>
                <a:cs typeface="Arial" pitchFamily="34" charset="-120"/>
              </a:rPr>
              <a:t>Next segment: transfer learning for large models</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4151</Words>
  <Application>Microsoft Office PowerPoint</Application>
  <PresentationFormat>Widescreen</PresentationFormat>
  <Paragraphs>333</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AAAI Week 6 Segment 3 - Memory Optimization and Throughput</dc:title>
  <dc:subject>AAAI Week 6 Segment 3</dc:subject>
  <dc:creator>OpenAI</dc:creator>
  <cp:lastModifiedBy>satyajit das</cp:lastModifiedBy>
  <cp:revision>23</cp:revision>
  <dcterms:created xsi:type="dcterms:W3CDTF">2026-04-07T08:31:46Z</dcterms:created>
  <dcterms:modified xsi:type="dcterms:W3CDTF">2026-04-07T16:52:52Z</dcterms:modified>
</cp:coreProperties>
</file>