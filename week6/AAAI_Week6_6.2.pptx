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303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4058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course template slide deck and week-6 syllabus for layout and scope.
- Vaswani et al., Attention Is All You Need, NeurIPS 2017.
- Brown et al., Language Models are Few-Shot Learners, NeurIPS 2020.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syllabus: NPTEL_Course_Proposal_Submission_Template_19-11-24 (1).docx (Week 6 sequence).
- PyTorch AMP docs: https://docs.pytorch.org/docs/stable/amp.html
- NVIDIA Ampere Tuning Guide: https://docs.nvidia.com/cuda/ampere-tuning-guide/index.html
- NVIDIA Transformer Engine docs: https://docs.nvidia.com/deeplearning/transformer-engine/user-guide/index.html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Slide content synthesized from the syllabus and current PyTorch/NVIDIA mixed-precision guidance.
- PyTorch AMP docs: https://docs.pytorch.org/docs/stable/amp.html
- PyTorch Numerical Accuracy notes: https://docs.pytorch.org/docs/stable/notes/numerical_accuracy.html
- NVIDIA Transformer Engine docs: https://docs.nvidia.com/deeplearning/transformer-engine/user-guide/index.html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NVIDIA Ampere Tuning Guide (Tensor Core support for BF16 and TF32): https://docs.nvidia.com/cuda/ampere-tuning-guide/index.html
- PyTorch AMP docs: https://docs.pytorch.org/docs/stable/amp.html
- Weight-memory arithmetic on slide is a simple 7B × bytes-per-parameter illustration, not a full training-memory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NVIDIA Ampere Tuning Guide (BF16 and TF32 characteristics): https://docs.nvidia.com/cuda/ampere-tuning-guide/index.html
- PyTorch Numerical Accuracy notes (TF32 behavior): https://docs.pytorch.org/docs/stable/notes/numerical_accuracy.html
- NVIDIA Transformer Engine docs (FP8 support): https://docs.nvidia.com/deeplearning/transformer-engine/user-guide/index.html
- NVIDIA Transformer Engine FP8 Current Scaling page (E4M3/E5M2 details): https://docs.nvidia.com/deeplearning/transformer-engine/user-guide/features/low_precision_training/fp8_current_scaling/fp8_current_scaling.html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PyTorch AMP docs (autocast behavior and backward guidance): https://docs.pytorch.org/docs/stable/amp.html
- PyTorch AMP docs (CUDA op-specific behavior): https://docs.pytorch.org/docs/stable/amp.html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NVIDIA Ampere Tuning Guide (BF16 exponent/mantissa and Tensor Core support): https://docs.nvidia.com/cuda/ampere-tuning-guide/index.html
- PyTorch AMP docs (BF16 vs FP16 practical guidance): https://docs.pytorch.org/docs/stable/amp.html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PyTorch Numerical Accuracy notes (extremal values, reductions, TF32, SDPA): https://docs.pytorch.org/docs/stable/notes/numerical_accuracy.html
- PyTorch AMP docs (gradient underflow and scaling): https://docs.pytorch.org/docs/stable/amp.html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PyTorch log_softmax docs (numerical instability of separate log(softmax)): https://docs.pytorch.org/docs/stable/generated/torch.nn.functional.log_softmax.html
- PyTorch logsumexp docs: https://docs.pytorch.org/docs/stable/generated/torch.logsumexp.html
- PyTorch AMP docs (CUDA op-specific behavior, float32-sensitive ops): https://docs.pytorch.org/docs/stable/amp.html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PyTorch AMP docs (gradient scaling and FP16 underflow): https://docs.pytorch.org/docs/stable/amp.html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PyTorch AMP docs (torch.amp.autocast, torch.amp.GradScaler, deprecations, examples): https://docs.pytorch.org/docs/stable/amp.html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PyTorch Numerical Accuracy notes (scaled dot-product attention upcasting behavior): https://docs.pytorch.org/docs/stable/notes/numerical_accuracy.html
- PyTorch AMP docs (softmax, layer_norm, reductions in float32 under autocast): https://docs.pytorch.org/docs/stable/amp.html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PyTorch Numerical Accuracy notes (TF32 recommendations): https://docs.pytorch.org/docs/stable/notes/numerical_accuracy.html
- NVIDIA Ampere Tuning Guide: https://docs.nvidia.com/cuda/ampere-tuning-guide/index.html
- NVIDIA Transformer Engine docs (FP8 support on Hopper/Ada/Blackwell): https://docs.nvidia.com/deeplearning/transformer-engine/user-guide/index.html
- NVIDIA Transformer Engine Getting Started (FP8 on Hopper/Ada, NVFP4 on Blackwell): https://docs.nvidia.com/deeplearning/transformer-engine/user-guide/getting_started/index.html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Slide content synthesized from the cited PyTorch and NVIDIA documentation plus the user-provided syllabus.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80416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" name="Shape 1"/>
          <p:cNvSpPr/>
          <p:nvPr/>
        </p:nvSpPr>
        <p:spPr>
          <a:xfrm>
            <a:off x="0" y="6766560"/>
            <a:ext cx="12192000" cy="85344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pic>
        <p:nvPicPr>
          <p:cNvPr id="4" name="Image 0" descr="/mnt/data/template_assets_py/slide1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618" y="365760"/>
            <a:ext cx="1232380" cy="12435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02080" y="1780032"/>
            <a:ext cx="93878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NPTEL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219200" y="2377440"/>
            <a:ext cx="9753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Applied Accelerated Artificial Intelligence</a:t>
            </a:r>
            <a:endParaRPr lang="en-US" sz="2667" dirty="0"/>
          </a:p>
        </p:txBody>
      </p:sp>
      <p:sp>
        <p:nvSpPr>
          <p:cNvPr id="7" name="Text 4"/>
          <p:cNvSpPr/>
          <p:nvPr/>
        </p:nvSpPr>
        <p:spPr>
          <a:xfrm>
            <a:off x="1219200" y="2962656"/>
            <a:ext cx="9753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002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06 · Segment 2</a:t>
            </a:r>
            <a:endParaRPr lang="en-US" sz="1733" dirty="0"/>
          </a:p>
        </p:txBody>
      </p:sp>
      <p:sp>
        <p:nvSpPr>
          <p:cNvPr id="8" name="Text 5"/>
          <p:cNvSpPr/>
          <p:nvPr/>
        </p:nvSpPr>
        <p:spPr>
          <a:xfrm>
            <a:off x="975360" y="3352800"/>
            <a:ext cx="102412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Precision Training and Numerical Stability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682240" y="4754880"/>
            <a:ext cx="682752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Instructor: Dr. Satyajit Das</a:t>
            </a:r>
            <a:endParaRPr lang="en-US" sz="1400" dirty="0"/>
          </a:p>
          <a:p>
            <a:pPr algn="ctr"/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Computer Science and Engineering</a:t>
            </a:r>
            <a:endParaRPr lang="en-US" sz="1400" dirty="0"/>
          </a:p>
          <a:p>
            <a:pPr algn="ctr"/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Indian Institute of Technology Guwahati, Assam, India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438656" y="5632704"/>
            <a:ext cx="9204960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386B"/>
          </a:solidFill>
          <a:ln w="12700">
            <a:solidFill>
              <a:srgbClr val="1438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793992"/>
            <a:ext cx="12191695" cy="36576"/>
          </a:xfrm>
          <a:prstGeom prst="rect">
            <a:avLst/>
          </a:prstGeom>
          <a:solidFill>
            <a:srgbClr val="14386B"/>
          </a:solidFill>
          <a:ln w="12700">
            <a:solidFill>
              <a:srgbClr val="1438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work_template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5845" y="109728"/>
            <a:ext cx="344342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" y="6647688"/>
            <a:ext cx="54864" cy="54864"/>
          </a:xfrm>
          <a:prstGeom prst="ellipse">
            <a:avLst/>
          </a:prstGeom>
          <a:solidFill>
            <a:srgbClr val="1D4C84"/>
          </a:solidFill>
          <a:ln w="12700">
            <a:solidFill>
              <a:srgbClr val="1D4C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173736" y="6647688"/>
            <a:ext cx="54864" cy="54864"/>
          </a:xfrm>
          <a:prstGeom prst="ellipse">
            <a:avLst/>
          </a:prstGeom>
          <a:solidFill>
            <a:srgbClr val="D93A3A"/>
          </a:solidFill>
          <a:ln w="12700">
            <a:solidFill>
              <a:srgbClr val="D93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256032" y="6647688"/>
            <a:ext cx="54864" cy="54864"/>
          </a:xfrm>
          <a:prstGeom prst="ellipse">
            <a:avLst/>
          </a:prstGeom>
          <a:solidFill>
            <a:srgbClr val="D5BA33"/>
          </a:solidFill>
          <a:ln w="12700">
            <a:solidFill>
              <a:srgbClr val="D5BA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56032" y="2011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06: Training Optimization and LLM Fine-tuning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126480" y="868680"/>
            <a:ext cx="5486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focus: precision formats, autocast, loss scaling, and the stability tricks that keep LLM training from exploding or silently degrading.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" y="1874520"/>
            <a:ext cx="5074920" cy="310896"/>
          </a:xfrm>
          <a:prstGeom prst="roundRect">
            <a:avLst/>
          </a:prstGeom>
          <a:solidFill>
            <a:srgbClr val="F7F7F7"/>
          </a:solidFill>
          <a:ln w="889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960120" y="194767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1</a:t>
            </a:r>
            <a:endParaRPr lang="en-US" sz="880" dirty="0"/>
          </a:p>
        </p:txBody>
      </p:sp>
      <p:sp>
        <p:nvSpPr>
          <p:cNvPr id="13" name="Text 10"/>
          <p:cNvSpPr/>
          <p:nvPr/>
        </p:nvSpPr>
        <p:spPr>
          <a:xfrm>
            <a:off x="1965960" y="194767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foundations and terminology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822960" y="2313432"/>
            <a:ext cx="5074920" cy="310896"/>
          </a:xfrm>
          <a:prstGeom prst="roundRect">
            <a:avLst/>
          </a:prstGeom>
          <a:solidFill>
            <a:srgbClr val="EAF1FB"/>
          </a:solidFill>
          <a:ln w="15240">
            <a:solidFill>
              <a:srgbClr val="1D4C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960120" y="238658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2</a:t>
            </a:r>
            <a:endParaRPr lang="en-US" sz="880" dirty="0"/>
          </a:p>
        </p:txBody>
      </p:sp>
      <p:sp>
        <p:nvSpPr>
          <p:cNvPr id="16" name="Text 13"/>
          <p:cNvSpPr/>
          <p:nvPr/>
        </p:nvSpPr>
        <p:spPr>
          <a:xfrm>
            <a:off x="1965960" y="2386584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precision and numerical stability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822960" y="2752344"/>
            <a:ext cx="5074920" cy="310896"/>
          </a:xfrm>
          <a:prstGeom prst="roundRect">
            <a:avLst/>
          </a:prstGeom>
          <a:solidFill>
            <a:srgbClr val="F7F7F7"/>
          </a:solidFill>
          <a:ln w="889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960120" y="282549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3</a:t>
            </a:r>
            <a:endParaRPr lang="en-US" sz="880" dirty="0"/>
          </a:p>
        </p:txBody>
      </p:sp>
      <p:sp>
        <p:nvSpPr>
          <p:cNvPr id="19" name="Text 16"/>
          <p:cNvSpPr/>
          <p:nvPr/>
        </p:nvSpPr>
        <p:spPr>
          <a:xfrm>
            <a:off x="1965960" y="282549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optimization and throughput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822960" y="3191256"/>
            <a:ext cx="5074920" cy="310896"/>
          </a:xfrm>
          <a:prstGeom prst="roundRect">
            <a:avLst/>
          </a:prstGeom>
          <a:solidFill>
            <a:srgbClr val="F7F7F7"/>
          </a:solidFill>
          <a:ln w="889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960120" y="3264408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4</a:t>
            </a:r>
            <a:endParaRPr lang="en-US" sz="880" dirty="0"/>
          </a:p>
        </p:txBody>
      </p:sp>
      <p:sp>
        <p:nvSpPr>
          <p:cNvPr id="22" name="Text 19"/>
          <p:cNvSpPr/>
          <p:nvPr/>
        </p:nvSpPr>
        <p:spPr>
          <a:xfrm>
            <a:off x="1965960" y="326440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 for large models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822960" y="3630168"/>
            <a:ext cx="5074920" cy="310896"/>
          </a:xfrm>
          <a:prstGeom prst="roundRect">
            <a:avLst/>
          </a:prstGeom>
          <a:solidFill>
            <a:srgbClr val="F7F7F7"/>
          </a:solidFill>
          <a:ln w="889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960120" y="370332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5</a:t>
            </a:r>
            <a:endParaRPr lang="en-US" sz="880" dirty="0"/>
          </a:p>
        </p:txBody>
      </p:sp>
      <p:sp>
        <p:nvSpPr>
          <p:cNvPr id="25" name="Text 22"/>
          <p:cNvSpPr/>
          <p:nvPr/>
        </p:nvSpPr>
        <p:spPr>
          <a:xfrm>
            <a:off x="1965960" y="37033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LLM fine-tuning using PEFT and LoRA</a:t>
            </a:r>
            <a:endParaRPr lang="en-US" sz="880" dirty="0"/>
          </a:p>
        </p:txBody>
      </p:sp>
      <p:sp>
        <p:nvSpPr>
          <p:cNvPr id="26" name="Shape 23"/>
          <p:cNvSpPr/>
          <p:nvPr/>
        </p:nvSpPr>
        <p:spPr>
          <a:xfrm>
            <a:off x="6172200" y="178308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3EFCF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6281928" y="1874520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now?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281928" y="2093976"/>
            <a:ext cx="160934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precision is the main reason modern GPUs can train frontier-scale models fast enough and cheaply enough.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8183880" y="178308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EAF3EC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8293608" y="187452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293608" y="2093976"/>
            <a:ext cx="142646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low precision where it is safe; keep sensitive computations in higher precision.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10012680" y="1783080"/>
            <a:ext cx="1627632" cy="960120"/>
          </a:xfrm>
          <a:prstGeom prst="roundRect">
            <a:avLst>
              <a:gd name="adj" fmla="val 7619"/>
            </a:avLst>
          </a:prstGeom>
          <a:solidFill>
            <a:srgbClr val="F7E9EA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10122408" y="1874520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10122408" y="2093976"/>
            <a:ext cx="140817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throughput and lower memory without sacrificing convergence.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263640" y="2971800"/>
            <a:ext cx="507492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FP32, TF32, BF16, FP16, and FP8 in one mental model.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exactly what autocast changes inside a training step.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 overflow, underflow, and unstable reduction patterns.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when BF16 is the default choice and when FP16/FP8 are still useful.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386B"/>
          </a:solidFill>
          <a:ln w="12700">
            <a:solidFill>
              <a:srgbClr val="1438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793992"/>
            <a:ext cx="12191695" cy="36576"/>
          </a:xfrm>
          <a:prstGeom prst="rect">
            <a:avLst/>
          </a:prstGeom>
          <a:solidFill>
            <a:srgbClr val="14386B"/>
          </a:solidFill>
          <a:ln w="12700">
            <a:solidFill>
              <a:srgbClr val="1438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work_template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5845" y="109728"/>
            <a:ext cx="344342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" y="6647688"/>
            <a:ext cx="54864" cy="54864"/>
          </a:xfrm>
          <a:prstGeom prst="ellipse">
            <a:avLst/>
          </a:prstGeom>
          <a:solidFill>
            <a:srgbClr val="1D4C84"/>
          </a:solidFill>
          <a:ln w="12700">
            <a:solidFill>
              <a:srgbClr val="1D4C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173736" y="6647688"/>
            <a:ext cx="54864" cy="54864"/>
          </a:xfrm>
          <a:prstGeom prst="ellipse">
            <a:avLst/>
          </a:prstGeom>
          <a:solidFill>
            <a:srgbClr val="D93A3A"/>
          </a:solidFill>
          <a:ln w="12700">
            <a:solidFill>
              <a:srgbClr val="D93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256032" y="6647688"/>
            <a:ext cx="54864" cy="54864"/>
          </a:xfrm>
          <a:prstGeom prst="ellipse">
            <a:avLst/>
          </a:prstGeom>
          <a:solidFill>
            <a:srgbClr val="D5BA33"/>
          </a:solidFill>
          <a:ln w="12700">
            <a:solidFill>
              <a:srgbClr val="D5BA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56032" y="2011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502920" y="100584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86968" y="996696"/>
            <a:ext cx="507492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mixed precision improves throughput, memory footprint, and memory bandwidth utilization.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212140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86968" y="2112264"/>
            <a:ext cx="507492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 FP32, TF32, BF16, FP16, and FP8 by dynamic range, precision, and typical use.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323697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86968" y="3227832"/>
            <a:ext cx="507492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mixed-precision training loop: autocast, higher-precision accumulation, optimizer update, and optional loss scaling.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02920" y="435254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86968" y="4343400"/>
            <a:ext cx="507492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which operations are usually safe in lower precision and which ones should stay in FP32 or higher precision.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263640" y="100584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647688" y="996696"/>
            <a:ext cx="507492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 numerical failure modes such as overflow, underflow, catastrophic cancellation, NaNs, and silent accuracy drift.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63640" y="212140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647688" y="2112264"/>
            <a:ext cx="507492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stable formulations such as max-subtracted softmax, log_softmax, and logsumexp.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263640" y="323697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647688" y="3227832"/>
            <a:ext cx="507492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between BF16, FP16, and FP8 based on hardware support and model risk profile.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263640" y="435254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647688" y="4343400"/>
            <a:ext cx="507492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mixed precision to the next segment on memory optimization and throughput.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386B"/>
          </a:solidFill>
          <a:ln w="12700">
            <a:solidFill>
              <a:srgbClr val="1438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793992"/>
            <a:ext cx="12191695" cy="36576"/>
          </a:xfrm>
          <a:prstGeom prst="rect">
            <a:avLst/>
          </a:prstGeom>
          <a:solidFill>
            <a:srgbClr val="14386B"/>
          </a:solidFill>
          <a:ln w="12700">
            <a:solidFill>
              <a:srgbClr val="1438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work_template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5845" y="109728"/>
            <a:ext cx="344342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" y="6647688"/>
            <a:ext cx="54864" cy="54864"/>
          </a:xfrm>
          <a:prstGeom prst="ellipse">
            <a:avLst/>
          </a:prstGeom>
          <a:solidFill>
            <a:srgbClr val="1D4C84"/>
          </a:solidFill>
          <a:ln w="12700">
            <a:solidFill>
              <a:srgbClr val="1D4C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173736" y="6647688"/>
            <a:ext cx="54864" cy="54864"/>
          </a:xfrm>
          <a:prstGeom prst="ellipse">
            <a:avLst/>
          </a:prstGeom>
          <a:solidFill>
            <a:srgbClr val="D93A3A"/>
          </a:solidFill>
          <a:ln w="12700">
            <a:solidFill>
              <a:srgbClr val="D93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256032" y="6647688"/>
            <a:ext cx="54864" cy="54864"/>
          </a:xfrm>
          <a:prstGeom prst="ellipse">
            <a:avLst/>
          </a:prstGeom>
          <a:solidFill>
            <a:srgbClr val="D5BA33"/>
          </a:solidFill>
          <a:ln w="12700">
            <a:solidFill>
              <a:srgbClr val="D5BA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56032" y="2011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mixed precision is no longer optional for LLM training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411480" y="100584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EAF1FB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21208" y="1097280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throughput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21208" y="1316736"/>
            <a:ext cx="238658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 Cores deliver much more matrix-multiply throughput with reduced-precision inputs than with plain FP32 execution.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18688" y="100584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EAF3EC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328416" y="1097280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activation memory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328416" y="1316736"/>
            <a:ext cx="238658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Activations and temporary tensors often drop from 4 bytes/value to 2 bytes/value, directly improving batch size and sequence length headroom.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25896" y="100584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3EFCF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135624" y="1097280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memory traffic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35624" y="1316736"/>
            <a:ext cx="238658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Lower-precision tensors cut bandwidth pressure. For transformer workloads, moving data is often as expensive as computing on it.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833104" y="100584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7E9EA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8942832" y="1097280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energy efficiency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942832" y="1316736"/>
            <a:ext cx="238658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work per joule matters in long training runs where cost, cooling, and cluster utilization all matter.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13232" y="2651760"/>
            <a:ext cx="2971800" cy="2194560"/>
          </a:xfrm>
          <a:prstGeom prst="roundRect">
            <a:avLst/>
          </a:prstGeom>
          <a:solidFill>
            <a:srgbClr val="F8F8F8"/>
          </a:solidFill>
          <a:ln w="10160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932688" y="28803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only example (7B parameters)</a:t>
            </a:r>
            <a:endParaRPr lang="en-US" sz="1180" dirty="0"/>
          </a:p>
        </p:txBody>
      </p:sp>
      <p:sp>
        <p:nvSpPr>
          <p:cNvPr id="24" name="Shape 21"/>
          <p:cNvSpPr/>
          <p:nvPr/>
        </p:nvSpPr>
        <p:spPr>
          <a:xfrm>
            <a:off x="1005840" y="3246120"/>
            <a:ext cx="1005840" cy="868680"/>
          </a:xfrm>
          <a:prstGeom prst="roundRect">
            <a:avLst>
              <a:gd name="adj" fmla="val 8421"/>
            </a:avLst>
          </a:prstGeom>
          <a:solidFill>
            <a:srgbClr val="EEEAF8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1115568" y="3337560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FP32</a:t>
            </a:r>
            <a:endParaRPr lang="en-US" sz="1040" dirty="0"/>
          </a:p>
        </p:txBody>
      </p:sp>
      <p:sp>
        <p:nvSpPr>
          <p:cNvPr id="26" name="Text 23"/>
          <p:cNvSpPr/>
          <p:nvPr/>
        </p:nvSpPr>
        <p:spPr>
          <a:xfrm>
            <a:off x="1115568" y="3557016"/>
            <a:ext cx="78638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GB</a:t>
            </a:r>
            <a:endParaRPr lang="en-US" sz="1120" dirty="0"/>
          </a:p>
        </p:txBody>
      </p:sp>
      <p:sp>
        <p:nvSpPr>
          <p:cNvPr id="27" name="Shape 24"/>
          <p:cNvSpPr/>
          <p:nvPr/>
        </p:nvSpPr>
        <p:spPr>
          <a:xfrm>
            <a:off x="2240280" y="3246120"/>
            <a:ext cx="1005840" cy="868680"/>
          </a:xfrm>
          <a:prstGeom prst="roundRect">
            <a:avLst>
              <a:gd name="adj" fmla="val 8421"/>
            </a:avLst>
          </a:prstGeom>
          <a:solidFill>
            <a:srgbClr val="EAF1FB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2350008" y="3337560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BF16/FP16</a:t>
            </a:r>
            <a:endParaRPr lang="en-US" sz="970" dirty="0"/>
          </a:p>
        </p:txBody>
      </p:sp>
      <p:sp>
        <p:nvSpPr>
          <p:cNvPr id="29" name="Text 26"/>
          <p:cNvSpPr/>
          <p:nvPr/>
        </p:nvSpPr>
        <p:spPr>
          <a:xfrm>
            <a:off x="2350008" y="3557016"/>
            <a:ext cx="78638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GB</a:t>
            </a:r>
            <a:endParaRPr lang="en-US" sz="1120" dirty="0"/>
          </a:p>
        </p:txBody>
      </p:sp>
      <p:sp>
        <p:nvSpPr>
          <p:cNvPr id="30" name="Text 27"/>
          <p:cNvSpPr/>
          <p:nvPr/>
        </p:nvSpPr>
        <p:spPr>
          <a:xfrm>
            <a:off x="914400" y="4315968"/>
            <a:ext cx="257860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precision halves the storage only for tensors that really live in 16-bit form. Training still needs gradients, optimizer state, and activations.</a:t>
            </a:r>
            <a:endParaRPr lang="en-US" sz="880" dirty="0"/>
          </a:p>
        </p:txBody>
      </p:sp>
      <p:sp>
        <p:nvSpPr>
          <p:cNvPr id="31" name="Text 28"/>
          <p:cNvSpPr/>
          <p:nvPr/>
        </p:nvSpPr>
        <p:spPr>
          <a:xfrm>
            <a:off x="3977640" y="2697480"/>
            <a:ext cx="7360920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is not “everything in low precision.” The goal is “the right precision for each operation.”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GEMMs and convolutions are usually good candidates for lower precision; reductions, normalization statistics, and some loss computations are not.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precision is therefore a systems optimization and a numerical-analysis problem at the same time.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3977640" y="4983226"/>
            <a:ext cx="7315200" cy="777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thumb: if a tensor is throughput-critical and numerically well behaved, lower precision is attractive; if it sets dynamic range or accumulates many values, keep more precision.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386B"/>
          </a:solidFill>
          <a:ln w="12700">
            <a:solidFill>
              <a:srgbClr val="1438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793992"/>
            <a:ext cx="12191695" cy="36576"/>
          </a:xfrm>
          <a:prstGeom prst="rect">
            <a:avLst/>
          </a:prstGeom>
          <a:solidFill>
            <a:srgbClr val="14386B"/>
          </a:solidFill>
          <a:ln w="12700">
            <a:solidFill>
              <a:srgbClr val="1438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work_template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5845" y="109728"/>
            <a:ext cx="344342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" y="6647688"/>
            <a:ext cx="54864" cy="54864"/>
          </a:xfrm>
          <a:prstGeom prst="ellipse">
            <a:avLst/>
          </a:prstGeom>
          <a:solidFill>
            <a:srgbClr val="1D4C84"/>
          </a:solidFill>
          <a:ln w="12700">
            <a:solidFill>
              <a:srgbClr val="1D4C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173736" y="6647688"/>
            <a:ext cx="54864" cy="54864"/>
          </a:xfrm>
          <a:prstGeom prst="ellipse">
            <a:avLst/>
          </a:prstGeom>
          <a:solidFill>
            <a:srgbClr val="D93A3A"/>
          </a:solidFill>
          <a:ln w="12700">
            <a:solidFill>
              <a:srgbClr val="D93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256032" y="6647688"/>
            <a:ext cx="54864" cy="54864"/>
          </a:xfrm>
          <a:prstGeom prst="ellipse">
            <a:avLst/>
          </a:prstGeom>
          <a:solidFill>
            <a:srgbClr val="D5BA33"/>
          </a:solidFill>
          <a:ln w="12700">
            <a:solidFill>
              <a:srgbClr val="D5BA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56032" y="2011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floating-point formats that matter in practice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02920" y="1170432"/>
            <a:ext cx="1216152" cy="320040"/>
          </a:xfrm>
          <a:prstGeom prst="rect">
            <a:avLst/>
          </a:prstGeom>
          <a:solidFill>
            <a:srgbClr val="EAF1FB"/>
          </a:solidFill>
          <a:ln w="7620">
            <a:solidFill>
              <a:srgbClr val="C6C6C6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1" name="Text 8"/>
          <p:cNvSpPr/>
          <p:nvPr/>
        </p:nvSpPr>
        <p:spPr>
          <a:xfrm>
            <a:off x="557784" y="1243584"/>
            <a:ext cx="11064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737360" y="1170432"/>
            <a:ext cx="621792" cy="320040"/>
          </a:xfrm>
          <a:prstGeom prst="rect">
            <a:avLst/>
          </a:prstGeom>
          <a:solidFill>
            <a:srgbClr val="EAF1FB"/>
          </a:solidFill>
          <a:ln w="7620">
            <a:solidFill>
              <a:srgbClr val="C6C6C6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3" name="Text 10"/>
          <p:cNvSpPr/>
          <p:nvPr/>
        </p:nvSpPr>
        <p:spPr>
          <a:xfrm>
            <a:off x="1792224" y="1243584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377440" y="1170432"/>
            <a:ext cx="1581912" cy="320040"/>
          </a:xfrm>
          <a:prstGeom prst="rect">
            <a:avLst/>
          </a:prstGeom>
          <a:solidFill>
            <a:srgbClr val="EAF1FB"/>
          </a:solidFill>
          <a:ln w="7620">
            <a:solidFill>
              <a:srgbClr val="C6C6C6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5" name="Text 12"/>
          <p:cNvSpPr/>
          <p:nvPr/>
        </p:nvSpPr>
        <p:spPr>
          <a:xfrm>
            <a:off x="2432304" y="1243584"/>
            <a:ext cx="1472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 / mantissa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977640" y="1170432"/>
            <a:ext cx="2907792" cy="320040"/>
          </a:xfrm>
          <a:prstGeom prst="rect">
            <a:avLst/>
          </a:prstGeom>
          <a:solidFill>
            <a:srgbClr val="EAF1FB"/>
          </a:solidFill>
          <a:ln w="7620">
            <a:solidFill>
              <a:srgbClr val="C6C6C6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7" name="Text 14"/>
          <p:cNvSpPr/>
          <p:nvPr/>
        </p:nvSpPr>
        <p:spPr>
          <a:xfrm>
            <a:off x="4032504" y="1243584"/>
            <a:ext cx="2798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role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903720" y="1170432"/>
            <a:ext cx="4142232" cy="320040"/>
          </a:xfrm>
          <a:prstGeom prst="rect">
            <a:avLst/>
          </a:prstGeom>
          <a:solidFill>
            <a:srgbClr val="EAF1FB"/>
          </a:solidFill>
          <a:ln w="7620">
            <a:solidFill>
              <a:srgbClr val="C6C6C6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9" name="Text 16"/>
          <p:cNvSpPr/>
          <p:nvPr/>
        </p:nvSpPr>
        <p:spPr>
          <a:xfrm>
            <a:off x="6958584" y="1243584"/>
            <a:ext cx="4032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note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02920" y="1581912"/>
            <a:ext cx="121615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1" name="Text 18"/>
          <p:cNvSpPr/>
          <p:nvPr/>
        </p:nvSpPr>
        <p:spPr>
          <a:xfrm>
            <a:off x="557784" y="1636776"/>
            <a:ext cx="11064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FP32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1737360" y="1581912"/>
            <a:ext cx="62179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3" name="Text 20"/>
          <p:cNvSpPr/>
          <p:nvPr/>
        </p:nvSpPr>
        <p:spPr>
          <a:xfrm>
            <a:off x="1792224" y="1636776"/>
            <a:ext cx="51206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377440" y="1581912"/>
            <a:ext cx="158191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5" name="Text 22"/>
          <p:cNvSpPr/>
          <p:nvPr/>
        </p:nvSpPr>
        <p:spPr>
          <a:xfrm>
            <a:off x="2432304" y="1636776"/>
            <a:ext cx="147218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23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977640" y="1581912"/>
            <a:ext cx="290779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7" name="Text 24"/>
          <p:cNvSpPr/>
          <p:nvPr/>
        </p:nvSpPr>
        <p:spPr>
          <a:xfrm>
            <a:off x="4032504" y="1636776"/>
            <a:ext cx="279806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training precision; optimizer states; sensitive accumulations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903720" y="1581912"/>
            <a:ext cx="414223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9" name="Text 26"/>
          <p:cNvSpPr/>
          <p:nvPr/>
        </p:nvSpPr>
        <p:spPr>
          <a:xfrm>
            <a:off x="6958584" y="1636776"/>
            <a:ext cx="40325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but slower and heavier on memory/bandwidth.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02920" y="2039112"/>
            <a:ext cx="121615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31" name="Text 28"/>
          <p:cNvSpPr/>
          <p:nvPr/>
        </p:nvSpPr>
        <p:spPr>
          <a:xfrm>
            <a:off x="557784" y="2093976"/>
            <a:ext cx="11064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TF32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1737360" y="2039112"/>
            <a:ext cx="62179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33" name="Text 30"/>
          <p:cNvSpPr/>
          <p:nvPr/>
        </p:nvSpPr>
        <p:spPr>
          <a:xfrm>
            <a:off x="1792224" y="2093976"/>
            <a:ext cx="51206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(compute mode)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2377440" y="2039112"/>
            <a:ext cx="158191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35" name="Text 32"/>
          <p:cNvSpPr/>
          <p:nvPr/>
        </p:nvSpPr>
        <p:spPr>
          <a:xfrm>
            <a:off x="2432304" y="2093976"/>
            <a:ext cx="147218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3977640" y="2039112"/>
            <a:ext cx="290779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37" name="Text 34"/>
          <p:cNvSpPr/>
          <p:nvPr/>
        </p:nvSpPr>
        <p:spPr>
          <a:xfrm>
            <a:off x="4032504" y="2093976"/>
            <a:ext cx="279806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matrix multiplications on Ampere+ while keeping FP32 API inputs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6903720" y="2039112"/>
            <a:ext cx="414223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39" name="Text 36"/>
          <p:cNvSpPr/>
          <p:nvPr/>
        </p:nvSpPr>
        <p:spPr>
          <a:xfrm>
            <a:off x="6958584" y="2093976"/>
            <a:ext cx="40325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“easy speed-up” mode; not a storage dtype.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502920" y="2496312"/>
            <a:ext cx="121615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41" name="Text 38"/>
          <p:cNvSpPr/>
          <p:nvPr/>
        </p:nvSpPr>
        <p:spPr>
          <a:xfrm>
            <a:off x="557784" y="2551176"/>
            <a:ext cx="11064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BF16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1737360" y="2496312"/>
            <a:ext cx="62179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43" name="Text 40"/>
          <p:cNvSpPr/>
          <p:nvPr/>
        </p:nvSpPr>
        <p:spPr>
          <a:xfrm>
            <a:off x="1792224" y="2551176"/>
            <a:ext cx="51206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2377440" y="2496312"/>
            <a:ext cx="158191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45" name="Text 42"/>
          <p:cNvSpPr/>
          <p:nvPr/>
        </p:nvSpPr>
        <p:spPr>
          <a:xfrm>
            <a:off x="2432304" y="2551176"/>
            <a:ext cx="147218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7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3977640" y="2496312"/>
            <a:ext cx="290779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47" name="Text 44"/>
          <p:cNvSpPr/>
          <p:nvPr/>
        </p:nvSpPr>
        <p:spPr>
          <a:xfrm>
            <a:off x="4032504" y="2551176"/>
            <a:ext cx="279806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mixed-precision training on modern GPUs/TPUs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6903720" y="2496312"/>
            <a:ext cx="414223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49" name="Text 46"/>
          <p:cNvSpPr/>
          <p:nvPr/>
        </p:nvSpPr>
        <p:spPr>
          <a:xfrm>
            <a:off x="6958584" y="2551176"/>
            <a:ext cx="40325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FP32-like dynamic range makes training much safer than FP16.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502920" y="2953512"/>
            <a:ext cx="121615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51" name="Text 48"/>
          <p:cNvSpPr/>
          <p:nvPr/>
        </p:nvSpPr>
        <p:spPr>
          <a:xfrm>
            <a:off x="557784" y="3008376"/>
            <a:ext cx="11064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FP16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1737360" y="2953512"/>
            <a:ext cx="62179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53" name="Text 50"/>
          <p:cNvSpPr/>
          <p:nvPr/>
        </p:nvSpPr>
        <p:spPr>
          <a:xfrm>
            <a:off x="1792224" y="3008376"/>
            <a:ext cx="51206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2377440" y="2953512"/>
            <a:ext cx="158191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55" name="Text 52"/>
          <p:cNvSpPr/>
          <p:nvPr/>
        </p:nvSpPr>
        <p:spPr>
          <a:xfrm>
            <a:off x="2432304" y="3008376"/>
            <a:ext cx="147218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3977640" y="2953512"/>
            <a:ext cx="290779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57" name="Text 54"/>
          <p:cNvSpPr/>
          <p:nvPr/>
        </p:nvSpPr>
        <p:spPr>
          <a:xfrm>
            <a:off x="4032504" y="3008376"/>
            <a:ext cx="279806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Legacy/common mixed precision where BF16 is absent or memory pressure is severe</a:t>
            </a:r>
            <a:endParaRPr lang="en-US" sz="1050" dirty="0"/>
          </a:p>
        </p:txBody>
      </p:sp>
      <p:sp>
        <p:nvSpPr>
          <p:cNvPr id="58" name="Shape 55"/>
          <p:cNvSpPr/>
          <p:nvPr/>
        </p:nvSpPr>
        <p:spPr>
          <a:xfrm>
            <a:off x="6903720" y="2953512"/>
            <a:ext cx="414223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59" name="Text 56"/>
          <p:cNvSpPr/>
          <p:nvPr/>
        </p:nvSpPr>
        <p:spPr>
          <a:xfrm>
            <a:off x="6958584" y="3008376"/>
            <a:ext cx="40325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local precision than BF16, but much smaller dynamic range.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502920" y="3410712"/>
            <a:ext cx="121615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61" name="Text 58"/>
          <p:cNvSpPr/>
          <p:nvPr/>
        </p:nvSpPr>
        <p:spPr>
          <a:xfrm>
            <a:off x="557784" y="3465576"/>
            <a:ext cx="11064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FP8 (E4M3 / E5M2)</a:t>
            </a:r>
            <a:endParaRPr lang="en-US" sz="1050" dirty="0"/>
          </a:p>
        </p:txBody>
      </p:sp>
      <p:sp>
        <p:nvSpPr>
          <p:cNvPr id="62" name="Shape 59"/>
          <p:cNvSpPr/>
          <p:nvPr/>
        </p:nvSpPr>
        <p:spPr>
          <a:xfrm>
            <a:off x="1737360" y="3410712"/>
            <a:ext cx="62179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63" name="Text 60"/>
          <p:cNvSpPr/>
          <p:nvPr/>
        </p:nvSpPr>
        <p:spPr>
          <a:xfrm>
            <a:off x="1792224" y="3465576"/>
            <a:ext cx="51206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50" dirty="0"/>
          </a:p>
        </p:txBody>
      </p:sp>
      <p:sp>
        <p:nvSpPr>
          <p:cNvPr id="64" name="Shape 61"/>
          <p:cNvSpPr/>
          <p:nvPr/>
        </p:nvSpPr>
        <p:spPr>
          <a:xfrm>
            <a:off x="2377440" y="3410712"/>
            <a:ext cx="158191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65" name="Text 62"/>
          <p:cNvSpPr/>
          <p:nvPr/>
        </p:nvSpPr>
        <p:spPr>
          <a:xfrm>
            <a:off x="2432304" y="3465576"/>
            <a:ext cx="147218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3 or 5 / 2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3977640" y="3410712"/>
            <a:ext cx="290779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67" name="Text 64"/>
          <p:cNvSpPr/>
          <p:nvPr/>
        </p:nvSpPr>
        <p:spPr>
          <a:xfrm>
            <a:off x="4032504" y="3465576"/>
            <a:ext cx="279806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transformer training/inference with framework/library support</a:t>
            </a:r>
            <a:endParaRPr lang="en-US" sz="1050" dirty="0"/>
          </a:p>
        </p:txBody>
      </p:sp>
      <p:sp>
        <p:nvSpPr>
          <p:cNvPr id="68" name="Shape 65"/>
          <p:cNvSpPr/>
          <p:nvPr/>
        </p:nvSpPr>
        <p:spPr>
          <a:xfrm>
            <a:off x="6903720" y="3410712"/>
            <a:ext cx="414223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69" name="Text 66"/>
          <p:cNvSpPr/>
          <p:nvPr/>
        </p:nvSpPr>
        <p:spPr>
          <a:xfrm>
            <a:off x="6958584" y="3465576"/>
            <a:ext cx="40325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Usually needs scaling recipes and mature kernels; not yet the universal default.</a:t>
            </a:r>
            <a:endParaRPr lang="en-US" sz="800" dirty="0"/>
          </a:p>
        </p:txBody>
      </p:sp>
      <p:sp>
        <p:nvSpPr>
          <p:cNvPr id="70" name="Shape 67"/>
          <p:cNvSpPr/>
          <p:nvPr/>
        </p:nvSpPr>
        <p:spPr>
          <a:xfrm>
            <a:off x="594360" y="4681728"/>
            <a:ext cx="3383280" cy="960120"/>
          </a:xfrm>
          <a:prstGeom prst="roundRect">
            <a:avLst>
              <a:gd name="adj" fmla="val 7619"/>
            </a:avLst>
          </a:prstGeom>
          <a:solidFill>
            <a:srgbClr val="EAF3EC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71" name="Text 68"/>
          <p:cNvSpPr/>
          <p:nvPr/>
        </p:nvSpPr>
        <p:spPr>
          <a:xfrm>
            <a:off x="704088" y="4773168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modern default</a:t>
            </a:r>
            <a:endParaRPr lang="en-US" sz="1200" dirty="0"/>
          </a:p>
        </p:txBody>
      </p:sp>
      <p:sp>
        <p:nvSpPr>
          <p:cNvPr id="72" name="Text 69"/>
          <p:cNvSpPr/>
          <p:nvPr/>
        </p:nvSpPr>
        <p:spPr>
          <a:xfrm>
            <a:off x="704088" y="4992624"/>
            <a:ext cx="316382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your stack supports BF16 well, it is usually the first precision to try for training large transformers.</a:t>
            </a:r>
            <a:endParaRPr lang="en-US" sz="1000" dirty="0"/>
          </a:p>
        </p:txBody>
      </p:sp>
      <p:sp>
        <p:nvSpPr>
          <p:cNvPr id="73" name="Shape 70"/>
          <p:cNvSpPr/>
          <p:nvPr/>
        </p:nvSpPr>
        <p:spPr>
          <a:xfrm>
            <a:off x="4297680" y="4681728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F7E9EA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74" name="Text 71"/>
          <p:cNvSpPr/>
          <p:nvPr/>
        </p:nvSpPr>
        <p:spPr>
          <a:xfrm>
            <a:off x="4407408" y="4773168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compatibility mode</a:t>
            </a:r>
            <a:endParaRPr lang="en-US" sz="1200" dirty="0"/>
          </a:p>
        </p:txBody>
      </p:sp>
      <p:sp>
        <p:nvSpPr>
          <p:cNvPr id="75" name="Text 72"/>
          <p:cNvSpPr/>
          <p:nvPr/>
        </p:nvSpPr>
        <p:spPr>
          <a:xfrm>
            <a:off x="4407408" y="4992624"/>
            <a:ext cx="311810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FP16 remains useful, but it needs more care: loss scaling, overflow checks, and architecture-specific validation.</a:t>
            </a:r>
            <a:endParaRPr lang="en-US" sz="1000" dirty="0"/>
          </a:p>
        </p:txBody>
      </p:sp>
      <p:sp>
        <p:nvSpPr>
          <p:cNvPr id="76" name="Shape 73"/>
          <p:cNvSpPr/>
          <p:nvPr/>
        </p:nvSpPr>
        <p:spPr>
          <a:xfrm>
            <a:off x="7955280" y="4681728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3EFCF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77" name="Text 74"/>
          <p:cNvSpPr/>
          <p:nvPr/>
        </p:nvSpPr>
        <p:spPr>
          <a:xfrm>
            <a:off x="8065008" y="4773168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emerging frontier</a:t>
            </a:r>
            <a:endParaRPr lang="en-US" sz="1200" dirty="0"/>
          </a:p>
        </p:txBody>
      </p:sp>
      <p:sp>
        <p:nvSpPr>
          <p:cNvPr id="78" name="Text 75"/>
          <p:cNvSpPr/>
          <p:nvPr/>
        </p:nvSpPr>
        <p:spPr>
          <a:xfrm>
            <a:off x="8065008" y="4992624"/>
            <a:ext cx="302666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FP8 is increasingly important on Hopper/Blackwell-class systems, especially through Transformer Engine.</a:t>
            </a:r>
            <a:endParaRPr lang="en-US" sz="1000" dirty="0"/>
          </a:p>
        </p:txBody>
      </p:sp>
      <p:sp>
        <p:nvSpPr>
          <p:cNvPr id="79" name="Text 76"/>
          <p:cNvSpPr/>
          <p:nvPr/>
        </p:nvSpPr>
        <p:spPr>
          <a:xfrm>
            <a:off x="502920" y="587959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i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TF32 note: TF32 is mainly a fast Tensor Core execution mode for FP32-style workloads; it keeps the 8-bit exponent of FP32 but uses a 10-bit mantissa in matmul/convolution paths.</a:t>
            </a:r>
            <a:endParaRPr lang="en-US" sz="89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386B"/>
          </a:solidFill>
          <a:ln w="12700">
            <a:solidFill>
              <a:srgbClr val="1438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793992"/>
            <a:ext cx="12191695" cy="36576"/>
          </a:xfrm>
          <a:prstGeom prst="rect">
            <a:avLst/>
          </a:prstGeom>
          <a:solidFill>
            <a:srgbClr val="14386B"/>
          </a:solidFill>
          <a:ln w="12700">
            <a:solidFill>
              <a:srgbClr val="1438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work_template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5845" y="109728"/>
            <a:ext cx="344342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" y="6647688"/>
            <a:ext cx="54864" cy="54864"/>
          </a:xfrm>
          <a:prstGeom prst="ellipse">
            <a:avLst/>
          </a:prstGeom>
          <a:solidFill>
            <a:srgbClr val="1D4C84"/>
          </a:solidFill>
          <a:ln w="12700">
            <a:solidFill>
              <a:srgbClr val="1D4C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173736" y="6647688"/>
            <a:ext cx="54864" cy="54864"/>
          </a:xfrm>
          <a:prstGeom prst="ellipse">
            <a:avLst/>
          </a:prstGeom>
          <a:solidFill>
            <a:srgbClr val="D93A3A"/>
          </a:solidFill>
          <a:ln w="12700">
            <a:solidFill>
              <a:srgbClr val="D93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256032" y="6647688"/>
            <a:ext cx="54864" cy="54864"/>
          </a:xfrm>
          <a:prstGeom prst="ellipse">
            <a:avLst/>
          </a:prstGeom>
          <a:solidFill>
            <a:srgbClr val="D5BA33"/>
          </a:solidFill>
          <a:ln w="12700">
            <a:solidFill>
              <a:srgbClr val="D5BA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56032" y="2011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“mixed” actually means inside one training step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EEEAF8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1" name="Text 8"/>
          <p:cNvSpPr/>
          <p:nvPr/>
        </p:nvSpPr>
        <p:spPr>
          <a:xfrm>
            <a:off x="566928" y="2103120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+ weights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66928" y="2322576"/>
            <a:ext cx="1609344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parameters usually remain in default precision outside the autocast context.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514600" y="201168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EAF1FB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4" name="Text 11"/>
          <p:cNvSpPr/>
          <p:nvPr/>
        </p:nvSpPr>
        <p:spPr>
          <a:xfrm>
            <a:off x="2624328" y="2103120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Autocast region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624328" y="2322576"/>
            <a:ext cx="1609344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Matmuls / convolutions are run in a lower precision chosen by autocast, often BF16 or FP16.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63440" y="201168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3EFCF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7" name="Text 14"/>
          <p:cNvSpPr/>
          <p:nvPr/>
        </p:nvSpPr>
        <p:spPr>
          <a:xfrm>
            <a:off x="4773168" y="2103120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ops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773168" y="2322576"/>
            <a:ext cx="1609344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Reductions, norm statistics, softmax, log_softmax, and selected losses can stay in FP32.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903720" y="201168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7E9EA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0" name="Text 17"/>
          <p:cNvSpPr/>
          <p:nvPr/>
        </p:nvSpPr>
        <p:spPr>
          <a:xfrm>
            <a:off x="7013448" y="2103120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Backward pass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013448" y="2322576"/>
            <a:ext cx="1609344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Gradients follow the dtypes induced by forward ops; FP16 training may need scaling.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144000" y="201168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EAF3EC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3" name="Text 20"/>
          <p:cNvSpPr/>
          <p:nvPr/>
        </p:nvSpPr>
        <p:spPr>
          <a:xfrm>
            <a:off x="9253728" y="2103120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 step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253728" y="2322576"/>
            <a:ext cx="1609344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optimizer typically applies updates in FP32 or another safer accumulator precision.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13232" y="141732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precision model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2816352" y="141732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 Core math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965192" y="141732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Upcast where needed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205472" y="141732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scaling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445752" y="141732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update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94360" y="3977640"/>
            <a:ext cx="1106424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Autocast is an op-level policy, not a blanket cast of the whole model.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should not manually call model.half() or model.bfloat16() when relying on autocast unless you intentionally want a pure low-precision model.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Backward should generally run outside the autocast context; PyTorch chooses backward dtypes from the forward path.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idea is simple: low precision where hardware is fast, higher precision where the math is fragile.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386B"/>
          </a:solidFill>
          <a:ln w="12700">
            <a:solidFill>
              <a:srgbClr val="1438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793992"/>
            <a:ext cx="12191695" cy="36576"/>
          </a:xfrm>
          <a:prstGeom prst="rect">
            <a:avLst/>
          </a:prstGeom>
          <a:solidFill>
            <a:srgbClr val="14386B"/>
          </a:solidFill>
          <a:ln w="12700">
            <a:solidFill>
              <a:srgbClr val="1438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work_template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5845" y="109728"/>
            <a:ext cx="344342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" y="6647688"/>
            <a:ext cx="54864" cy="54864"/>
          </a:xfrm>
          <a:prstGeom prst="ellipse">
            <a:avLst/>
          </a:prstGeom>
          <a:solidFill>
            <a:srgbClr val="1D4C84"/>
          </a:solidFill>
          <a:ln w="12700">
            <a:solidFill>
              <a:srgbClr val="1D4C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173736" y="6647688"/>
            <a:ext cx="54864" cy="54864"/>
          </a:xfrm>
          <a:prstGeom prst="ellipse">
            <a:avLst/>
          </a:prstGeom>
          <a:solidFill>
            <a:srgbClr val="D93A3A"/>
          </a:solidFill>
          <a:ln w="12700">
            <a:solidFill>
              <a:srgbClr val="D93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256032" y="6647688"/>
            <a:ext cx="54864" cy="54864"/>
          </a:xfrm>
          <a:prstGeom prst="ellipse">
            <a:avLst/>
          </a:prstGeom>
          <a:solidFill>
            <a:srgbClr val="D5BA33"/>
          </a:solidFill>
          <a:ln w="12700">
            <a:solidFill>
              <a:srgbClr val="D5BA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56032" y="2011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BF16 vs FP16: same storage cost, very different training behavior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02920" y="1051560"/>
            <a:ext cx="5394960" cy="4389120"/>
          </a:xfrm>
          <a:prstGeom prst="roundRect">
            <a:avLst/>
          </a:prstGeom>
          <a:solidFill>
            <a:srgbClr val="F9F9F9"/>
          </a:solidFill>
          <a:ln w="10160">
            <a:solidFill>
              <a:srgbClr val="D1D1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13232" y="12618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 layout comparison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" y="1783080"/>
            <a:ext cx="804672" cy="320040"/>
          </a:xfrm>
          <a:prstGeom prst="rect">
            <a:avLst/>
          </a:prstGeom>
          <a:solidFill>
            <a:srgbClr val="EAF1FB"/>
          </a:solidFill>
          <a:ln w="762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868680" y="1856232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910" dirty="0"/>
          </a:p>
        </p:txBody>
      </p:sp>
      <p:sp>
        <p:nvSpPr>
          <p:cNvPr id="14" name="Shape 11"/>
          <p:cNvSpPr/>
          <p:nvPr/>
        </p:nvSpPr>
        <p:spPr>
          <a:xfrm>
            <a:off x="1645920" y="1783080"/>
            <a:ext cx="530352" cy="320040"/>
          </a:xfrm>
          <a:prstGeom prst="rect">
            <a:avLst/>
          </a:prstGeom>
          <a:solidFill>
            <a:srgbClr val="EAF1FB"/>
          </a:solidFill>
          <a:ln w="762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1691640" y="185623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</a:t>
            </a:r>
            <a:endParaRPr lang="en-US" sz="910" dirty="0"/>
          </a:p>
        </p:txBody>
      </p:sp>
      <p:sp>
        <p:nvSpPr>
          <p:cNvPr id="16" name="Shape 13"/>
          <p:cNvSpPr/>
          <p:nvPr/>
        </p:nvSpPr>
        <p:spPr>
          <a:xfrm>
            <a:off x="2194560" y="1783080"/>
            <a:ext cx="667512" cy="320040"/>
          </a:xfrm>
          <a:prstGeom prst="rect">
            <a:avLst/>
          </a:prstGeom>
          <a:solidFill>
            <a:srgbClr val="EAF1FB"/>
          </a:solidFill>
          <a:ln w="762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2240280" y="1856232"/>
            <a:ext cx="576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</a:t>
            </a:r>
            <a:endParaRPr lang="en-US" sz="910" dirty="0"/>
          </a:p>
        </p:txBody>
      </p:sp>
      <p:sp>
        <p:nvSpPr>
          <p:cNvPr id="18" name="Shape 15"/>
          <p:cNvSpPr/>
          <p:nvPr/>
        </p:nvSpPr>
        <p:spPr>
          <a:xfrm>
            <a:off x="2880360" y="1783080"/>
            <a:ext cx="713232" cy="320040"/>
          </a:xfrm>
          <a:prstGeom prst="rect">
            <a:avLst/>
          </a:prstGeom>
          <a:solidFill>
            <a:srgbClr val="EAF1FB"/>
          </a:solidFill>
          <a:ln w="762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2926080" y="1856232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Mantissa</a:t>
            </a:r>
            <a:endParaRPr lang="en-US" sz="910" dirty="0"/>
          </a:p>
        </p:txBody>
      </p:sp>
      <p:sp>
        <p:nvSpPr>
          <p:cNvPr id="20" name="Shape 17"/>
          <p:cNvSpPr/>
          <p:nvPr/>
        </p:nvSpPr>
        <p:spPr>
          <a:xfrm>
            <a:off x="3611880" y="1783080"/>
            <a:ext cx="1810512" cy="320040"/>
          </a:xfrm>
          <a:prstGeom prst="rect">
            <a:avLst/>
          </a:prstGeom>
          <a:solidFill>
            <a:srgbClr val="EAF1FB"/>
          </a:solidFill>
          <a:ln w="762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3657600" y="1856232"/>
            <a:ext cx="1719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buys you</a:t>
            </a:r>
            <a:endParaRPr lang="en-US" sz="910" dirty="0"/>
          </a:p>
        </p:txBody>
      </p:sp>
      <p:sp>
        <p:nvSpPr>
          <p:cNvPr id="22" name="Shape 19"/>
          <p:cNvSpPr/>
          <p:nvPr/>
        </p:nvSpPr>
        <p:spPr>
          <a:xfrm>
            <a:off x="822960" y="2139696"/>
            <a:ext cx="80467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868680" y="2212848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BF16</a:t>
            </a:r>
            <a:endParaRPr lang="en-US" sz="890" dirty="0"/>
          </a:p>
        </p:txBody>
      </p:sp>
      <p:sp>
        <p:nvSpPr>
          <p:cNvPr id="24" name="Shape 21"/>
          <p:cNvSpPr/>
          <p:nvPr/>
        </p:nvSpPr>
        <p:spPr>
          <a:xfrm>
            <a:off x="1645920" y="2139696"/>
            <a:ext cx="53035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1691640" y="2212848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90" dirty="0"/>
          </a:p>
        </p:txBody>
      </p:sp>
      <p:sp>
        <p:nvSpPr>
          <p:cNvPr id="26" name="Shape 23"/>
          <p:cNvSpPr/>
          <p:nvPr/>
        </p:nvSpPr>
        <p:spPr>
          <a:xfrm>
            <a:off x="2194560" y="2139696"/>
            <a:ext cx="66751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2240280" y="2212848"/>
            <a:ext cx="576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90" dirty="0"/>
          </a:p>
        </p:txBody>
      </p:sp>
      <p:sp>
        <p:nvSpPr>
          <p:cNvPr id="28" name="Shape 25"/>
          <p:cNvSpPr/>
          <p:nvPr/>
        </p:nvSpPr>
        <p:spPr>
          <a:xfrm>
            <a:off x="2880360" y="2139696"/>
            <a:ext cx="71323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2926080" y="2212848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90" dirty="0"/>
          </a:p>
        </p:txBody>
      </p:sp>
      <p:sp>
        <p:nvSpPr>
          <p:cNvPr id="30" name="Shape 27"/>
          <p:cNvSpPr/>
          <p:nvPr/>
        </p:nvSpPr>
        <p:spPr>
          <a:xfrm>
            <a:off x="3611880" y="2139696"/>
            <a:ext cx="181051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3657600" y="2212848"/>
            <a:ext cx="1719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FP32-like range</a:t>
            </a:r>
            <a:endParaRPr lang="en-US" sz="890" dirty="0"/>
          </a:p>
        </p:txBody>
      </p:sp>
      <p:sp>
        <p:nvSpPr>
          <p:cNvPr id="32" name="Shape 29"/>
          <p:cNvSpPr/>
          <p:nvPr/>
        </p:nvSpPr>
        <p:spPr>
          <a:xfrm>
            <a:off x="822960" y="2523744"/>
            <a:ext cx="80467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868680" y="2596896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FP16</a:t>
            </a:r>
            <a:endParaRPr lang="en-US" sz="890" dirty="0"/>
          </a:p>
        </p:txBody>
      </p:sp>
      <p:sp>
        <p:nvSpPr>
          <p:cNvPr id="34" name="Shape 31"/>
          <p:cNvSpPr/>
          <p:nvPr/>
        </p:nvSpPr>
        <p:spPr>
          <a:xfrm>
            <a:off x="1645920" y="2523744"/>
            <a:ext cx="53035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1691640" y="259689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90" dirty="0"/>
          </a:p>
        </p:txBody>
      </p:sp>
      <p:sp>
        <p:nvSpPr>
          <p:cNvPr id="36" name="Shape 33"/>
          <p:cNvSpPr/>
          <p:nvPr/>
        </p:nvSpPr>
        <p:spPr>
          <a:xfrm>
            <a:off x="2194560" y="2523744"/>
            <a:ext cx="66751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2240280" y="2596896"/>
            <a:ext cx="576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90" dirty="0"/>
          </a:p>
        </p:txBody>
      </p:sp>
      <p:sp>
        <p:nvSpPr>
          <p:cNvPr id="38" name="Shape 35"/>
          <p:cNvSpPr/>
          <p:nvPr/>
        </p:nvSpPr>
        <p:spPr>
          <a:xfrm>
            <a:off x="2880360" y="2523744"/>
            <a:ext cx="71323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2926080" y="2596896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90" dirty="0"/>
          </a:p>
        </p:txBody>
      </p:sp>
      <p:sp>
        <p:nvSpPr>
          <p:cNvPr id="40" name="Shape 37"/>
          <p:cNvSpPr/>
          <p:nvPr/>
        </p:nvSpPr>
        <p:spPr>
          <a:xfrm>
            <a:off x="3611880" y="2523744"/>
            <a:ext cx="181051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3657600" y="2596896"/>
            <a:ext cx="1719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Finer local precision</a:t>
            </a:r>
            <a:endParaRPr lang="en-US" sz="890" dirty="0"/>
          </a:p>
        </p:txBody>
      </p:sp>
      <p:sp>
        <p:nvSpPr>
          <p:cNvPr id="42" name="Shape 39"/>
          <p:cNvSpPr/>
          <p:nvPr/>
        </p:nvSpPr>
        <p:spPr>
          <a:xfrm>
            <a:off x="822960" y="2907792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EAF3EC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/>
          <p:nvPr/>
        </p:nvSpPr>
        <p:spPr>
          <a:xfrm>
            <a:off x="932688" y="2999232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example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932688" y="3218688"/>
            <a:ext cx="174650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value like 1e5 overflows in FP16 but fits naturally in BF16 because BF16 keeps the 8-bit exponent of FP32.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2971800" y="2907792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F3EFCF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/>
          <p:nvPr/>
        </p:nvSpPr>
        <p:spPr>
          <a:xfrm>
            <a:off x="3081528" y="2999232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example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3081528" y="3218688"/>
            <a:ext cx="174650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 numbers near 1.0, FP16 has a finer mantissa than BF16, so tiny relative differences are represented more accurately.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868680" y="4279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BF16 trades mantissa precision for dynamic range. For large-model training, that is usually the safer trade.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6172200" y="118872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EAF1FB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50" name="Text 47"/>
          <p:cNvSpPr/>
          <p:nvPr/>
        </p:nvSpPr>
        <p:spPr>
          <a:xfrm>
            <a:off x="6281928" y="128016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BF16 is often the default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6281928" y="1499616"/>
            <a:ext cx="2249424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Same storage as FP16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Much wider exponent range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Far fewer overflow surprises in LLM training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Often no GradScaler needed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8869680" y="11887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7E9EA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53" name="Text 50"/>
          <p:cNvSpPr/>
          <p:nvPr/>
        </p:nvSpPr>
        <p:spPr>
          <a:xfrm>
            <a:off x="8979408" y="128016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FP16 is still attractive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8979408" y="1499616"/>
            <a:ext cx="2340864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Hardware/library support is mature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Some workloads value extra mantissa bits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Still common in legacy codebases and inference paths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6172200" y="297180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EEEAF8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56" name="Text 53"/>
          <p:cNvSpPr/>
          <p:nvPr/>
        </p:nvSpPr>
        <p:spPr>
          <a:xfrm>
            <a:off x="6281928" y="3063240"/>
            <a:ext cx="5038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gradient example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6281928" y="3282696"/>
            <a:ext cx="5038344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Suppose a backward gradient is about 2^-25 ≈ 2.98×10^-8. In FP16 this is below the smallest subnormal scale and can flush to zero. In BF16 the dynamic range is far wider, so the value is representable.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6172200" y="4526280"/>
            <a:ext cx="5257800" cy="822960"/>
          </a:xfrm>
          <a:prstGeom prst="roundRect">
            <a:avLst>
              <a:gd name="adj" fmla="val 8889"/>
            </a:avLst>
          </a:prstGeom>
          <a:solidFill>
            <a:srgbClr val="EAF3EC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59" name="Text 56"/>
          <p:cNvSpPr/>
          <p:nvPr/>
        </p:nvSpPr>
        <p:spPr>
          <a:xfrm>
            <a:off x="6281928" y="4617720"/>
            <a:ext cx="5038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recommendation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6281928" y="4837176"/>
            <a:ext cx="503834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A100/H100/Blackwell-class hardware is available, try BF16 first for training. Move to FP16 only when your stack or memory budget strongly prefers it.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386B"/>
          </a:solidFill>
          <a:ln w="12700">
            <a:solidFill>
              <a:srgbClr val="1438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793992"/>
            <a:ext cx="12191695" cy="36576"/>
          </a:xfrm>
          <a:prstGeom prst="rect">
            <a:avLst/>
          </a:prstGeom>
          <a:solidFill>
            <a:srgbClr val="14386B"/>
          </a:solidFill>
          <a:ln w="12700">
            <a:solidFill>
              <a:srgbClr val="1438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work_template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5845" y="109728"/>
            <a:ext cx="344342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" y="6647688"/>
            <a:ext cx="54864" cy="54864"/>
          </a:xfrm>
          <a:prstGeom prst="ellipse">
            <a:avLst/>
          </a:prstGeom>
          <a:solidFill>
            <a:srgbClr val="1D4C84"/>
          </a:solidFill>
          <a:ln w="12700">
            <a:solidFill>
              <a:srgbClr val="1D4C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173736" y="6647688"/>
            <a:ext cx="54864" cy="54864"/>
          </a:xfrm>
          <a:prstGeom prst="ellipse">
            <a:avLst/>
          </a:prstGeom>
          <a:solidFill>
            <a:srgbClr val="D93A3A"/>
          </a:solidFill>
          <a:ln w="12700">
            <a:solidFill>
              <a:srgbClr val="D93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256032" y="6647688"/>
            <a:ext cx="54864" cy="54864"/>
          </a:xfrm>
          <a:prstGeom prst="ellipse">
            <a:avLst/>
          </a:prstGeom>
          <a:solidFill>
            <a:srgbClr val="D5BA33"/>
          </a:solidFill>
          <a:ln w="12700">
            <a:solidFill>
              <a:srgbClr val="D5BA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56032" y="2011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failure modes you must recognize quickly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02920" y="1170432"/>
            <a:ext cx="3611880" cy="3429000"/>
          </a:xfrm>
          <a:prstGeom prst="roundRect">
            <a:avLst>
              <a:gd name="adj" fmla="val 2133"/>
            </a:avLst>
          </a:prstGeom>
          <a:solidFill>
            <a:srgbClr val="F7E9EA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11" name="Text 8"/>
          <p:cNvSpPr/>
          <p:nvPr/>
        </p:nvSpPr>
        <p:spPr>
          <a:xfrm>
            <a:off x="612648" y="1261872"/>
            <a:ext cx="3392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Overflow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12648" y="1481328"/>
            <a:ext cx="3392424" cy="3044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inf / NaN in loss or activations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logits blow up before softmax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exp(1000) is not representable in FP16 or FP32, so a naive softmax can overflow immediately.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fixes: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subtract max before softmax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prefer fused attention / log_softmax kernels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choose BF16 instead of FP16 where possible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97680" y="1170432"/>
            <a:ext cx="3611880" cy="3429000"/>
          </a:xfrm>
          <a:prstGeom prst="roundRect">
            <a:avLst>
              <a:gd name="adj" fmla="val 2133"/>
            </a:avLst>
          </a:prstGeom>
          <a:solidFill>
            <a:srgbClr val="F3EFCF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14" name="Text 11"/>
          <p:cNvSpPr/>
          <p:nvPr/>
        </p:nvSpPr>
        <p:spPr>
          <a:xfrm>
            <a:off x="4407408" y="1261872"/>
            <a:ext cx="3392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Underflow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407408" y="1481328"/>
            <a:ext cx="3392424" cy="3044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tiny gradients become exact zero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learning stalls silently in some layers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small FP16 gradients in the backward pass may flush to zero; this is why loss scaling exists.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fixes: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GradScaler for FP16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BF16 when available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monitor gradient norms and skipped steps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77202" y="1427734"/>
            <a:ext cx="3611880" cy="3429000"/>
          </a:xfrm>
          <a:prstGeom prst="roundRect">
            <a:avLst>
              <a:gd name="adj" fmla="val 2133"/>
            </a:avLst>
          </a:prstGeom>
          <a:solidFill>
            <a:srgbClr val="EAF1FB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17" name="Text 14"/>
          <p:cNvSpPr/>
          <p:nvPr/>
        </p:nvSpPr>
        <p:spPr>
          <a:xfrm>
            <a:off x="8202168" y="1261872"/>
            <a:ext cx="3730752" cy="165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Cancellation / bad reductions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8202168" y="1581912"/>
            <a:ext cx="3392424" cy="3044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unstable norms, variances, or probabilities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tiny accuracy drift that compounds over long training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subtracting two close values or summing many small values in low precision loses meaningful digits.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fixes: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accumulate in FP32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keep layer norm stats and reductions in higher precision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stable library ops instead of hand-written formulas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85800" y="507492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i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instability is not always dramatic. Sometimes the model does not explode—it just converges worse.</a:t>
            </a:r>
            <a:endParaRPr lang="en-US" sz="9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386B"/>
          </a:solidFill>
          <a:ln w="12700">
            <a:solidFill>
              <a:srgbClr val="1438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793992"/>
            <a:ext cx="12191695" cy="36576"/>
          </a:xfrm>
          <a:prstGeom prst="rect">
            <a:avLst/>
          </a:prstGeom>
          <a:solidFill>
            <a:srgbClr val="14386B"/>
          </a:solidFill>
          <a:ln w="12700">
            <a:solidFill>
              <a:srgbClr val="1438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work_template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5845" y="109728"/>
            <a:ext cx="344342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" y="6647688"/>
            <a:ext cx="54864" cy="54864"/>
          </a:xfrm>
          <a:prstGeom prst="ellipse">
            <a:avLst/>
          </a:prstGeom>
          <a:solidFill>
            <a:srgbClr val="1D4C84"/>
          </a:solidFill>
          <a:ln w="12700">
            <a:solidFill>
              <a:srgbClr val="1D4C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173736" y="6647688"/>
            <a:ext cx="54864" cy="54864"/>
          </a:xfrm>
          <a:prstGeom prst="ellipse">
            <a:avLst/>
          </a:prstGeom>
          <a:solidFill>
            <a:srgbClr val="D93A3A"/>
          </a:solidFill>
          <a:ln w="12700">
            <a:solidFill>
              <a:srgbClr val="D93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256032" y="6647688"/>
            <a:ext cx="54864" cy="54864"/>
          </a:xfrm>
          <a:prstGeom prst="ellipse">
            <a:avLst/>
          </a:prstGeom>
          <a:solidFill>
            <a:srgbClr val="D5BA33"/>
          </a:solidFill>
          <a:ln w="12700">
            <a:solidFill>
              <a:srgbClr val="D5BA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56032" y="2011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formulas and safe transformer patterns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77240" y="12344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softmax done correctly</a:t>
            </a:r>
            <a:endParaRPr lang="en-US" sz="1220" dirty="0"/>
          </a:p>
        </p:txBody>
      </p:sp>
      <p:sp>
        <p:nvSpPr>
          <p:cNvPr id="12" name="Text 9"/>
          <p:cNvSpPr/>
          <p:nvPr/>
        </p:nvSpPr>
        <p:spPr>
          <a:xfrm>
            <a:off x="777240" y="16459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logits: [1000, 1001, 999]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777240" y="18928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Subtract max → [-1, 0, -2]</a:t>
            </a:r>
            <a:endParaRPr lang="en-US" sz="102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4070" y="2026412"/>
            <a:ext cx="4480560" cy="6949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22960" y="27614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produces exactly the same probabilities mathematically, but avoids huge exponentials.</a:t>
            </a:r>
            <a:endParaRPr lang="en-US" sz="970" dirty="0"/>
          </a:p>
        </p:txBody>
      </p:sp>
      <p:sp>
        <p:nvSpPr>
          <p:cNvPr id="16" name="Shape 12"/>
          <p:cNvSpPr/>
          <p:nvPr/>
        </p:nvSpPr>
        <p:spPr>
          <a:xfrm>
            <a:off x="804672" y="338328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EAF3EC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7" name="Text 13"/>
          <p:cNvSpPr/>
          <p:nvPr/>
        </p:nvSpPr>
        <p:spPr>
          <a:xfrm>
            <a:off x="914400" y="3474720"/>
            <a:ext cx="1856232" cy="53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log_softmax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899160" y="3858768"/>
            <a:ext cx="160934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log_softmax(x) instead of log(softmax(x)); PyTorch explicitly documents the separate form as slower and numerically unstable.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816352" y="3383280"/>
            <a:ext cx="2240280" cy="1143000"/>
          </a:xfrm>
          <a:prstGeom prst="roundRect">
            <a:avLst>
              <a:gd name="adj" fmla="val 6400"/>
            </a:avLst>
          </a:prstGeom>
          <a:solidFill>
            <a:srgbClr val="F3EFCF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0" name="Text 16"/>
          <p:cNvSpPr/>
          <p:nvPr/>
        </p:nvSpPr>
        <p:spPr>
          <a:xfrm>
            <a:off x="2926080" y="3474720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logsumexp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2926080" y="3832352"/>
            <a:ext cx="202082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loss or normalization contains log(sum(exp(·))), call the stable library primitive instead of composing exp + sum + log manually.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217920" y="114300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EAF1FB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23" name="Text 19"/>
          <p:cNvSpPr/>
          <p:nvPr/>
        </p:nvSpPr>
        <p:spPr>
          <a:xfrm>
            <a:off x="6327648" y="1234440"/>
            <a:ext cx="4855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Transformer-specific safe patterns</a:t>
            </a: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6327648" y="1453896"/>
            <a:ext cx="485546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Scale attention scores by 1/√d_k before softmax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fused attention kernels when available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Keep normalization statistics and important reductions in FP32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217920" y="242316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7E9EA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26" name="Text 22"/>
          <p:cNvSpPr/>
          <p:nvPr/>
        </p:nvSpPr>
        <p:spPr>
          <a:xfrm>
            <a:off x="6327648" y="2514600"/>
            <a:ext cx="4855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Autocast already helps—but only if you let it</a:t>
            </a: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6327648" y="2734056"/>
            <a:ext cx="485546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sends many ops such as softmax, log_softmax, cross_entropy, layer_norm, and sum to float32 under CUDA autocast because they are numerically sensitive.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217920" y="370332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EEEAF8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29" name="Text 25"/>
          <p:cNvSpPr/>
          <p:nvPr/>
        </p:nvSpPr>
        <p:spPr>
          <a:xfrm>
            <a:off x="6327648" y="3794760"/>
            <a:ext cx="4855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good engineering habit</a:t>
            </a: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6327648" y="4014216"/>
            <a:ext cx="4855464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are writing custom kernels or custom autograd functions, identify which intermediate values need more precision. The biggest bugs usually happen when the fused path drops a carefully upcasted reduction back to low precision.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386B"/>
          </a:solidFill>
          <a:ln w="12700">
            <a:solidFill>
              <a:srgbClr val="1438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793992"/>
            <a:ext cx="12191695" cy="36576"/>
          </a:xfrm>
          <a:prstGeom prst="rect">
            <a:avLst/>
          </a:prstGeom>
          <a:solidFill>
            <a:srgbClr val="14386B"/>
          </a:solidFill>
          <a:ln w="12700">
            <a:solidFill>
              <a:srgbClr val="1438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work_template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5845" y="109728"/>
            <a:ext cx="344342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" y="6647688"/>
            <a:ext cx="54864" cy="54864"/>
          </a:xfrm>
          <a:prstGeom prst="ellipse">
            <a:avLst/>
          </a:prstGeom>
          <a:solidFill>
            <a:srgbClr val="1D4C84"/>
          </a:solidFill>
          <a:ln w="12700">
            <a:solidFill>
              <a:srgbClr val="1D4C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173736" y="6647688"/>
            <a:ext cx="54864" cy="54864"/>
          </a:xfrm>
          <a:prstGeom prst="ellipse">
            <a:avLst/>
          </a:prstGeom>
          <a:solidFill>
            <a:srgbClr val="D93A3A"/>
          </a:solidFill>
          <a:ln w="12700">
            <a:solidFill>
              <a:srgbClr val="D93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256032" y="6647688"/>
            <a:ext cx="54864" cy="54864"/>
          </a:xfrm>
          <a:prstGeom prst="ellipse">
            <a:avLst/>
          </a:prstGeom>
          <a:solidFill>
            <a:srgbClr val="D5BA33"/>
          </a:solidFill>
          <a:ln w="12700">
            <a:solidFill>
              <a:srgbClr val="D5BA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56032" y="2011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scaling: the classic FP16 stabilization technique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94360" y="146304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EEEAF8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11" name="Text 8"/>
          <p:cNvSpPr/>
          <p:nvPr/>
        </p:nvSpPr>
        <p:spPr>
          <a:xfrm>
            <a:off x="704088" y="1554480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loss 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04088" y="1773936"/>
            <a:ext cx="1517904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pass runs under autocast.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743200" y="146304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F3EFCF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14" name="Text 11"/>
          <p:cNvSpPr/>
          <p:nvPr/>
        </p:nvSpPr>
        <p:spPr>
          <a:xfrm>
            <a:off x="2852928" y="1554480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Multiply by scale 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852928" y="1773936"/>
            <a:ext cx="1517904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tiny gradients larger before backward.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892040" y="146304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EAF1FB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17" name="Text 14"/>
          <p:cNvSpPr/>
          <p:nvPr/>
        </p:nvSpPr>
        <p:spPr>
          <a:xfrm>
            <a:off x="5001768" y="1554480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Backward on s·L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001768" y="1773936"/>
            <a:ext cx="1517904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Gradients are computed in the scaled domain.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040880" y="146304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EAF3EC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20" name="Text 17"/>
          <p:cNvSpPr/>
          <p:nvPr/>
        </p:nvSpPr>
        <p:spPr>
          <a:xfrm>
            <a:off x="7150608" y="1554480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Unscale gradients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150608" y="1773936"/>
            <a:ext cx="1517904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Undo scaling before clipping or optimizer update.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189720" y="146304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F7E9EA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23" name="Text 20"/>
          <p:cNvSpPr/>
          <p:nvPr/>
        </p:nvSpPr>
        <p:spPr>
          <a:xfrm>
            <a:off x="9299448" y="1554480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or skip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299448" y="1773936"/>
            <a:ext cx="1517904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inf/NaN appears, skip the step and reduce s.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31520" y="3337560"/>
            <a:ext cx="237363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concrete intuition</a:t>
            </a: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731519" y="3657600"/>
            <a:ext cx="5589143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Suppose a gradient is 2^-25. In FP16, that is too small and may flush to zero. If we scale the loss by 2^10, the gradient becomes 2^-15 during backward—much easier to represent. After unscaling, we recover the intended update magnitude.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629400" y="4014216"/>
            <a:ext cx="4572000" cy="1417320"/>
          </a:xfrm>
          <a:prstGeom prst="roundRect">
            <a:avLst/>
          </a:prstGeom>
          <a:solidFill>
            <a:srgbClr val="F9F9F9"/>
          </a:solidFill>
          <a:ln w="1016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59575" y="3557016"/>
            <a:ext cx="4311650" cy="41148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6784848" y="4187952"/>
            <a:ext cx="3977640" cy="758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Important: this is mainly an FP16 story. BF16 usually does not need dynamic loss scaling because the exponent range is much wider.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386B"/>
          </a:solidFill>
          <a:ln w="12700">
            <a:solidFill>
              <a:srgbClr val="1438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793992"/>
            <a:ext cx="12191695" cy="36576"/>
          </a:xfrm>
          <a:prstGeom prst="rect">
            <a:avLst/>
          </a:prstGeom>
          <a:solidFill>
            <a:srgbClr val="14386B"/>
          </a:solidFill>
          <a:ln w="12700">
            <a:solidFill>
              <a:srgbClr val="1438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work_template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5845" y="109728"/>
            <a:ext cx="344342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" y="6647688"/>
            <a:ext cx="54864" cy="54864"/>
          </a:xfrm>
          <a:prstGeom prst="ellipse">
            <a:avLst/>
          </a:prstGeom>
          <a:solidFill>
            <a:srgbClr val="1D4C84"/>
          </a:solidFill>
          <a:ln w="12700">
            <a:solidFill>
              <a:srgbClr val="1D4C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173736" y="6647688"/>
            <a:ext cx="54864" cy="54864"/>
          </a:xfrm>
          <a:prstGeom prst="ellipse">
            <a:avLst/>
          </a:prstGeom>
          <a:solidFill>
            <a:srgbClr val="D93A3A"/>
          </a:solidFill>
          <a:ln w="12700">
            <a:solidFill>
              <a:srgbClr val="D93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256032" y="6647688"/>
            <a:ext cx="54864" cy="54864"/>
          </a:xfrm>
          <a:prstGeom prst="ellipse">
            <a:avLst/>
          </a:prstGeom>
          <a:solidFill>
            <a:srgbClr val="D5BA33"/>
          </a:solidFill>
          <a:ln w="12700">
            <a:solidFill>
              <a:srgbClr val="D5BA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56032" y="2011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practical PyTorch 2.x mixed-precision recipe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02920" y="1097280"/>
            <a:ext cx="6583680" cy="5074920"/>
          </a:xfrm>
          <a:prstGeom prst="roundRect">
            <a:avLst/>
          </a:prstGeom>
          <a:solidFill>
            <a:srgbClr val="F7F7F7"/>
          </a:solidFill>
          <a:ln w="1016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49808" y="1325880"/>
            <a:ext cx="6080760" cy="4572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F3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use_fp16 = False            # set True only if you really want FP16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mp_dtype  = torch.bfloat16   # torch.float16 for FP16 path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   = torch.amp.GradScaler("cuda", enabled=use_fp16)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x, y in loader: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optimizer.zero_grad(set_to_none=True)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torch.amp.autocast("cuda", dtype=mp_dtype):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logits = model(x)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loss   = loss_fn(logits, y)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use_fp16: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scaler.scale(loss).backward()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scaler.unscale_(optimizer)           # before clip_grad_norm_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torch.nn.utils.clip_grad_norm_(model.parameters(), 1.0)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scaler.step(optimizer)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scaler.update()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loss.backward()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torch.nn.utils.clip_grad_norm_(model.parameters(), 1.0)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optimizer.step()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452360" y="118872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EAF3EC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13" name="Text 10"/>
          <p:cNvSpPr/>
          <p:nvPr/>
        </p:nvSpPr>
        <p:spPr>
          <a:xfrm>
            <a:off x="7562088" y="128016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562088" y="1499616"/>
            <a:ext cx="389534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model in default precision and let autocast choose dtypes op by op.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452360" y="242316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EAF1FB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16" name="Text 13"/>
          <p:cNvSpPr/>
          <p:nvPr/>
        </p:nvSpPr>
        <p:spPr>
          <a:xfrm>
            <a:off x="7562088" y="251460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562088" y="2734056"/>
            <a:ext cx="389534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GradScaler only for FP16-style training; BF16 usually just needs autocast.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452360" y="365760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3EFCF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19" name="Text 16"/>
          <p:cNvSpPr/>
          <p:nvPr/>
        </p:nvSpPr>
        <p:spPr>
          <a:xfrm>
            <a:off x="7562088" y="374904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562088" y="3968496"/>
            <a:ext cx="389534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Unscale before gradient clipping, anomaly checks, or any logic that inspects grad magnitudes.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452360" y="489204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7E9EA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22" name="Text 19"/>
          <p:cNvSpPr/>
          <p:nvPr/>
        </p:nvSpPr>
        <p:spPr>
          <a:xfrm>
            <a:off x="7562088" y="498348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7562088" y="5202936"/>
            <a:ext cx="389534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Blindly calling half() on the full model when you really want automatic mixed precision.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386B"/>
          </a:solidFill>
          <a:ln w="12700">
            <a:solidFill>
              <a:srgbClr val="1438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793992"/>
            <a:ext cx="12191695" cy="36576"/>
          </a:xfrm>
          <a:prstGeom prst="rect">
            <a:avLst/>
          </a:prstGeom>
          <a:solidFill>
            <a:srgbClr val="14386B"/>
          </a:solidFill>
          <a:ln w="12700">
            <a:solidFill>
              <a:srgbClr val="1438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work_template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5845" y="109728"/>
            <a:ext cx="344342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" y="6647688"/>
            <a:ext cx="54864" cy="54864"/>
          </a:xfrm>
          <a:prstGeom prst="ellipse">
            <a:avLst/>
          </a:prstGeom>
          <a:solidFill>
            <a:srgbClr val="1D4C84"/>
          </a:solidFill>
          <a:ln w="12700">
            <a:solidFill>
              <a:srgbClr val="1D4C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173736" y="6647688"/>
            <a:ext cx="54864" cy="54864"/>
          </a:xfrm>
          <a:prstGeom prst="ellipse">
            <a:avLst/>
          </a:prstGeom>
          <a:solidFill>
            <a:srgbClr val="D93A3A"/>
          </a:solidFill>
          <a:ln w="12700">
            <a:solidFill>
              <a:srgbClr val="D93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256032" y="6647688"/>
            <a:ext cx="54864" cy="54864"/>
          </a:xfrm>
          <a:prstGeom prst="ellipse">
            <a:avLst/>
          </a:prstGeom>
          <a:solidFill>
            <a:srgbClr val="D5BA33"/>
          </a:solidFill>
          <a:ln w="12700">
            <a:solidFill>
              <a:srgbClr val="D5BA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56032" y="2011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LLM-specific nuances: attention, norms, and long contexts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02920" y="996696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F7E9EA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11" name="Text 8"/>
          <p:cNvSpPr/>
          <p:nvPr/>
        </p:nvSpPr>
        <p:spPr>
          <a:xfrm>
            <a:off x="612648" y="988314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scores can explode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12648" y="1362456"/>
            <a:ext cx="343814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QK^T combines many products; with long contexts or sharp activations, logits can grow large before softmax. This is why scaling and fused kernels matter.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97680" y="105156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EAF1FB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14" name="Text 11"/>
          <p:cNvSpPr/>
          <p:nvPr/>
        </p:nvSpPr>
        <p:spPr>
          <a:xfrm>
            <a:off x="4407408" y="1035050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LayerNorm / RMSNorm need careful statistics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407408" y="1362456"/>
            <a:ext cx="343814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Means, variances, or RMS computations can lose accuracy if all intermediate reductions stay in low precision.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92440" y="105156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3EFCF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17" name="Text 14"/>
          <p:cNvSpPr/>
          <p:nvPr/>
        </p:nvSpPr>
        <p:spPr>
          <a:xfrm>
            <a:off x="8165592" y="864870"/>
            <a:ext cx="3392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sequences amplify error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8202168" y="1362456"/>
            <a:ext cx="339242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timesteps mean more reductions, more attention work, and more opportunities for small rounding effects to accumulate.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8680" y="2834640"/>
            <a:ext cx="567817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transformer block precision policy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914400" y="3246120"/>
            <a:ext cx="2606040" cy="210312"/>
          </a:xfrm>
          <a:prstGeom prst="roundRect">
            <a:avLst/>
          </a:prstGeom>
          <a:solidFill>
            <a:srgbClr val="EAF3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22" name="Text 19"/>
          <p:cNvSpPr/>
          <p:nvPr/>
        </p:nvSpPr>
        <p:spPr>
          <a:xfrm>
            <a:off x="1024128" y="3282696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/ QKV / MLP GEMMs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703320" y="3282696"/>
            <a:ext cx="145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BF16 / FP16 / FP8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914400" y="3547872"/>
            <a:ext cx="2606040" cy="210312"/>
          </a:xfrm>
          <a:prstGeom prst="roundRect">
            <a:avLst/>
          </a:prstGeom>
          <a:solidFill>
            <a:srgbClr val="F7E9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25" name="Text 22"/>
          <p:cNvSpPr/>
          <p:nvPr/>
        </p:nvSpPr>
        <p:spPr>
          <a:xfrm>
            <a:off x="1024128" y="3584448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softmax and log-probabilities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703320" y="358444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FP32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914400" y="3849624"/>
            <a:ext cx="2606040" cy="210312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28" name="Text 25"/>
          <p:cNvSpPr/>
          <p:nvPr/>
        </p:nvSpPr>
        <p:spPr>
          <a:xfrm>
            <a:off x="1024128" y="3886200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 statistics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703320" y="388620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FP32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914400" y="4151376"/>
            <a:ext cx="2606040" cy="210312"/>
          </a:xfrm>
          <a:prstGeom prst="roundRect">
            <a:avLst/>
          </a:prstGeom>
          <a:solidFill>
            <a:srgbClr val="EEEA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31" name="Text 28"/>
          <p:cNvSpPr/>
          <p:nvPr/>
        </p:nvSpPr>
        <p:spPr>
          <a:xfrm>
            <a:off x="1024128" y="4187952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 moments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3703320" y="4187952"/>
            <a:ext cx="123063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usually FP32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914400" y="4453128"/>
            <a:ext cx="2606040" cy="210312"/>
          </a:xfrm>
          <a:prstGeom prst="roundRect">
            <a:avLst/>
          </a:prstGeom>
          <a:solidFill>
            <a:srgbClr val="F3EFC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34" name="Text 31"/>
          <p:cNvSpPr/>
          <p:nvPr/>
        </p:nvSpPr>
        <p:spPr>
          <a:xfrm>
            <a:off x="1024128" y="4489704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output tensor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3703320" y="4489704"/>
            <a:ext cx="13131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4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downcast if safe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071616" y="3291840"/>
            <a:ext cx="548640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proven kernels for scaled dot-product attention whenever possible; they already encode many stability choices.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see NaNs only at long sequence lengths, inspect attention score magnitudes and reduction precision first.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debugging, compare a failing mixed-precision run against a short FP32 or BF16 baseline rather than guessing layer by layer.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386B"/>
          </a:solidFill>
          <a:ln w="12700">
            <a:solidFill>
              <a:srgbClr val="1438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793992"/>
            <a:ext cx="12191695" cy="36576"/>
          </a:xfrm>
          <a:prstGeom prst="rect">
            <a:avLst/>
          </a:prstGeom>
          <a:solidFill>
            <a:srgbClr val="14386B"/>
          </a:solidFill>
          <a:ln w="12700">
            <a:solidFill>
              <a:srgbClr val="1438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work_template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5845" y="109728"/>
            <a:ext cx="344342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" y="6647688"/>
            <a:ext cx="54864" cy="54864"/>
          </a:xfrm>
          <a:prstGeom prst="ellipse">
            <a:avLst/>
          </a:prstGeom>
          <a:solidFill>
            <a:srgbClr val="1D4C84"/>
          </a:solidFill>
          <a:ln w="12700">
            <a:solidFill>
              <a:srgbClr val="1D4C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6" name="Shape 3"/>
          <p:cNvSpPr/>
          <p:nvPr/>
        </p:nvSpPr>
        <p:spPr>
          <a:xfrm>
            <a:off x="173736" y="6647688"/>
            <a:ext cx="54864" cy="54864"/>
          </a:xfrm>
          <a:prstGeom prst="ellipse">
            <a:avLst/>
          </a:prstGeom>
          <a:solidFill>
            <a:srgbClr val="D93A3A"/>
          </a:solidFill>
          <a:ln w="12700">
            <a:solidFill>
              <a:srgbClr val="D93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7" name="Shape 4"/>
          <p:cNvSpPr/>
          <p:nvPr/>
        </p:nvSpPr>
        <p:spPr>
          <a:xfrm>
            <a:off x="256032" y="6647688"/>
            <a:ext cx="54864" cy="54864"/>
          </a:xfrm>
          <a:prstGeom prst="ellipse">
            <a:avLst/>
          </a:prstGeom>
          <a:solidFill>
            <a:srgbClr val="D5BA33"/>
          </a:solidFill>
          <a:ln w="12700">
            <a:solidFill>
              <a:srgbClr val="D5BA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56032" y="2011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 precision mode: a practical guide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02920" y="1188720"/>
            <a:ext cx="2999232" cy="320040"/>
          </a:xfrm>
          <a:prstGeom prst="rect">
            <a:avLst/>
          </a:prstGeom>
          <a:solidFill>
            <a:srgbClr val="EAF1FB"/>
          </a:solidFill>
          <a:ln w="7620">
            <a:solidFill>
              <a:srgbClr val="C6C6C6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11" name="Text 8"/>
          <p:cNvSpPr/>
          <p:nvPr/>
        </p:nvSpPr>
        <p:spPr>
          <a:xfrm>
            <a:off x="557784" y="1261872"/>
            <a:ext cx="2889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520440" y="1188720"/>
            <a:ext cx="2542032" cy="320040"/>
          </a:xfrm>
          <a:prstGeom prst="rect">
            <a:avLst/>
          </a:prstGeom>
          <a:solidFill>
            <a:srgbClr val="EAF1FB"/>
          </a:solidFill>
          <a:ln w="7620">
            <a:solidFill>
              <a:srgbClr val="C6C6C6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13" name="Text 10"/>
          <p:cNvSpPr/>
          <p:nvPr/>
        </p:nvSpPr>
        <p:spPr>
          <a:xfrm>
            <a:off x="3575304" y="1261872"/>
            <a:ext cx="261594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starting point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080760" y="1188720"/>
            <a:ext cx="5010912" cy="320040"/>
          </a:xfrm>
          <a:prstGeom prst="rect">
            <a:avLst/>
          </a:prstGeom>
          <a:solidFill>
            <a:srgbClr val="EAF1FB"/>
          </a:solidFill>
          <a:ln w="7620">
            <a:solidFill>
              <a:srgbClr val="C6C6C6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15" name="Text 12"/>
          <p:cNvSpPr/>
          <p:nvPr/>
        </p:nvSpPr>
        <p:spPr>
          <a:xfrm>
            <a:off x="6135624" y="1261872"/>
            <a:ext cx="4901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02920" y="1591056"/>
            <a:ext cx="29992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17" name="Text 14"/>
          <p:cNvSpPr/>
          <p:nvPr/>
        </p:nvSpPr>
        <p:spPr>
          <a:xfrm>
            <a:off x="557784" y="1636776"/>
            <a:ext cx="28895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GPU stack with BF16 support (A100/H100/Blackwell-class)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520440" y="1591056"/>
            <a:ext cx="25420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19" name="Text 16"/>
          <p:cNvSpPr/>
          <p:nvPr/>
        </p:nvSpPr>
        <p:spPr>
          <a:xfrm>
            <a:off x="3575304" y="1636776"/>
            <a:ext cx="24323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BF16 mixed precision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080760" y="1591056"/>
            <a:ext cx="501091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21" name="Text 18"/>
          <p:cNvSpPr/>
          <p:nvPr/>
        </p:nvSpPr>
        <p:spPr>
          <a:xfrm>
            <a:off x="6135624" y="1636776"/>
            <a:ext cx="490118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balance of speed, memory, and dynamic range.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02920" y="2020824"/>
            <a:ext cx="29992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23" name="Text 20"/>
          <p:cNvSpPr/>
          <p:nvPr/>
        </p:nvSpPr>
        <p:spPr>
          <a:xfrm>
            <a:off x="557784" y="2066544"/>
            <a:ext cx="28895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CUDA path or stack tuned for FP16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520440" y="2020824"/>
            <a:ext cx="25420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25" name="Text 22"/>
          <p:cNvSpPr/>
          <p:nvPr/>
        </p:nvSpPr>
        <p:spPr>
          <a:xfrm>
            <a:off x="3575304" y="2066544"/>
            <a:ext cx="24323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FP16 + GradScaler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080760" y="2020824"/>
            <a:ext cx="501091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27" name="Text 24"/>
          <p:cNvSpPr/>
          <p:nvPr/>
        </p:nvSpPr>
        <p:spPr>
          <a:xfrm>
            <a:off x="6135624" y="2066544"/>
            <a:ext cx="490118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fast, but requires more numerical care.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02920" y="2450592"/>
            <a:ext cx="29992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29" name="Text 26"/>
          <p:cNvSpPr/>
          <p:nvPr/>
        </p:nvSpPr>
        <p:spPr>
          <a:xfrm>
            <a:off x="557784" y="2496312"/>
            <a:ext cx="28895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easy speed-up with minimal code change on Ampere+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3520440" y="2450592"/>
            <a:ext cx="25420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31" name="Text 28"/>
          <p:cNvSpPr/>
          <p:nvPr/>
        </p:nvSpPr>
        <p:spPr>
          <a:xfrm>
            <a:off x="3575304" y="2496312"/>
            <a:ext cx="24323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TF32 matmul path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080760" y="2450592"/>
            <a:ext cx="501091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33" name="Text 30"/>
          <p:cNvSpPr/>
          <p:nvPr/>
        </p:nvSpPr>
        <p:spPr>
          <a:xfrm>
            <a:off x="6135624" y="2496312"/>
            <a:ext cx="490118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Tensor Core matmuls while staying in FP32 APIs.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502920" y="2880360"/>
            <a:ext cx="29992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35" name="Text 32"/>
          <p:cNvSpPr/>
          <p:nvPr/>
        </p:nvSpPr>
        <p:spPr>
          <a:xfrm>
            <a:off x="557784" y="2926080"/>
            <a:ext cx="28895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Hopper/Ada/Blackwell transformer stack with TE or equivalent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3520440" y="2880360"/>
            <a:ext cx="25420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37" name="Text 34"/>
          <p:cNvSpPr/>
          <p:nvPr/>
        </p:nvSpPr>
        <p:spPr>
          <a:xfrm>
            <a:off x="3575304" y="2926080"/>
            <a:ext cx="24323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FP8 for selected blocks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080760" y="2880360"/>
            <a:ext cx="501091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39" name="Text 36"/>
          <p:cNvSpPr/>
          <p:nvPr/>
        </p:nvSpPr>
        <p:spPr>
          <a:xfrm>
            <a:off x="6135624" y="2926080"/>
            <a:ext cx="490118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extra throughput/memory gains, but requires scaling recipes and robust kernels.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502920" y="3310128"/>
            <a:ext cx="29992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41" name="Text 38"/>
          <p:cNvSpPr/>
          <p:nvPr/>
        </p:nvSpPr>
        <p:spPr>
          <a:xfrm>
            <a:off x="557784" y="3355848"/>
            <a:ext cx="28895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unexplained NaNs or convergence loss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3520440" y="3310128"/>
            <a:ext cx="25420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43" name="Text 40"/>
          <p:cNvSpPr/>
          <p:nvPr/>
        </p:nvSpPr>
        <p:spPr>
          <a:xfrm>
            <a:off x="3575304" y="3355848"/>
            <a:ext cx="24323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Temporarily increase precision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6080760" y="3310128"/>
            <a:ext cx="501091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45" name="Text 42"/>
          <p:cNvSpPr/>
          <p:nvPr/>
        </p:nvSpPr>
        <p:spPr>
          <a:xfrm>
            <a:off x="6135624" y="3355848"/>
            <a:ext cx="490118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higher-precision run is the fastest way to separate model bugs from precision bugs.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640080" y="461772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EAF3EC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47" name="Text 44"/>
          <p:cNvSpPr/>
          <p:nvPr/>
        </p:nvSpPr>
        <p:spPr>
          <a:xfrm>
            <a:off x="749808" y="4709160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decision rule</a:t>
            </a: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749808" y="4928616"/>
            <a:ext cx="316382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to BF16 if supported. Reach for FP16 when compatibility demands it. Reach for FP8 only with a validated library stack.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4407408" y="461772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7E9EA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50" name="Text 47"/>
          <p:cNvSpPr/>
          <p:nvPr/>
        </p:nvSpPr>
        <p:spPr>
          <a:xfrm>
            <a:off x="4517136" y="4709160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rule</a:t>
            </a: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4517136" y="4928616"/>
            <a:ext cx="307238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run fails only in one precision mode, compare gradients, skipped steps, and loss curves against a safer baseline.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8046720" y="4617720"/>
            <a:ext cx="3154680" cy="9144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53" name="Text 50"/>
          <p:cNvSpPr/>
          <p:nvPr/>
        </p:nvSpPr>
        <p:spPr>
          <a:xfrm>
            <a:off x="8156448" y="4709160"/>
            <a:ext cx="2935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rule</a:t>
            </a: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8156448" y="4928616"/>
            <a:ext cx="293522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choice is tied to hardware, kernels, communication strategy, optimizer, and checkpointing—not just the math alone.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386B"/>
          </a:solidFill>
          <a:ln w="12700">
            <a:solidFill>
              <a:srgbClr val="1438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793992"/>
            <a:ext cx="12191695" cy="36576"/>
          </a:xfrm>
          <a:prstGeom prst="rect">
            <a:avLst/>
          </a:prstGeom>
          <a:solidFill>
            <a:srgbClr val="14386B"/>
          </a:solidFill>
          <a:ln w="12700">
            <a:solidFill>
              <a:srgbClr val="1438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work_template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5845" y="109728"/>
            <a:ext cx="344342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" y="6647688"/>
            <a:ext cx="54864" cy="54864"/>
          </a:xfrm>
          <a:prstGeom prst="ellipse">
            <a:avLst/>
          </a:prstGeom>
          <a:solidFill>
            <a:srgbClr val="1D4C84"/>
          </a:solidFill>
          <a:ln w="12700">
            <a:solidFill>
              <a:srgbClr val="1D4C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173736" y="6647688"/>
            <a:ext cx="54864" cy="54864"/>
          </a:xfrm>
          <a:prstGeom prst="ellipse">
            <a:avLst/>
          </a:prstGeom>
          <a:solidFill>
            <a:srgbClr val="D93A3A"/>
          </a:solidFill>
          <a:ln w="12700">
            <a:solidFill>
              <a:srgbClr val="D93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256032" y="6647688"/>
            <a:ext cx="54864" cy="54864"/>
          </a:xfrm>
          <a:prstGeom prst="ellipse">
            <a:avLst/>
          </a:prstGeom>
          <a:solidFill>
            <a:srgbClr val="D5BA33"/>
          </a:solidFill>
          <a:ln w="12700">
            <a:solidFill>
              <a:srgbClr val="D5BA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56032" y="2011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389890" y="823976"/>
            <a:ext cx="7315200" cy="5064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precision works because different operations tolerate different numerical error. The win comes from matching precision to the operation, not from blindly casting everything downward.</a:t>
            </a:r>
            <a:endParaRPr lang="en-US" dirty="0"/>
          </a:p>
          <a:p>
            <a:pPr marL="152400" indent="-152400">
              <a:buSzPct val="100000"/>
              <a:buChar char="•"/>
            </a:pPr>
            <a:r>
              <a:rPr lang="en-US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BF16 is usually the safest 16-bit training default on modern accelerators because it preserves FP32-like dynamic range. FP16 remains useful, but often needs loss scaling and closer monitoring.</a:t>
            </a:r>
            <a:endParaRPr lang="en-US" dirty="0"/>
          </a:p>
          <a:p>
            <a:pPr marL="152400" indent="-152400">
              <a:buSzPct val="100000"/>
              <a:buChar char="•"/>
            </a:pPr>
            <a:r>
              <a:rPr lang="en-US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stability depends on stable formulations: subtract-max softmax, log_softmax, logsumexp, higher-precision reductions, and sensible attention/norm kernels.</a:t>
            </a:r>
            <a:endParaRPr lang="en-US" dirty="0"/>
          </a:p>
          <a:p>
            <a:pPr marL="152400" indent="-152400">
              <a:buSzPct val="100000"/>
              <a:buChar char="•"/>
            </a:pPr>
            <a:r>
              <a:rPr lang="en-US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Autocast, GradScaler, and current library kernels already encode many best practices—but custom code can easily bypass them.</a:t>
            </a:r>
            <a:endParaRPr lang="en-US" dirty="0"/>
          </a:p>
          <a:p>
            <a:pPr marL="152400" indent="-152400">
              <a:buSzPct val="100000"/>
              <a:buChar char="•"/>
            </a:pPr>
            <a:r>
              <a:rPr lang="en-US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segment: memory optimization and throughput. Once precision is under control, the next question is how to fit larger batches and longer contexts into the same hardware budget.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8275320" y="141732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3EFCF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2" name="Text 9"/>
          <p:cNvSpPr/>
          <p:nvPr/>
        </p:nvSpPr>
        <p:spPr>
          <a:xfrm>
            <a:off x="8385048" y="1508760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ladder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385048" y="1728216"/>
            <a:ext cx="252374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FP32 → BF16/FP16 → FP8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downward only when the stack is ready.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275320" y="269748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7E9EA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5" name="Text 12"/>
          <p:cNvSpPr/>
          <p:nvPr/>
        </p:nvSpPr>
        <p:spPr>
          <a:xfrm>
            <a:off x="8385048" y="2788920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 ladder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385048" y="3008376"/>
            <a:ext cx="252374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NaNs / infs / silent drift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debugging from the most sensitive reductions.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275320" y="397764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EAF1FB"/>
          </a:solidFill>
          <a:ln w="889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8" name="Text 15"/>
          <p:cNvSpPr/>
          <p:nvPr/>
        </p:nvSpPr>
        <p:spPr>
          <a:xfrm>
            <a:off x="8385048" y="4069080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ladder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385048" y="4288536"/>
            <a:ext cx="252374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speed, memory, and convergence together. Optimizing only one is not enough.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>
            <a:extLst>
              <a:ext uri="{FF2B5EF4-FFF2-40B4-BE49-F238E27FC236}">
                <a16:creationId xmlns:a16="http://schemas.microsoft.com/office/drawing/2014/main" id="{8E4785E4-0C78-7845-99EF-96A8E763BC00}"/>
              </a:ext>
            </a:extLst>
          </p:cNvPr>
          <p:cNvSpPr/>
          <p:nvPr/>
        </p:nvSpPr>
        <p:spPr>
          <a:xfrm>
            <a:off x="5012831" y="2539340"/>
            <a:ext cx="487680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086289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6974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3775</Words>
  <Application>Microsoft Office PowerPoint</Application>
  <PresentationFormat>Widescreen</PresentationFormat>
  <Paragraphs>359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AAAI Week 6 Segment 2 - Mixed Precision Training and Numerical Stability</dc:title>
  <dc:subject>AAAI Week 6 Segment 2</dc:subject>
  <dc:creator>OpenAI</dc:creator>
  <cp:lastModifiedBy>satyajit das</cp:lastModifiedBy>
  <cp:revision>27</cp:revision>
  <dcterms:created xsi:type="dcterms:W3CDTF">2026-04-06T16:41:42Z</dcterms:created>
  <dcterms:modified xsi:type="dcterms:W3CDTF">2026-04-07T06:46:20Z</dcterms:modified>
</cp:coreProperties>
</file>