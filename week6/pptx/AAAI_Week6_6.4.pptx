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9"/>
  </p:notesMasterIdLst>
  <p:sldIdLst>
    <p:sldId id="256" r:id="rId2"/>
    <p:sldId id="257" r:id="rId3"/>
    <p:sldId id="259" r:id="rId4"/>
    <p:sldId id="260" r:id="rId5"/>
    <p:sldId id="261" r:id="rId6"/>
    <p:sldId id="268" r:id="rId7"/>
    <p:sldId id="274" r:id="rId8"/>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75" d="100"/>
          <a:sy n="75" d="100"/>
        </p:scale>
        <p:origin x="303" y="2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69952035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User-provided course proposal and slide template for course/week structure.
- No external visual assets used beyond the user-provided IIT Guwahati template logos.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User-provided course proposal and weekly plan (Week 6 lecture sequence).
- Hugging Face TRL quickstart: https://huggingface.co/docs/trl/quickstart
- Hugging Face PEFT docs: https://huggingface.co/docs/peft/conceptual_guides/adapter</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Gururangan et al., 2020: https://arxiv.org/abs/2004.10964
- TRL quickstart and trainers: https://huggingface.co/docs/trl/quickstart
- OpenAI fine-tuning API reference (method types supervised / dpo / reinforcement): https://platform.openai.com/docs/api-reference/fine-tuning/checkpoint-object</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Gururangan et al., 2020: https://arxiv.org/abs/2004.10964
- LoRA paper (motivation for adaptation cost vs full fine-tuning): https://arxiv.org/abs/2106.09685
- PEFT docs: https://huggingface.co/docs/peft/conceptual_guides/adapter</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TRL quickstart: https://huggingface.co/docs/trl/quickstart
- TRL SFTTrainer: https://huggingface.co/docs/trl/sft_trainer
- TRL DPOTrainer: https://huggingface.co/docs/trl/dpo_trainer
- PEFT adapter guide: https://huggingface.co/docs/peft/conceptual_guides/adapter</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Gururangan et al. 2020: https://arxiv.org/abs/2004.10964
- TRL quickstart and trainers: https://huggingface.co/docs/trl/quickstart
- PEFT adapter guide: https://huggingface.co/docs/peft/conceptual_guides/adapter
- QLoRA paper: https://arxiv.org/abs/2305.14314</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IITG">
    <p:bg>
      <p:bgPr>
        <a:solidFill>
          <a:srgbClr val="F4F1EB"/>
        </a:solidFill>
        <a:effectLst/>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4F1EB"/>
        </a:solidFill>
        <a:effectLst/>
      </p:bgPr>
    </p:bg>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143B6B"/>
          </a:solidFill>
          <a:ln w="12700">
            <a:solidFill>
              <a:srgbClr val="143B6B">
                <a:alpha val="0"/>
              </a:srgbClr>
            </a:solidFill>
            <a:prstDash val="solid"/>
          </a:ln>
        </p:spPr>
        <p:txBody>
          <a:bodyPr/>
          <a:lstStyle/>
          <a:p>
            <a:endParaRPr lang="en-IN"/>
          </a:p>
        </p:txBody>
      </p:sp>
      <p:sp>
        <p:nvSpPr>
          <p:cNvPr id="3" name="Shape 1"/>
          <p:cNvSpPr/>
          <p:nvPr/>
        </p:nvSpPr>
        <p:spPr>
          <a:xfrm>
            <a:off x="0" y="6812280"/>
            <a:ext cx="12191695" cy="45720"/>
          </a:xfrm>
          <a:prstGeom prst="rect">
            <a:avLst/>
          </a:prstGeom>
          <a:solidFill>
            <a:srgbClr val="143B6B"/>
          </a:solidFill>
          <a:ln w="12700">
            <a:solidFill>
              <a:srgbClr val="143B6B">
                <a:alpha val="0"/>
              </a:srgbClr>
            </a:solidFill>
            <a:prstDash val="solid"/>
          </a:ln>
        </p:spPr>
        <p:txBody>
          <a:bodyPr/>
          <a:lstStyle/>
          <a:p>
            <a:endParaRPr lang="en-IN"/>
          </a:p>
        </p:txBody>
      </p:sp>
      <p:pic>
        <p:nvPicPr>
          <p:cNvPr id="4" name="Image 0" descr="/mnt/data/user-5OMUinS2DRg9DUHxNmCh75Xw/0de77cf23bb846ec834131240e4472fb/mnt/data/template_extract/image1.png"/>
          <p:cNvPicPr>
            <a:picLocks noChangeAspect="1"/>
          </p:cNvPicPr>
          <p:nvPr/>
        </p:nvPicPr>
        <p:blipFill>
          <a:blip r:embed="rId3"/>
          <a:stretch>
            <a:fillRect/>
          </a:stretch>
        </p:blipFill>
        <p:spPr>
          <a:xfrm>
            <a:off x="731520" y="320040"/>
            <a:ext cx="1463040" cy="1463040"/>
          </a:xfrm>
          <a:prstGeom prst="rect">
            <a:avLst/>
          </a:prstGeom>
        </p:spPr>
      </p:pic>
      <p:sp>
        <p:nvSpPr>
          <p:cNvPr id="5" name="Text 2"/>
          <p:cNvSpPr/>
          <p:nvPr/>
        </p:nvSpPr>
        <p:spPr>
          <a:xfrm>
            <a:off x="411480" y="1828800"/>
            <a:ext cx="4297680" cy="320040"/>
          </a:xfrm>
          <a:prstGeom prst="rect">
            <a:avLst/>
          </a:prstGeom>
          <a:noFill/>
          <a:ln/>
        </p:spPr>
        <p:txBody>
          <a:bodyPr wrap="square" lIns="0" tIns="0" rIns="0" bIns="0" rtlCol="0" anchor="ctr"/>
          <a:lstStyle/>
          <a:p>
            <a:pPr marL="0" indent="0" algn="l">
              <a:buNone/>
            </a:pPr>
            <a:r>
              <a:rPr lang="en-US" sz="1050" dirty="0">
                <a:solidFill>
                  <a:srgbClr val="1E1E1E"/>
                </a:solidFill>
              </a:rPr>
              <a:t>Bachelor of Science (Honours) in Data Science and Artificial Intelligence</a:t>
            </a:r>
            <a:endParaRPr lang="en-US" sz="1050" dirty="0"/>
          </a:p>
        </p:txBody>
      </p:sp>
      <p:sp>
        <p:nvSpPr>
          <p:cNvPr id="6" name="Text 3"/>
          <p:cNvSpPr/>
          <p:nvPr/>
        </p:nvSpPr>
        <p:spPr>
          <a:xfrm>
            <a:off x="411480" y="2148840"/>
            <a:ext cx="4389120" cy="292608"/>
          </a:xfrm>
          <a:prstGeom prst="rect">
            <a:avLst/>
          </a:prstGeom>
          <a:noFill/>
          <a:ln/>
        </p:spPr>
        <p:txBody>
          <a:bodyPr wrap="square" lIns="0" tIns="0" rIns="0" bIns="0" rtlCol="0" anchor="ctr"/>
          <a:lstStyle/>
          <a:p>
            <a:pPr marL="0" indent="0">
              <a:buNone/>
            </a:pPr>
            <a:r>
              <a:rPr lang="en-US" sz="1070" dirty="0">
                <a:solidFill>
                  <a:srgbClr val="1E1E1E"/>
                </a:solidFill>
              </a:rPr>
              <a:t>Applied Accelerated Artificial Intelligence</a:t>
            </a:r>
            <a:endParaRPr lang="en-US" sz="1070" dirty="0"/>
          </a:p>
        </p:txBody>
      </p:sp>
      <p:sp>
        <p:nvSpPr>
          <p:cNvPr id="7" name="Text 4"/>
          <p:cNvSpPr/>
          <p:nvPr/>
        </p:nvSpPr>
        <p:spPr>
          <a:xfrm>
            <a:off x="5074920" y="1993392"/>
            <a:ext cx="2011680" cy="201168"/>
          </a:xfrm>
          <a:prstGeom prst="rect">
            <a:avLst/>
          </a:prstGeom>
          <a:noFill/>
          <a:ln/>
        </p:spPr>
        <p:txBody>
          <a:bodyPr wrap="square" lIns="0" tIns="0" rIns="0" bIns="0" rtlCol="0" anchor="ctr"/>
          <a:lstStyle/>
          <a:p>
            <a:pPr marL="0" indent="0" algn="ctr">
              <a:buNone/>
            </a:pPr>
            <a:r>
              <a:rPr lang="en-US" sz="930" dirty="0">
                <a:solidFill>
                  <a:srgbClr val="5F6368"/>
                </a:solidFill>
              </a:rPr>
              <a:t>Week 06 · Segment 4</a:t>
            </a:r>
            <a:endParaRPr lang="en-US" sz="930" dirty="0"/>
          </a:p>
        </p:txBody>
      </p:sp>
      <p:sp>
        <p:nvSpPr>
          <p:cNvPr id="8" name="Text 5"/>
          <p:cNvSpPr/>
          <p:nvPr/>
        </p:nvSpPr>
        <p:spPr>
          <a:xfrm>
            <a:off x="3520440" y="2606040"/>
            <a:ext cx="5212080" cy="457200"/>
          </a:xfrm>
          <a:prstGeom prst="rect">
            <a:avLst/>
          </a:prstGeom>
          <a:noFill/>
          <a:ln/>
        </p:spPr>
        <p:txBody>
          <a:bodyPr wrap="square" lIns="0" tIns="0" rIns="0" bIns="0" rtlCol="0" anchor="ctr"/>
          <a:lstStyle/>
          <a:p>
            <a:pPr marL="0" indent="0" algn="ctr">
              <a:buNone/>
            </a:pPr>
            <a:r>
              <a:rPr lang="en-US" sz="2200" b="1" dirty="0">
                <a:solidFill>
                  <a:srgbClr val="1E1E1E"/>
                </a:solidFill>
              </a:rPr>
              <a:t>Transfer Learning for Large Models</a:t>
            </a:r>
            <a:endParaRPr lang="en-US" sz="2200" dirty="0"/>
          </a:p>
        </p:txBody>
      </p:sp>
      <p:sp>
        <p:nvSpPr>
          <p:cNvPr id="9" name="Text 6"/>
          <p:cNvSpPr/>
          <p:nvPr/>
        </p:nvSpPr>
        <p:spPr>
          <a:xfrm>
            <a:off x="2926080" y="3154680"/>
            <a:ext cx="6400800" cy="310896"/>
          </a:xfrm>
          <a:prstGeom prst="rect">
            <a:avLst/>
          </a:prstGeom>
          <a:noFill/>
          <a:ln/>
        </p:spPr>
        <p:txBody>
          <a:bodyPr wrap="square" lIns="0" tIns="0" rIns="0" bIns="0" rtlCol="0" anchor="ctr"/>
          <a:lstStyle/>
          <a:p>
            <a:pPr marL="0" indent="0" algn="ctr">
              <a:buNone/>
            </a:pPr>
            <a:r>
              <a:rPr lang="en-US" sz="1020" i="1" dirty="0">
                <a:solidFill>
                  <a:srgbClr val="143B6B"/>
                </a:solidFill>
              </a:rPr>
              <a:t>How we adapt pretrained LLMs to new domains, tasks, and policies without retraining from scratch</a:t>
            </a:r>
            <a:endParaRPr lang="en-US" sz="1020" dirty="0"/>
          </a:p>
        </p:txBody>
      </p:sp>
      <p:sp>
        <p:nvSpPr>
          <p:cNvPr id="10" name="Text 7"/>
          <p:cNvSpPr/>
          <p:nvPr/>
        </p:nvSpPr>
        <p:spPr>
          <a:xfrm>
            <a:off x="4069080" y="3977640"/>
            <a:ext cx="3840480" cy="777240"/>
          </a:xfrm>
          <a:prstGeom prst="rect">
            <a:avLst/>
          </a:prstGeom>
          <a:noFill/>
          <a:ln/>
        </p:spPr>
        <p:txBody>
          <a:bodyPr wrap="square" lIns="0" tIns="0" rIns="0" bIns="0" rtlCol="0" anchor="ctr"/>
          <a:lstStyle/>
          <a:p>
            <a:pPr marL="0" indent="0" algn="ctr">
              <a:buNone/>
            </a:pPr>
            <a:r>
              <a:rPr lang="en-US" sz="880" dirty="0">
                <a:solidFill>
                  <a:srgbClr val="5F6368"/>
                </a:solidFill>
              </a:rPr>
              <a:t>Instructor: Dr. Satyajit Das</a:t>
            </a:r>
            <a:endParaRPr lang="en-US" sz="880" dirty="0"/>
          </a:p>
          <a:p>
            <a:pPr marL="0" indent="0" algn="ctr">
              <a:buNone/>
            </a:pPr>
            <a:r>
              <a:rPr lang="en-US" sz="880" dirty="0">
                <a:solidFill>
                  <a:srgbClr val="5F6368"/>
                </a:solidFill>
              </a:rPr>
              <a:t>Department of Computer Science and Engineering</a:t>
            </a:r>
            <a:endParaRPr lang="en-US" sz="880" dirty="0"/>
          </a:p>
          <a:p>
            <a:pPr marL="0" indent="0" algn="ctr">
              <a:buNone/>
            </a:pPr>
            <a:r>
              <a:rPr lang="en-US" sz="880" dirty="0">
                <a:solidFill>
                  <a:srgbClr val="5F6368"/>
                </a:solidFill>
              </a:rPr>
              <a:t>Indian Institute of Technology Guwahati, Assam, India</a:t>
            </a:r>
            <a:endParaRPr lang="en-US" sz="880" dirty="0"/>
          </a:p>
        </p:txBody>
      </p:sp>
      <p:sp>
        <p:nvSpPr>
          <p:cNvPr id="11" name="Shape 8"/>
          <p:cNvSpPr/>
          <p:nvPr/>
        </p:nvSpPr>
        <p:spPr>
          <a:xfrm>
            <a:off x="1463040" y="5074920"/>
            <a:ext cx="9235440" cy="0"/>
          </a:xfrm>
          <a:prstGeom prst="line">
            <a:avLst/>
          </a:prstGeom>
          <a:noFill/>
          <a:ln w="12700">
            <a:solidFill>
              <a:srgbClr val="CBC7C1"/>
            </a:solidFill>
            <a:prstDash val="solid"/>
          </a:ln>
        </p:spPr>
        <p:txBody>
          <a:bodyPr/>
          <a:lstStyle/>
          <a:p>
            <a:endParaRPr lang="en-IN"/>
          </a:p>
        </p:txBody>
      </p:sp>
      <p:sp>
        <p:nvSpPr>
          <p:cNvPr id="12" name="Text 9"/>
          <p:cNvSpPr/>
          <p:nvPr/>
        </p:nvSpPr>
        <p:spPr>
          <a:xfrm>
            <a:off x="3017520" y="5285232"/>
            <a:ext cx="6217920" cy="164592"/>
          </a:xfrm>
          <a:prstGeom prst="rect">
            <a:avLst/>
          </a:prstGeom>
          <a:noFill/>
          <a:ln/>
        </p:spPr>
        <p:txBody>
          <a:bodyPr wrap="square" lIns="0" tIns="0" rIns="0" bIns="0" rtlCol="0" anchor="ctr"/>
          <a:lstStyle/>
          <a:p>
            <a:pPr marL="0" indent="0" algn="ctr">
              <a:buNone/>
            </a:pPr>
            <a:r>
              <a:rPr lang="en-US" sz="830" dirty="0">
                <a:solidFill>
                  <a:srgbClr val="5F6368"/>
                </a:solidFill>
              </a:rPr>
              <a:t>Segment 4 connects transfer-learning theory to practical post-training routes used in modern LLM systems.</a:t>
            </a:r>
            <a:endParaRPr lang="en-US" sz="830" dirty="0"/>
          </a:p>
        </p:txBody>
      </p:sp>
      <p:pic>
        <p:nvPicPr>
          <p:cNvPr id="13" name="Image 1" descr="/mnt/data/user-5OMUinS2DRg9DUHxNmCh75Xw/0de77cf23bb846ec834131240e4472fb/mnt/data/template_extract/image2.png"/>
          <p:cNvPicPr>
            <a:picLocks noChangeAspect="1"/>
          </p:cNvPicPr>
          <p:nvPr/>
        </p:nvPicPr>
        <p:blipFill>
          <a:blip r:embed="rId4"/>
          <a:stretch>
            <a:fillRect/>
          </a:stretch>
        </p:blipFill>
        <p:spPr>
          <a:xfrm>
            <a:off x="11658600" y="64008"/>
            <a:ext cx="256032" cy="256032"/>
          </a:xfrm>
          <a:prstGeom prst="rect">
            <a:avLst/>
          </a:prstGeom>
        </p:spPr>
      </p:pic>
      <p:sp>
        <p:nvSpPr>
          <p:cNvPr id="14" name="Shape 10"/>
          <p:cNvSpPr/>
          <p:nvPr/>
        </p:nvSpPr>
        <p:spPr>
          <a:xfrm>
            <a:off x="91440" y="6556248"/>
            <a:ext cx="45720" cy="45720"/>
          </a:xfrm>
          <a:prstGeom prst="ellipse">
            <a:avLst/>
          </a:prstGeom>
          <a:solidFill>
            <a:srgbClr val="E6534E"/>
          </a:solidFill>
          <a:ln w="12700">
            <a:solidFill>
              <a:srgbClr val="E6534E">
                <a:alpha val="0"/>
              </a:srgbClr>
            </a:solidFill>
            <a:prstDash val="solid"/>
          </a:ln>
        </p:spPr>
        <p:txBody>
          <a:bodyPr/>
          <a:lstStyle/>
          <a:p>
            <a:endParaRPr lang="en-IN"/>
          </a:p>
        </p:txBody>
      </p:sp>
      <p:sp>
        <p:nvSpPr>
          <p:cNvPr id="15" name="Shape 11"/>
          <p:cNvSpPr/>
          <p:nvPr/>
        </p:nvSpPr>
        <p:spPr>
          <a:xfrm>
            <a:off x="164592" y="6556248"/>
            <a:ext cx="45720" cy="45720"/>
          </a:xfrm>
          <a:prstGeom prst="ellipse">
            <a:avLst/>
          </a:prstGeom>
          <a:solidFill>
            <a:srgbClr val="D6C84C"/>
          </a:solidFill>
          <a:ln w="12700">
            <a:solidFill>
              <a:srgbClr val="D6C84C">
                <a:alpha val="0"/>
              </a:srgbClr>
            </a:solidFill>
            <a:prstDash val="solid"/>
          </a:ln>
        </p:spPr>
        <p:txBody>
          <a:bodyPr/>
          <a:lstStyle/>
          <a:p>
            <a:endParaRPr lang="en-IN"/>
          </a:p>
        </p:txBody>
      </p:sp>
      <p:sp>
        <p:nvSpPr>
          <p:cNvPr id="16" name="Shape 12"/>
          <p:cNvSpPr/>
          <p:nvPr/>
        </p:nvSpPr>
        <p:spPr>
          <a:xfrm>
            <a:off x="237744" y="6556248"/>
            <a:ext cx="45720" cy="45720"/>
          </a:xfrm>
          <a:prstGeom prst="ellipse">
            <a:avLst/>
          </a:prstGeom>
          <a:solidFill>
            <a:srgbClr val="143B6B"/>
          </a:solidFill>
          <a:ln w="12700">
            <a:solidFill>
              <a:srgbClr val="143B6B">
                <a:alpha val="0"/>
              </a:srgbClr>
            </a:solidFill>
            <a:prstDash val="solid"/>
          </a:ln>
        </p:spPr>
        <p:txBody>
          <a:bodyPr/>
          <a:lstStyle/>
          <a:p>
            <a:endParaRPr lang="en-IN"/>
          </a:p>
        </p:txBody>
      </p:sp>
      <p:sp>
        <p:nvSpPr>
          <p:cNvPr id="17" name="Text 13"/>
          <p:cNvSpPr/>
          <p:nvPr/>
        </p:nvSpPr>
        <p:spPr>
          <a:xfrm>
            <a:off x="11841480" y="6528816"/>
            <a:ext cx="164592" cy="109728"/>
          </a:xfrm>
          <a:prstGeom prst="rect">
            <a:avLst/>
          </a:prstGeom>
          <a:noFill/>
          <a:ln/>
        </p:spPr>
        <p:txBody>
          <a:bodyPr wrap="square" lIns="0" tIns="0" rIns="0" bIns="0" rtlCol="0" anchor="ctr"/>
          <a:lstStyle/>
          <a:p>
            <a:pPr marL="0" indent="0" algn="r">
              <a:buNone/>
            </a:pPr>
            <a:r>
              <a:rPr lang="en-US" sz="800" dirty="0">
                <a:solidFill>
                  <a:srgbClr val="7A7A7A"/>
                </a:solidFill>
                <a:latin typeface="Arial" pitchFamily="34" charset="0"/>
                <a:ea typeface="Arial" pitchFamily="34" charset="-122"/>
                <a:cs typeface="Arial" pitchFamily="34" charset="-120"/>
              </a:rPr>
              <a:t>1</a:t>
            </a:r>
            <a:endParaRPr lang="en-US" sz="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1EB"/>
        </a:solidFill>
        <a:effectLst/>
      </p:bgPr>
    </p:bg>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143B6B"/>
          </a:solidFill>
          <a:ln w="12700">
            <a:solidFill>
              <a:srgbClr val="143B6B">
                <a:alpha val="0"/>
              </a:srgbClr>
            </a:solidFill>
            <a:prstDash val="solid"/>
          </a:ln>
        </p:spPr>
        <p:txBody>
          <a:bodyPr/>
          <a:lstStyle/>
          <a:p>
            <a:endParaRPr lang="en-IN"/>
          </a:p>
        </p:txBody>
      </p:sp>
      <p:sp>
        <p:nvSpPr>
          <p:cNvPr id="3" name="Shape 1"/>
          <p:cNvSpPr/>
          <p:nvPr/>
        </p:nvSpPr>
        <p:spPr>
          <a:xfrm>
            <a:off x="0" y="6812280"/>
            <a:ext cx="12191695" cy="45720"/>
          </a:xfrm>
          <a:prstGeom prst="rect">
            <a:avLst/>
          </a:prstGeom>
          <a:solidFill>
            <a:srgbClr val="143B6B"/>
          </a:solidFill>
          <a:ln w="12700">
            <a:solidFill>
              <a:srgbClr val="143B6B">
                <a:alpha val="0"/>
              </a:srgbClr>
            </a:solidFill>
            <a:prstDash val="solid"/>
          </a:ln>
        </p:spPr>
        <p:txBody>
          <a:bodyPr/>
          <a:lstStyle/>
          <a:p>
            <a:endParaRPr lang="en-IN"/>
          </a:p>
        </p:txBody>
      </p:sp>
      <p:sp>
        <p:nvSpPr>
          <p:cNvPr id="4" name="Text 2"/>
          <p:cNvSpPr/>
          <p:nvPr/>
        </p:nvSpPr>
        <p:spPr>
          <a:xfrm>
            <a:off x="201168" y="118872"/>
            <a:ext cx="8961120" cy="219456"/>
          </a:xfrm>
          <a:prstGeom prst="rect">
            <a:avLst/>
          </a:prstGeom>
          <a:noFill/>
          <a:ln/>
        </p:spPr>
        <p:txBody>
          <a:bodyPr wrap="square" lIns="0" tIns="0" rIns="0" bIns="0" rtlCol="0" anchor="ctr"/>
          <a:lstStyle/>
          <a:p>
            <a:pPr marL="0" indent="0">
              <a:buNone/>
            </a:pPr>
            <a:r>
              <a:rPr lang="en-US" sz="1700" b="1" dirty="0">
                <a:solidFill>
                  <a:srgbClr val="1E1E1E"/>
                </a:solidFill>
                <a:latin typeface="Arial" pitchFamily="34" charset="0"/>
                <a:ea typeface="Arial" pitchFamily="34" charset="-122"/>
                <a:cs typeface="Arial" pitchFamily="34" charset="-120"/>
              </a:rPr>
              <a:t>Week 06: Training Optimization and LLM Fine-tuning</a:t>
            </a:r>
            <a:endParaRPr lang="en-US" sz="1700" dirty="0"/>
          </a:p>
        </p:txBody>
      </p:sp>
      <p:pic>
        <p:nvPicPr>
          <p:cNvPr id="5" name="Image 0" descr="/mnt/data/user-5OMUinS2DRg9DUHxNmCh75Xw/0de77cf23bb846ec834131240e4472fb/mnt/data/template_extract/image2.png"/>
          <p:cNvPicPr>
            <a:picLocks noChangeAspect="1"/>
          </p:cNvPicPr>
          <p:nvPr/>
        </p:nvPicPr>
        <p:blipFill>
          <a:blip r:embed="rId3"/>
          <a:stretch>
            <a:fillRect/>
          </a:stretch>
        </p:blipFill>
        <p:spPr>
          <a:xfrm>
            <a:off x="11686032" y="73152"/>
            <a:ext cx="256032" cy="256032"/>
          </a:xfrm>
          <a:prstGeom prst="rect">
            <a:avLst/>
          </a:prstGeom>
        </p:spPr>
      </p:pic>
      <p:sp>
        <p:nvSpPr>
          <p:cNvPr id="6" name="Shape 3"/>
          <p:cNvSpPr/>
          <p:nvPr/>
        </p:nvSpPr>
        <p:spPr>
          <a:xfrm>
            <a:off x="91440" y="6556248"/>
            <a:ext cx="45720" cy="45720"/>
          </a:xfrm>
          <a:prstGeom prst="ellipse">
            <a:avLst/>
          </a:prstGeom>
          <a:solidFill>
            <a:srgbClr val="E6534E"/>
          </a:solidFill>
          <a:ln w="12700">
            <a:solidFill>
              <a:srgbClr val="E6534E">
                <a:alpha val="0"/>
              </a:srgbClr>
            </a:solidFill>
            <a:prstDash val="solid"/>
          </a:ln>
        </p:spPr>
        <p:txBody>
          <a:bodyPr/>
          <a:lstStyle/>
          <a:p>
            <a:endParaRPr lang="en-IN"/>
          </a:p>
        </p:txBody>
      </p:sp>
      <p:sp>
        <p:nvSpPr>
          <p:cNvPr id="7" name="Shape 4"/>
          <p:cNvSpPr/>
          <p:nvPr/>
        </p:nvSpPr>
        <p:spPr>
          <a:xfrm>
            <a:off x="164592" y="6556248"/>
            <a:ext cx="45720" cy="45720"/>
          </a:xfrm>
          <a:prstGeom prst="ellipse">
            <a:avLst/>
          </a:prstGeom>
          <a:solidFill>
            <a:srgbClr val="D6C84C"/>
          </a:solidFill>
          <a:ln w="12700">
            <a:solidFill>
              <a:srgbClr val="D6C84C">
                <a:alpha val="0"/>
              </a:srgbClr>
            </a:solidFill>
            <a:prstDash val="solid"/>
          </a:ln>
        </p:spPr>
        <p:txBody>
          <a:bodyPr/>
          <a:lstStyle/>
          <a:p>
            <a:endParaRPr lang="en-IN"/>
          </a:p>
        </p:txBody>
      </p:sp>
      <p:sp>
        <p:nvSpPr>
          <p:cNvPr id="8" name="Shape 5"/>
          <p:cNvSpPr/>
          <p:nvPr/>
        </p:nvSpPr>
        <p:spPr>
          <a:xfrm>
            <a:off x="237744" y="6556248"/>
            <a:ext cx="45720" cy="45720"/>
          </a:xfrm>
          <a:prstGeom prst="ellipse">
            <a:avLst/>
          </a:prstGeom>
          <a:solidFill>
            <a:srgbClr val="143B6B"/>
          </a:solidFill>
          <a:ln w="12700">
            <a:solidFill>
              <a:srgbClr val="143B6B">
                <a:alpha val="0"/>
              </a:srgbClr>
            </a:solidFill>
            <a:prstDash val="solid"/>
          </a:ln>
        </p:spPr>
        <p:txBody>
          <a:bodyPr/>
          <a:lstStyle/>
          <a:p>
            <a:endParaRPr lang="en-IN"/>
          </a:p>
        </p:txBody>
      </p:sp>
      <p:sp>
        <p:nvSpPr>
          <p:cNvPr id="9" name="Text 6"/>
          <p:cNvSpPr/>
          <p:nvPr/>
        </p:nvSpPr>
        <p:spPr>
          <a:xfrm>
            <a:off x="11841480" y="6528816"/>
            <a:ext cx="164592" cy="109728"/>
          </a:xfrm>
          <a:prstGeom prst="rect">
            <a:avLst/>
          </a:prstGeom>
          <a:noFill/>
          <a:ln/>
        </p:spPr>
        <p:txBody>
          <a:bodyPr wrap="square" lIns="0" tIns="0" rIns="0" bIns="0" rtlCol="0" anchor="ctr"/>
          <a:lstStyle/>
          <a:p>
            <a:pPr marL="0" indent="0" algn="r">
              <a:buNone/>
            </a:pPr>
            <a:r>
              <a:rPr lang="en-US" sz="800" dirty="0">
                <a:solidFill>
                  <a:srgbClr val="7A7A7A"/>
                </a:solidFill>
                <a:latin typeface="Arial" pitchFamily="34" charset="0"/>
                <a:ea typeface="Arial" pitchFamily="34" charset="-122"/>
                <a:cs typeface="Arial" pitchFamily="34" charset="-120"/>
              </a:rPr>
              <a:t>2</a:t>
            </a:r>
            <a:endParaRPr lang="en-US" sz="800" dirty="0"/>
          </a:p>
        </p:txBody>
      </p:sp>
      <p:sp>
        <p:nvSpPr>
          <p:cNvPr id="10" name="Text 7"/>
          <p:cNvSpPr/>
          <p:nvPr/>
        </p:nvSpPr>
        <p:spPr>
          <a:xfrm>
            <a:off x="8641080" y="512064"/>
            <a:ext cx="3063240" cy="493776"/>
          </a:xfrm>
          <a:prstGeom prst="rect">
            <a:avLst/>
          </a:prstGeom>
          <a:noFill/>
          <a:ln/>
        </p:spPr>
        <p:txBody>
          <a:bodyPr wrap="square" lIns="0" tIns="0" rIns="0" bIns="0" rtlCol="0" anchor="ctr"/>
          <a:lstStyle/>
          <a:p>
            <a:pPr marL="0" indent="0" algn="l">
              <a:buNone/>
            </a:pPr>
            <a:r>
              <a:rPr lang="en-US" sz="920" dirty="0">
                <a:solidFill>
                  <a:srgbClr val="5F6368"/>
                </a:solidFill>
              </a:rPr>
              <a:t>Today’s focus: transfer learning for large models — how we adapt pretrained LLMs efficiently without starting again from scratch.</a:t>
            </a:r>
            <a:endParaRPr lang="en-US" sz="920" dirty="0"/>
          </a:p>
        </p:txBody>
      </p:sp>
      <p:sp>
        <p:nvSpPr>
          <p:cNvPr id="11" name="Shape 8"/>
          <p:cNvSpPr/>
          <p:nvPr/>
        </p:nvSpPr>
        <p:spPr>
          <a:xfrm>
            <a:off x="411480" y="1170432"/>
            <a:ext cx="4526280" cy="310896"/>
          </a:xfrm>
          <a:prstGeom prst="roundRect">
            <a:avLst/>
          </a:prstGeom>
          <a:solidFill>
            <a:srgbClr val="F7F7F5"/>
          </a:solidFill>
          <a:ln w="11430">
            <a:solidFill>
              <a:srgbClr val="BAC1CC"/>
            </a:solidFill>
            <a:prstDash val="solid"/>
          </a:ln>
        </p:spPr>
        <p:txBody>
          <a:bodyPr/>
          <a:lstStyle/>
          <a:p>
            <a:endParaRPr lang="en-IN" sz="2800"/>
          </a:p>
        </p:txBody>
      </p:sp>
      <p:sp>
        <p:nvSpPr>
          <p:cNvPr id="12" name="Text 9"/>
          <p:cNvSpPr/>
          <p:nvPr/>
        </p:nvSpPr>
        <p:spPr>
          <a:xfrm>
            <a:off x="512064" y="1252728"/>
            <a:ext cx="685800" cy="109728"/>
          </a:xfrm>
          <a:prstGeom prst="rect">
            <a:avLst/>
          </a:prstGeom>
          <a:noFill/>
          <a:ln/>
        </p:spPr>
        <p:txBody>
          <a:bodyPr wrap="square" lIns="0" tIns="0" rIns="0" bIns="0" rtlCol="0" anchor="ctr"/>
          <a:lstStyle/>
          <a:p>
            <a:pPr marL="0" indent="0">
              <a:buNone/>
            </a:pPr>
            <a:r>
              <a:rPr lang="en-US" sz="1050" b="1" dirty="0">
                <a:solidFill>
                  <a:srgbClr val="1E1E1E"/>
                </a:solidFill>
              </a:rPr>
              <a:t>Segment 1</a:t>
            </a:r>
            <a:endParaRPr lang="en-US" sz="1050" dirty="0"/>
          </a:p>
        </p:txBody>
      </p:sp>
      <p:sp>
        <p:nvSpPr>
          <p:cNvPr id="13" name="Text 10"/>
          <p:cNvSpPr/>
          <p:nvPr/>
        </p:nvSpPr>
        <p:spPr>
          <a:xfrm>
            <a:off x="1261872" y="1252728"/>
            <a:ext cx="3520440" cy="109728"/>
          </a:xfrm>
          <a:prstGeom prst="rect">
            <a:avLst/>
          </a:prstGeom>
          <a:noFill/>
          <a:ln/>
        </p:spPr>
        <p:txBody>
          <a:bodyPr wrap="square" lIns="0" tIns="0" rIns="0" bIns="0" rtlCol="0" anchor="ctr"/>
          <a:lstStyle/>
          <a:p>
            <a:pPr marL="0" indent="0">
              <a:buNone/>
            </a:pPr>
            <a:r>
              <a:rPr lang="en-US" sz="1050" dirty="0">
                <a:solidFill>
                  <a:srgbClr val="1E1E1E"/>
                </a:solidFill>
              </a:rPr>
              <a:t>LLM foundations and terminology</a:t>
            </a:r>
            <a:endParaRPr lang="en-US" sz="1050" dirty="0"/>
          </a:p>
        </p:txBody>
      </p:sp>
      <p:sp>
        <p:nvSpPr>
          <p:cNvPr id="14" name="Shape 11"/>
          <p:cNvSpPr/>
          <p:nvPr/>
        </p:nvSpPr>
        <p:spPr>
          <a:xfrm>
            <a:off x="411480" y="1655064"/>
            <a:ext cx="4526280" cy="310896"/>
          </a:xfrm>
          <a:prstGeom prst="roundRect">
            <a:avLst/>
          </a:prstGeom>
          <a:solidFill>
            <a:srgbClr val="F7F7F5"/>
          </a:solidFill>
          <a:ln w="11430">
            <a:solidFill>
              <a:srgbClr val="BAC1CC"/>
            </a:solidFill>
            <a:prstDash val="solid"/>
          </a:ln>
        </p:spPr>
        <p:txBody>
          <a:bodyPr/>
          <a:lstStyle/>
          <a:p>
            <a:endParaRPr lang="en-IN" sz="2800"/>
          </a:p>
        </p:txBody>
      </p:sp>
      <p:sp>
        <p:nvSpPr>
          <p:cNvPr id="15" name="Text 12"/>
          <p:cNvSpPr/>
          <p:nvPr/>
        </p:nvSpPr>
        <p:spPr>
          <a:xfrm>
            <a:off x="512064" y="1737360"/>
            <a:ext cx="685800" cy="109728"/>
          </a:xfrm>
          <a:prstGeom prst="rect">
            <a:avLst/>
          </a:prstGeom>
          <a:noFill/>
          <a:ln/>
        </p:spPr>
        <p:txBody>
          <a:bodyPr wrap="square" lIns="0" tIns="0" rIns="0" bIns="0" rtlCol="0" anchor="ctr"/>
          <a:lstStyle/>
          <a:p>
            <a:pPr marL="0" indent="0">
              <a:buNone/>
            </a:pPr>
            <a:r>
              <a:rPr lang="en-US" sz="1050" b="1" dirty="0">
                <a:solidFill>
                  <a:srgbClr val="1E1E1E"/>
                </a:solidFill>
              </a:rPr>
              <a:t>Segment 2</a:t>
            </a:r>
            <a:endParaRPr lang="en-US" sz="1050" dirty="0"/>
          </a:p>
        </p:txBody>
      </p:sp>
      <p:sp>
        <p:nvSpPr>
          <p:cNvPr id="16" name="Text 13"/>
          <p:cNvSpPr/>
          <p:nvPr/>
        </p:nvSpPr>
        <p:spPr>
          <a:xfrm>
            <a:off x="1261872" y="1737360"/>
            <a:ext cx="3520440" cy="109728"/>
          </a:xfrm>
          <a:prstGeom prst="rect">
            <a:avLst/>
          </a:prstGeom>
          <a:noFill/>
          <a:ln/>
        </p:spPr>
        <p:txBody>
          <a:bodyPr wrap="square" lIns="0" tIns="0" rIns="0" bIns="0" rtlCol="0" anchor="ctr"/>
          <a:lstStyle/>
          <a:p>
            <a:pPr marL="0" indent="0">
              <a:buNone/>
            </a:pPr>
            <a:r>
              <a:rPr lang="en-US" sz="1050" dirty="0">
                <a:solidFill>
                  <a:srgbClr val="1E1E1E"/>
                </a:solidFill>
              </a:rPr>
              <a:t>Mixed precision and numerical stability</a:t>
            </a:r>
            <a:endParaRPr lang="en-US" sz="1050" dirty="0"/>
          </a:p>
        </p:txBody>
      </p:sp>
      <p:sp>
        <p:nvSpPr>
          <p:cNvPr id="17" name="Shape 14"/>
          <p:cNvSpPr/>
          <p:nvPr/>
        </p:nvSpPr>
        <p:spPr>
          <a:xfrm>
            <a:off x="411480" y="2139696"/>
            <a:ext cx="4526280" cy="310896"/>
          </a:xfrm>
          <a:prstGeom prst="roundRect">
            <a:avLst/>
          </a:prstGeom>
          <a:solidFill>
            <a:srgbClr val="F7F7F5"/>
          </a:solidFill>
          <a:ln w="11430">
            <a:solidFill>
              <a:srgbClr val="BAC1CC"/>
            </a:solidFill>
            <a:prstDash val="solid"/>
          </a:ln>
        </p:spPr>
        <p:txBody>
          <a:bodyPr/>
          <a:lstStyle/>
          <a:p>
            <a:endParaRPr lang="en-IN" sz="2800"/>
          </a:p>
        </p:txBody>
      </p:sp>
      <p:sp>
        <p:nvSpPr>
          <p:cNvPr id="18" name="Text 15"/>
          <p:cNvSpPr/>
          <p:nvPr/>
        </p:nvSpPr>
        <p:spPr>
          <a:xfrm>
            <a:off x="512064" y="2221992"/>
            <a:ext cx="685800" cy="109728"/>
          </a:xfrm>
          <a:prstGeom prst="rect">
            <a:avLst/>
          </a:prstGeom>
          <a:noFill/>
          <a:ln/>
        </p:spPr>
        <p:txBody>
          <a:bodyPr wrap="square" lIns="0" tIns="0" rIns="0" bIns="0" rtlCol="0" anchor="ctr"/>
          <a:lstStyle/>
          <a:p>
            <a:pPr marL="0" indent="0">
              <a:buNone/>
            </a:pPr>
            <a:r>
              <a:rPr lang="en-US" sz="1050" b="1" dirty="0">
                <a:solidFill>
                  <a:srgbClr val="1E1E1E"/>
                </a:solidFill>
              </a:rPr>
              <a:t>Segment 3</a:t>
            </a:r>
            <a:endParaRPr lang="en-US" sz="1050" dirty="0"/>
          </a:p>
        </p:txBody>
      </p:sp>
      <p:sp>
        <p:nvSpPr>
          <p:cNvPr id="19" name="Text 16"/>
          <p:cNvSpPr/>
          <p:nvPr/>
        </p:nvSpPr>
        <p:spPr>
          <a:xfrm>
            <a:off x="1261872" y="2221992"/>
            <a:ext cx="3520440" cy="109728"/>
          </a:xfrm>
          <a:prstGeom prst="rect">
            <a:avLst/>
          </a:prstGeom>
          <a:noFill/>
          <a:ln/>
        </p:spPr>
        <p:txBody>
          <a:bodyPr wrap="square" lIns="0" tIns="0" rIns="0" bIns="0" rtlCol="0" anchor="ctr"/>
          <a:lstStyle/>
          <a:p>
            <a:pPr marL="0" indent="0">
              <a:buNone/>
            </a:pPr>
            <a:r>
              <a:rPr lang="en-US" sz="1050" dirty="0">
                <a:solidFill>
                  <a:srgbClr val="1E1E1E"/>
                </a:solidFill>
              </a:rPr>
              <a:t>Memory optimization and throughput</a:t>
            </a:r>
            <a:endParaRPr lang="en-US" sz="1050" dirty="0"/>
          </a:p>
        </p:txBody>
      </p:sp>
      <p:sp>
        <p:nvSpPr>
          <p:cNvPr id="20" name="Shape 17"/>
          <p:cNvSpPr/>
          <p:nvPr/>
        </p:nvSpPr>
        <p:spPr>
          <a:xfrm>
            <a:off x="411480" y="2624328"/>
            <a:ext cx="4526280" cy="310896"/>
          </a:xfrm>
          <a:prstGeom prst="roundRect">
            <a:avLst/>
          </a:prstGeom>
          <a:solidFill>
            <a:srgbClr val="E7EEF8"/>
          </a:solidFill>
          <a:ln w="16510">
            <a:solidFill>
              <a:srgbClr val="143B6B"/>
            </a:solidFill>
            <a:prstDash val="solid"/>
          </a:ln>
        </p:spPr>
        <p:txBody>
          <a:bodyPr/>
          <a:lstStyle/>
          <a:p>
            <a:endParaRPr lang="en-IN" sz="2800"/>
          </a:p>
        </p:txBody>
      </p:sp>
      <p:sp>
        <p:nvSpPr>
          <p:cNvPr id="21" name="Text 18"/>
          <p:cNvSpPr/>
          <p:nvPr/>
        </p:nvSpPr>
        <p:spPr>
          <a:xfrm>
            <a:off x="512064" y="2706624"/>
            <a:ext cx="685800" cy="109728"/>
          </a:xfrm>
          <a:prstGeom prst="rect">
            <a:avLst/>
          </a:prstGeom>
          <a:noFill/>
          <a:ln/>
        </p:spPr>
        <p:txBody>
          <a:bodyPr wrap="square" lIns="0" tIns="0" rIns="0" bIns="0" rtlCol="0" anchor="ctr"/>
          <a:lstStyle/>
          <a:p>
            <a:pPr marL="0" indent="0">
              <a:buNone/>
            </a:pPr>
            <a:r>
              <a:rPr lang="en-US" sz="1050" b="1" dirty="0">
                <a:solidFill>
                  <a:srgbClr val="1E1E1E"/>
                </a:solidFill>
              </a:rPr>
              <a:t>Segment 4</a:t>
            </a:r>
            <a:endParaRPr lang="en-US" sz="1050" dirty="0"/>
          </a:p>
        </p:txBody>
      </p:sp>
      <p:sp>
        <p:nvSpPr>
          <p:cNvPr id="22" name="Text 19"/>
          <p:cNvSpPr/>
          <p:nvPr/>
        </p:nvSpPr>
        <p:spPr>
          <a:xfrm>
            <a:off x="1261872" y="2706624"/>
            <a:ext cx="3520440" cy="109728"/>
          </a:xfrm>
          <a:prstGeom prst="rect">
            <a:avLst/>
          </a:prstGeom>
          <a:noFill/>
          <a:ln/>
        </p:spPr>
        <p:txBody>
          <a:bodyPr wrap="square" lIns="0" tIns="0" rIns="0" bIns="0" rtlCol="0" anchor="ctr"/>
          <a:lstStyle/>
          <a:p>
            <a:pPr marL="0" indent="0">
              <a:buNone/>
            </a:pPr>
            <a:r>
              <a:rPr lang="en-US" sz="1050" dirty="0">
                <a:solidFill>
                  <a:srgbClr val="1E1E1E"/>
                </a:solidFill>
              </a:rPr>
              <a:t>Transfer learning for large models</a:t>
            </a:r>
            <a:endParaRPr lang="en-US" sz="1050" dirty="0"/>
          </a:p>
        </p:txBody>
      </p:sp>
      <p:sp>
        <p:nvSpPr>
          <p:cNvPr id="23" name="Shape 20"/>
          <p:cNvSpPr/>
          <p:nvPr/>
        </p:nvSpPr>
        <p:spPr>
          <a:xfrm>
            <a:off x="411480" y="3108960"/>
            <a:ext cx="4526280" cy="310896"/>
          </a:xfrm>
          <a:prstGeom prst="roundRect">
            <a:avLst/>
          </a:prstGeom>
          <a:solidFill>
            <a:srgbClr val="F7F7F5"/>
          </a:solidFill>
          <a:ln w="11430">
            <a:solidFill>
              <a:srgbClr val="BAC1CC"/>
            </a:solidFill>
            <a:prstDash val="solid"/>
          </a:ln>
        </p:spPr>
        <p:txBody>
          <a:bodyPr/>
          <a:lstStyle/>
          <a:p>
            <a:endParaRPr lang="en-IN" sz="2800"/>
          </a:p>
        </p:txBody>
      </p:sp>
      <p:sp>
        <p:nvSpPr>
          <p:cNvPr id="24" name="Text 21"/>
          <p:cNvSpPr/>
          <p:nvPr/>
        </p:nvSpPr>
        <p:spPr>
          <a:xfrm>
            <a:off x="512064" y="3191256"/>
            <a:ext cx="685800" cy="109728"/>
          </a:xfrm>
          <a:prstGeom prst="rect">
            <a:avLst/>
          </a:prstGeom>
          <a:noFill/>
          <a:ln/>
        </p:spPr>
        <p:txBody>
          <a:bodyPr wrap="square" lIns="0" tIns="0" rIns="0" bIns="0" rtlCol="0" anchor="ctr"/>
          <a:lstStyle/>
          <a:p>
            <a:pPr marL="0" indent="0">
              <a:buNone/>
            </a:pPr>
            <a:r>
              <a:rPr lang="en-US" sz="1050" b="1" dirty="0">
                <a:solidFill>
                  <a:srgbClr val="1E1E1E"/>
                </a:solidFill>
              </a:rPr>
              <a:t>Segment 5</a:t>
            </a:r>
            <a:endParaRPr lang="en-US" sz="1050" dirty="0"/>
          </a:p>
        </p:txBody>
      </p:sp>
      <p:sp>
        <p:nvSpPr>
          <p:cNvPr id="25" name="Text 22"/>
          <p:cNvSpPr/>
          <p:nvPr/>
        </p:nvSpPr>
        <p:spPr>
          <a:xfrm>
            <a:off x="1261872" y="3191256"/>
            <a:ext cx="3520440" cy="109728"/>
          </a:xfrm>
          <a:prstGeom prst="rect">
            <a:avLst/>
          </a:prstGeom>
          <a:noFill/>
          <a:ln/>
        </p:spPr>
        <p:txBody>
          <a:bodyPr wrap="square" lIns="0" tIns="0" rIns="0" bIns="0" rtlCol="0" anchor="ctr"/>
          <a:lstStyle/>
          <a:p>
            <a:pPr marL="0" indent="0">
              <a:buNone/>
            </a:pPr>
            <a:r>
              <a:rPr lang="en-US" sz="1050" dirty="0">
                <a:solidFill>
                  <a:srgbClr val="1E1E1E"/>
                </a:solidFill>
              </a:rPr>
              <a:t>Efficient LLM fine-tuning using PEFT and LoRA</a:t>
            </a:r>
            <a:endParaRPr lang="en-US" sz="1050" dirty="0"/>
          </a:p>
        </p:txBody>
      </p:sp>
      <p:sp>
        <p:nvSpPr>
          <p:cNvPr id="27" name="Text 24"/>
          <p:cNvSpPr/>
          <p:nvPr/>
        </p:nvSpPr>
        <p:spPr>
          <a:xfrm>
            <a:off x="5733288" y="1197864"/>
            <a:ext cx="1609344" cy="182880"/>
          </a:xfrm>
          <a:prstGeom prst="rect">
            <a:avLst/>
          </a:prstGeom>
          <a:noFill/>
          <a:ln/>
        </p:spPr>
        <p:txBody>
          <a:bodyPr wrap="square" lIns="0" tIns="0" rIns="0" bIns="0" rtlCol="0" anchor="ctr"/>
          <a:lstStyle/>
          <a:p>
            <a:pPr marL="0" indent="0">
              <a:buNone/>
            </a:pPr>
            <a:r>
              <a:rPr lang="en-US" sz="1200" b="1" dirty="0">
                <a:solidFill>
                  <a:srgbClr val="1E1E1E"/>
                </a:solidFill>
                <a:latin typeface="Arial" pitchFamily="34" charset="0"/>
                <a:ea typeface="Arial" pitchFamily="34" charset="-122"/>
                <a:cs typeface="Arial" pitchFamily="34" charset="-120"/>
              </a:rPr>
              <a:t>Why now?</a:t>
            </a:r>
            <a:endParaRPr lang="en-US" sz="1200" dirty="0"/>
          </a:p>
        </p:txBody>
      </p:sp>
      <p:sp>
        <p:nvSpPr>
          <p:cNvPr id="28" name="Text 25"/>
          <p:cNvSpPr/>
          <p:nvPr/>
        </p:nvSpPr>
        <p:spPr>
          <a:xfrm>
            <a:off x="5733288" y="1490472"/>
            <a:ext cx="1609344" cy="457200"/>
          </a:xfrm>
          <a:prstGeom prst="rect">
            <a:avLst/>
          </a:prstGeom>
          <a:noFill/>
          <a:ln/>
        </p:spPr>
        <p:txBody>
          <a:bodyPr wrap="square" lIns="0" tIns="0" rIns="0" bIns="0" rtlCol="0" anchor="t">
            <a:noAutofit/>
          </a:bodyPr>
          <a:lstStyle/>
          <a:p>
            <a:pPr marL="0" indent="0">
              <a:buNone/>
            </a:pPr>
            <a:r>
              <a:rPr lang="en-US" sz="1050" dirty="0">
                <a:solidFill>
                  <a:srgbClr val="1E1E1E"/>
                </a:solidFill>
                <a:latin typeface="Arial" pitchFamily="34" charset="0"/>
                <a:ea typeface="Arial" pitchFamily="34" charset="-122"/>
                <a:cs typeface="Arial" pitchFamily="34" charset="-120"/>
              </a:rPr>
              <a:t>Base models already contain broad language competence. The real engineering question is how to retarget that competence to a domain, task, or product requirement using far less data and compute than training from scratch.</a:t>
            </a:r>
            <a:endParaRPr lang="en-US" sz="1050" dirty="0"/>
          </a:p>
        </p:txBody>
      </p:sp>
      <p:sp>
        <p:nvSpPr>
          <p:cNvPr id="30" name="Text 27"/>
          <p:cNvSpPr/>
          <p:nvPr/>
        </p:nvSpPr>
        <p:spPr>
          <a:xfrm>
            <a:off x="7717536" y="1197864"/>
            <a:ext cx="1609344" cy="182880"/>
          </a:xfrm>
          <a:prstGeom prst="rect">
            <a:avLst/>
          </a:prstGeom>
          <a:noFill/>
          <a:ln/>
        </p:spPr>
        <p:txBody>
          <a:bodyPr wrap="square" lIns="0" tIns="0" rIns="0" bIns="0" rtlCol="0" anchor="ctr"/>
          <a:lstStyle/>
          <a:p>
            <a:pPr marL="0" indent="0">
              <a:buNone/>
            </a:pPr>
            <a:r>
              <a:rPr lang="en-US" sz="1200" b="1" dirty="0">
                <a:solidFill>
                  <a:srgbClr val="1E1E1E"/>
                </a:solidFill>
                <a:latin typeface="Arial" pitchFamily="34" charset="0"/>
                <a:ea typeface="Arial" pitchFamily="34" charset="-122"/>
                <a:cs typeface="Arial" pitchFamily="34" charset="-120"/>
              </a:rPr>
              <a:t>Key idea</a:t>
            </a:r>
            <a:endParaRPr lang="en-US" sz="1200" dirty="0"/>
          </a:p>
        </p:txBody>
      </p:sp>
      <p:sp>
        <p:nvSpPr>
          <p:cNvPr id="31" name="Text 28"/>
          <p:cNvSpPr/>
          <p:nvPr/>
        </p:nvSpPr>
        <p:spPr>
          <a:xfrm>
            <a:off x="7717536" y="1490472"/>
            <a:ext cx="1609344" cy="457200"/>
          </a:xfrm>
          <a:prstGeom prst="rect">
            <a:avLst/>
          </a:prstGeom>
          <a:noFill/>
          <a:ln/>
        </p:spPr>
        <p:txBody>
          <a:bodyPr wrap="square" lIns="0" tIns="0" rIns="0" bIns="0" rtlCol="0" anchor="t">
            <a:noAutofit/>
          </a:bodyPr>
          <a:lstStyle/>
          <a:p>
            <a:pPr marL="0" indent="0">
              <a:buNone/>
            </a:pPr>
            <a:r>
              <a:rPr lang="en-US" sz="1050" dirty="0">
                <a:solidFill>
                  <a:srgbClr val="1E1E1E"/>
                </a:solidFill>
                <a:latin typeface="Arial" pitchFamily="34" charset="0"/>
                <a:ea typeface="Arial" pitchFamily="34" charset="-122"/>
                <a:cs typeface="Arial" pitchFamily="34" charset="-120"/>
              </a:rPr>
              <a:t>Transfer learning is multi-stage: change the data distribution first, then the task behavior, then the preference or policy layer. Each stage answers a different problem.</a:t>
            </a:r>
            <a:endParaRPr lang="en-US" sz="1050" dirty="0"/>
          </a:p>
        </p:txBody>
      </p:sp>
      <p:sp>
        <p:nvSpPr>
          <p:cNvPr id="33" name="Text 30"/>
          <p:cNvSpPr/>
          <p:nvPr/>
        </p:nvSpPr>
        <p:spPr>
          <a:xfrm>
            <a:off x="9701784" y="1197864"/>
            <a:ext cx="1700784" cy="182880"/>
          </a:xfrm>
          <a:prstGeom prst="rect">
            <a:avLst/>
          </a:prstGeom>
          <a:noFill/>
          <a:ln/>
        </p:spPr>
        <p:txBody>
          <a:bodyPr wrap="square" lIns="0" tIns="0" rIns="0" bIns="0" rtlCol="0" anchor="ctr"/>
          <a:lstStyle/>
          <a:p>
            <a:pPr marL="0" indent="0">
              <a:buNone/>
            </a:pPr>
            <a:r>
              <a:rPr lang="en-US" sz="1200" b="1" dirty="0">
                <a:solidFill>
                  <a:srgbClr val="1E1E1E"/>
                </a:solidFill>
                <a:latin typeface="Arial" pitchFamily="34" charset="0"/>
                <a:ea typeface="Arial" pitchFamily="34" charset="-122"/>
                <a:cs typeface="Arial" pitchFamily="34" charset="-120"/>
              </a:rPr>
              <a:t>Outcome</a:t>
            </a:r>
            <a:endParaRPr lang="en-US" sz="1200" dirty="0"/>
          </a:p>
        </p:txBody>
      </p:sp>
      <p:sp>
        <p:nvSpPr>
          <p:cNvPr id="34" name="Text 31"/>
          <p:cNvSpPr/>
          <p:nvPr/>
        </p:nvSpPr>
        <p:spPr>
          <a:xfrm>
            <a:off x="9701784" y="1490472"/>
            <a:ext cx="1700784" cy="457200"/>
          </a:xfrm>
          <a:prstGeom prst="rect">
            <a:avLst/>
          </a:prstGeom>
          <a:noFill/>
          <a:ln/>
        </p:spPr>
        <p:txBody>
          <a:bodyPr wrap="square" lIns="0" tIns="0" rIns="0" bIns="0" rtlCol="0" anchor="t">
            <a:noAutofit/>
          </a:bodyPr>
          <a:lstStyle/>
          <a:p>
            <a:pPr marL="0" indent="0">
              <a:buNone/>
            </a:pPr>
            <a:r>
              <a:rPr lang="en-US" sz="1050" dirty="0">
                <a:solidFill>
                  <a:srgbClr val="1E1E1E"/>
                </a:solidFill>
                <a:latin typeface="Arial" pitchFamily="34" charset="0"/>
                <a:ea typeface="Arial" pitchFamily="34" charset="-122"/>
                <a:cs typeface="Arial" pitchFamily="34" charset="-120"/>
              </a:rPr>
              <a:t>By the end of this segment, students should know when to use prompting, RAG, continued pretraining, SFT, or preference tuning—and what each one costs.</a:t>
            </a:r>
            <a:endParaRPr lang="en-US" sz="1050" dirty="0"/>
          </a:p>
        </p:txBody>
      </p:sp>
      <p:sp>
        <p:nvSpPr>
          <p:cNvPr id="38" name="Shape 35"/>
          <p:cNvSpPr/>
          <p:nvPr/>
        </p:nvSpPr>
        <p:spPr>
          <a:xfrm>
            <a:off x="365760" y="4526280"/>
            <a:ext cx="11430000" cy="0"/>
          </a:xfrm>
          <a:prstGeom prst="line">
            <a:avLst/>
          </a:prstGeom>
          <a:noFill/>
          <a:ln w="12700">
            <a:solidFill>
              <a:srgbClr val="D6D1CB"/>
            </a:solidFill>
            <a:prstDash val="solid"/>
          </a:ln>
        </p:spPr>
        <p:txBody>
          <a:bodyPr/>
          <a:lstStyle/>
          <a:p>
            <a:endParaRPr lang="en-IN"/>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4">
    <p:bg>
      <p:bgPr>
        <a:solidFill>
          <a:srgbClr val="F4F1EB"/>
        </a:solidFill>
        <a:effectLst/>
      </p:bgPr>
    </p:bg>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143B6B"/>
          </a:solidFill>
          <a:ln w="12700">
            <a:solidFill>
              <a:srgbClr val="143B6B">
                <a:alpha val="0"/>
              </a:srgbClr>
            </a:solidFill>
            <a:prstDash val="solid"/>
          </a:ln>
        </p:spPr>
        <p:txBody>
          <a:bodyPr/>
          <a:lstStyle/>
          <a:p>
            <a:endParaRPr lang="en-IN"/>
          </a:p>
        </p:txBody>
      </p:sp>
      <p:sp>
        <p:nvSpPr>
          <p:cNvPr id="3" name="Shape 1"/>
          <p:cNvSpPr/>
          <p:nvPr/>
        </p:nvSpPr>
        <p:spPr>
          <a:xfrm>
            <a:off x="0" y="6812280"/>
            <a:ext cx="12191695" cy="45720"/>
          </a:xfrm>
          <a:prstGeom prst="rect">
            <a:avLst/>
          </a:prstGeom>
          <a:solidFill>
            <a:srgbClr val="143B6B"/>
          </a:solidFill>
          <a:ln w="12700">
            <a:solidFill>
              <a:srgbClr val="143B6B">
                <a:alpha val="0"/>
              </a:srgbClr>
            </a:solidFill>
            <a:prstDash val="solid"/>
          </a:ln>
        </p:spPr>
        <p:txBody>
          <a:bodyPr/>
          <a:lstStyle/>
          <a:p>
            <a:endParaRPr lang="en-IN"/>
          </a:p>
        </p:txBody>
      </p:sp>
      <p:sp>
        <p:nvSpPr>
          <p:cNvPr id="4" name="Text 2"/>
          <p:cNvSpPr/>
          <p:nvPr/>
        </p:nvSpPr>
        <p:spPr>
          <a:xfrm>
            <a:off x="201168" y="118872"/>
            <a:ext cx="8961120" cy="219456"/>
          </a:xfrm>
          <a:prstGeom prst="rect">
            <a:avLst/>
          </a:prstGeom>
          <a:noFill/>
          <a:ln/>
        </p:spPr>
        <p:txBody>
          <a:bodyPr wrap="square" lIns="0" tIns="0" rIns="0" bIns="0" rtlCol="0" anchor="ctr"/>
          <a:lstStyle/>
          <a:p>
            <a:pPr marL="0" indent="0">
              <a:buNone/>
            </a:pPr>
            <a:r>
              <a:rPr lang="en-US" sz="1700" b="1" dirty="0">
                <a:solidFill>
                  <a:srgbClr val="1E1E1E"/>
                </a:solidFill>
                <a:latin typeface="Arial" pitchFamily="34" charset="0"/>
                <a:ea typeface="Arial" pitchFamily="34" charset="-122"/>
                <a:cs typeface="Arial" pitchFamily="34" charset="-120"/>
              </a:rPr>
              <a:t>What transfer learning means in the LLM lifecycle</a:t>
            </a:r>
            <a:endParaRPr lang="en-US" sz="1700" dirty="0"/>
          </a:p>
        </p:txBody>
      </p:sp>
      <p:pic>
        <p:nvPicPr>
          <p:cNvPr id="5" name="Image 0" descr="/mnt/data/user-5OMUinS2DRg9DUHxNmCh75Xw/0de77cf23bb846ec834131240e4472fb/mnt/data/template_extract/image2.png"/>
          <p:cNvPicPr>
            <a:picLocks noChangeAspect="1"/>
          </p:cNvPicPr>
          <p:nvPr/>
        </p:nvPicPr>
        <p:blipFill>
          <a:blip r:embed="rId3"/>
          <a:stretch>
            <a:fillRect/>
          </a:stretch>
        </p:blipFill>
        <p:spPr>
          <a:xfrm>
            <a:off x="11686032" y="73152"/>
            <a:ext cx="256032" cy="256032"/>
          </a:xfrm>
          <a:prstGeom prst="rect">
            <a:avLst/>
          </a:prstGeom>
        </p:spPr>
      </p:pic>
      <p:sp>
        <p:nvSpPr>
          <p:cNvPr id="6" name="Shape 3"/>
          <p:cNvSpPr/>
          <p:nvPr/>
        </p:nvSpPr>
        <p:spPr>
          <a:xfrm>
            <a:off x="91440" y="6556248"/>
            <a:ext cx="45720" cy="45720"/>
          </a:xfrm>
          <a:prstGeom prst="ellipse">
            <a:avLst/>
          </a:prstGeom>
          <a:solidFill>
            <a:srgbClr val="E6534E"/>
          </a:solidFill>
          <a:ln w="12700">
            <a:solidFill>
              <a:srgbClr val="E6534E">
                <a:alpha val="0"/>
              </a:srgbClr>
            </a:solidFill>
            <a:prstDash val="solid"/>
          </a:ln>
        </p:spPr>
        <p:txBody>
          <a:bodyPr/>
          <a:lstStyle/>
          <a:p>
            <a:endParaRPr lang="en-IN"/>
          </a:p>
        </p:txBody>
      </p:sp>
      <p:sp>
        <p:nvSpPr>
          <p:cNvPr id="7" name="Shape 4"/>
          <p:cNvSpPr/>
          <p:nvPr/>
        </p:nvSpPr>
        <p:spPr>
          <a:xfrm>
            <a:off x="164592" y="6556248"/>
            <a:ext cx="45720" cy="45720"/>
          </a:xfrm>
          <a:prstGeom prst="ellipse">
            <a:avLst/>
          </a:prstGeom>
          <a:solidFill>
            <a:srgbClr val="D6C84C"/>
          </a:solidFill>
          <a:ln w="12700">
            <a:solidFill>
              <a:srgbClr val="D6C84C">
                <a:alpha val="0"/>
              </a:srgbClr>
            </a:solidFill>
            <a:prstDash val="solid"/>
          </a:ln>
        </p:spPr>
        <p:txBody>
          <a:bodyPr/>
          <a:lstStyle/>
          <a:p>
            <a:endParaRPr lang="en-IN"/>
          </a:p>
        </p:txBody>
      </p:sp>
      <p:sp>
        <p:nvSpPr>
          <p:cNvPr id="8" name="Shape 5"/>
          <p:cNvSpPr/>
          <p:nvPr/>
        </p:nvSpPr>
        <p:spPr>
          <a:xfrm>
            <a:off x="237744" y="6556248"/>
            <a:ext cx="45720" cy="45720"/>
          </a:xfrm>
          <a:prstGeom prst="ellipse">
            <a:avLst/>
          </a:prstGeom>
          <a:solidFill>
            <a:srgbClr val="143B6B"/>
          </a:solidFill>
          <a:ln w="12700">
            <a:solidFill>
              <a:srgbClr val="143B6B">
                <a:alpha val="0"/>
              </a:srgbClr>
            </a:solidFill>
            <a:prstDash val="solid"/>
          </a:ln>
        </p:spPr>
        <p:txBody>
          <a:bodyPr/>
          <a:lstStyle/>
          <a:p>
            <a:endParaRPr lang="en-IN"/>
          </a:p>
        </p:txBody>
      </p:sp>
      <p:sp>
        <p:nvSpPr>
          <p:cNvPr id="9" name="Text 6"/>
          <p:cNvSpPr/>
          <p:nvPr/>
        </p:nvSpPr>
        <p:spPr>
          <a:xfrm>
            <a:off x="11841480" y="6528816"/>
            <a:ext cx="164592" cy="109728"/>
          </a:xfrm>
          <a:prstGeom prst="rect">
            <a:avLst/>
          </a:prstGeom>
          <a:noFill/>
          <a:ln/>
        </p:spPr>
        <p:txBody>
          <a:bodyPr wrap="square" lIns="0" tIns="0" rIns="0" bIns="0" rtlCol="0" anchor="ctr"/>
          <a:lstStyle/>
          <a:p>
            <a:pPr marL="0" indent="0" algn="r">
              <a:buNone/>
            </a:pPr>
            <a:r>
              <a:rPr lang="en-US" sz="800" dirty="0">
                <a:solidFill>
                  <a:srgbClr val="7A7A7A"/>
                </a:solidFill>
                <a:latin typeface="Arial" pitchFamily="34" charset="0"/>
                <a:ea typeface="Arial" pitchFamily="34" charset="-122"/>
                <a:cs typeface="Arial" pitchFamily="34" charset="-120"/>
              </a:rPr>
              <a:t>4</a:t>
            </a:r>
            <a:endParaRPr lang="en-US" sz="800" dirty="0"/>
          </a:p>
        </p:txBody>
      </p:sp>
      <p:sp>
        <p:nvSpPr>
          <p:cNvPr id="11" name="Text 8"/>
          <p:cNvSpPr/>
          <p:nvPr/>
        </p:nvSpPr>
        <p:spPr>
          <a:xfrm>
            <a:off x="475488" y="1499616"/>
            <a:ext cx="1609344" cy="182880"/>
          </a:xfrm>
          <a:prstGeom prst="rect">
            <a:avLst/>
          </a:prstGeom>
          <a:noFill/>
          <a:ln/>
        </p:spPr>
        <p:txBody>
          <a:bodyPr wrap="square" lIns="0" tIns="0" rIns="0" bIns="0" rtlCol="0" anchor="ctr"/>
          <a:lstStyle/>
          <a:p>
            <a:pPr marL="0" indent="0">
              <a:buNone/>
            </a:pPr>
            <a:r>
              <a:rPr lang="en-US" sz="1400" b="1" dirty="0">
                <a:solidFill>
                  <a:srgbClr val="1E1E1E"/>
                </a:solidFill>
                <a:latin typeface="Arial" pitchFamily="34" charset="0"/>
                <a:ea typeface="Arial" pitchFamily="34" charset="-122"/>
                <a:cs typeface="Arial" pitchFamily="34" charset="-120"/>
              </a:rPr>
              <a:t>Base pretraining</a:t>
            </a:r>
            <a:endParaRPr lang="en-US" sz="1400" dirty="0"/>
          </a:p>
        </p:txBody>
      </p:sp>
      <p:sp>
        <p:nvSpPr>
          <p:cNvPr id="12" name="Text 9"/>
          <p:cNvSpPr/>
          <p:nvPr/>
        </p:nvSpPr>
        <p:spPr>
          <a:xfrm>
            <a:off x="475488" y="1792224"/>
            <a:ext cx="1609344" cy="914400"/>
          </a:xfrm>
          <a:prstGeom prst="rect">
            <a:avLst/>
          </a:prstGeom>
          <a:noFill/>
          <a:ln/>
        </p:spPr>
        <p:txBody>
          <a:bodyPr wrap="square" lIns="0" tIns="0" rIns="0" bIns="0" rtlCol="0" anchor="t">
            <a:normAutofit/>
          </a:bodyPr>
          <a:lstStyle/>
          <a:p>
            <a:pPr marL="0" indent="0">
              <a:buNone/>
            </a:pPr>
            <a:r>
              <a:rPr lang="en-US" sz="1050" dirty="0">
                <a:solidFill>
                  <a:srgbClr val="1E1E1E"/>
                </a:solidFill>
                <a:latin typeface="Arial" pitchFamily="34" charset="0"/>
                <a:ea typeface="Arial" pitchFamily="34" charset="-122"/>
                <a:cs typeface="Arial" pitchFamily="34" charset="-120"/>
              </a:rPr>
              <a:t>Massive next-token training on broad web / code / book mixtures. Produces a capable but generic base model.</a:t>
            </a:r>
            <a:endParaRPr lang="en-US" sz="1050" dirty="0"/>
          </a:p>
        </p:txBody>
      </p:sp>
      <p:sp>
        <p:nvSpPr>
          <p:cNvPr id="13" name="Shape 10"/>
          <p:cNvSpPr/>
          <p:nvPr/>
        </p:nvSpPr>
        <p:spPr>
          <a:xfrm>
            <a:off x="2249424" y="1947672"/>
            <a:ext cx="201168" cy="164592"/>
          </a:xfrm>
          <a:prstGeom prst="chevron">
            <a:avLst/>
          </a:prstGeom>
          <a:solidFill>
            <a:srgbClr val="E3E6EA"/>
          </a:solidFill>
          <a:ln w="10160">
            <a:solidFill>
              <a:srgbClr val="B7BDC7"/>
            </a:solidFill>
            <a:prstDash val="solid"/>
          </a:ln>
        </p:spPr>
        <p:txBody>
          <a:bodyPr/>
          <a:lstStyle/>
          <a:p>
            <a:endParaRPr lang="en-IN" sz="2800"/>
          </a:p>
        </p:txBody>
      </p:sp>
      <p:sp>
        <p:nvSpPr>
          <p:cNvPr id="15" name="Text 12"/>
          <p:cNvSpPr/>
          <p:nvPr/>
        </p:nvSpPr>
        <p:spPr>
          <a:xfrm>
            <a:off x="2761488" y="1499616"/>
            <a:ext cx="1609344" cy="182880"/>
          </a:xfrm>
          <a:prstGeom prst="rect">
            <a:avLst/>
          </a:prstGeom>
          <a:noFill/>
          <a:ln/>
        </p:spPr>
        <p:txBody>
          <a:bodyPr wrap="square" lIns="0" tIns="0" rIns="0" bIns="0" rtlCol="0" anchor="ctr"/>
          <a:lstStyle/>
          <a:p>
            <a:pPr marL="0" indent="0">
              <a:buNone/>
            </a:pPr>
            <a:r>
              <a:rPr lang="en-US" sz="1400" b="1" dirty="0">
                <a:solidFill>
                  <a:srgbClr val="1E1E1E"/>
                </a:solidFill>
                <a:latin typeface="Arial" pitchFamily="34" charset="0"/>
                <a:ea typeface="Arial" pitchFamily="34" charset="-122"/>
                <a:cs typeface="Arial" pitchFamily="34" charset="-120"/>
              </a:rPr>
              <a:t>Continued pretraining</a:t>
            </a:r>
            <a:endParaRPr lang="en-US" sz="1400" dirty="0"/>
          </a:p>
        </p:txBody>
      </p:sp>
      <p:sp>
        <p:nvSpPr>
          <p:cNvPr id="16" name="Text 13"/>
          <p:cNvSpPr/>
          <p:nvPr/>
        </p:nvSpPr>
        <p:spPr>
          <a:xfrm>
            <a:off x="2761488" y="1939290"/>
            <a:ext cx="1609344" cy="914400"/>
          </a:xfrm>
          <a:prstGeom prst="rect">
            <a:avLst/>
          </a:prstGeom>
          <a:noFill/>
          <a:ln/>
        </p:spPr>
        <p:txBody>
          <a:bodyPr wrap="square" lIns="0" tIns="0" rIns="0" bIns="0" rtlCol="0" anchor="t">
            <a:normAutofit/>
          </a:bodyPr>
          <a:lstStyle/>
          <a:p>
            <a:pPr marL="0" indent="0">
              <a:buNone/>
            </a:pPr>
            <a:r>
              <a:rPr lang="en-US" sz="1050" dirty="0">
                <a:solidFill>
                  <a:srgbClr val="1E1E1E"/>
                </a:solidFill>
                <a:latin typeface="Arial" pitchFamily="34" charset="0"/>
                <a:ea typeface="Arial" pitchFamily="34" charset="-122"/>
                <a:cs typeface="Arial" pitchFamily="34" charset="-120"/>
              </a:rPr>
              <a:t>Expose the model to in-domain or task-adjacent unlabeled text. Objective usually stays causal LM.</a:t>
            </a:r>
            <a:endParaRPr lang="en-US" sz="1050" dirty="0"/>
          </a:p>
        </p:txBody>
      </p:sp>
      <p:sp>
        <p:nvSpPr>
          <p:cNvPr id="17" name="Shape 14"/>
          <p:cNvSpPr/>
          <p:nvPr/>
        </p:nvSpPr>
        <p:spPr>
          <a:xfrm>
            <a:off x="4535424" y="1947672"/>
            <a:ext cx="201168" cy="164592"/>
          </a:xfrm>
          <a:prstGeom prst="chevron">
            <a:avLst/>
          </a:prstGeom>
          <a:solidFill>
            <a:srgbClr val="E3E6EA"/>
          </a:solidFill>
          <a:ln w="10160">
            <a:solidFill>
              <a:srgbClr val="B7BDC7"/>
            </a:solidFill>
            <a:prstDash val="solid"/>
          </a:ln>
        </p:spPr>
        <p:txBody>
          <a:bodyPr/>
          <a:lstStyle/>
          <a:p>
            <a:endParaRPr lang="en-IN" sz="2800"/>
          </a:p>
        </p:txBody>
      </p:sp>
      <p:sp>
        <p:nvSpPr>
          <p:cNvPr id="19" name="Text 16"/>
          <p:cNvSpPr/>
          <p:nvPr/>
        </p:nvSpPr>
        <p:spPr>
          <a:xfrm>
            <a:off x="5047488" y="1499616"/>
            <a:ext cx="1609344" cy="182880"/>
          </a:xfrm>
          <a:prstGeom prst="rect">
            <a:avLst/>
          </a:prstGeom>
          <a:noFill/>
          <a:ln/>
        </p:spPr>
        <p:txBody>
          <a:bodyPr wrap="square" lIns="0" tIns="0" rIns="0" bIns="0" rtlCol="0" anchor="ctr"/>
          <a:lstStyle/>
          <a:p>
            <a:pPr marL="0" indent="0">
              <a:buNone/>
            </a:pPr>
            <a:r>
              <a:rPr lang="en-US" sz="1400" b="1" dirty="0">
                <a:solidFill>
                  <a:srgbClr val="1E1E1E"/>
                </a:solidFill>
                <a:latin typeface="Arial" pitchFamily="34" charset="0"/>
                <a:ea typeface="Arial" pitchFamily="34" charset="-122"/>
                <a:cs typeface="Arial" pitchFamily="34" charset="-120"/>
              </a:rPr>
              <a:t>Supervised fine-tuning</a:t>
            </a:r>
            <a:endParaRPr lang="en-US" sz="1400" dirty="0"/>
          </a:p>
        </p:txBody>
      </p:sp>
      <p:sp>
        <p:nvSpPr>
          <p:cNvPr id="20" name="Text 17"/>
          <p:cNvSpPr/>
          <p:nvPr/>
        </p:nvSpPr>
        <p:spPr>
          <a:xfrm>
            <a:off x="5047488" y="1907032"/>
            <a:ext cx="1609344" cy="914400"/>
          </a:xfrm>
          <a:prstGeom prst="rect">
            <a:avLst/>
          </a:prstGeom>
          <a:noFill/>
          <a:ln/>
        </p:spPr>
        <p:txBody>
          <a:bodyPr wrap="square" lIns="0" tIns="0" rIns="0" bIns="0" rtlCol="0" anchor="t">
            <a:normAutofit/>
          </a:bodyPr>
          <a:lstStyle/>
          <a:p>
            <a:pPr marL="0" indent="0">
              <a:buNone/>
            </a:pPr>
            <a:r>
              <a:rPr lang="en-US" sz="1050" dirty="0">
                <a:solidFill>
                  <a:srgbClr val="1E1E1E"/>
                </a:solidFill>
                <a:latin typeface="Arial" pitchFamily="34" charset="0"/>
                <a:ea typeface="Arial" pitchFamily="34" charset="-122"/>
                <a:cs typeface="Arial" pitchFamily="34" charset="-120"/>
              </a:rPr>
              <a:t>Teach the model to respond in a required format using labeled prompt→answer pairs.</a:t>
            </a:r>
            <a:endParaRPr lang="en-US" sz="1050" dirty="0"/>
          </a:p>
        </p:txBody>
      </p:sp>
      <p:sp>
        <p:nvSpPr>
          <p:cNvPr id="21" name="Shape 18"/>
          <p:cNvSpPr/>
          <p:nvPr/>
        </p:nvSpPr>
        <p:spPr>
          <a:xfrm>
            <a:off x="6821424" y="1947672"/>
            <a:ext cx="201168" cy="164592"/>
          </a:xfrm>
          <a:prstGeom prst="chevron">
            <a:avLst/>
          </a:prstGeom>
          <a:solidFill>
            <a:srgbClr val="E3E6EA"/>
          </a:solidFill>
          <a:ln w="10160">
            <a:solidFill>
              <a:srgbClr val="B7BDC7"/>
            </a:solidFill>
            <a:prstDash val="solid"/>
          </a:ln>
        </p:spPr>
        <p:txBody>
          <a:bodyPr/>
          <a:lstStyle/>
          <a:p>
            <a:endParaRPr lang="en-IN" sz="2800"/>
          </a:p>
        </p:txBody>
      </p:sp>
      <p:sp>
        <p:nvSpPr>
          <p:cNvPr id="23" name="Text 20"/>
          <p:cNvSpPr/>
          <p:nvPr/>
        </p:nvSpPr>
        <p:spPr>
          <a:xfrm>
            <a:off x="7333488" y="1499616"/>
            <a:ext cx="1609344" cy="182880"/>
          </a:xfrm>
          <a:prstGeom prst="rect">
            <a:avLst/>
          </a:prstGeom>
          <a:noFill/>
          <a:ln/>
        </p:spPr>
        <p:txBody>
          <a:bodyPr wrap="square" lIns="0" tIns="0" rIns="0" bIns="0" rtlCol="0" anchor="ctr"/>
          <a:lstStyle/>
          <a:p>
            <a:pPr marL="0" indent="0">
              <a:buNone/>
            </a:pPr>
            <a:r>
              <a:rPr lang="en-US" sz="1400" b="1" dirty="0">
                <a:solidFill>
                  <a:srgbClr val="1E1E1E"/>
                </a:solidFill>
                <a:latin typeface="Arial" pitchFamily="34" charset="0"/>
                <a:ea typeface="Arial" pitchFamily="34" charset="-122"/>
                <a:cs typeface="Arial" pitchFamily="34" charset="-120"/>
              </a:rPr>
              <a:t>Preference alignment</a:t>
            </a:r>
            <a:endParaRPr lang="en-US" sz="1400" dirty="0"/>
          </a:p>
        </p:txBody>
      </p:sp>
      <p:sp>
        <p:nvSpPr>
          <p:cNvPr id="24" name="Text 21"/>
          <p:cNvSpPr/>
          <p:nvPr/>
        </p:nvSpPr>
        <p:spPr>
          <a:xfrm>
            <a:off x="7342632" y="1906270"/>
            <a:ext cx="1609344" cy="914400"/>
          </a:xfrm>
          <a:prstGeom prst="rect">
            <a:avLst/>
          </a:prstGeom>
          <a:noFill/>
          <a:ln/>
        </p:spPr>
        <p:txBody>
          <a:bodyPr wrap="square" lIns="0" tIns="0" rIns="0" bIns="0" rtlCol="0" anchor="t">
            <a:normAutofit/>
          </a:bodyPr>
          <a:lstStyle/>
          <a:p>
            <a:pPr marL="0" indent="0">
              <a:buNone/>
            </a:pPr>
            <a:r>
              <a:rPr lang="en-US" sz="1050" dirty="0">
                <a:solidFill>
                  <a:srgbClr val="1E1E1E"/>
                </a:solidFill>
                <a:latin typeface="Arial" pitchFamily="34" charset="0"/>
                <a:ea typeface="Arial" pitchFamily="34" charset="-122"/>
                <a:cs typeface="Arial" pitchFamily="34" charset="-120"/>
              </a:rPr>
              <a:t>Push the model toward preferred behavior: better refusals, better ranking, stronger style or policy adherence.</a:t>
            </a:r>
            <a:endParaRPr lang="en-US" sz="1050" dirty="0"/>
          </a:p>
        </p:txBody>
      </p:sp>
      <p:sp>
        <p:nvSpPr>
          <p:cNvPr id="25" name="Shape 22"/>
          <p:cNvSpPr/>
          <p:nvPr/>
        </p:nvSpPr>
        <p:spPr>
          <a:xfrm>
            <a:off x="9107424" y="1947672"/>
            <a:ext cx="201168" cy="164592"/>
          </a:xfrm>
          <a:prstGeom prst="chevron">
            <a:avLst/>
          </a:prstGeom>
          <a:solidFill>
            <a:srgbClr val="E3E6EA"/>
          </a:solidFill>
          <a:ln w="10160">
            <a:solidFill>
              <a:srgbClr val="B7BDC7"/>
            </a:solidFill>
            <a:prstDash val="solid"/>
          </a:ln>
        </p:spPr>
        <p:txBody>
          <a:bodyPr/>
          <a:lstStyle/>
          <a:p>
            <a:endParaRPr lang="en-IN" sz="2800"/>
          </a:p>
        </p:txBody>
      </p:sp>
      <p:sp>
        <p:nvSpPr>
          <p:cNvPr id="27" name="Text 24"/>
          <p:cNvSpPr/>
          <p:nvPr/>
        </p:nvSpPr>
        <p:spPr>
          <a:xfrm>
            <a:off x="9619488" y="1499616"/>
            <a:ext cx="1609344" cy="182880"/>
          </a:xfrm>
          <a:prstGeom prst="rect">
            <a:avLst/>
          </a:prstGeom>
          <a:noFill/>
          <a:ln/>
        </p:spPr>
        <p:txBody>
          <a:bodyPr wrap="square" lIns="0" tIns="0" rIns="0" bIns="0" rtlCol="0" anchor="ctr"/>
          <a:lstStyle/>
          <a:p>
            <a:pPr marL="0" indent="0">
              <a:buNone/>
            </a:pPr>
            <a:r>
              <a:rPr lang="en-US" sz="1400" b="1" dirty="0">
                <a:solidFill>
                  <a:srgbClr val="1E1E1E"/>
                </a:solidFill>
                <a:latin typeface="Arial" pitchFamily="34" charset="0"/>
                <a:ea typeface="Arial" pitchFamily="34" charset="-122"/>
                <a:cs typeface="Arial" pitchFamily="34" charset="-120"/>
              </a:rPr>
              <a:t>Deployment-time adaptation</a:t>
            </a:r>
            <a:endParaRPr lang="en-US" sz="1400" dirty="0"/>
          </a:p>
        </p:txBody>
      </p:sp>
      <p:sp>
        <p:nvSpPr>
          <p:cNvPr id="28" name="Text 25"/>
          <p:cNvSpPr/>
          <p:nvPr/>
        </p:nvSpPr>
        <p:spPr>
          <a:xfrm>
            <a:off x="9637776" y="1915668"/>
            <a:ext cx="1609344" cy="914400"/>
          </a:xfrm>
          <a:prstGeom prst="rect">
            <a:avLst/>
          </a:prstGeom>
          <a:noFill/>
          <a:ln/>
        </p:spPr>
        <p:txBody>
          <a:bodyPr wrap="square" lIns="0" tIns="0" rIns="0" bIns="0" rtlCol="0" anchor="t">
            <a:normAutofit/>
          </a:bodyPr>
          <a:lstStyle/>
          <a:p>
            <a:pPr marL="0" indent="0">
              <a:buNone/>
            </a:pPr>
            <a:r>
              <a:rPr lang="en-US" sz="1050" dirty="0">
                <a:solidFill>
                  <a:srgbClr val="1E1E1E"/>
                </a:solidFill>
                <a:latin typeface="Arial" pitchFamily="34" charset="0"/>
                <a:ea typeface="Arial" pitchFamily="34" charset="-122"/>
                <a:cs typeface="Arial" pitchFamily="34" charset="-120"/>
              </a:rPr>
              <a:t>Prompting, system prompts, tool use, retrieval, and guardrails modify behavior without another gradient step.</a:t>
            </a:r>
            <a:endParaRPr lang="en-US" sz="1050" dirty="0"/>
          </a:p>
        </p:txBody>
      </p:sp>
      <p:sp>
        <p:nvSpPr>
          <p:cNvPr id="29" name="Shape 26"/>
          <p:cNvSpPr/>
          <p:nvPr/>
        </p:nvSpPr>
        <p:spPr>
          <a:xfrm>
            <a:off x="502920" y="3246120"/>
            <a:ext cx="11109960" cy="960120"/>
          </a:xfrm>
          <a:prstGeom prst="roundRect">
            <a:avLst>
              <a:gd name="adj" fmla="val 5714"/>
            </a:avLst>
          </a:prstGeom>
          <a:solidFill>
            <a:srgbClr val="FAF8F4"/>
          </a:solidFill>
          <a:ln w="12700">
            <a:solidFill>
              <a:srgbClr val="C8C7C4"/>
            </a:solidFill>
            <a:prstDash val="solid"/>
          </a:ln>
        </p:spPr>
        <p:txBody>
          <a:bodyPr/>
          <a:lstStyle/>
          <a:p>
            <a:endParaRPr lang="en-IN" sz="2800"/>
          </a:p>
        </p:txBody>
      </p:sp>
      <p:sp>
        <p:nvSpPr>
          <p:cNvPr id="30" name="Text 27"/>
          <p:cNvSpPr/>
          <p:nvPr/>
        </p:nvSpPr>
        <p:spPr>
          <a:xfrm>
            <a:off x="612648" y="3328416"/>
            <a:ext cx="10890504" cy="182880"/>
          </a:xfrm>
          <a:prstGeom prst="rect">
            <a:avLst/>
          </a:prstGeom>
          <a:noFill/>
          <a:ln/>
        </p:spPr>
        <p:txBody>
          <a:bodyPr wrap="square" lIns="0" tIns="0" rIns="0" bIns="0" rtlCol="0" anchor="ctr"/>
          <a:lstStyle/>
          <a:p>
            <a:pPr marL="0" indent="0">
              <a:buNone/>
            </a:pPr>
            <a:r>
              <a:rPr lang="en-US" sz="1200" b="1" dirty="0">
                <a:solidFill>
                  <a:srgbClr val="1E1E1E"/>
                </a:solidFill>
                <a:latin typeface="Arial" pitchFamily="34" charset="0"/>
                <a:ea typeface="Arial" pitchFamily="34" charset="-122"/>
                <a:cs typeface="Arial" pitchFamily="34" charset="-120"/>
              </a:rPr>
              <a:t>Key distinction</a:t>
            </a:r>
            <a:endParaRPr lang="en-US" sz="1200" dirty="0"/>
          </a:p>
        </p:txBody>
      </p:sp>
      <p:sp>
        <p:nvSpPr>
          <p:cNvPr id="31" name="Text 28"/>
          <p:cNvSpPr/>
          <p:nvPr/>
        </p:nvSpPr>
        <p:spPr>
          <a:xfrm>
            <a:off x="612648" y="3621024"/>
            <a:ext cx="10890504" cy="502920"/>
          </a:xfrm>
          <a:prstGeom prst="rect">
            <a:avLst/>
          </a:prstGeom>
          <a:noFill/>
          <a:ln/>
        </p:spPr>
        <p:txBody>
          <a:bodyPr wrap="square" lIns="0" tIns="0" rIns="0" bIns="0" rtlCol="0" anchor="t">
            <a:normAutofit/>
          </a:bodyPr>
          <a:lstStyle/>
          <a:p>
            <a:pPr marL="0" indent="0">
              <a:buNone/>
            </a:pPr>
            <a:r>
              <a:rPr lang="en-US" sz="1100" dirty="0">
                <a:solidFill>
                  <a:srgbClr val="1E1E1E"/>
                </a:solidFill>
                <a:latin typeface="Arial" pitchFamily="34" charset="0"/>
                <a:ea typeface="Arial" pitchFamily="34" charset="-122"/>
                <a:cs typeface="Arial" pitchFamily="34" charset="-120"/>
              </a:rPr>
              <a:t>Transfer learning is not one action but a stack. Continued pretraining changes the model’s distributional familiarity; SFT changes task behavior; preference tuning changes ranking and policy behavior. Retrieval, tool use, and system prompts may be cheaper first levers when knowledge freshness or enterprise data—not capability—is the actual bottleneck.</a:t>
            </a:r>
            <a:endParaRPr lang="en-US" sz="1100" dirty="0"/>
          </a:p>
        </p:txBody>
      </p:sp>
      <p:sp>
        <p:nvSpPr>
          <p:cNvPr id="33" name="Text 30"/>
          <p:cNvSpPr/>
          <p:nvPr/>
        </p:nvSpPr>
        <p:spPr>
          <a:xfrm>
            <a:off x="612648" y="4517136"/>
            <a:ext cx="3209544" cy="182880"/>
          </a:xfrm>
          <a:prstGeom prst="rect">
            <a:avLst/>
          </a:prstGeom>
          <a:noFill/>
          <a:ln/>
        </p:spPr>
        <p:txBody>
          <a:bodyPr wrap="square" lIns="0" tIns="0" rIns="0" bIns="0" rtlCol="0" anchor="ctr"/>
          <a:lstStyle/>
          <a:p>
            <a:pPr marL="0" indent="0">
              <a:buNone/>
            </a:pPr>
            <a:r>
              <a:rPr lang="en-US" sz="1600" b="1" dirty="0">
                <a:solidFill>
                  <a:srgbClr val="1E1E1E"/>
                </a:solidFill>
                <a:latin typeface="Arial" pitchFamily="34" charset="0"/>
                <a:ea typeface="Arial" pitchFamily="34" charset="-122"/>
                <a:cs typeface="Arial" pitchFamily="34" charset="-120"/>
              </a:rPr>
              <a:t>Example</a:t>
            </a:r>
            <a:endParaRPr lang="en-US" sz="1600" dirty="0"/>
          </a:p>
        </p:txBody>
      </p:sp>
      <p:sp>
        <p:nvSpPr>
          <p:cNvPr id="34" name="Text 31"/>
          <p:cNvSpPr/>
          <p:nvPr/>
        </p:nvSpPr>
        <p:spPr>
          <a:xfrm>
            <a:off x="612648" y="4809744"/>
            <a:ext cx="3209544" cy="457200"/>
          </a:xfrm>
          <a:prstGeom prst="rect">
            <a:avLst/>
          </a:prstGeom>
          <a:noFill/>
          <a:ln/>
        </p:spPr>
        <p:txBody>
          <a:bodyPr wrap="square" lIns="0" tIns="0" rIns="0" bIns="0" rtlCol="0" anchor="t">
            <a:noAutofit/>
          </a:bodyPr>
          <a:lstStyle/>
          <a:p>
            <a:pPr marL="0" indent="0">
              <a:buNone/>
            </a:pPr>
            <a:r>
              <a:rPr lang="en-US" sz="1050" dirty="0">
                <a:solidFill>
                  <a:srgbClr val="1E1E1E"/>
                </a:solidFill>
                <a:latin typeface="Arial" pitchFamily="34" charset="0"/>
                <a:ea typeface="Arial" pitchFamily="34" charset="-122"/>
                <a:cs typeface="Arial" pitchFamily="34" charset="-120"/>
              </a:rPr>
              <a:t>A legal assistant often needs domain-adaptive continued pretraining on contracts and statutes, then instruction tuning for drafting tasks, then preference alignment for tone, refusal, and citation behavior.</a:t>
            </a:r>
            <a:endParaRPr lang="en-US" sz="1050" dirty="0"/>
          </a:p>
        </p:txBody>
      </p:sp>
      <p:sp>
        <p:nvSpPr>
          <p:cNvPr id="36" name="Text 33"/>
          <p:cNvSpPr/>
          <p:nvPr/>
        </p:nvSpPr>
        <p:spPr>
          <a:xfrm>
            <a:off x="4270248" y="4517136"/>
            <a:ext cx="3300984" cy="182880"/>
          </a:xfrm>
          <a:prstGeom prst="rect">
            <a:avLst/>
          </a:prstGeom>
          <a:noFill/>
          <a:ln/>
        </p:spPr>
        <p:txBody>
          <a:bodyPr wrap="square" lIns="0" tIns="0" rIns="0" bIns="0" rtlCol="0" anchor="ctr"/>
          <a:lstStyle/>
          <a:p>
            <a:pPr marL="0" indent="0">
              <a:buNone/>
            </a:pPr>
            <a:r>
              <a:rPr lang="en-US" sz="1600" b="1" dirty="0">
                <a:solidFill>
                  <a:srgbClr val="1E1E1E"/>
                </a:solidFill>
                <a:latin typeface="Arial" pitchFamily="34" charset="0"/>
                <a:ea typeface="Arial" pitchFamily="34" charset="-122"/>
                <a:cs typeface="Arial" pitchFamily="34" charset="-120"/>
              </a:rPr>
              <a:t>What not to confuse</a:t>
            </a:r>
            <a:endParaRPr lang="en-US" sz="1600" dirty="0"/>
          </a:p>
        </p:txBody>
      </p:sp>
      <p:sp>
        <p:nvSpPr>
          <p:cNvPr id="37" name="Text 34"/>
          <p:cNvSpPr/>
          <p:nvPr/>
        </p:nvSpPr>
        <p:spPr>
          <a:xfrm>
            <a:off x="4270248" y="4809744"/>
            <a:ext cx="3300984" cy="457200"/>
          </a:xfrm>
          <a:prstGeom prst="rect">
            <a:avLst/>
          </a:prstGeom>
          <a:noFill/>
          <a:ln/>
        </p:spPr>
        <p:txBody>
          <a:bodyPr wrap="square" lIns="0" tIns="0" rIns="0" bIns="0" rtlCol="0" anchor="t">
            <a:noAutofit/>
          </a:bodyPr>
          <a:lstStyle/>
          <a:p>
            <a:pPr marL="0" indent="0">
              <a:buNone/>
            </a:pPr>
            <a:r>
              <a:rPr lang="en-US" sz="1050" dirty="0">
                <a:solidFill>
                  <a:srgbClr val="1E1E1E"/>
                </a:solidFill>
                <a:latin typeface="Arial" pitchFamily="34" charset="0"/>
                <a:ea typeface="Arial" pitchFamily="34" charset="-122"/>
                <a:cs typeface="Arial" pitchFamily="34" charset="-120"/>
              </a:rPr>
              <a:t>RAG is usually not transfer learning because the weights do not change. It is deployment-time conditioning. It may still outperform a tuned model when the knowledge changes frequently.</a:t>
            </a:r>
            <a:endParaRPr lang="en-US" sz="1050" dirty="0"/>
          </a:p>
        </p:txBody>
      </p:sp>
      <p:sp>
        <p:nvSpPr>
          <p:cNvPr id="39" name="Text 36"/>
          <p:cNvSpPr/>
          <p:nvPr/>
        </p:nvSpPr>
        <p:spPr>
          <a:xfrm>
            <a:off x="8019288" y="4517136"/>
            <a:ext cx="3483864" cy="182880"/>
          </a:xfrm>
          <a:prstGeom prst="rect">
            <a:avLst/>
          </a:prstGeom>
          <a:noFill/>
          <a:ln/>
        </p:spPr>
        <p:txBody>
          <a:bodyPr wrap="square" lIns="0" tIns="0" rIns="0" bIns="0" rtlCol="0" anchor="ctr"/>
          <a:lstStyle/>
          <a:p>
            <a:pPr marL="0" indent="0">
              <a:buNone/>
            </a:pPr>
            <a:r>
              <a:rPr lang="en-US" sz="1600" b="1" dirty="0">
                <a:solidFill>
                  <a:srgbClr val="1E1E1E"/>
                </a:solidFill>
                <a:latin typeface="Arial" pitchFamily="34" charset="0"/>
                <a:ea typeface="Arial" pitchFamily="34" charset="-122"/>
                <a:cs typeface="Arial" pitchFamily="34" charset="-120"/>
              </a:rPr>
              <a:t>Operational lesson</a:t>
            </a:r>
            <a:endParaRPr lang="en-US" sz="1600" dirty="0"/>
          </a:p>
        </p:txBody>
      </p:sp>
      <p:sp>
        <p:nvSpPr>
          <p:cNvPr id="40" name="Text 37"/>
          <p:cNvSpPr/>
          <p:nvPr/>
        </p:nvSpPr>
        <p:spPr>
          <a:xfrm>
            <a:off x="8019288" y="4809744"/>
            <a:ext cx="3483864" cy="457200"/>
          </a:xfrm>
          <a:prstGeom prst="rect">
            <a:avLst/>
          </a:prstGeom>
          <a:noFill/>
          <a:ln/>
        </p:spPr>
        <p:txBody>
          <a:bodyPr wrap="square" lIns="0" tIns="0" rIns="0" bIns="0" rtlCol="0" anchor="t">
            <a:normAutofit fontScale="92500"/>
          </a:bodyPr>
          <a:lstStyle/>
          <a:p>
            <a:pPr marL="0" indent="0">
              <a:buNone/>
            </a:pPr>
            <a:r>
              <a:rPr lang="en-US" sz="1000" dirty="0">
                <a:solidFill>
                  <a:srgbClr val="1E1E1E"/>
                </a:solidFill>
                <a:latin typeface="Arial" pitchFamily="34" charset="0"/>
                <a:ea typeface="Arial" pitchFamily="34" charset="-122"/>
                <a:cs typeface="Arial" pitchFamily="34" charset="-120"/>
              </a:rPr>
              <a:t>Do not “fine-tune by default.” First ask whether the problem is domain mismatch, output-format mismatch, preference mismatch, or stale knowledge. Different problems call for different stages.</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5">
    <p:bg>
      <p:bgPr>
        <a:solidFill>
          <a:srgbClr val="F4F1EB"/>
        </a:solidFill>
        <a:effectLst/>
      </p:bgPr>
    </p:bg>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143B6B"/>
          </a:solidFill>
          <a:ln w="12700">
            <a:solidFill>
              <a:srgbClr val="143B6B">
                <a:alpha val="0"/>
              </a:srgbClr>
            </a:solidFill>
            <a:prstDash val="solid"/>
          </a:ln>
        </p:spPr>
        <p:txBody>
          <a:bodyPr/>
          <a:lstStyle/>
          <a:p>
            <a:endParaRPr lang="en-IN"/>
          </a:p>
        </p:txBody>
      </p:sp>
      <p:sp>
        <p:nvSpPr>
          <p:cNvPr id="3" name="Shape 1"/>
          <p:cNvSpPr/>
          <p:nvPr/>
        </p:nvSpPr>
        <p:spPr>
          <a:xfrm>
            <a:off x="0" y="6812280"/>
            <a:ext cx="12191695" cy="45720"/>
          </a:xfrm>
          <a:prstGeom prst="rect">
            <a:avLst/>
          </a:prstGeom>
          <a:solidFill>
            <a:srgbClr val="143B6B"/>
          </a:solidFill>
          <a:ln w="12700">
            <a:solidFill>
              <a:srgbClr val="143B6B">
                <a:alpha val="0"/>
              </a:srgbClr>
            </a:solidFill>
            <a:prstDash val="solid"/>
          </a:ln>
        </p:spPr>
        <p:txBody>
          <a:bodyPr/>
          <a:lstStyle/>
          <a:p>
            <a:endParaRPr lang="en-IN"/>
          </a:p>
        </p:txBody>
      </p:sp>
      <p:sp>
        <p:nvSpPr>
          <p:cNvPr id="4" name="Text 2"/>
          <p:cNvSpPr/>
          <p:nvPr/>
        </p:nvSpPr>
        <p:spPr>
          <a:xfrm>
            <a:off x="201168" y="118872"/>
            <a:ext cx="8961120" cy="219456"/>
          </a:xfrm>
          <a:prstGeom prst="rect">
            <a:avLst/>
          </a:prstGeom>
          <a:noFill/>
          <a:ln/>
        </p:spPr>
        <p:txBody>
          <a:bodyPr wrap="square" lIns="0" tIns="0" rIns="0" bIns="0" rtlCol="0" anchor="ctr"/>
          <a:lstStyle/>
          <a:p>
            <a:pPr marL="0" indent="0">
              <a:buNone/>
            </a:pPr>
            <a:r>
              <a:rPr lang="en-US" sz="1700" b="1" dirty="0">
                <a:solidFill>
                  <a:srgbClr val="1E1E1E"/>
                </a:solidFill>
                <a:latin typeface="Arial" pitchFamily="34" charset="0"/>
                <a:ea typeface="Arial" pitchFamily="34" charset="-122"/>
                <a:cs typeface="Arial" pitchFamily="34" charset="-120"/>
              </a:rPr>
              <a:t>Why transfer learning works for very large models</a:t>
            </a:r>
            <a:endParaRPr lang="en-US" sz="1700" dirty="0"/>
          </a:p>
        </p:txBody>
      </p:sp>
      <p:pic>
        <p:nvPicPr>
          <p:cNvPr id="5" name="Image 0" descr="/mnt/data/user-5OMUinS2DRg9DUHxNmCh75Xw/0de77cf23bb846ec834131240e4472fb/mnt/data/template_extract/image2.png"/>
          <p:cNvPicPr>
            <a:picLocks noChangeAspect="1"/>
          </p:cNvPicPr>
          <p:nvPr/>
        </p:nvPicPr>
        <p:blipFill>
          <a:blip r:embed="rId3"/>
          <a:stretch>
            <a:fillRect/>
          </a:stretch>
        </p:blipFill>
        <p:spPr>
          <a:xfrm>
            <a:off x="11686032" y="73152"/>
            <a:ext cx="256032" cy="256032"/>
          </a:xfrm>
          <a:prstGeom prst="rect">
            <a:avLst/>
          </a:prstGeom>
        </p:spPr>
      </p:pic>
      <p:sp>
        <p:nvSpPr>
          <p:cNvPr id="6" name="Shape 3"/>
          <p:cNvSpPr/>
          <p:nvPr/>
        </p:nvSpPr>
        <p:spPr>
          <a:xfrm>
            <a:off x="91440" y="6556248"/>
            <a:ext cx="45720" cy="45720"/>
          </a:xfrm>
          <a:prstGeom prst="ellipse">
            <a:avLst/>
          </a:prstGeom>
          <a:solidFill>
            <a:srgbClr val="E6534E"/>
          </a:solidFill>
          <a:ln w="12700">
            <a:solidFill>
              <a:srgbClr val="E6534E">
                <a:alpha val="0"/>
              </a:srgbClr>
            </a:solidFill>
            <a:prstDash val="solid"/>
          </a:ln>
        </p:spPr>
        <p:txBody>
          <a:bodyPr/>
          <a:lstStyle/>
          <a:p>
            <a:endParaRPr lang="en-IN"/>
          </a:p>
        </p:txBody>
      </p:sp>
      <p:sp>
        <p:nvSpPr>
          <p:cNvPr id="7" name="Shape 4"/>
          <p:cNvSpPr/>
          <p:nvPr/>
        </p:nvSpPr>
        <p:spPr>
          <a:xfrm>
            <a:off x="164592" y="6556248"/>
            <a:ext cx="45720" cy="45720"/>
          </a:xfrm>
          <a:prstGeom prst="ellipse">
            <a:avLst/>
          </a:prstGeom>
          <a:solidFill>
            <a:srgbClr val="D6C84C"/>
          </a:solidFill>
          <a:ln w="12700">
            <a:solidFill>
              <a:srgbClr val="D6C84C">
                <a:alpha val="0"/>
              </a:srgbClr>
            </a:solidFill>
            <a:prstDash val="solid"/>
          </a:ln>
        </p:spPr>
        <p:txBody>
          <a:bodyPr/>
          <a:lstStyle/>
          <a:p>
            <a:endParaRPr lang="en-IN"/>
          </a:p>
        </p:txBody>
      </p:sp>
      <p:sp>
        <p:nvSpPr>
          <p:cNvPr id="8" name="Shape 5"/>
          <p:cNvSpPr/>
          <p:nvPr/>
        </p:nvSpPr>
        <p:spPr>
          <a:xfrm>
            <a:off x="237744" y="6556248"/>
            <a:ext cx="45720" cy="45720"/>
          </a:xfrm>
          <a:prstGeom prst="ellipse">
            <a:avLst/>
          </a:prstGeom>
          <a:solidFill>
            <a:srgbClr val="143B6B"/>
          </a:solidFill>
          <a:ln w="12700">
            <a:solidFill>
              <a:srgbClr val="143B6B">
                <a:alpha val="0"/>
              </a:srgbClr>
            </a:solidFill>
            <a:prstDash val="solid"/>
          </a:ln>
        </p:spPr>
        <p:txBody>
          <a:bodyPr/>
          <a:lstStyle/>
          <a:p>
            <a:endParaRPr lang="en-IN"/>
          </a:p>
        </p:txBody>
      </p:sp>
      <p:sp>
        <p:nvSpPr>
          <p:cNvPr id="9" name="Text 6"/>
          <p:cNvSpPr/>
          <p:nvPr/>
        </p:nvSpPr>
        <p:spPr>
          <a:xfrm>
            <a:off x="11841480" y="6528816"/>
            <a:ext cx="164592" cy="109728"/>
          </a:xfrm>
          <a:prstGeom prst="rect">
            <a:avLst/>
          </a:prstGeom>
          <a:noFill/>
          <a:ln/>
        </p:spPr>
        <p:txBody>
          <a:bodyPr wrap="square" lIns="0" tIns="0" rIns="0" bIns="0" rtlCol="0" anchor="ctr"/>
          <a:lstStyle/>
          <a:p>
            <a:pPr marL="0" indent="0" algn="r">
              <a:buNone/>
            </a:pPr>
            <a:r>
              <a:rPr lang="en-US" sz="800" dirty="0">
                <a:solidFill>
                  <a:srgbClr val="7A7A7A"/>
                </a:solidFill>
                <a:latin typeface="Arial" pitchFamily="34" charset="0"/>
                <a:ea typeface="Arial" pitchFamily="34" charset="-122"/>
                <a:cs typeface="Arial" pitchFamily="34" charset="-120"/>
              </a:rPr>
              <a:t>5</a:t>
            </a:r>
            <a:endParaRPr lang="en-US" sz="800" dirty="0"/>
          </a:p>
        </p:txBody>
      </p:sp>
      <p:sp>
        <p:nvSpPr>
          <p:cNvPr id="10" name="Shape 7"/>
          <p:cNvSpPr/>
          <p:nvPr/>
        </p:nvSpPr>
        <p:spPr>
          <a:xfrm>
            <a:off x="411480" y="914400"/>
            <a:ext cx="2697480" cy="1097280"/>
          </a:xfrm>
          <a:prstGeom prst="roundRect">
            <a:avLst>
              <a:gd name="adj" fmla="val 5000"/>
            </a:avLst>
          </a:prstGeom>
          <a:solidFill>
            <a:srgbClr val="DCE8F4"/>
          </a:solidFill>
          <a:ln w="12700">
            <a:solidFill>
              <a:srgbClr val="C8C7C4"/>
            </a:solidFill>
            <a:prstDash val="solid"/>
          </a:ln>
        </p:spPr>
        <p:txBody>
          <a:bodyPr/>
          <a:lstStyle/>
          <a:p>
            <a:endParaRPr lang="en-IN" sz="2400"/>
          </a:p>
        </p:txBody>
      </p:sp>
      <p:sp>
        <p:nvSpPr>
          <p:cNvPr id="11" name="Text 8"/>
          <p:cNvSpPr/>
          <p:nvPr/>
        </p:nvSpPr>
        <p:spPr>
          <a:xfrm>
            <a:off x="521208" y="996696"/>
            <a:ext cx="2478024" cy="182880"/>
          </a:xfrm>
          <a:prstGeom prst="rect">
            <a:avLst/>
          </a:prstGeom>
          <a:noFill/>
          <a:ln/>
        </p:spPr>
        <p:txBody>
          <a:bodyPr wrap="square" lIns="0" tIns="0" rIns="0" bIns="0" rtlCol="0" anchor="ctr"/>
          <a:lstStyle/>
          <a:p>
            <a:pPr marL="0" indent="0">
              <a:buNone/>
            </a:pPr>
            <a:r>
              <a:rPr lang="en-US" sz="1200" b="1" dirty="0">
                <a:solidFill>
                  <a:srgbClr val="1E1E1E"/>
                </a:solidFill>
                <a:latin typeface="Arial" pitchFamily="34" charset="0"/>
                <a:ea typeface="Arial" pitchFamily="34" charset="-122"/>
                <a:cs typeface="Arial" pitchFamily="34" charset="-120"/>
              </a:rPr>
              <a:t>Representation reuse</a:t>
            </a:r>
            <a:endParaRPr lang="en-US" sz="1200" dirty="0"/>
          </a:p>
        </p:txBody>
      </p:sp>
      <p:sp>
        <p:nvSpPr>
          <p:cNvPr id="12" name="Text 9"/>
          <p:cNvSpPr/>
          <p:nvPr/>
        </p:nvSpPr>
        <p:spPr>
          <a:xfrm>
            <a:off x="521208" y="1289304"/>
            <a:ext cx="2478024" cy="640080"/>
          </a:xfrm>
          <a:prstGeom prst="rect">
            <a:avLst/>
          </a:prstGeom>
          <a:noFill/>
          <a:ln/>
        </p:spPr>
        <p:txBody>
          <a:bodyPr wrap="square" lIns="0" tIns="0" rIns="0" bIns="0" rtlCol="0" anchor="t">
            <a:noAutofit/>
          </a:bodyPr>
          <a:lstStyle/>
          <a:p>
            <a:pPr marL="0" indent="0">
              <a:buNone/>
            </a:pPr>
            <a:r>
              <a:rPr lang="en-US" sz="1000" dirty="0">
                <a:solidFill>
                  <a:srgbClr val="1E1E1E"/>
                </a:solidFill>
                <a:latin typeface="Arial" pitchFamily="34" charset="0"/>
                <a:ea typeface="Arial" pitchFamily="34" charset="-122"/>
                <a:cs typeface="Arial" pitchFamily="34" charset="-120"/>
              </a:rPr>
              <a:t>Base models already contain syntax, semantics, discourse structure, code priors, and instruction-following seeds. Adaptation mostly re-weights and redirects existing circuits.</a:t>
            </a:r>
            <a:endParaRPr lang="en-US" sz="1000" dirty="0"/>
          </a:p>
        </p:txBody>
      </p:sp>
      <p:sp>
        <p:nvSpPr>
          <p:cNvPr id="13" name="Shape 10"/>
          <p:cNvSpPr/>
          <p:nvPr/>
        </p:nvSpPr>
        <p:spPr>
          <a:xfrm>
            <a:off x="3273552" y="914400"/>
            <a:ext cx="2697480" cy="1097280"/>
          </a:xfrm>
          <a:prstGeom prst="roundRect">
            <a:avLst>
              <a:gd name="adj" fmla="val 5000"/>
            </a:avLst>
          </a:prstGeom>
          <a:solidFill>
            <a:srgbClr val="DDEDE1"/>
          </a:solidFill>
          <a:ln w="12700">
            <a:solidFill>
              <a:srgbClr val="C8C7C4"/>
            </a:solidFill>
            <a:prstDash val="solid"/>
          </a:ln>
        </p:spPr>
        <p:txBody>
          <a:bodyPr/>
          <a:lstStyle/>
          <a:p>
            <a:endParaRPr lang="en-IN" sz="2400"/>
          </a:p>
        </p:txBody>
      </p:sp>
      <p:sp>
        <p:nvSpPr>
          <p:cNvPr id="14" name="Text 11"/>
          <p:cNvSpPr/>
          <p:nvPr/>
        </p:nvSpPr>
        <p:spPr>
          <a:xfrm>
            <a:off x="3383280" y="996696"/>
            <a:ext cx="2478024" cy="182880"/>
          </a:xfrm>
          <a:prstGeom prst="rect">
            <a:avLst/>
          </a:prstGeom>
          <a:noFill/>
          <a:ln/>
        </p:spPr>
        <p:txBody>
          <a:bodyPr wrap="square" lIns="0" tIns="0" rIns="0" bIns="0" rtlCol="0" anchor="ctr"/>
          <a:lstStyle/>
          <a:p>
            <a:pPr marL="0" indent="0">
              <a:buNone/>
            </a:pPr>
            <a:r>
              <a:rPr lang="en-US" sz="1200" b="1" dirty="0">
                <a:solidFill>
                  <a:srgbClr val="1E1E1E"/>
                </a:solidFill>
                <a:latin typeface="Arial" pitchFamily="34" charset="0"/>
                <a:ea typeface="Arial" pitchFamily="34" charset="-122"/>
                <a:cs typeface="Arial" pitchFamily="34" charset="-120"/>
              </a:rPr>
              <a:t>Sample efficiency</a:t>
            </a:r>
            <a:endParaRPr lang="en-US" sz="1200" dirty="0"/>
          </a:p>
        </p:txBody>
      </p:sp>
      <p:sp>
        <p:nvSpPr>
          <p:cNvPr id="15" name="Text 12"/>
          <p:cNvSpPr/>
          <p:nvPr/>
        </p:nvSpPr>
        <p:spPr>
          <a:xfrm>
            <a:off x="3383280" y="1289304"/>
            <a:ext cx="2478024" cy="640080"/>
          </a:xfrm>
          <a:prstGeom prst="rect">
            <a:avLst/>
          </a:prstGeom>
          <a:noFill/>
          <a:ln/>
        </p:spPr>
        <p:txBody>
          <a:bodyPr wrap="square" lIns="0" tIns="0" rIns="0" bIns="0" rtlCol="0" anchor="t">
            <a:noAutofit/>
          </a:bodyPr>
          <a:lstStyle/>
          <a:p>
            <a:pPr marL="0" indent="0">
              <a:buNone/>
            </a:pPr>
            <a:r>
              <a:rPr lang="en-US" sz="1000" dirty="0">
                <a:solidFill>
                  <a:srgbClr val="1E1E1E"/>
                </a:solidFill>
                <a:latin typeface="Arial" pitchFamily="34" charset="0"/>
                <a:ea typeface="Arial" pitchFamily="34" charset="-122"/>
                <a:cs typeface="Arial" pitchFamily="34" charset="-120"/>
              </a:rPr>
              <a:t>You only need enough examples to teach the delta between “what the model broadly knows” and “what your task requires.” That is much smaller than learning language from scratch.</a:t>
            </a:r>
            <a:endParaRPr lang="en-US" sz="1000" dirty="0"/>
          </a:p>
        </p:txBody>
      </p:sp>
      <p:sp>
        <p:nvSpPr>
          <p:cNvPr id="16" name="Shape 13"/>
          <p:cNvSpPr/>
          <p:nvPr/>
        </p:nvSpPr>
        <p:spPr>
          <a:xfrm>
            <a:off x="6135624" y="914400"/>
            <a:ext cx="2697480" cy="1097280"/>
          </a:xfrm>
          <a:prstGeom prst="roundRect">
            <a:avLst>
              <a:gd name="adj" fmla="val 5000"/>
            </a:avLst>
          </a:prstGeom>
          <a:solidFill>
            <a:srgbClr val="F6EEC7"/>
          </a:solidFill>
          <a:ln w="12700">
            <a:solidFill>
              <a:srgbClr val="C8C7C4"/>
            </a:solidFill>
            <a:prstDash val="solid"/>
          </a:ln>
        </p:spPr>
        <p:txBody>
          <a:bodyPr/>
          <a:lstStyle/>
          <a:p>
            <a:endParaRPr lang="en-IN" sz="2400"/>
          </a:p>
        </p:txBody>
      </p:sp>
      <p:sp>
        <p:nvSpPr>
          <p:cNvPr id="17" name="Text 14"/>
          <p:cNvSpPr/>
          <p:nvPr/>
        </p:nvSpPr>
        <p:spPr>
          <a:xfrm>
            <a:off x="6245352" y="996696"/>
            <a:ext cx="2478024" cy="182880"/>
          </a:xfrm>
          <a:prstGeom prst="rect">
            <a:avLst/>
          </a:prstGeom>
          <a:noFill/>
          <a:ln/>
        </p:spPr>
        <p:txBody>
          <a:bodyPr wrap="square" lIns="0" tIns="0" rIns="0" bIns="0" rtlCol="0" anchor="ctr"/>
          <a:lstStyle/>
          <a:p>
            <a:pPr marL="0" indent="0">
              <a:buNone/>
            </a:pPr>
            <a:r>
              <a:rPr lang="en-US" sz="1200" b="1" dirty="0">
                <a:solidFill>
                  <a:srgbClr val="1E1E1E"/>
                </a:solidFill>
                <a:latin typeface="Arial" pitchFamily="34" charset="0"/>
                <a:ea typeface="Arial" pitchFamily="34" charset="-122"/>
                <a:cs typeface="Arial" pitchFamily="34" charset="-120"/>
              </a:rPr>
              <a:t>Compute efficiency</a:t>
            </a:r>
            <a:endParaRPr lang="en-US" sz="1200" dirty="0"/>
          </a:p>
        </p:txBody>
      </p:sp>
      <p:sp>
        <p:nvSpPr>
          <p:cNvPr id="18" name="Text 15"/>
          <p:cNvSpPr/>
          <p:nvPr/>
        </p:nvSpPr>
        <p:spPr>
          <a:xfrm>
            <a:off x="6245352" y="1289304"/>
            <a:ext cx="2478024" cy="640080"/>
          </a:xfrm>
          <a:prstGeom prst="rect">
            <a:avLst/>
          </a:prstGeom>
          <a:noFill/>
          <a:ln/>
        </p:spPr>
        <p:txBody>
          <a:bodyPr wrap="square" lIns="0" tIns="0" rIns="0" bIns="0" rtlCol="0" anchor="t">
            <a:normAutofit/>
          </a:bodyPr>
          <a:lstStyle/>
          <a:p>
            <a:pPr marL="0" indent="0">
              <a:buNone/>
            </a:pPr>
            <a:r>
              <a:rPr lang="en-US" sz="1000" dirty="0">
                <a:solidFill>
                  <a:srgbClr val="1E1E1E"/>
                </a:solidFill>
                <a:latin typeface="Arial" pitchFamily="34" charset="0"/>
                <a:ea typeface="Arial" pitchFamily="34" charset="-122"/>
                <a:cs typeface="Arial" pitchFamily="34" charset="-120"/>
              </a:rPr>
              <a:t>Most organizations can afford adaptation but not frontier-scale pretraining. Reusing a base model turns impossible compute into manageable post-training jobs.</a:t>
            </a:r>
            <a:endParaRPr lang="en-US" sz="1000" dirty="0"/>
          </a:p>
        </p:txBody>
      </p:sp>
      <p:sp>
        <p:nvSpPr>
          <p:cNvPr id="19" name="Shape 16"/>
          <p:cNvSpPr/>
          <p:nvPr/>
        </p:nvSpPr>
        <p:spPr>
          <a:xfrm>
            <a:off x="8997696" y="914400"/>
            <a:ext cx="2697480" cy="1097280"/>
          </a:xfrm>
          <a:prstGeom prst="roundRect">
            <a:avLst>
              <a:gd name="adj" fmla="val 5000"/>
            </a:avLst>
          </a:prstGeom>
          <a:solidFill>
            <a:srgbClr val="F2DDD7"/>
          </a:solidFill>
          <a:ln w="12700">
            <a:solidFill>
              <a:srgbClr val="C8C7C4"/>
            </a:solidFill>
            <a:prstDash val="solid"/>
          </a:ln>
        </p:spPr>
        <p:txBody>
          <a:bodyPr/>
          <a:lstStyle/>
          <a:p>
            <a:endParaRPr lang="en-IN" sz="2400"/>
          </a:p>
        </p:txBody>
      </p:sp>
      <p:sp>
        <p:nvSpPr>
          <p:cNvPr id="20" name="Text 17"/>
          <p:cNvSpPr/>
          <p:nvPr/>
        </p:nvSpPr>
        <p:spPr>
          <a:xfrm>
            <a:off x="9107424" y="996696"/>
            <a:ext cx="2478024" cy="182880"/>
          </a:xfrm>
          <a:prstGeom prst="rect">
            <a:avLst/>
          </a:prstGeom>
          <a:noFill/>
          <a:ln/>
        </p:spPr>
        <p:txBody>
          <a:bodyPr wrap="square" lIns="0" tIns="0" rIns="0" bIns="0" rtlCol="0" anchor="ctr"/>
          <a:lstStyle/>
          <a:p>
            <a:pPr marL="0" indent="0">
              <a:buNone/>
            </a:pPr>
            <a:r>
              <a:rPr lang="en-US" sz="1200" b="1" dirty="0">
                <a:solidFill>
                  <a:srgbClr val="1E1E1E"/>
                </a:solidFill>
                <a:latin typeface="Arial" pitchFamily="34" charset="0"/>
                <a:ea typeface="Arial" pitchFamily="34" charset="-122"/>
                <a:cs typeface="Arial" pitchFamily="34" charset="-120"/>
              </a:rPr>
              <a:t>Target-distribution matching</a:t>
            </a:r>
            <a:endParaRPr lang="en-US" sz="1200" dirty="0"/>
          </a:p>
        </p:txBody>
      </p:sp>
      <p:sp>
        <p:nvSpPr>
          <p:cNvPr id="21" name="Text 18"/>
          <p:cNvSpPr/>
          <p:nvPr/>
        </p:nvSpPr>
        <p:spPr>
          <a:xfrm>
            <a:off x="9107424" y="1289304"/>
            <a:ext cx="2478024" cy="640080"/>
          </a:xfrm>
          <a:prstGeom prst="rect">
            <a:avLst/>
          </a:prstGeom>
          <a:noFill/>
          <a:ln/>
        </p:spPr>
        <p:txBody>
          <a:bodyPr wrap="square" lIns="0" tIns="0" rIns="0" bIns="0" rtlCol="0" anchor="t">
            <a:normAutofit/>
          </a:bodyPr>
          <a:lstStyle/>
          <a:p>
            <a:pPr marL="0" indent="0">
              <a:buNone/>
            </a:pPr>
            <a:r>
              <a:rPr lang="en-US" sz="1000" dirty="0">
                <a:solidFill>
                  <a:srgbClr val="1E1E1E"/>
                </a:solidFill>
                <a:latin typeface="Arial" pitchFamily="34" charset="0"/>
                <a:ea typeface="Arial" pitchFamily="34" charset="-122"/>
                <a:cs typeface="Arial" pitchFamily="34" charset="-120"/>
              </a:rPr>
              <a:t>Performance improves when the model repeatedly sees the vocabulary, style, and failure cases of the intended deployment domain.</a:t>
            </a:r>
            <a:endParaRPr lang="en-US" sz="1000" dirty="0"/>
          </a:p>
        </p:txBody>
      </p:sp>
      <p:sp>
        <p:nvSpPr>
          <p:cNvPr id="23" name="Text 20"/>
          <p:cNvSpPr/>
          <p:nvPr/>
        </p:nvSpPr>
        <p:spPr>
          <a:xfrm>
            <a:off x="612648" y="2414016"/>
            <a:ext cx="5038344" cy="182880"/>
          </a:xfrm>
          <a:prstGeom prst="rect">
            <a:avLst/>
          </a:prstGeom>
          <a:noFill/>
          <a:ln/>
        </p:spPr>
        <p:txBody>
          <a:bodyPr wrap="square" lIns="0" tIns="0" rIns="0" bIns="0" rtlCol="0" anchor="ctr"/>
          <a:lstStyle/>
          <a:p>
            <a:pPr marL="0" indent="0">
              <a:buNone/>
            </a:pPr>
            <a:r>
              <a:rPr lang="en-US" sz="1200" b="1" dirty="0">
                <a:solidFill>
                  <a:srgbClr val="1E1E1E"/>
                </a:solidFill>
                <a:latin typeface="Arial" pitchFamily="34" charset="0"/>
                <a:ea typeface="Arial" pitchFamily="34" charset="-122"/>
                <a:cs typeface="Arial" pitchFamily="34" charset="-120"/>
              </a:rPr>
              <a:t>From-scratch vs adaptation mindset</a:t>
            </a:r>
            <a:endParaRPr lang="en-US" sz="1200" dirty="0"/>
          </a:p>
        </p:txBody>
      </p:sp>
      <p:sp>
        <p:nvSpPr>
          <p:cNvPr id="24" name="Text 21"/>
          <p:cNvSpPr/>
          <p:nvPr/>
        </p:nvSpPr>
        <p:spPr>
          <a:xfrm>
            <a:off x="777240" y="2743200"/>
            <a:ext cx="1508760" cy="182880"/>
          </a:xfrm>
          <a:prstGeom prst="rect">
            <a:avLst/>
          </a:prstGeom>
          <a:noFill/>
          <a:ln/>
        </p:spPr>
        <p:txBody>
          <a:bodyPr wrap="square" lIns="0" tIns="0" rIns="0" bIns="0" rtlCol="0" anchor="ctr"/>
          <a:lstStyle/>
          <a:p>
            <a:pPr marL="0" indent="0">
              <a:buNone/>
            </a:pPr>
            <a:r>
              <a:rPr lang="en-US" sz="1200" b="1" dirty="0">
                <a:solidFill>
                  <a:srgbClr val="E6534E"/>
                </a:solidFill>
              </a:rPr>
              <a:t>Train from scratch</a:t>
            </a:r>
            <a:endParaRPr lang="en-US" sz="1200" dirty="0"/>
          </a:p>
        </p:txBody>
      </p:sp>
      <p:sp>
        <p:nvSpPr>
          <p:cNvPr id="25" name="Text 22"/>
          <p:cNvSpPr/>
          <p:nvPr/>
        </p:nvSpPr>
        <p:spPr>
          <a:xfrm>
            <a:off x="777240" y="2971800"/>
            <a:ext cx="1965960" cy="868680"/>
          </a:xfrm>
          <a:prstGeom prst="rect">
            <a:avLst/>
          </a:prstGeom>
          <a:noFill/>
          <a:ln/>
        </p:spPr>
        <p:txBody>
          <a:bodyPr wrap="square" lIns="0" tIns="0" rIns="0" bIns="0" rtlCol="0" anchor="t">
            <a:noAutofit/>
          </a:bodyPr>
          <a:lstStyle/>
          <a:p>
            <a:pPr marL="127000" indent="-127000">
              <a:buSzPct val="100000"/>
              <a:buChar char="•"/>
            </a:pPr>
            <a:r>
              <a:rPr lang="en-US" sz="1100" dirty="0">
                <a:solidFill>
                  <a:srgbClr val="1E1E1E"/>
                </a:solidFill>
                <a:latin typeface="Arial" pitchFamily="34" charset="0"/>
                <a:ea typeface="Arial" pitchFamily="34" charset="-122"/>
                <a:cs typeface="Arial" pitchFamily="34" charset="-120"/>
              </a:rPr>
              <a:t>Need enormous corpora and token budgets.</a:t>
            </a:r>
            <a:endParaRPr lang="en-US" sz="1100" dirty="0"/>
          </a:p>
          <a:p>
            <a:pPr marL="127000" indent="-127000">
              <a:buSzPct val="100000"/>
              <a:buChar char="•"/>
            </a:pPr>
            <a:r>
              <a:rPr lang="en-US" sz="1100" dirty="0">
                <a:solidFill>
                  <a:srgbClr val="1E1E1E"/>
                </a:solidFill>
                <a:latin typeface="Arial" pitchFamily="34" charset="0"/>
                <a:ea typeface="Arial" pitchFamily="34" charset="-122"/>
                <a:cs typeface="Arial" pitchFamily="34" charset="-120"/>
              </a:rPr>
              <a:t>Must relearn language, world knowledge, and formatting from the beginning.</a:t>
            </a:r>
            <a:endParaRPr lang="en-US" sz="1100" dirty="0"/>
          </a:p>
          <a:p>
            <a:pPr marL="127000" indent="-127000">
              <a:buSzPct val="100000"/>
              <a:buChar char="•"/>
            </a:pPr>
            <a:r>
              <a:rPr lang="en-US" sz="1100" dirty="0">
                <a:solidFill>
                  <a:srgbClr val="1E1E1E"/>
                </a:solidFill>
                <a:latin typeface="Arial" pitchFamily="34" charset="0"/>
                <a:ea typeface="Arial" pitchFamily="34" charset="-122"/>
                <a:cs typeface="Arial" pitchFamily="34" charset="-120"/>
              </a:rPr>
              <a:t>Usually reserved for frontier model builders or major architecture changes.</a:t>
            </a:r>
            <a:endParaRPr lang="en-US" sz="1100" dirty="0"/>
          </a:p>
        </p:txBody>
      </p:sp>
      <p:sp>
        <p:nvSpPr>
          <p:cNvPr id="26" name="Text 23"/>
          <p:cNvSpPr/>
          <p:nvPr/>
        </p:nvSpPr>
        <p:spPr>
          <a:xfrm>
            <a:off x="3154680" y="2743200"/>
            <a:ext cx="2312670" cy="146304"/>
          </a:xfrm>
          <a:prstGeom prst="rect">
            <a:avLst/>
          </a:prstGeom>
          <a:noFill/>
          <a:ln/>
        </p:spPr>
        <p:txBody>
          <a:bodyPr wrap="square" lIns="0" tIns="0" rIns="0" bIns="0" rtlCol="0" anchor="ctr"/>
          <a:lstStyle/>
          <a:p>
            <a:pPr marL="0" indent="0">
              <a:buNone/>
            </a:pPr>
            <a:r>
              <a:rPr lang="en-US" sz="1200" b="1" dirty="0">
                <a:solidFill>
                  <a:srgbClr val="143B6B"/>
                </a:solidFill>
              </a:rPr>
              <a:t>Adapt a pretrained model</a:t>
            </a:r>
            <a:endParaRPr lang="en-US" sz="1200" dirty="0"/>
          </a:p>
        </p:txBody>
      </p:sp>
      <p:sp>
        <p:nvSpPr>
          <p:cNvPr id="27" name="Text 24"/>
          <p:cNvSpPr/>
          <p:nvPr/>
        </p:nvSpPr>
        <p:spPr>
          <a:xfrm>
            <a:off x="3154680" y="2971800"/>
            <a:ext cx="2541270" cy="1426464"/>
          </a:xfrm>
          <a:prstGeom prst="rect">
            <a:avLst/>
          </a:prstGeom>
          <a:noFill/>
          <a:ln/>
        </p:spPr>
        <p:txBody>
          <a:bodyPr wrap="square" lIns="0" tIns="0" rIns="0" bIns="0" rtlCol="0" anchor="t">
            <a:normAutofit/>
          </a:bodyPr>
          <a:lstStyle/>
          <a:p>
            <a:pPr marL="127000" indent="-127000">
              <a:buSzPct val="100000"/>
              <a:buChar char="•"/>
            </a:pPr>
            <a:r>
              <a:rPr lang="en-US" sz="1200" dirty="0">
                <a:solidFill>
                  <a:srgbClr val="1E1E1E"/>
                </a:solidFill>
                <a:latin typeface="Arial" pitchFamily="34" charset="0"/>
                <a:ea typeface="Arial" pitchFamily="34" charset="-122"/>
                <a:cs typeface="Arial" pitchFamily="34" charset="-120"/>
              </a:rPr>
              <a:t>Spend compute on domain, task, or policy deltas.</a:t>
            </a:r>
            <a:endParaRPr lang="en-US" sz="1200" dirty="0"/>
          </a:p>
          <a:p>
            <a:pPr marL="127000" indent="-127000">
              <a:buSzPct val="100000"/>
              <a:buChar char="•"/>
            </a:pPr>
            <a:r>
              <a:rPr lang="en-US" sz="1200" dirty="0">
                <a:solidFill>
                  <a:srgbClr val="1E1E1E"/>
                </a:solidFill>
                <a:latin typeface="Arial" pitchFamily="34" charset="0"/>
                <a:ea typeface="Arial" pitchFamily="34" charset="-122"/>
                <a:cs typeface="Arial" pitchFamily="34" charset="-120"/>
              </a:rPr>
              <a:t>Can iterate quickly with validation and human review.</a:t>
            </a:r>
            <a:endParaRPr lang="en-US" sz="1200" dirty="0"/>
          </a:p>
          <a:p>
            <a:pPr marL="127000" indent="-127000">
              <a:buSzPct val="100000"/>
              <a:buChar char="•"/>
            </a:pPr>
            <a:r>
              <a:rPr lang="en-US" sz="1200" dirty="0">
                <a:solidFill>
                  <a:srgbClr val="1E1E1E"/>
                </a:solidFill>
                <a:latin typeface="Arial" pitchFamily="34" charset="0"/>
                <a:ea typeface="Arial" pitchFamily="34" charset="-122"/>
                <a:cs typeface="Arial" pitchFamily="34" charset="-120"/>
              </a:rPr>
              <a:t>Makes product-specific tuning economically realistic.</a:t>
            </a:r>
            <a:endParaRPr lang="en-US" sz="1200" dirty="0"/>
          </a:p>
        </p:txBody>
      </p:sp>
      <p:sp>
        <p:nvSpPr>
          <p:cNvPr id="28" name="Shape 25"/>
          <p:cNvSpPr/>
          <p:nvPr/>
        </p:nvSpPr>
        <p:spPr>
          <a:xfrm>
            <a:off x="2880360" y="2606040"/>
            <a:ext cx="0" cy="1325880"/>
          </a:xfrm>
          <a:prstGeom prst="line">
            <a:avLst/>
          </a:prstGeom>
          <a:noFill/>
          <a:ln w="12700">
            <a:solidFill>
              <a:srgbClr val="D4D0CA"/>
            </a:solidFill>
            <a:prstDash val="solid"/>
          </a:ln>
        </p:spPr>
        <p:txBody>
          <a:bodyPr/>
          <a:lstStyle/>
          <a:p>
            <a:endParaRPr lang="en-IN" sz="2000"/>
          </a:p>
        </p:txBody>
      </p:sp>
      <p:sp>
        <p:nvSpPr>
          <p:cNvPr id="29" name="Shape 26"/>
          <p:cNvSpPr/>
          <p:nvPr/>
        </p:nvSpPr>
        <p:spPr>
          <a:xfrm>
            <a:off x="5989320" y="2331720"/>
            <a:ext cx="5623560" cy="1828800"/>
          </a:xfrm>
          <a:prstGeom prst="roundRect">
            <a:avLst>
              <a:gd name="adj" fmla="val 3000"/>
            </a:avLst>
          </a:prstGeom>
          <a:solidFill>
            <a:srgbClr val="DCEEEF"/>
          </a:solidFill>
          <a:ln w="12700">
            <a:solidFill>
              <a:srgbClr val="C8C7C4"/>
            </a:solidFill>
            <a:prstDash val="solid"/>
          </a:ln>
        </p:spPr>
        <p:txBody>
          <a:bodyPr/>
          <a:lstStyle/>
          <a:p>
            <a:endParaRPr lang="en-IN" sz="3600"/>
          </a:p>
        </p:txBody>
      </p:sp>
      <p:sp>
        <p:nvSpPr>
          <p:cNvPr id="30" name="Text 27"/>
          <p:cNvSpPr/>
          <p:nvPr/>
        </p:nvSpPr>
        <p:spPr>
          <a:xfrm>
            <a:off x="6099048" y="2414016"/>
            <a:ext cx="5404104" cy="182880"/>
          </a:xfrm>
          <a:prstGeom prst="rect">
            <a:avLst/>
          </a:prstGeom>
          <a:noFill/>
          <a:ln/>
        </p:spPr>
        <p:txBody>
          <a:bodyPr wrap="square" lIns="0" tIns="0" rIns="0" bIns="0" rtlCol="0" anchor="ctr"/>
          <a:lstStyle/>
          <a:p>
            <a:pPr marL="0" indent="0">
              <a:buNone/>
            </a:pPr>
            <a:r>
              <a:rPr lang="en-US" sz="1050" b="1" dirty="0">
                <a:solidFill>
                  <a:srgbClr val="1E1E1E"/>
                </a:solidFill>
                <a:latin typeface="Arial" pitchFamily="34" charset="0"/>
                <a:ea typeface="Arial" pitchFamily="34" charset="-122"/>
                <a:cs typeface="Arial" pitchFamily="34" charset="-120"/>
              </a:rPr>
              <a:t>A practical mental model</a:t>
            </a:r>
            <a:endParaRPr lang="en-US" sz="1050" dirty="0"/>
          </a:p>
        </p:txBody>
      </p:sp>
      <p:sp>
        <p:nvSpPr>
          <p:cNvPr id="31" name="Text 28"/>
          <p:cNvSpPr/>
          <p:nvPr/>
        </p:nvSpPr>
        <p:spPr>
          <a:xfrm>
            <a:off x="6099048" y="2706624"/>
            <a:ext cx="5404104" cy="1371600"/>
          </a:xfrm>
          <a:prstGeom prst="rect">
            <a:avLst/>
          </a:prstGeom>
          <a:noFill/>
          <a:ln/>
        </p:spPr>
        <p:txBody>
          <a:bodyPr wrap="square" lIns="0" tIns="0" rIns="0" bIns="0" rtlCol="0" anchor="t">
            <a:normAutofit/>
          </a:bodyPr>
          <a:lstStyle/>
          <a:p>
            <a:pPr marL="0" indent="0">
              <a:buNone/>
            </a:pPr>
            <a:r>
              <a:rPr lang="en-US" sz="1200" dirty="0">
                <a:solidFill>
                  <a:srgbClr val="1E1E1E"/>
                </a:solidFill>
                <a:latin typeface="Arial" pitchFamily="34" charset="0"/>
                <a:ea typeface="Arial" pitchFamily="34" charset="-122"/>
                <a:cs typeface="Arial" pitchFamily="34" charset="-120"/>
              </a:rPr>
              <a:t>Transfer learning succeeds when the new task lives near the base model’s competence manifold. The closer the task is to what the base model already represents, the less data and parameter movement are needed. When the gap is larger—special vocabulary, long-context behavior, domain-specific reasoning, or policy constraints—you increase intervention strength: first retrieval and prompting, then continued pretraining or SFT, then preference or policy optimization.</a:t>
            </a:r>
            <a:endParaRPr lang="en-US" sz="1200" dirty="0"/>
          </a:p>
        </p:txBody>
      </p:sp>
      <p:sp>
        <p:nvSpPr>
          <p:cNvPr id="32" name="Shape 29"/>
          <p:cNvSpPr/>
          <p:nvPr/>
        </p:nvSpPr>
        <p:spPr>
          <a:xfrm>
            <a:off x="502920" y="4480560"/>
            <a:ext cx="11109960" cy="868680"/>
          </a:xfrm>
          <a:prstGeom prst="roundRect">
            <a:avLst>
              <a:gd name="adj" fmla="val 6316"/>
            </a:avLst>
          </a:prstGeom>
          <a:solidFill>
            <a:srgbClr val="E8E1F2"/>
          </a:solidFill>
          <a:ln w="12700">
            <a:solidFill>
              <a:srgbClr val="C8C7C4"/>
            </a:solidFill>
            <a:prstDash val="solid"/>
          </a:ln>
        </p:spPr>
        <p:txBody>
          <a:bodyPr/>
          <a:lstStyle/>
          <a:p>
            <a:endParaRPr lang="en-IN" sz="3200"/>
          </a:p>
        </p:txBody>
      </p:sp>
      <p:sp>
        <p:nvSpPr>
          <p:cNvPr id="33" name="Text 30"/>
          <p:cNvSpPr/>
          <p:nvPr/>
        </p:nvSpPr>
        <p:spPr>
          <a:xfrm>
            <a:off x="612648" y="4562856"/>
            <a:ext cx="10890504" cy="182880"/>
          </a:xfrm>
          <a:prstGeom prst="rect">
            <a:avLst/>
          </a:prstGeom>
          <a:noFill/>
          <a:ln/>
        </p:spPr>
        <p:txBody>
          <a:bodyPr wrap="square" lIns="0" tIns="0" rIns="0" bIns="0" rtlCol="0" anchor="ctr"/>
          <a:lstStyle/>
          <a:p>
            <a:pPr marL="0" indent="0">
              <a:buNone/>
            </a:pPr>
            <a:r>
              <a:rPr lang="en-US" sz="1400" b="1" dirty="0">
                <a:solidFill>
                  <a:srgbClr val="1E1E1E"/>
                </a:solidFill>
                <a:latin typeface="Arial" pitchFamily="34" charset="0"/>
                <a:ea typeface="Arial" pitchFamily="34" charset="-122"/>
                <a:cs typeface="Arial" pitchFamily="34" charset="-120"/>
              </a:rPr>
              <a:t>Consequence for engineering</a:t>
            </a:r>
            <a:endParaRPr lang="en-US" sz="1400" dirty="0"/>
          </a:p>
        </p:txBody>
      </p:sp>
      <p:sp>
        <p:nvSpPr>
          <p:cNvPr id="34" name="Text 31"/>
          <p:cNvSpPr/>
          <p:nvPr/>
        </p:nvSpPr>
        <p:spPr>
          <a:xfrm>
            <a:off x="612648" y="4855464"/>
            <a:ext cx="10890504" cy="411480"/>
          </a:xfrm>
          <a:prstGeom prst="rect">
            <a:avLst/>
          </a:prstGeom>
          <a:noFill/>
          <a:ln/>
        </p:spPr>
        <p:txBody>
          <a:bodyPr wrap="square" lIns="0" tIns="0" rIns="0" bIns="0" rtlCol="0" anchor="t">
            <a:normAutofit/>
          </a:bodyPr>
          <a:lstStyle/>
          <a:p>
            <a:pPr marL="0" indent="0">
              <a:buNone/>
            </a:pPr>
            <a:r>
              <a:rPr lang="en-US" sz="1200" dirty="0">
                <a:solidFill>
                  <a:srgbClr val="1E1E1E"/>
                </a:solidFill>
                <a:latin typeface="Arial" pitchFamily="34" charset="0"/>
                <a:ea typeface="Arial" pitchFamily="34" charset="-122"/>
                <a:cs typeface="Arial" pitchFamily="34" charset="-120"/>
              </a:rPr>
              <a:t>The biggest win often comes from identifying the smallest effective change. Excessive post-training can buy a little task gain at the price of forgetting, overfitting, and expensive maintenance.</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6">
    <p:bg>
      <p:bgPr>
        <a:solidFill>
          <a:srgbClr val="F4F1EB"/>
        </a:solidFill>
        <a:effectLst/>
      </p:bgPr>
    </p:bg>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143B6B"/>
          </a:solidFill>
          <a:ln w="12700">
            <a:solidFill>
              <a:srgbClr val="143B6B">
                <a:alpha val="0"/>
              </a:srgbClr>
            </a:solidFill>
            <a:prstDash val="solid"/>
          </a:ln>
        </p:spPr>
        <p:txBody>
          <a:bodyPr/>
          <a:lstStyle/>
          <a:p>
            <a:endParaRPr lang="en-IN"/>
          </a:p>
        </p:txBody>
      </p:sp>
      <p:sp>
        <p:nvSpPr>
          <p:cNvPr id="3" name="Shape 1"/>
          <p:cNvSpPr/>
          <p:nvPr/>
        </p:nvSpPr>
        <p:spPr>
          <a:xfrm>
            <a:off x="0" y="6812280"/>
            <a:ext cx="12191695" cy="45720"/>
          </a:xfrm>
          <a:prstGeom prst="rect">
            <a:avLst/>
          </a:prstGeom>
          <a:solidFill>
            <a:srgbClr val="143B6B"/>
          </a:solidFill>
          <a:ln w="12700">
            <a:solidFill>
              <a:srgbClr val="143B6B">
                <a:alpha val="0"/>
              </a:srgbClr>
            </a:solidFill>
            <a:prstDash val="solid"/>
          </a:ln>
        </p:spPr>
        <p:txBody>
          <a:bodyPr/>
          <a:lstStyle/>
          <a:p>
            <a:endParaRPr lang="en-IN"/>
          </a:p>
        </p:txBody>
      </p:sp>
      <p:sp>
        <p:nvSpPr>
          <p:cNvPr id="4" name="Text 2"/>
          <p:cNvSpPr/>
          <p:nvPr/>
        </p:nvSpPr>
        <p:spPr>
          <a:xfrm>
            <a:off x="201168" y="118872"/>
            <a:ext cx="8961120" cy="219456"/>
          </a:xfrm>
          <a:prstGeom prst="rect">
            <a:avLst/>
          </a:prstGeom>
          <a:noFill/>
          <a:ln/>
        </p:spPr>
        <p:txBody>
          <a:bodyPr wrap="square" lIns="0" tIns="0" rIns="0" bIns="0" rtlCol="0" anchor="ctr"/>
          <a:lstStyle/>
          <a:p>
            <a:pPr marL="0" indent="0">
              <a:buNone/>
            </a:pPr>
            <a:r>
              <a:rPr lang="en-US" sz="1700" b="1" dirty="0">
                <a:solidFill>
                  <a:srgbClr val="1E1E1E"/>
                </a:solidFill>
                <a:latin typeface="Arial" pitchFamily="34" charset="0"/>
                <a:ea typeface="Arial" pitchFamily="34" charset="-122"/>
                <a:cs typeface="Arial" pitchFamily="34" charset="-120"/>
              </a:rPr>
              <a:t>Choosing the right adaptation lever before touching weights</a:t>
            </a:r>
            <a:endParaRPr lang="en-US" sz="1700" dirty="0"/>
          </a:p>
        </p:txBody>
      </p:sp>
      <p:pic>
        <p:nvPicPr>
          <p:cNvPr id="5" name="Image 0" descr="/mnt/data/user-5OMUinS2DRg9DUHxNmCh75Xw/0de77cf23bb846ec834131240e4472fb/mnt/data/template_extract/image2.png"/>
          <p:cNvPicPr>
            <a:picLocks noChangeAspect="1"/>
          </p:cNvPicPr>
          <p:nvPr/>
        </p:nvPicPr>
        <p:blipFill>
          <a:blip r:embed="rId3"/>
          <a:stretch>
            <a:fillRect/>
          </a:stretch>
        </p:blipFill>
        <p:spPr>
          <a:xfrm>
            <a:off x="11686032" y="73152"/>
            <a:ext cx="256032" cy="256032"/>
          </a:xfrm>
          <a:prstGeom prst="rect">
            <a:avLst/>
          </a:prstGeom>
        </p:spPr>
      </p:pic>
      <p:sp>
        <p:nvSpPr>
          <p:cNvPr id="6" name="Shape 3"/>
          <p:cNvSpPr/>
          <p:nvPr/>
        </p:nvSpPr>
        <p:spPr>
          <a:xfrm>
            <a:off x="91440" y="6556248"/>
            <a:ext cx="45720" cy="45720"/>
          </a:xfrm>
          <a:prstGeom prst="ellipse">
            <a:avLst/>
          </a:prstGeom>
          <a:solidFill>
            <a:srgbClr val="E6534E"/>
          </a:solidFill>
          <a:ln w="12700">
            <a:solidFill>
              <a:srgbClr val="E6534E">
                <a:alpha val="0"/>
              </a:srgbClr>
            </a:solidFill>
            <a:prstDash val="solid"/>
          </a:ln>
        </p:spPr>
        <p:txBody>
          <a:bodyPr/>
          <a:lstStyle/>
          <a:p>
            <a:endParaRPr lang="en-IN"/>
          </a:p>
        </p:txBody>
      </p:sp>
      <p:sp>
        <p:nvSpPr>
          <p:cNvPr id="7" name="Shape 4"/>
          <p:cNvSpPr/>
          <p:nvPr/>
        </p:nvSpPr>
        <p:spPr>
          <a:xfrm>
            <a:off x="164592" y="6556248"/>
            <a:ext cx="45720" cy="45720"/>
          </a:xfrm>
          <a:prstGeom prst="ellipse">
            <a:avLst/>
          </a:prstGeom>
          <a:solidFill>
            <a:srgbClr val="D6C84C"/>
          </a:solidFill>
          <a:ln w="12700">
            <a:solidFill>
              <a:srgbClr val="D6C84C">
                <a:alpha val="0"/>
              </a:srgbClr>
            </a:solidFill>
            <a:prstDash val="solid"/>
          </a:ln>
        </p:spPr>
        <p:txBody>
          <a:bodyPr/>
          <a:lstStyle/>
          <a:p>
            <a:endParaRPr lang="en-IN"/>
          </a:p>
        </p:txBody>
      </p:sp>
      <p:sp>
        <p:nvSpPr>
          <p:cNvPr id="8" name="Shape 5"/>
          <p:cNvSpPr/>
          <p:nvPr/>
        </p:nvSpPr>
        <p:spPr>
          <a:xfrm>
            <a:off x="237744" y="6556248"/>
            <a:ext cx="45720" cy="45720"/>
          </a:xfrm>
          <a:prstGeom prst="ellipse">
            <a:avLst/>
          </a:prstGeom>
          <a:solidFill>
            <a:srgbClr val="143B6B"/>
          </a:solidFill>
          <a:ln w="12700">
            <a:solidFill>
              <a:srgbClr val="143B6B">
                <a:alpha val="0"/>
              </a:srgbClr>
            </a:solidFill>
            <a:prstDash val="solid"/>
          </a:ln>
        </p:spPr>
        <p:txBody>
          <a:bodyPr/>
          <a:lstStyle/>
          <a:p>
            <a:endParaRPr lang="en-IN"/>
          </a:p>
        </p:txBody>
      </p:sp>
      <p:sp>
        <p:nvSpPr>
          <p:cNvPr id="9" name="Text 6"/>
          <p:cNvSpPr/>
          <p:nvPr/>
        </p:nvSpPr>
        <p:spPr>
          <a:xfrm>
            <a:off x="11841480" y="6528816"/>
            <a:ext cx="164592" cy="109728"/>
          </a:xfrm>
          <a:prstGeom prst="rect">
            <a:avLst/>
          </a:prstGeom>
          <a:noFill/>
          <a:ln/>
        </p:spPr>
        <p:txBody>
          <a:bodyPr wrap="square" lIns="0" tIns="0" rIns="0" bIns="0" rtlCol="0" anchor="ctr"/>
          <a:lstStyle/>
          <a:p>
            <a:pPr marL="0" indent="0" algn="r">
              <a:buNone/>
            </a:pPr>
            <a:r>
              <a:rPr lang="en-US" sz="800" dirty="0">
                <a:solidFill>
                  <a:srgbClr val="7A7A7A"/>
                </a:solidFill>
                <a:latin typeface="Arial" pitchFamily="34" charset="0"/>
                <a:ea typeface="Arial" pitchFamily="34" charset="-122"/>
                <a:cs typeface="Arial" pitchFamily="34" charset="-120"/>
              </a:rPr>
              <a:t>6</a:t>
            </a:r>
            <a:endParaRPr lang="en-US" sz="800" dirty="0"/>
          </a:p>
        </p:txBody>
      </p:sp>
      <p:sp>
        <p:nvSpPr>
          <p:cNvPr id="10" name="Shape 7"/>
          <p:cNvSpPr/>
          <p:nvPr/>
        </p:nvSpPr>
        <p:spPr>
          <a:xfrm>
            <a:off x="320040" y="822960"/>
            <a:ext cx="1508760" cy="2926080"/>
          </a:xfrm>
          <a:prstGeom prst="roundRect">
            <a:avLst>
              <a:gd name="adj" fmla="val 3636"/>
            </a:avLst>
          </a:prstGeom>
          <a:solidFill>
            <a:srgbClr val="DCE8F4"/>
          </a:solidFill>
          <a:ln w="12700">
            <a:solidFill>
              <a:srgbClr val="C8C7C4"/>
            </a:solidFill>
            <a:prstDash val="solid"/>
          </a:ln>
        </p:spPr>
        <p:txBody>
          <a:bodyPr/>
          <a:lstStyle/>
          <a:p>
            <a:endParaRPr lang="en-IN"/>
          </a:p>
        </p:txBody>
      </p:sp>
      <p:sp>
        <p:nvSpPr>
          <p:cNvPr id="11" name="Text 8"/>
          <p:cNvSpPr/>
          <p:nvPr/>
        </p:nvSpPr>
        <p:spPr>
          <a:xfrm>
            <a:off x="429768" y="905256"/>
            <a:ext cx="1289304" cy="182880"/>
          </a:xfrm>
          <a:prstGeom prst="rect">
            <a:avLst/>
          </a:prstGeom>
          <a:noFill/>
          <a:ln/>
        </p:spPr>
        <p:txBody>
          <a:bodyPr wrap="square" lIns="0" tIns="0" rIns="0" bIns="0" rtlCol="0" anchor="ctr"/>
          <a:lstStyle/>
          <a:p>
            <a:pPr marL="0" indent="0">
              <a:buNone/>
            </a:pPr>
            <a:r>
              <a:rPr lang="en-US" sz="1000" b="1" dirty="0">
                <a:solidFill>
                  <a:srgbClr val="1E1E1E"/>
                </a:solidFill>
                <a:latin typeface="Arial" pitchFamily="34" charset="0"/>
                <a:ea typeface="Arial" pitchFamily="34" charset="-122"/>
                <a:cs typeface="Arial" pitchFamily="34" charset="-120"/>
              </a:rPr>
              <a:t>Prompt / ICL</a:t>
            </a:r>
            <a:endParaRPr lang="en-US" sz="1000" dirty="0"/>
          </a:p>
        </p:txBody>
      </p:sp>
      <p:sp>
        <p:nvSpPr>
          <p:cNvPr id="12" name="Text 9"/>
          <p:cNvSpPr/>
          <p:nvPr/>
        </p:nvSpPr>
        <p:spPr>
          <a:xfrm>
            <a:off x="429768" y="1197864"/>
            <a:ext cx="1289304" cy="2468880"/>
          </a:xfrm>
          <a:prstGeom prst="rect">
            <a:avLst/>
          </a:prstGeom>
          <a:noFill/>
          <a:ln/>
        </p:spPr>
        <p:txBody>
          <a:bodyPr wrap="square" lIns="0" tIns="0" rIns="0" bIns="0" rtlCol="0" anchor="t">
            <a:normAutofit/>
          </a:bodyPr>
          <a:lstStyle/>
          <a:p>
            <a:pPr marL="0" indent="0">
              <a:buNone/>
            </a:pPr>
            <a:r>
              <a:rPr lang="en-US" sz="1200" dirty="0">
                <a:solidFill>
                  <a:srgbClr val="1E1E1E"/>
                </a:solidFill>
                <a:latin typeface="Arial" pitchFamily="34" charset="0"/>
                <a:ea typeface="Arial" pitchFamily="34" charset="-122"/>
                <a:cs typeface="Arial" pitchFamily="34" charset="-120"/>
              </a:rPr>
              <a:t>Best when</a:t>
            </a:r>
            <a:endParaRPr lang="en-US" sz="1200" dirty="0"/>
          </a:p>
          <a:p>
            <a:pPr marL="0" indent="0">
              <a:buNone/>
            </a:pPr>
            <a:r>
              <a:rPr lang="en-US" sz="1200" dirty="0">
                <a:solidFill>
                  <a:srgbClr val="1E1E1E"/>
                </a:solidFill>
                <a:latin typeface="Arial" pitchFamily="34" charset="0"/>
                <a:ea typeface="Arial" pitchFamily="34" charset="-122"/>
                <a:cs typeface="Arial" pitchFamily="34" charset="-120"/>
              </a:rPr>
              <a:t>• task is already in-model</a:t>
            </a:r>
            <a:endParaRPr lang="en-US" sz="1200" dirty="0"/>
          </a:p>
          <a:p>
            <a:pPr marL="0" indent="0">
              <a:buNone/>
            </a:pPr>
            <a:r>
              <a:rPr lang="en-US" sz="1200" dirty="0">
                <a:solidFill>
                  <a:srgbClr val="1E1E1E"/>
                </a:solidFill>
                <a:latin typeface="Arial" pitchFamily="34" charset="0"/>
                <a:ea typeface="Arial" pitchFamily="34" charset="-122"/>
                <a:cs typeface="Arial" pitchFamily="34" charset="-120"/>
              </a:rPr>
              <a:t>• behavior change is small</a:t>
            </a:r>
            <a:endParaRPr lang="en-US" sz="1200" dirty="0"/>
          </a:p>
          <a:p>
            <a:pPr marL="0" indent="0">
              <a:buNone/>
            </a:pPr>
            <a:r>
              <a:rPr lang="en-US" sz="1200" dirty="0">
                <a:solidFill>
                  <a:srgbClr val="1E1E1E"/>
                </a:solidFill>
                <a:latin typeface="Arial" pitchFamily="34" charset="0"/>
                <a:ea typeface="Arial" pitchFamily="34" charset="-122"/>
                <a:cs typeface="Arial" pitchFamily="34" charset="-120"/>
              </a:rPr>
              <a:t>• latency matters</a:t>
            </a:r>
            <a:endParaRPr lang="en-US" sz="1200" dirty="0"/>
          </a:p>
        </p:txBody>
      </p:sp>
      <p:sp>
        <p:nvSpPr>
          <p:cNvPr id="13" name="Shape 10"/>
          <p:cNvSpPr/>
          <p:nvPr/>
        </p:nvSpPr>
        <p:spPr>
          <a:xfrm>
            <a:off x="2331720" y="822960"/>
            <a:ext cx="1508760" cy="2926080"/>
          </a:xfrm>
          <a:prstGeom prst="roundRect">
            <a:avLst>
              <a:gd name="adj" fmla="val 3636"/>
            </a:avLst>
          </a:prstGeom>
          <a:solidFill>
            <a:srgbClr val="DCEEEF"/>
          </a:solidFill>
          <a:ln w="12700">
            <a:solidFill>
              <a:srgbClr val="C8C7C4"/>
            </a:solidFill>
            <a:prstDash val="solid"/>
          </a:ln>
        </p:spPr>
        <p:txBody>
          <a:bodyPr/>
          <a:lstStyle/>
          <a:p>
            <a:endParaRPr lang="en-IN"/>
          </a:p>
        </p:txBody>
      </p:sp>
      <p:sp>
        <p:nvSpPr>
          <p:cNvPr id="14" name="Text 11"/>
          <p:cNvSpPr/>
          <p:nvPr/>
        </p:nvSpPr>
        <p:spPr>
          <a:xfrm>
            <a:off x="2441448" y="905256"/>
            <a:ext cx="1289304" cy="182880"/>
          </a:xfrm>
          <a:prstGeom prst="rect">
            <a:avLst/>
          </a:prstGeom>
          <a:noFill/>
          <a:ln/>
        </p:spPr>
        <p:txBody>
          <a:bodyPr wrap="square" lIns="0" tIns="0" rIns="0" bIns="0" rtlCol="0" anchor="ctr"/>
          <a:lstStyle/>
          <a:p>
            <a:pPr marL="0" indent="0">
              <a:buNone/>
            </a:pPr>
            <a:r>
              <a:rPr lang="en-US" sz="1000" b="1" dirty="0">
                <a:solidFill>
                  <a:srgbClr val="1E1E1E"/>
                </a:solidFill>
                <a:latin typeface="Arial" pitchFamily="34" charset="0"/>
                <a:ea typeface="Arial" pitchFamily="34" charset="-122"/>
                <a:cs typeface="Arial" pitchFamily="34" charset="-120"/>
              </a:rPr>
              <a:t>RAG</a:t>
            </a:r>
            <a:endParaRPr lang="en-US" sz="1000" dirty="0"/>
          </a:p>
        </p:txBody>
      </p:sp>
      <p:sp>
        <p:nvSpPr>
          <p:cNvPr id="15" name="Text 12"/>
          <p:cNvSpPr/>
          <p:nvPr/>
        </p:nvSpPr>
        <p:spPr>
          <a:xfrm>
            <a:off x="2441448" y="1197864"/>
            <a:ext cx="1289304" cy="2468880"/>
          </a:xfrm>
          <a:prstGeom prst="rect">
            <a:avLst/>
          </a:prstGeom>
          <a:noFill/>
          <a:ln/>
        </p:spPr>
        <p:txBody>
          <a:bodyPr wrap="square" lIns="0" tIns="0" rIns="0" bIns="0" rtlCol="0" anchor="t">
            <a:normAutofit/>
          </a:bodyPr>
          <a:lstStyle/>
          <a:p>
            <a:pPr marL="0" indent="0">
              <a:buNone/>
            </a:pPr>
            <a:r>
              <a:rPr lang="en-US" sz="1200" dirty="0">
                <a:solidFill>
                  <a:srgbClr val="1E1E1E"/>
                </a:solidFill>
                <a:latin typeface="Arial" pitchFamily="34" charset="0"/>
                <a:ea typeface="Arial" pitchFamily="34" charset="-122"/>
                <a:cs typeface="Arial" pitchFamily="34" charset="-120"/>
              </a:rPr>
              <a:t>Best when</a:t>
            </a:r>
            <a:endParaRPr lang="en-US" sz="1200" dirty="0"/>
          </a:p>
          <a:p>
            <a:pPr marL="0" indent="0">
              <a:buNone/>
            </a:pPr>
            <a:r>
              <a:rPr lang="en-US" sz="1200" dirty="0">
                <a:solidFill>
                  <a:srgbClr val="1E1E1E"/>
                </a:solidFill>
                <a:latin typeface="Arial" pitchFamily="34" charset="0"/>
                <a:ea typeface="Arial" pitchFamily="34" charset="-122"/>
                <a:cs typeface="Arial" pitchFamily="34" charset="-120"/>
              </a:rPr>
              <a:t>• knowledge changes often</a:t>
            </a:r>
            <a:endParaRPr lang="en-US" sz="1200" dirty="0"/>
          </a:p>
          <a:p>
            <a:pPr marL="0" indent="0">
              <a:buNone/>
            </a:pPr>
            <a:r>
              <a:rPr lang="en-US" sz="1200" dirty="0">
                <a:solidFill>
                  <a:srgbClr val="1E1E1E"/>
                </a:solidFill>
                <a:latin typeface="Arial" pitchFamily="34" charset="0"/>
                <a:ea typeface="Arial" pitchFamily="34" charset="-122"/>
                <a:cs typeface="Arial" pitchFamily="34" charset="-120"/>
              </a:rPr>
              <a:t>• enterprise docs must stay external</a:t>
            </a:r>
            <a:endParaRPr lang="en-US" sz="1200" dirty="0"/>
          </a:p>
          <a:p>
            <a:pPr marL="0" indent="0">
              <a:buNone/>
            </a:pPr>
            <a:r>
              <a:rPr lang="en-US" sz="1200" dirty="0">
                <a:solidFill>
                  <a:srgbClr val="1E1E1E"/>
                </a:solidFill>
                <a:latin typeface="Arial" pitchFamily="34" charset="0"/>
                <a:ea typeface="Arial" pitchFamily="34" charset="-122"/>
                <a:cs typeface="Arial" pitchFamily="34" charset="-120"/>
              </a:rPr>
              <a:t>• citations matter</a:t>
            </a:r>
            <a:endParaRPr lang="en-US" sz="1200" dirty="0"/>
          </a:p>
        </p:txBody>
      </p:sp>
      <p:sp>
        <p:nvSpPr>
          <p:cNvPr id="16" name="Shape 13"/>
          <p:cNvSpPr/>
          <p:nvPr/>
        </p:nvSpPr>
        <p:spPr>
          <a:xfrm>
            <a:off x="4343400" y="822960"/>
            <a:ext cx="1508760" cy="2926080"/>
          </a:xfrm>
          <a:prstGeom prst="roundRect">
            <a:avLst>
              <a:gd name="adj" fmla="val 3636"/>
            </a:avLst>
          </a:prstGeom>
          <a:solidFill>
            <a:srgbClr val="F6EEC7"/>
          </a:solidFill>
          <a:ln w="12700">
            <a:solidFill>
              <a:srgbClr val="C8C7C4"/>
            </a:solidFill>
            <a:prstDash val="solid"/>
          </a:ln>
        </p:spPr>
        <p:txBody>
          <a:bodyPr/>
          <a:lstStyle/>
          <a:p>
            <a:endParaRPr lang="en-IN"/>
          </a:p>
        </p:txBody>
      </p:sp>
      <p:sp>
        <p:nvSpPr>
          <p:cNvPr id="17" name="Text 14"/>
          <p:cNvSpPr/>
          <p:nvPr/>
        </p:nvSpPr>
        <p:spPr>
          <a:xfrm>
            <a:off x="4453128" y="905256"/>
            <a:ext cx="1289304" cy="182880"/>
          </a:xfrm>
          <a:prstGeom prst="rect">
            <a:avLst/>
          </a:prstGeom>
          <a:noFill/>
          <a:ln/>
        </p:spPr>
        <p:txBody>
          <a:bodyPr wrap="square" lIns="0" tIns="0" rIns="0" bIns="0" rtlCol="0" anchor="ctr"/>
          <a:lstStyle/>
          <a:p>
            <a:pPr marL="0" indent="0">
              <a:buNone/>
            </a:pPr>
            <a:r>
              <a:rPr lang="en-US" sz="1000" b="1" dirty="0">
                <a:solidFill>
                  <a:srgbClr val="1E1E1E"/>
                </a:solidFill>
                <a:latin typeface="Arial" pitchFamily="34" charset="0"/>
                <a:ea typeface="Arial" pitchFamily="34" charset="-122"/>
                <a:cs typeface="Arial" pitchFamily="34" charset="-120"/>
              </a:rPr>
              <a:t>Continued PT</a:t>
            </a:r>
            <a:endParaRPr lang="en-US" sz="1000" dirty="0"/>
          </a:p>
        </p:txBody>
      </p:sp>
      <p:sp>
        <p:nvSpPr>
          <p:cNvPr id="18" name="Text 15"/>
          <p:cNvSpPr/>
          <p:nvPr/>
        </p:nvSpPr>
        <p:spPr>
          <a:xfrm>
            <a:off x="4453128" y="1197864"/>
            <a:ext cx="1289304" cy="2468880"/>
          </a:xfrm>
          <a:prstGeom prst="rect">
            <a:avLst/>
          </a:prstGeom>
          <a:noFill/>
          <a:ln/>
        </p:spPr>
        <p:txBody>
          <a:bodyPr wrap="square" lIns="0" tIns="0" rIns="0" bIns="0" rtlCol="0" anchor="t">
            <a:normAutofit/>
          </a:bodyPr>
          <a:lstStyle/>
          <a:p>
            <a:pPr marL="0" indent="0">
              <a:buNone/>
            </a:pPr>
            <a:r>
              <a:rPr lang="en-US" sz="1200" dirty="0">
                <a:solidFill>
                  <a:srgbClr val="1E1E1E"/>
                </a:solidFill>
                <a:latin typeface="Arial" pitchFamily="34" charset="0"/>
                <a:ea typeface="Arial" pitchFamily="34" charset="-122"/>
                <a:cs typeface="Arial" pitchFamily="34" charset="-120"/>
              </a:rPr>
              <a:t>Best when</a:t>
            </a:r>
            <a:endParaRPr lang="en-US" sz="1200" dirty="0"/>
          </a:p>
          <a:p>
            <a:pPr marL="0" indent="0">
              <a:buNone/>
            </a:pPr>
            <a:r>
              <a:rPr lang="en-US" sz="1200" dirty="0">
                <a:solidFill>
                  <a:srgbClr val="1E1E1E"/>
                </a:solidFill>
                <a:latin typeface="Arial" pitchFamily="34" charset="0"/>
                <a:ea typeface="Arial" pitchFamily="34" charset="-122"/>
                <a:cs typeface="Arial" pitchFamily="34" charset="-120"/>
              </a:rPr>
              <a:t>• vocabulary/style are mismatched</a:t>
            </a:r>
            <a:endParaRPr lang="en-US" sz="1200" dirty="0"/>
          </a:p>
          <a:p>
            <a:pPr marL="0" indent="0">
              <a:buNone/>
            </a:pPr>
            <a:r>
              <a:rPr lang="en-US" sz="1200" dirty="0">
                <a:solidFill>
                  <a:srgbClr val="1E1E1E"/>
                </a:solidFill>
                <a:latin typeface="Arial" pitchFamily="34" charset="0"/>
                <a:ea typeface="Arial" pitchFamily="34" charset="-122"/>
                <a:cs typeface="Arial" pitchFamily="34" charset="-120"/>
              </a:rPr>
              <a:t>• lots of unlabeled domain text exists</a:t>
            </a:r>
            <a:endParaRPr lang="en-US" sz="1200" dirty="0"/>
          </a:p>
        </p:txBody>
      </p:sp>
      <p:sp>
        <p:nvSpPr>
          <p:cNvPr id="19" name="Shape 16"/>
          <p:cNvSpPr/>
          <p:nvPr/>
        </p:nvSpPr>
        <p:spPr>
          <a:xfrm>
            <a:off x="6355080" y="822960"/>
            <a:ext cx="1508760" cy="2926080"/>
          </a:xfrm>
          <a:prstGeom prst="roundRect">
            <a:avLst>
              <a:gd name="adj" fmla="val 3636"/>
            </a:avLst>
          </a:prstGeom>
          <a:solidFill>
            <a:srgbClr val="DDEDE1"/>
          </a:solidFill>
          <a:ln w="12700">
            <a:solidFill>
              <a:srgbClr val="C8C7C4"/>
            </a:solidFill>
            <a:prstDash val="solid"/>
          </a:ln>
        </p:spPr>
        <p:txBody>
          <a:bodyPr/>
          <a:lstStyle/>
          <a:p>
            <a:endParaRPr lang="en-IN"/>
          </a:p>
        </p:txBody>
      </p:sp>
      <p:sp>
        <p:nvSpPr>
          <p:cNvPr id="20" name="Text 17"/>
          <p:cNvSpPr/>
          <p:nvPr/>
        </p:nvSpPr>
        <p:spPr>
          <a:xfrm>
            <a:off x="6464808" y="905256"/>
            <a:ext cx="1289304" cy="182880"/>
          </a:xfrm>
          <a:prstGeom prst="rect">
            <a:avLst/>
          </a:prstGeom>
          <a:noFill/>
          <a:ln/>
        </p:spPr>
        <p:txBody>
          <a:bodyPr wrap="square" lIns="0" tIns="0" rIns="0" bIns="0" rtlCol="0" anchor="ctr"/>
          <a:lstStyle/>
          <a:p>
            <a:pPr marL="0" indent="0">
              <a:buNone/>
            </a:pPr>
            <a:r>
              <a:rPr lang="en-US" sz="1000" b="1" dirty="0">
                <a:solidFill>
                  <a:srgbClr val="1E1E1E"/>
                </a:solidFill>
                <a:latin typeface="Arial" pitchFamily="34" charset="0"/>
                <a:ea typeface="Arial" pitchFamily="34" charset="-122"/>
                <a:cs typeface="Arial" pitchFamily="34" charset="-120"/>
              </a:rPr>
              <a:t>SFT</a:t>
            </a:r>
            <a:endParaRPr lang="en-US" sz="1000" dirty="0"/>
          </a:p>
        </p:txBody>
      </p:sp>
      <p:sp>
        <p:nvSpPr>
          <p:cNvPr id="21" name="Text 18"/>
          <p:cNvSpPr/>
          <p:nvPr/>
        </p:nvSpPr>
        <p:spPr>
          <a:xfrm>
            <a:off x="6464808" y="1197864"/>
            <a:ext cx="1289304" cy="2468880"/>
          </a:xfrm>
          <a:prstGeom prst="rect">
            <a:avLst/>
          </a:prstGeom>
          <a:noFill/>
          <a:ln/>
        </p:spPr>
        <p:txBody>
          <a:bodyPr wrap="square" lIns="0" tIns="0" rIns="0" bIns="0" rtlCol="0" anchor="t">
            <a:normAutofit/>
          </a:bodyPr>
          <a:lstStyle/>
          <a:p>
            <a:pPr marL="0" indent="0">
              <a:buNone/>
            </a:pPr>
            <a:r>
              <a:rPr lang="en-US" sz="1200" dirty="0">
                <a:solidFill>
                  <a:srgbClr val="1E1E1E"/>
                </a:solidFill>
                <a:latin typeface="Arial" pitchFamily="34" charset="0"/>
                <a:ea typeface="Arial" pitchFamily="34" charset="-122"/>
                <a:cs typeface="Arial" pitchFamily="34" charset="-120"/>
              </a:rPr>
              <a:t>Best when</a:t>
            </a:r>
            <a:endParaRPr lang="en-US" sz="1200" dirty="0"/>
          </a:p>
          <a:p>
            <a:pPr marL="0" indent="0">
              <a:buNone/>
            </a:pPr>
            <a:r>
              <a:rPr lang="en-US" sz="1200" dirty="0">
                <a:solidFill>
                  <a:srgbClr val="1E1E1E"/>
                </a:solidFill>
                <a:latin typeface="Arial" pitchFamily="34" charset="0"/>
                <a:ea typeface="Arial" pitchFamily="34" charset="-122"/>
                <a:cs typeface="Arial" pitchFamily="34" charset="-120"/>
              </a:rPr>
              <a:t>• exact output format matters</a:t>
            </a:r>
            <a:endParaRPr lang="en-US" sz="1200" dirty="0"/>
          </a:p>
          <a:p>
            <a:pPr marL="0" indent="0">
              <a:buNone/>
            </a:pPr>
            <a:r>
              <a:rPr lang="en-US" sz="1200" dirty="0">
                <a:solidFill>
                  <a:srgbClr val="1E1E1E"/>
                </a:solidFill>
                <a:latin typeface="Arial" pitchFamily="34" charset="0"/>
                <a:ea typeface="Arial" pitchFamily="34" charset="-122"/>
                <a:cs typeface="Arial" pitchFamily="34" charset="-120"/>
              </a:rPr>
              <a:t>• you have labeled examples</a:t>
            </a:r>
            <a:endParaRPr lang="en-US" sz="1200" dirty="0"/>
          </a:p>
          <a:p>
            <a:pPr marL="0" indent="0">
              <a:buNone/>
            </a:pPr>
            <a:r>
              <a:rPr lang="en-US" sz="1200" dirty="0">
                <a:solidFill>
                  <a:srgbClr val="1E1E1E"/>
                </a:solidFill>
                <a:latin typeface="Arial" pitchFamily="34" charset="0"/>
                <a:ea typeface="Arial" pitchFamily="34" charset="-122"/>
                <a:cs typeface="Arial" pitchFamily="34" charset="-120"/>
              </a:rPr>
              <a:t>• the model must imitate task behavior</a:t>
            </a:r>
            <a:endParaRPr lang="en-US" sz="1200" dirty="0"/>
          </a:p>
        </p:txBody>
      </p:sp>
      <p:sp>
        <p:nvSpPr>
          <p:cNvPr id="22" name="Shape 19"/>
          <p:cNvSpPr/>
          <p:nvPr/>
        </p:nvSpPr>
        <p:spPr>
          <a:xfrm>
            <a:off x="8366760" y="822960"/>
            <a:ext cx="1508760" cy="2926080"/>
          </a:xfrm>
          <a:prstGeom prst="roundRect">
            <a:avLst>
              <a:gd name="adj" fmla="val 3636"/>
            </a:avLst>
          </a:prstGeom>
          <a:solidFill>
            <a:srgbClr val="F2DDD7"/>
          </a:solidFill>
          <a:ln w="12700">
            <a:solidFill>
              <a:srgbClr val="C8C7C4"/>
            </a:solidFill>
            <a:prstDash val="solid"/>
          </a:ln>
        </p:spPr>
        <p:txBody>
          <a:bodyPr/>
          <a:lstStyle/>
          <a:p>
            <a:endParaRPr lang="en-IN"/>
          </a:p>
        </p:txBody>
      </p:sp>
      <p:sp>
        <p:nvSpPr>
          <p:cNvPr id="23" name="Text 20"/>
          <p:cNvSpPr/>
          <p:nvPr/>
        </p:nvSpPr>
        <p:spPr>
          <a:xfrm>
            <a:off x="8476488" y="905256"/>
            <a:ext cx="1289304" cy="182880"/>
          </a:xfrm>
          <a:prstGeom prst="rect">
            <a:avLst/>
          </a:prstGeom>
          <a:noFill/>
          <a:ln/>
        </p:spPr>
        <p:txBody>
          <a:bodyPr wrap="square" lIns="0" tIns="0" rIns="0" bIns="0" rtlCol="0" anchor="ctr"/>
          <a:lstStyle/>
          <a:p>
            <a:pPr marL="0" indent="0">
              <a:buNone/>
            </a:pPr>
            <a:r>
              <a:rPr lang="en-US" sz="1000" b="1" dirty="0">
                <a:solidFill>
                  <a:srgbClr val="1E1E1E"/>
                </a:solidFill>
                <a:latin typeface="Arial" pitchFamily="34" charset="0"/>
                <a:ea typeface="Arial" pitchFamily="34" charset="-122"/>
                <a:cs typeface="Arial" pitchFamily="34" charset="-120"/>
              </a:rPr>
              <a:t>Preference tuning</a:t>
            </a:r>
            <a:endParaRPr lang="en-US" sz="1000" dirty="0"/>
          </a:p>
        </p:txBody>
      </p:sp>
      <p:sp>
        <p:nvSpPr>
          <p:cNvPr id="24" name="Text 21"/>
          <p:cNvSpPr/>
          <p:nvPr/>
        </p:nvSpPr>
        <p:spPr>
          <a:xfrm>
            <a:off x="8476488" y="1197864"/>
            <a:ext cx="1289304" cy="2468880"/>
          </a:xfrm>
          <a:prstGeom prst="rect">
            <a:avLst/>
          </a:prstGeom>
          <a:noFill/>
          <a:ln/>
        </p:spPr>
        <p:txBody>
          <a:bodyPr wrap="square" lIns="0" tIns="0" rIns="0" bIns="0" rtlCol="0" anchor="t">
            <a:normAutofit/>
          </a:bodyPr>
          <a:lstStyle/>
          <a:p>
            <a:pPr marL="0" indent="0">
              <a:buNone/>
            </a:pPr>
            <a:r>
              <a:rPr lang="en-US" sz="1200" dirty="0">
                <a:solidFill>
                  <a:srgbClr val="1E1E1E"/>
                </a:solidFill>
                <a:latin typeface="Arial" pitchFamily="34" charset="0"/>
                <a:ea typeface="Arial" pitchFamily="34" charset="-122"/>
                <a:cs typeface="Arial" pitchFamily="34" charset="-120"/>
              </a:rPr>
              <a:t>Best when</a:t>
            </a:r>
            <a:endParaRPr lang="en-US" sz="1200" dirty="0"/>
          </a:p>
          <a:p>
            <a:pPr marL="0" indent="0">
              <a:buNone/>
            </a:pPr>
            <a:r>
              <a:rPr lang="en-US" sz="1200" dirty="0">
                <a:solidFill>
                  <a:srgbClr val="1E1E1E"/>
                </a:solidFill>
                <a:latin typeface="Arial" pitchFamily="34" charset="0"/>
                <a:ea typeface="Arial" pitchFamily="34" charset="-122"/>
                <a:cs typeface="Arial" pitchFamily="34" charset="-120"/>
              </a:rPr>
              <a:t>• ranking, refusals, or tone matter</a:t>
            </a:r>
            <a:endParaRPr lang="en-US" sz="1200" dirty="0"/>
          </a:p>
          <a:p>
            <a:pPr marL="0" indent="0">
              <a:buNone/>
            </a:pPr>
            <a:r>
              <a:rPr lang="en-US" sz="1200" dirty="0">
                <a:solidFill>
                  <a:srgbClr val="1E1E1E"/>
                </a:solidFill>
                <a:latin typeface="Arial" pitchFamily="34" charset="0"/>
                <a:ea typeface="Arial" pitchFamily="34" charset="-122"/>
                <a:cs typeface="Arial" pitchFamily="34" charset="-120"/>
              </a:rPr>
              <a:t>• chosen-vs-rejected preference data exists</a:t>
            </a:r>
            <a:endParaRPr lang="en-US" sz="1200" dirty="0"/>
          </a:p>
        </p:txBody>
      </p:sp>
      <p:sp>
        <p:nvSpPr>
          <p:cNvPr id="25" name="Shape 22"/>
          <p:cNvSpPr/>
          <p:nvPr/>
        </p:nvSpPr>
        <p:spPr>
          <a:xfrm>
            <a:off x="10378440" y="822960"/>
            <a:ext cx="1508760" cy="2926080"/>
          </a:xfrm>
          <a:prstGeom prst="roundRect">
            <a:avLst>
              <a:gd name="adj" fmla="val 3636"/>
            </a:avLst>
          </a:prstGeom>
          <a:solidFill>
            <a:srgbClr val="E8E1F2"/>
          </a:solidFill>
          <a:ln w="12700">
            <a:solidFill>
              <a:srgbClr val="C8C7C4"/>
            </a:solidFill>
            <a:prstDash val="solid"/>
          </a:ln>
        </p:spPr>
        <p:txBody>
          <a:bodyPr/>
          <a:lstStyle/>
          <a:p>
            <a:endParaRPr lang="en-IN"/>
          </a:p>
        </p:txBody>
      </p:sp>
      <p:sp>
        <p:nvSpPr>
          <p:cNvPr id="26" name="Text 23"/>
          <p:cNvSpPr/>
          <p:nvPr/>
        </p:nvSpPr>
        <p:spPr>
          <a:xfrm>
            <a:off x="10488168" y="905256"/>
            <a:ext cx="1289304" cy="182880"/>
          </a:xfrm>
          <a:prstGeom prst="rect">
            <a:avLst/>
          </a:prstGeom>
          <a:noFill/>
          <a:ln/>
        </p:spPr>
        <p:txBody>
          <a:bodyPr wrap="square" lIns="0" tIns="0" rIns="0" bIns="0" rtlCol="0" anchor="ctr"/>
          <a:lstStyle/>
          <a:p>
            <a:pPr marL="0" indent="0">
              <a:buNone/>
            </a:pPr>
            <a:r>
              <a:rPr lang="en-US" sz="1000" b="1" dirty="0">
                <a:solidFill>
                  <a:srgbClr val="1E1E1E"/>
                </a:solidFill>
                <a:latin typeface="Arial" pitchFamily="34" charset="0"/>
                <a:ea typeface="Arial" pitchFamily="34" charset="-122"/>
                <a:cs typeface="Arial" pitchFamily="34" charset="-120"/>
              </a:rPr>
              <a:t>PEFT / LoRA</a:t>
            </a:r>
            <a:endParaRPr lang="en-US" sz="1000" dirty="0"/>
          </a:p>
        </p:txBody>
      </p:sp>
      <p:sp>
        <p:nvSpPr>
          <p:cNvPr id="27" name="Text 24"/>
          <p:cNvSpPr/>
          <p:nvPr/>
        </p:nvSpPr>
        <p:spPr>
          <a:xfrm>
            <a:off x="10488168" y="1197864"/>
            <a:ext cx="1289304" cy="2468880"/>
          </a:xfrm>
          <a:prstGeom prst="rect">
            <a:avLst/>
          </a:prstGeom>
          <a:noFill/>
          <a:ln/>
        </p:spPr>
        <p:txBody>
          <a:bodyPr wrap="square" lIns="0" tIns="0" rIns="0" bIns="0" rtlCol="0" anchor="t">
            <a:normAutofit/>
          </a:bodyPr>
          <a:lstStyle/>
          <a:p>
            <a:pPr marL="0" indent="0">
              <a:buNone/>
            </a:pPr>
            <a:r>
              <a:rPr lang="en-US" sz="1200" dirty="0">
                <a:solidFill>
                  <a:srgbClr val="1E1E1E"/>
                </a:solidFill>
                <a:latin typeface="Arial" pitchFamily="34" charset="0"/>
                <a:ea typeface="Arial" pitchFamily="34" charset="-122"/>
                <a:cs typeface="Arial" pitchFamily="34" charset="-120"/>
              </a:rPr>
              <a:t>Best when</a:t>
            </a:r>
            <a:endParaRPr lang="en-US" sz="1200" dirty="0"/>
          </a:p>
          <a:p>
            <a:pPr marL="0" indent="0">
              <a:buNone/>
            </a:pPr>
            <a:r>
              <a:rPr lang="en-US" sz="1200" dirty="0">
                <a:solidFill>
                  <a:srgbClr val="1E1E1E"/>
                </a:solidFill>
                <a:latin typeface="Arial" pitchFamily="34" charset="0"/>
                <a:ea typeface="Arial" pitchFamily="34" charset="-122"/>
                <a:cs typeface="Arial" pitchFamily="34" charset="-120"/>
              </a:rPr>
              <a:t>• weight updates are needed but memory budget is tight</a:t>
            </a:r>
            <a:endParaRPr lang="en-US" sz="1200" dirty="0"/>
          </a:p>
          <a:p>
            <a:pPr marL="0" indent="0">
              <a:buNone/>
            </a:pPr>
            <a:r>
              <a:rPr lang="en-US" sz="1200" dirty="0">
                <a:solidFill>
                  <a:srgbClr val="1E1E1E"/>
                </a:solidFill>
                <a:latin typeface="Arial" pitchFamily="34" charset="0"/>
                <a:ea typeface="Arial" pitchFamily="34" charset="-122"/>
                <a:cs typeface="Arial" pitchFamily="34" charset="-120"/>
              </a:rPr>
              <a:t>• many task-specific variants must be maintained</a:t>
            </a:r>
            <a:endParaRPr lang="en-US" sz="1200" dirty="0"/>
          </a:p>
        </p:txBody>
      </p:sp>
      <p:sp>
        <p:nvSpPr>
          <p:cNvPr id="28" name="Shape 25"/>
          <p:cNvSpPr/>
          <p:nvPr/>
        </p:nvSpPr>
        <p:spPr>
          <a:xfrm>
            <a:off x="548640" y="4069080"/>
            <a:ext cx="10789920" cy="0"/>
          </a:xfrm>
          <a:prstGeom prst="line">
            <a:avLst/>
          </a:prstGeom>
          <a:noFill/>
          <a:ln w="15240">
            <a:solidFill>
              <a:srgbClr val="B9BEC7"/>
            </a:solidFill>
            <a:prstDash val="solid"/>
          </a:ln>
        </p:spPr>
        <p:txBody>
          <a:bodyPr/>
          <a:lstStyle/>
          <a:p>
            <a:endParaRPr lang="en-IN"/>
          </a:p>
        </p:txBody>
      </p:sp>
      <p:sp>
        <p:nvSpPr>
          <p:cNvPr id="29" name="Shape 26"/>
          <p:cNvSpPr/>
          <p:nvPr/>
        </p:nvSpPr>
        <p:spPr>
          <a:xfrm>
            <a:off x="11109960" y="3959352"/>
            <a:ext cx="237744" cy="219456"/>
          </a:xfrm>
          <a:prstGeom prst="chevron">
            <a:avLst/>
          </a:prstGeom>
          <a:solidFill>
            <a:srgbClr val="E6E8EC"/>
          </a:solidFill>
          <a:ln w="12700">
            <a:solidFill>
              <a:srgbClr val="B9BEC7"/>
            </a:solidFill>
            <a:prstDash val="solid"/>
          </a:ln>
        </p:spPr>
        <p:txBody>
          <a:bodyPr/>
          <a:lstStyle/>
          <a:p>
            <a:endParaRPr lang="en-IN"/>
          </a:p>
        </p:txBody>
      </p:sp>
      <p:sp>
        <p:nvSpPr>
          <p:cNvPr id="30" name="Text 27"/>
          <p:cNvSpPr/>
          <p:nvPr/>
        </p:nvSpPr>
        <p:spPr>
          <a:xfrm>
            <a:off x="8366760" y="3822192"/>
            <a:ext cx="2651760" cy="91440"/>
          </a:xfrm>
          <a:prstGeom prst="rect">
            <a:avLst/>
          </a:prstGeom>
          <a:noFill/>
          <a:ln/>
        </p:spPr>
        <p:txBody>
          <a:bodyPr wrap="square" lIns="0" tIns="0" rIns="0" bIns="0" rtlCol="0" anchor="ctr"/>
          <a:lstStyle/>
          <a:p>
            <a:pPr marL="0" indent="0">
              <a:buNone/>
            </a:pPr>
            <a:r>
              <a:rPr lang="en-US" sz="800" i="1" dirty="0">
                <a:solidFill>
                  <a:srgbClr val="5F6368"/>
                </a:solidFill>
              </a:rPr>
              <a:t>higher cost / stronger intervention</a:t>
            </a:r>
            <a:endParaRPr lang="en-US" sz="800" dirty="0"/>
          </a:p>
        </p:txBody>
      </p:sp>
      <p:sp>
        <p:nvSpPr>
          <p:cNvPr id="32" name="Text 29"/>
          <p:cNvSpPr/>
          <p:nvPr/>
        </p:nvSpPr>
        <p:spPr>
          <a:xfrm>
            <a:off x="612648" y="4379976"/>
            <a:ext cx="3072384" cy="182880"/>
          </a:xfrm>
          <a:prstGeom prst="rect">
            <a:avLst/>
          </a:prstGeom>
          <a:noFill/>
          <a:ln/>
        </p:spPr>
        <p:txBody>
          <a:bodyPr wrap="square" lIns="0" tIns="0" rIns="0" bIns="0" rtlCol="0" anchor="ctr"/>
          <a:lstStyle/>
          <a:p>
            <a:pPr marL="0" indent="0">
              <a:buNone/>
            </a:pPr>
            <a:r>
              <a:rPr lang="en-US" sz="1100" b="1" dirty="0">
                <a:solidFill>
                  <a:srgbClr val="1E1E1E"/>
                </a:solidFill>
                <a:latin typeface="Arial" pitchFamily="34" charset="0"/>
                <a:ea typeface="Arial" pitchFamily="34" charset="-122"/>
                <a:cs typeface="Arial" pitchFamily="34" charset="-120"/>
              </a:rPr>
              <a:t>Important ordering heuristic</a:t>
            </a:r>
            <a:endParaRPr lang="en-US" sz="1100" dirty="0"/>
          </a:p>
        </p:txBody>
      </p:sp>
      <p:sp>
        <p:nvSpPr>
          <p:cNvPr id="33" name="Text 30"/>
          <p:cNvSpPr/>
          <p:nvPr/>
        </p:nvSpPr>
        <p:spPr>
          <a:xfrm>
            <a:off x="612648" y="4672584"/>
            <a:ext cx="3072384" cy="457200"/>
          </a:xfrm>
          <a:prstGeom prst="rect">
            <a:avLst/>
          </a:prstGeom>
          <a:noFill/>
          <a:ln/>
        </p:spPr>
        <p:txBody>
          <a:bodyPr wrap="square" lIns="0" tIns="0" rIns="0" bIns="0" rtlCol="0" anchor="t">
            <a:noAutofit/>
          </a:bodyPr>
          <a:lstStyle/>
          <a:p>
            <a:pPr marL="0" indent="0">
              <a:buNone/>
            </a:pPr>
            <a:r>
              <a:rPr lang="en-US" sz="1200" dirty="0">
                <a:solidFill>
                  <a:srgbClr val="1E1E1E"/>
                </a:solidFill>
                <a:latin typeface="Arial" pitchFamily="34" charset="0"/>
                <a:ea typeface="Arial" pitchFamily="34" charset="-122"/>
                <a:cs typeface="Arial" pitchFamily="34" charset="-120"/>
              </a:rPr>
              <a:t>If the real problem is stale knowledge, RAG often beats fine-tuning. If the real problem is output style or tool schema, SFT is a cleaner solution. If the real problem is policy ranking, preference tuning is the better lever.</a:t>
            </a:r>
            <a:endParaRPr lang="en-US" sz="1200" dirty="0"/>
          </a:p>
        </p:txBody>
      </p:sp>
      <p:sp>
        <p:nvSpPr>
          <p:cNvPr id="35" name="Text 32"/>
          <p:cNvSpPr/>
          <p:nvPr/>
        </p:nvSpPr>
        <p:spPr>
          <a:xfrm>
            <a:off x="4178808" y="4379976"/>
            <a:ext cx="3255264" cy="182880"/>
          </a:xfrm>
          <a:prstGeom prst="rect">
            <a:avLst/>
          </a:prstGeom>
          <a:noFill/>
          <a:ln/>
        </p:spPr>
        <p:txBody>
          <a:bodyPr wrap="square" lIns="0" tIns="0" rIns="0" bIns="0" rtlCol="0" anchor="ctr"/>
          <a:lstStyle/>
          <a:p>
            <a:pPr marL="0" indent="0">
              <a:buNone/>
            </a:pPr>
            <a:r>
              <a:rPr lang="en-US" sz="1100" b="1" dirty="0">
                <a:solidFill>
                  <a:srgbClr val="1E1E1E"/>
                </a:solidFill>
                <a:latin typeface="Arial" pitchFamily="34" charset="0"/>
                <a:ea typeface="Arial" pitchFamily="34" charset="-122"/>
                <a:cs typeface="Arial" pitchFamily="34" charset="-120"/>
              </a:rPr>
              <a:t>Common modern stack</a:t>
            </a:r>
            <a:endParaRPr lang="en-US" sz="1100" dirty="0"/>
          </a:p>
        </p:txBody>
      </p:sp>
      <p:sp>
        <p:nvSpPr>
          <p:cNvPr id="36" name="Text 33"/>
          <p:cNvSpPr/>
          <p:nvPr/>
        </p:nvSpPr>
        <p:spPr>
          <a:xfrm>
            <a:off x="4178808" y="4672584"/>
            <a:ext cx="3255264" cy="457200"/>
          </a:xfrm>
          <a:prstGeom prst="rect">
            <a:avLst/>
          </a:prstGeom>
          <a:noFill/>
          <a:ln/>
        </p:spPr>
        <p:txBody>
          <a:bodyPr wrap="square" lIns="0" tIns="0" rIns="0" bIns="0" rtlCol="0" anchor="t">
            <a:noAutofit/>
          </a:bodyPr>
          <a:lstStyle/>
          <a:p>
            <a:pPr marL="0" indent="0">
              <a:buNone/>
            </a:pPr>
            <a:r>
              <a:rPr lang="en-US" sz="1200" dirty="0">
                <a:solidFill>
                  <a:srgbClr val="1E1E1E"/>
                </a:solidFill>
                <a:latin typeface="Arial" pitchFamily="34" charset="0"/>
                <a:ea typeface="Arial" pitchFamily="34" charset="-122"/>
                <a:cs typeface="Arial" pitchFamily="34" charset="-120"/>
              </a:rPr>
              <a:t>Prompt + retrieval first, then selective continued pretraining or SFT, then DPO-style preference tuning only if behavior ranking still needs work.</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13">
    <p:bg>
      <p:bgPr>
        <a:solidFill>
          <a:srgbClr val="F4F1EB"/>
        </a:solidFill>
        <a:effectLst/>
      </p:bgPr>
    </p:bg>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143B6B"/>
          </a:solidFill>
          <a:ln w="12700">
            <a:solidFill>
              <a:srgbClr val="143B6B">
                <a:alpha val="0"/>
              </a:srgbClr>
            </a:solidFill>
            <a:prstDash val="solid"/>
          </a:ln>
        </p:spPr>
        <p:txBody>
          <a:bodyPr/>
          <a:lstStyle/>
          <a:p>
            <a:endParaRPr lang="en-IN"/>
          </a:p>
        </p:txBody>
      </p:sp>
      <p:sp>
        <p:nvSpPr>
          <p:cNvPr id="3" name="Shape 1"/>
          <p:cNvSpPr/>
          <p:nvPr/>
        </p:nvSpPr>
        <p:spPr>
          <a:xfrm>
            <a:off x="0" y="6812280"/>
            <a:ext cx="12191695" cy="45720"/>
          </a:xfrm>
          <a:prstGeom prst="rect">
            <a:avLst/>
          </a:prstGeom>
          <a:solidFill>
            <a:srgbClr val="143B6B"/>
          </a:solidFill>
          <a:ln w="12700">
            <a:solidFill>
              <a:srgbClr val="143B6B">
                <a:alpha val="0"/>
              </a:srgbClr>
            </a:solidFill>
            <a:prstDash val="solid"/>
          </a:ln>
        </p:spPr>
        <p:txBody>
          <a:bodyPr/>
          <a:lstStyle/>
          <a:p>
            <a:endParaRPr lang="en-IN"/>
          </a:p>
        </p:txBody>
      </p:sp>
      <p:sp>
        <p:nvSpPr>
          <p:cNvPr id="4" name="Text 2"/>
          <p:cNvSpPr/>
          <p:nvPr/>
        </p:nvSpPr>
        <p:spPr>
          <a:xfrm>
            <a:off x="201168" y="118872"/>
            <a:ext cx="8961120" cy="219456"/>
          </a:xfrm>
          <a:prstGeom prst="rect">
            <a:avLst/>
          </a:prstGeom>
          <a:noFill/>
          <a:ln/>
        </p:spPr>
        <p:txBody>
          <a:bodyPr wrap="square" lIns="0" tIns="0" rIns="0" bIns="0" rtlCol="0" anchor="ctr"/>
          <a:lstStyle/>
          <a:p>
            <a:pPr marL="0" indent="0">
              <a:buNone/>
            </a:pPr>
            <a:r>
              <a:rPr lang="en-US" sz="1700" b="1" dirty="0">
                <a:solidFill>
                  <a:srgbClr val="1E1E1E"/>
                </a:solidFill>
                <a:latin typeface="Arial" pitchFamily="34" charset="0"/>
                <a:ea typeface="Arial" pitchFamily="34" charset="-122"/>
                <a:cs typeface="Arial" pitchFamily="34" charset="-120"/>
              </a:rPr>
              <a:t>Practical decision guide: which transfer-learning route should you start with?</a:t>
            </a:r>
            <a:endParaRPr lang="en-US" sz="1700" dirty="0"/>
          </a:p>
        </p:txBody>
      </p:sp>
      <p:pic>
        <p:nvPicPr>
          <p:cNvPr id="5" name="Image 0" descr="/mnt/data/user-5OMUinS2DRg9DUHxNmCh75Xw/0de77cf23bb846ec834131240e4472fb/mnt/data/template_extract/image2.png"/>
          <p:cNvPicPr>
            <a:picLocks noChangeAspect="1"/>
          </p:cNvPicPr>
          <p:nvPr/>
        </p:nvPicPr>
        <p:blipFill>
          <a:blip r:embed="rId3"/>
          <a:stretch>
            <a:fillRect/>
          </a:stretch>
        </p:blipFill>
        <p:spPr>
          <a:xfrm>
            <a:off x="11686032" y="73152"/>
            <a:ext cx="256032" cy="256032"/>
          </a:xfrm>
          <a:prstGeom prst="rect">
            <a:avLst/>
          </a:prstGeom>
        </p:spPr>
      </p:pic>
      <p:sp>
        <p:nvSpPr>
          <p:cNvPr id="6" name="Shape 3"/>
          <p:cNvSpPr/>
          <p:nvPr/>
        </p:nvSpPr>
        <p:spPr>
          <a:xfrm>
            <a:off x="91440" y="6556248"/>
            <a:ext cx="45720" cy="45720"/>
          </a:xfrm>
          <a:prstGeom prst="ellipse">
            <a:avLst/>
          </a:prstGeom>
          <a:solidFill>
            <a:srgbClr val="E6534E"/>
          </a:solidFill>
          <a:ln w="12700">
            <a:solidFill>
              <a:srgbClr val="E6534E">
                <a:alpha val="0"/>
              </a:srgbClr>
            </a:solidFill>
            <a:prstDash val="solid"/>
          </a:ln>
        </p:spPr>
        <p:txBody>
          <a:bodyPr/>
          <a:lstStyle/>
          <a:p>
            <a:endParaRPr lang="en-IN"/>
          </a:p>
        </p:txBody>
      </p:sp>
      <p:sp>
        <p:nvSpPr>
          <p:cNvPr id="7" name="Shape 4"/>
          <p:cNvSpPr/>
          <p:nvPr/>
        </p:nvSpPr>
        <p:spPr>
          <a:xfrm>
            <a:off x="164592" y="6556248"/>
            <a:ext cx="45720" cy="45720"/>
          </a:xfrm>
          <a:prstGeom prst="ellipse">
            <a:avLst/>
          </a:prstGeom>
          <a:solidFill>
            <a:srgbClr val="D6C84C"/>
          </a:solidFill>
          <a:ln w="12700">
            <a:solidFill>
              <a:srgbClr val="D6C84C">
                <a:alpha val="0"/>
              </a:srgbClr>
            </a:solidFill>
            <a:prstDash val="solid"/>
          </a:ln>
        </p:spPr>
        <p:txBody>
          <a:bodyPr/>
          <a:lstStyle/>
          <a:p>
            <a:endParaRPr lang="en-IN"/>
          </a:p>
        </p:txBody>
      </p:sp>
      <p:sp>
        <p:nvSpPr>
          <p:cNvPr id="8" name="Shape 5"/>
          <p:cNvSpPr/>
          <p:nvPr/>
        </p:nvSpPr>
        <p:spPr>
          <a:xfrm>
            <a:off x="237744" y="6556248"/>
            <a:ext cx="45720" cy="45720"/>
          </a:xfrm>
          <a:prstGeom prst="ellipse">
            <a:avLst/>
          </a:prstGeom>
          <a:solidFill>
            <a:srgbClr val="143B6B"/>
          </a:solidFill>
          <a:ln w="12700">
            <a:solidFill>
              <a:srgbClr val="143B6B">
                <a:alpha val="0"/>
              </a:srgbClr>
            </a:solidFill>
            <a:prstDash val="solid"/>
          </a:ln>
        </p:spPr>
        <p:txBody>
          <a:bodyPr/>
          <a:lstStyle/>
          <a:p>
            <a:endParaRPr lang="en-IN"/>
          </a:p>
        </p:txBody>
      </p:sp>
      <p:sp>
        <p:nvSpPr>
          <p:cNvPr id="9" name="Text 6"/>
          <p:cNvSpPr/>
          <p:nvPr/>
        </p:nvSpPr>
        <p:spPr>
          <a:xfrm>
            <a:off x="11841480" y="6528816"/>
            <a:ext cx="164592" cy="109728"/>
          </a:xfrm>
          <a:prstGeom prst="rect">
            <a:avLst/>
          </a:prstGeom>
          <a:noFill/>
          <a:ln/>
        </p:spPr>
        <p:txBody>
          <a:bodyPr wrap="square" lIns="0" tIns="0" rIns="0" bIns="0" rtlCol="0" anchor="ctr"/>
          <a:lstStyle/>
          <a:p>
            <a:pPr marL="0" indent="0" algn="r">
              <a:buNone/>
            </a:pPr>
            <a:r>
              <a:rPr lang="en-US" sz="800" dirty="0">
                <a:solidFill>
                  <a:srgbClr val="7A7A7A"/>
                </a:solidFill>
                <a:latin typeface="Arial" pitchFamily="34" charset="0"/>
                <a:ea typeface="Arial" pitchFamily="34" charset="-122"/>
                <a:cs typeface="Arial" pitchFamily="34" charset="-120"/>
              </a:rPr>
              <a:t>13</a:t>
            </a:r>
            <a:endParaRPr lang="en-US" sz="800" dirty="0"/>
          </a:p>
        </p:txBody>
      </p:sp>
      <p:sp>
        <p:nvSpPr>
          <p:cNvPr id="12" name="Shape 9"/>
          <p:cNvSpPr/>
          <p:nvPr/>
        </p:nvSpPr>
        <p:spPr>
          <a:xfrm>
            <a:off x="502920" y="1645920"/>
            <a:ext cx="11109960" cy="3154680"/>
          </a:xfrm>
          <a:prstGeom prst="roundRect">
            <a:avLst>
              <a:gd name="adj" fmla="val 1739"/>
            </a:avLst>
          </a:prstGeom>
          <a:solidFill>
            <a:srgbClr val="FBFAF6"/>
          </a:solidFill>
          <a:ln w="12700">
            <a:solidFill>
              <a:srgbClr val="C8C7C4"/>
            </a:solidFill>
            <a:prstDash val="solid"/>
          </a:ln>
        </p:spPr>
        <p:txBody>
          <a:bodyPr/>
          <a:lstStyle/>
          <a:p>
            <a:endParaRPr lang="en-IN" sz="3600"/>
          </a:p>
        </p:txBody>
      </p:sp>
      <p:sp>
        <p:nvSpPr>
          <p:cNvPr id="13" name="Text 10"/>
          <p:cNvSpPr/>
          <p:nvPr/>
        </p:nvSpPr>
        <p:spPr>
          <a:xfrm>
            <a:off x="749808" y="1847088"/>
            <a:ext cx="2651760" cy="164592"/>
          </a:xfrm>
          <a:prstGeom prst="rect">
            <a:avLst/>
          </a:prstGeom>
          <a:noFill/>
          <a:ln/>
        </p:spPr>
        <p:txBody>
          <a:bodyPr wrap="square" lIns="0" tIns="0" rIns="0" bIns="0" rtlCol="0" anchor="ctr"/>
          <a:lstStyle/>
          <a:p>
            <a:pPr marL="0" indent="0">
              <a:buNone/>
            </a:pPr>
            <a:r>
              <a:rPr lang="en-US" sz="1400" b="1" dirty="0">
                <a:solidFill>
                  <a:srgbClr val="143B6B"/>
                </a:solidFill>
              </a:rPr>
              <a:t>Scenario</a:t>
            </a:r>
            <a:endParaRPr lang="en-US" sz="1400" dirty="0"/>
          </a:p>
        </p:txBody>
      </p:sp>
      <p:sp>
        <p:nvSpPr>
          <p:cNvPr id="14" name="Text 11"/>
          <p:cNvSpPr/>
          <p:nvPr/>
        </p:nvSpPr>
        <p:spPr>
          <a:xfrm>
            <a:off x="3767328" y="1847088"/>
            <a:ext cx="2240280" cy="164592"/>
          </a:xfrm>
          <a:prstGeom prst="rect">
            <a:avLst/>
          </a:prstGeom>
          <a:noFill/>
          <a:ln/>
        </p:spPr>
        <p:txBody>
          <a:bodyPr wrap="square" lIns="0" tIns="0" rIns="0" bIns="0" rtlCol="0" anchor="ctr"/>
          <a:lstStyle/>
          <a:p>
            <a:pPr marL="0" indent="0">
              <a:buNone/>
            </a:pPr>
            <a:r>
              <a:rPr lang="en-US" sz="1400" b="1" dirty="0">
                <a:solidFill>
                  <a:srgbClr val="143B6B"/>
                </a:solidFill>
              </a:rPr>
              <a:t>First lever to try</a:t>
            </a:r>
            <a:endParaRPr lang="en-US" sz="1400" dirty="0"/>
          </a:p>
        </p:txBody>
      </p:sp>
      <p:sp>
        <p:nvSpPr>
          <p:cNvPr id="15" name="Text 12"/>
          <p:cNvSpPr/>
          <p:nvPr/>
        </p:nvSpPr>
        <p:spPr>
          <a:xfrm>
            <a:off x="6537960" y="1847088"/>
            <a:ext cx="1965960" cy="164592"/>
          </a:xfrm>
          <a:prstGeom prst="rect">
            <a:avLst/>
          </a:prstGeom>
          <a:noFill/>
          <a:ln/>
        </p:spPr>
        <p:txBody>
          <a:bodyPr wrap="square" lIns="0" tIns="0" rIns="0" bIns="0" rtlCol="0" anchor="ctr"/>
          <a:lstStyle/>
          <a:p>
            <a:pPr marL="0" indent="0">
              <a:buNone/>
            </a:pPr>
            <a:r>
              <a:rPr lang="en-US" sz="1400" b="1" dirty="0">
                <a:solidFill>
                  <a:srgbClr val="143B6B"/>
                </a:solidFill>
              </a:rPr>
              <a:t>Escalate to</a:t>
            </a:r>
            <a:endParaRPr lang="en-US" sz="1400" dirty="0"/>
          </a:p>
        </p:txBody>
      </p:sp>
      <p:sp>
        <p:nvSpPr>
          <p:cNvPr id="16" name="Text 13"/>
          <p:cNvSpPr/>
          <p:nvPr/>
        </p:nvSpPr>
        <p:spPr>
          <a:xfrm>
            <a:off x="8778240" y="1847088"/>
            <a:ext cx="2468880" cy="164592"/>
          </a:xfrm>
          <a:prstGeom prst="rect">
            <a:avLst/>
          </a:prstGeom>
          <a:noFill/>
          <a:ln/>
        </p:spPr>
        <p:txBody>
          <a:bodyPr wrap="square" lIns="0" tIns="0" rIns="0" bIns="0" rtlCol="0" anchor="ctr"/>
          <a:lstStyle/>
          <a:p>
            <a:pPr marL="0" indent="0">
              <a:buNone/>
            </a:pPr>
            <a:r>
              <a:rPr lang="en-US" sz="1400" b="1" dirty="0">
                <a:solidFill>
                  <a:srgbClr val="143B6B"/>
                </a:solidFill>
              </a:rPr>
              <a:t>Why</a:t>
            </a:r>
            <a:endParaRPr lang="en-US" sz="1400" dirty="0"/>
          </a:p>
        </p:txBody>
      </p:sp>
      <p:sp>
        <p:nvSpPr>
          <p:cNvPr id="17" name="Shape 14"/>
          <p:cNvSpPr/>
          <p:nvPr/>
        </p:nvSpPr>
        <p:spPr>
          <a:xfrm>
            <a:off x="731520" y="2103120"/>
            <a:ext cx="10515600" cy="0"/>
          </a:xfrm>
          <a:prstGeom prst="line">
            <a:avLst/>
          </a:prstGeom>
          <a:noFill/>
          <a:ln w="10160">
            <a:solidFill>
              <a:srgbClr val="D9D4CE"/>
            </a:solidFill>
            <a:prstDash val="solid"/>
          </a:ln>
        </p:spPr>
        <p:txBody>
          <a:bodyPr/>
          <a:lstStyle/>
          <a:p>
            <a:endParaRPr lang="en-IN" sz="3600"/>
          </a:p>
        </p:txBody>
      </p:sp>
      <p:sp>
        <p:nvSpPr>
          <p:cNvPr id="18" name="Text 15"/>
          <p:cNvSpPr/>
          <p:nvPr/>
        </p:nvSpPr>
        <p:spPr>
          <a:xfrm>
            <a:off x="749808" y="2176272"/>
            <a:ext cx="2743200" cy="219456"/>
          </a:xfrm>
          <a:prstGeom prst="rect">
            <a:avLst/>
          </a:prstGeom>
          <a:noFill/>
          <a:ln/>
        </p:spPr>
        <p:txBody>
          <a:bodyPr wrap="square" lIns="0" tIns="0" rIns="0" bIns="0" rtlCol="0" anchor="ctr">
            <a:noAutofit/>
          </a:bodyPr>
          <a:lstStyle/>
          <a:p>
            <a:pPr marL="0" indent="0">
              <a:buNone/>
            </a:pPr>
            <a:r>
              <a:rPr lang="en-US" sz="1200" dirty="0">
                <a:solidFill>
                  <a:srgbClr val="1E1E1E"/>
                </a:solidFill>
              </a:rPr>
              <a:t>Enterprise QA over rapidly changing docs</a:t>
            </a:r>
            <a:endParaRPr lang="en-US" sz="1200" dirty="0"/>
          </a:p>
        </p:txBody>
      </p:sp>
      <p:sp>
        <p:nvSpPr>
          <p:cNvPr id="19" name="Text 16"/>
          <p:cNvSpPr/>
          <p:nvPr/>
        </p:nvSpPr>
        <p:spPr>
          <a:xfrm>
            <a:off x="3767328" y="2176272"/>
            <a:ext cx="2514600" cy="219456"/>
          </a:xfrm>
          <a:prstGeom prst="rect">
            <a:avLst/>
          </a:prstGeom>
          <a:noFill/>
          <a:ln/>
        </p:spPr>
        <p:txBody>
          <a:bodyPr wrap="square" lIns="0" tIns="0" rIns="0" bIns="0" rtlCol="0" anchor="ctr">
            <a:normAutofit/>
          </a:bodyPr>
          <a:lstStyle/>
          <a:p>
            <a:pPr marL="0" indent="0">
              <a:buNone/>
            </a:pPr>
            <a:r>
              <a:rPr lang="en-US" sz="1200" dirty="0">
                <a:solidFill>
                  <a:srgbClr val="1E1E1E"/>
                </a:solidFill>
              </a:rPr>
              <a:t>RAG + strong prompting</a:t>
            </a:r>
            <a:endParaRPr lang="en-US" sz="1200" dirty="0"/>
          </a:p>
        </p:txBody>
      </p:sp>
      <p:sp>
        <p:nvSpPr>
          <p:cNvPr id="20" name="Text 17"/>
          <p:cNvSpPr/>
          <p:nvPr/>
        </p:nvSpPr>
        <p:spPr>
          <a:xfrm>
            <a:off x="6537960" y="2176272"/>
            <a:ext cx="2011680" cy="219456"/>
          </a:xfrm>
          <a:prstGeom prst="rect">
            <a:avLst/>
          </a:prstGeom>
          <a:noFill/>
          <a:ln/>
        </p:spPr>
        <p:txBody>
          <a:bodyPr wrap="square" lIns="0" tIns="0" rIns="0" bIns="0" rtlCol="0" anchor="ctr">
            <a:noAutofit/>
          </a:bodyPr>
          <a:lstStyle/>
          <a:p>
            <a:pPr marL="0" indent="0">
              <a:buNone/>
            </a:pPr>
            <a:r>
              <a:rPr lang="en-US" sz="1200" dirty="0">
                <a:solidFill>
                  <a:srgbClr val="1E1E1E"/>
                </a:solidFill>
              </a:rPr>
              <a:t>SFT only if output format or citation style stays poor</a:t>
            </a:r>
            <a:endParaRPr lang="en-US" sz="1200" dirty="0"/>
          </a:p>
        </p:txBody>
      </p:sp>
      <p:sp>
        <p:nvSpPr>
          <p:cNvPr id="21" name="Text 18"/>
          <p:cNvSpPr/>
          <p:nvPr/>
        </p:nvSpPr>
        <p:spPr>
          <a:xfrm>
            <a:off x="8778240" y="2176272"/>
            <a:ext cx="2468880" cy="219456"/>
          </a:xfrm>
          <a:prstGeom prst="rect">
            <a:avLst/>
          </a:prstGeom>
          <a:noFill/>
          <a:ln/>
        </p:spPr>
        <p:txBody>
          <a:bodyPr wrap="square" lIns="0" tIns="0" rIns="0" bIns="0" rtlCol="0" anchor="ctr">
            <a:noAutofit/>
          </a:bodyPr>
          <a:lstStyle/>
          <a:p>
            <a:pPr marL="0" indent="0">
              <a:buNone/>
            </a:pPr>
            <a:r>
              <a:rPr lang="en-US" sz="1200" dirty="0">
                <a:solidFill>
                  <a:srgbClr val="1E1E1E"/>
                </a:solidFill>
              </a:rPr>
              <a:t>Knowledge changes faster than weights should.</a:t>
            </a:r>
            <a:endParaRPr lang="en-US" sz="1200" dirty="0"/>
          </a:p>
        </p:txBody>
      </p:sp>
      <p:sp>
        <p:nvSpPr>
          <p:cNvPr id="22" name="Shape 19"/>
          <p:cNvSpPr/>
          <p:nvPr/>
        </p:nvSpPr>
        <p:spPr>
          <a:xfrm>
            <a:off x="731520" y="2633472"/>
            <a:ext cx="10515600" cy="0"/>
          </a:xfrm>
          <a:prstGeom prst="line">
            <a:avLst/>
          </a:prstGeom>
          <a:noFill/>
          <a:ln w="10160">
            <a:solidFill>
              <a:srgbClr val="D9D4CE"/>
            </a:solidFill>
            <a:prstDash val="solid"/>
          </a:ln>
        </p:spPr>
        <p:txBody>
          <a:bodyPr/>
          <a:lstStyle/>
          <a:p>
            <a:endParaRPr lang="en-IN" sz="3600"/>
          </a:p>
        </p:txBody>
      </p:sp>
      <p:sp>
        <p:nvSpPr>
          <p:cNvPr id="23" name="Text 20"/>
          <p:cNvSpPr/>
          <p:nvPr/>
        </p:nvSpPr>
        <p:spPr>
          <a:xfrm>
            <a:off x="749808" y="2706624"/>
            <a:ext cx="2743200" cy="219456"/>
          </a:xfrm>
          <a:prstGeom prst="rect">
            <a:avLst/>
          </a:prstGeom>
          <a:noFill/>
          <a:ln/>
        </p:spPr>
        <p:txBody>
          <a:bodyPr wrap="square" lIns="0" tIns="0" rIns="0" bIns="0" rtlCol="0" anchor="ctr">
            <a:noAutofit/>
          </a:bodyPr>
          <a:lstStyle/>
          <a:p>
            <a:pPr marL="0" indent="0">
              <a:buNone/>
            </a:pPr>
            <a:r>
              <a:rPr lang="en-US" sz="1200" dirty="0">
                <a:solidFill>
                  <a:srgbClr val="1E1E1E"/>
                </a:solidFill>
              </a:rPr>
              <a:t>Domain specialist assistant with huge unlabeled corpus</a:t>
            </a:r>
            <a:endParaRPr lang="en-US" sz="1200" dirty="0"/>
          </a:p>
        </p:txBody>
      </p:sp>
      <p:sp>
        <p:nvSpPr>
          <p:cNvPr id="24" name="Text 21"/>
          <p:cNvSpPr/>
          <p:nvPr/>
        </p:nvSpPr>
        <p:spPr>
          <a:xfrm>
            <a:off x="3767328" y="2706624"/>
            <a:ext cx="2514600" cy="219456"/>
          </a:xfrm>
          <a:prstGeom prst="rect">
            <a:avLst/>
          </a:prstGeom>
          <a:noFill/>
          <a:ln/>
        </p:spPr>
        <p:txBody>
          <a:bodyPr wrap="square" lIns="0" tIns="0" rIns="0" bIns="0" rtlCol="0" anchor="ctr">
            <a:normAutofit/>
          </a:bodyPr>
          <a:lstStyle/>
          <a:p>
            <a:pPr marL="0" indent="0">
              <a:buNone/>
            </a:pPr>
            <a:r>
              <a:rPr lang="en-US" sz="1200" dirty="0">
                <a:solidFill>
                  <a:srgbClr val="1E1E1E"/>
                </a:solidFill>
              </a:rPr>
              <a:t>Continued pretraining</a:t>
            </a:r>
            <a:endParaRPr lang="en-US" sz="1200" dirty="0"/>
          </a:p>
        </p:txBody>
      </p:sp>
      <p:sp>
        <p:nvSpPr>
          <p:cNvPr id="25" name="Text 22"/>
          <p:cNvSpPr/>
          <p:nvPr/>
        </p:nvSpPr>
        <p:spPr>
          <a:xfrm>
            <a:off x="6537960" y="2706624"/>
            <a:ext cx="2011680" cy="219456"/>
          </a:xfrm>
          <a:prstGeom prst="rect">
            <a:avLst/>
          </a:prstGeom>
          <a:noFill/>
          <a:ln/>
        </p:spPr>
        <p:txBody>
          <a:bodyPr wrap="square" lIns="0" tIns="0" rIns="0" bIns="0" rtlCol="0" anchor="ctr">
            <a:normAutofit/>
          </a:bodyPr>
          <a:lstStyle/>
          <a:p>
            <a:pPr marL="0" indent="0">
              <a:buNone/>
            </a:pPr>
            <a:r>
              <a:rPr lang="en-US" sz="1200" dirty="0">
                <a:solidFill>
                  <a:srgbClr val="1E1E1E"/>
                </a:solidFill>
              </a:rPr>
              <a:t>Then SFT on domain tasks</a:t>
            </a:r>
            <a:endParaRPr lang="en-US" sz="1200" dirty="0"/>
          </a:p>
        </p:txBody>
      </p:sp>
      <p:sp>
        <p:nvSpPr>
          <p:cNvPr id="26" name="Text 23"/>
          <p:cNvSpPr/>
          <p:nvPr/>
        </p:nvSpPr>
        <p:spPr>
          <a:xfrm>
            <a:off x="8778240" y="2706624"/>
            <a:ext cx="2468880" cy="219456"/>
          </a:xfrm>
          <a:prstGeom prst="rect">
            <a:avLst/>
          </a:prstGeom>
          <a:noFill/>
          <a:ln/>
        </p:spPr>
        <p:txBody>
          <a:bodyPr wrap="square" lIns="0" tIns="0" rIns="0" bIns="0" rtlCol="0" anchor="ctr">
            <a:noAutofit/>
          </a:bodyPr>
          <a:lstStyle/>
          <a:p>
            <a:pPr marL="0" indent="0">
              <a:buNone/>
            </a:pPr>
            <a:r>
              <a:rPr lang="en-US" sz="1200" dirty="0">
                <a:solidFill>
                  <a:srgbClr val="1E1E1E"/>
                </a:solidFill>
              </a:rPr>
              <a:t>Distribution mismatch is the primary bottleneck.</a:t>
            </a:r>
            <a:endParaRPr lang="en-US" sz="1200" dirty="0"/>
          </a:p>
        </p:txBody>
      </p:sp>
      <p:sp>
        <p:nvSpPr>
          <p:cNvPr id="27" name="Shape 24"/>
          <p:cNvSpPr/>
          <p:nvPr/>
        </p:nvSpPr>
        <p:spPr>
          <a:xfrm>
            <a:off x="731520" y="3163824"/>
            <a:ext cx="10515600" cy="0"/>
          </a:xfrm>
          <a:prstGeom prst="line">
            <a:avLst/>
          </a:prstGeom>
          <a:noFill/>
          <a:ln w="10160">
            <a:solidFill>
              <a:srgbClr val="D9D4CE"/>
            </a:solidFill>
            <a:prstDash val="solid"/>
          </a:ln>
        </p:spPr>
        <p:txBody>
          <a:bodyPr/>
          <a:lstStyle/>
          <a:p>
            <a:endParaRPr lang="en-IN" sz="3600"/>
          </a:p>
        </p:txBody>
      </p:sp>
      <p:sp>
        <p:nvSpPr>
          <p:cNvPr id="28" name="Text 25"/>
          <p:cNvSpPr/>
          <p:nvPr/>
        </p:nvSpPr>
        <p:spPr>
          <a:xfrm>
            <a:off x="749808" y="3236976"/>
            <a:ext cx="2743200" cy="219456"/>
          </a:xfrm>
          <a:prstGeom prst="rect">
            <a:avLst/>
          </a:prstGeom>
          <a:noFill/>
          <a:ln/>
        </p:spPr>
        <p:txBody>
          <a:bodyPr wrap="square" lIns="0" tIns="0" rIns="0" bIns="0" rtlCol="0" anchor="ctr">
            <a:normAutofit/>
          </a:bodyPr>
          <a:lstStyle/>
          <a:p>
            <a:pPr marL="0" indent="0">
              <a:buNone/>
            </a:pPr>
            <a:r>
              <a:rPr lang="en-US" sz="1200" dirty="0">
                <a:solidFill>
                  <a:srgbClr val="1E1E1E"/>
                </a:solidFill>
              </a:rPr>
              <a:t>Structured extraction / tool calling</a:t>
            </a:r>
            <a:endParaRPr lang="en-US" sz="1200" dirty="0"/>
          </a:p>
        </p:txBody>
      </p:sp>
      <p:sp>
        <p:nvSpPr>
          <p:cNvPr id="29" name="Text 26"/>
          <p:cNvSpPr/>
          <p:nvPr/>
        </p:nvSpPr>
        <p:spPr>
          <a:xfrm>
            <a:off x="3767328" y="3236976"/>
            <a:ext cx="2514600" cy="219456"/>
          </a:xfrm>
          <a:prstGeom prst="rect">
            <a:avLst/>
          </a:prstGeom>
          <a:noFill/>
          <a:ln/>
        </p:spPr>
        <p:txBody>
          <a:bodyPr wrap="square" lIns="0" tIns="0" rIns="0" bIns="0" rtlCol="0" anchor="ctr">
            <a:normAutofit/>
          </a:bodyPr>
          <a:lstStyle/>
          <a:p>
            <a:pPr marL="0" indent="0">
              <a:buNone/>
            </a:pPr>
            <a:r>
              <a:rPr lang="en-US" sz="1200" dirty="0">
                <a:solidFill>
                  <a:srgbClr val="1E1E1E"/>
                </a:solidFill>
              </a:rPr>
              <a:t>SFT with exact schema targets</a:t>
            </a:r>
            <a:endParaRPr lang="en-US" sz="1200" dirty="0"/>
          </a:p>
        </p:txBody>
      </p:sp>
      <p:sp>
        <p:nvSpPr>
          <p:cNvPr id="30" name="Text 27"/>
          <p:cNvSpPr/>
          <p:nvPr/>
        </p:nvSpPr>
        <p:spPr>
          <a:xfrm>
            <a:off x="6537960" y="3236976"/>
            <a:ext cx="2011680" cy="219456"/>
          </a:xfrm>
          <a:prstGeom prst="rect">
            <a:avLst/>
          </a:prstGeom>
          <a:noFill/>
          <a:ln/>
        </p:spPr>
        <p:txBody>
          <a:bodyPr wrap="square" lIns="0" tIns="0" rIns="0" bIns="0" rtlCol="0" anchor="ctr">
            <a:noAutofit/>
          </a:bodyPr>
          <a:lstStyle/>
          <a:p>
            <a:pPr marL="0" indent="0">
              <a:buNone/>
            </a:pPr>
            <a:r>
              <a:rPr lang="en-US" sz="1200" dirty="0">
                <a:solidFill>
                  <a:srgbClr val="1E1E1E"/>
                </a:solidFill>
              </a:rPr>
              <a:t>Preference tuning if ranking among valid outputs still matters</a:t>
            </a:r>
            <a:endParaRPr lang="en-US" sz="1200" dirty="0"/>
          </a:p>
        </p:txBody>
      </p:sp>
      <p:sp>
        <p:nvSpPr>
          <p:cNvPr id="31" name="Text 28"/>
          <p:cNvSpPr/>
          <p:nvPr/>
        </p:nvSpPr>
        <p:spPr>
          <a:xfrm>
            <a:off x="8778240" y="3236976"/>
            <a:ext cx="2468880" cy="219456"/>
          </a:xfrm>
          <a:prstGeom prst="rect">
            <a:avLst/>
          </a:prstGeom>
          <a:noFill/>
          <a:ln/>
        </p:spPr>
        <p:txBody>
          <a:bodyPr wrap="square" lIns="0" tIns="0" rIns="0" bIns="0" rtlCol="0" anchor="ctr">
            <a:noAutofit/>
          </a:bodyPr>
          <a:lstStyle/>
          <a:p>
            <a:pPr marL="0" indent="0">
              <a:buNone/>
            </a:pPr>
            <a:r>
              <a:rPr lang="en-US" sz="1200" dirty="0">
                <a:solidFill>
                  <a:srgbClr val="1E1E1E"/>
                </a:solidFill>
              </a:rPr>
              <a:t>The model must learn interface behavior precisely.</a:t>
            </a:r>
            <a:endParaRPr lang="en-US" sz="1200" dirty="0"/>
          </a:p>
        </p:txBody>
      </p:sp>
      <p:sp>
        <p:nvSpPr>
          <p:cNvPr id="32" name="Shape 29"/>
          <p:cNvSpPr/>
          <p:nvPr/>
        </p:nvSpPr>
        <p:spPr>
          <a:xfrm>
            <a:off x="731520" y="3694176"/>
            <a:ext cx="10515600" cy="0"/>
          </a:xfrm>
          <a:prstGeom prst="line">
            <a:avLst/>
          </a:prstGeom>
          <a:noFill/>
          <a:ln w="10160">
            <a:solidFill>
              <a:srgbClr val="D9D4CE"/>
            </a:solidFill>
            <a:prstDash val="solid"/>
          </a:ln>
        </p:spPr>
        <p:txBody>
          <a:bodyPr/>
          <a:lstStyle/>
          <a:p>
            <a:endParaRPr lang="en-IN" sz="3600"/>
          </a:p>
        </p:txBody>
      </p:sp>
      <p:sp>
        <p:nvSpPr>
          <p:cNvPr id="33" name="Text 30"/>
          <p:cNvSpPr/>
          <p:nvPr/>
        </p:nvSpPr>
        <p:spPr>
          <a:xfrm>
            <a:off x="749808" y="3767328"/>
            <a:ext cx="2743200" cy="219456"/>
          </a:xfrm>
          <a:prstGeom prst="rect">
            <a:avLst/>
          </a:prstGeom>
          <a:noFill/>
          <a:ln/>
        </p:spPr>
        <p:txBody>
          <a:bodyPr wrap="square" lIns="0" tIns="0" rIns="0" bIns="0" rtlCol="0" anchor="ctr">
            <a:noAutofit/>
          </a:bodyPr>
          <a:lstStyle/>
          <a:p>
            <a:pPr marL="0" indent="0">
              <a:buNone/>
            </a:pPr>
            <a:r>
              <a:rPr lang="en-US" sz="1200" dirty="0">
                <a:solidFill>
                  <a:srgbClr val="1E1E1E"/>
                </a:solidFill>
              </a:rPr>
              <a:t>Assistant tone, refusal, or policy quality is inconsistent</a:t>
            </a:r>
            <a:endParaRPr lang="en-US" sz="1200" dirty="0"/>
          </a:p>
        </p:txBody>
      </p:sp>
      <p:sp>
        <p:nvSpPr>
          <p:cNvPr id="34" name="Text 31"/>
          <p:cNvSpPr/>
          <p:nvPr/>
        </p:nvSpPr>
        <p:spPr>
          <a:xfrm>
            <a:off x="3767328" y="3767328"/>
            <a:ext cx="2514600" cy="219456"/>
          </a:xfrm>
          <a:prstGeom prst="rect">
            <a:avLst/>
          </a:prstGeom>
          <a:noFill/>
          <a:ln/>
        </p:spPr>
        <p:txBody>
          <a:bodyPr wrap="square" lIns="0" tIns="0" rIns="0" bIns="0" rtlCol="0" anchor="ctr">
            <a:normAutofit/>
          </a:bodyPr>
          <a:lstStyle/>
          <a:p>
            <a:pPr marL="0" indent="0">
              <a:buNone/>
            </a:pPr>
            <a:r>
              <a:rPr lang="en-US" sz="1200" dirty="0">
                <a:solidFill>
                  <a:srgbClr val="1E1E1E"/>
                </a:solidFill>
              </a:rPr>
              <a:t>Preference tuning after SFT</a:t>
            </a:r>
            <a:endParaRPr lang="en-US" sz="1200" dirty="0"/>
          </a:p>
        </p:txBody>
      </p:sp>
      <p:sp>
        <p:nvSpPr>
          <p:cNvPr id="35" name="Text 32"/>
          <p:cNvSpPr/>
          <p:nvPr/>
        </p:nvSpPr>
        <p:spPr>
          <a:xfrm>
            <a:off x="6537960" y="3767328"/>
            <a:ext cx="2011680" cy="219456"/>
          </a:xfrm>
          <a:prstGeom prst="rect">
            <a:avLst/>
          </a:prstGeom>
          <a:noFill/>
          <a:ln/>
        </p:spPr>
        <p:txBody>
          <a:bodyPr wrap="square" lIns="0" tIns="0" rIns="0" bIns="0" rtlCol="0" anchor="ctr">
            <a:noAutofit/>
          </a:bodyPr>
          <a:lstStyle/>
          <a:p>
            <a:pPr marL="0" indent="0">
              <a:buNone/>
            </a:pPr>
            <a:r>
              <a:rPr lang="en-US" sz="1200" dirty="0">
                <a:solidFill>
                  <a:srgbClr val="1E1E1E"/>
                </a:solidFill>
              </a:rPr>
              <a:t>RL-style post-training if external graders define success</a:t>
            </a:r>
            <a:endParaRPr lang="en-US" sz="1200" dirty="0"/>
          </a:p>
        </p:txBody>
      </p:sp>
      <p:sp>
        <p:nvSpPr>
          <p:cNvPr id="36" name="Text 33"/>
          <p:cNvSpPr/>
          <p:nvPr/>
        </p:nvSpPr>
        <p:spPr>
          <a:xfrm>
            <a:off x="8778240" y="3767328"/>
            <a:ext cx="2468880" cy="219456"/>
          </a:xfrm>
          <a:prstGeom prst="rect">
            <a:avLst/>
          </a:prstGeom>
          <a:noFill/>
          <a:ln/>
        </p:spPr>
        <p:txBody>
          <a:bodyPr wrap="square" lIns="0" tIns="0" rIns="0" bIns="0" rtlCol="0" anchor="ctr">
            <a:noAutofit/>
          </a:bodyPr>
          <a:lstStyle/>
          <a:p>
            <a:pPr marL="0" indent="0">
              <a:buNone/>
            </a:pPr>
            <a:r>
              <a:rPr lang="en-US" sz="1200" dirty="0">
                <a:solidFill>
                  <a:srgbClr val="1E1E1E"/>
                </a:solidFill>
              </a:rPr>
              <a:t>This is ranking and policy behavior, not just formatting.</a:t>
            </a:r>
            <a:endParaRPr lang="en-US" sz="1200" dirty="0"/>
          </a:p>
        </p:txBody>
      </p:sp>
      <p:sp>
        <p:nvSpPr>
          <p:cNvPr id="37" name="Shape 34"/>
          <p:cNvSpPr/>
          <p:nvPr/>
        </p:nvSpPr>
        <p:spPr>
          <a:xfrm>
            <a:off x="731520" y="4224528"/>
            <a:ext cx="10515600" cy="0"/>
          </a:xfrm>
          <a:prstGeom prst="line">
            <a:avLst/>
          </a:prstGeom>
          <a:noFill/>
          <a:ln w="10160">
            <a:solidFill>
              <a:srgbClr val="D9D4CE"/>
            </a:solidFill>
            <a:prstDash val="solid"/>
          </a:ln>
        </p:spPr>
        <p:txBody>
          <a:bodyPr/>
          <a:lstStyle/>
          <a:p>
            <a:endParaRPr lang="en-IN" sz="3600"/>
          </a:p>
        </p:txBody>
      </p:sp>
      <p:sp>
        <p:nvSpPr>
          <p:cNvPr id="38" name="Text 35"/>
          <p:cNvSpPr/>
          <p:nvPr/>
        </p:nvSpPr>
        <p:spPr>
          <a:xfrm>
            <a:off x="749808" y="4297680"/>
            <a:ext cx="2743200" cy="219456"/>
          </a:xfrm>
          <a:prstGeom prst="rect">
            <a:avLst/>
          </a:prstGeom>
          <a:noFill/>
          <a:ln/>
        </p:spPr>
        <p:txBody>
          <a:bodyPr wrap="square" lIns="0" tIns="0" rIns="0" bIns="0" rtlCol="0" anchor="ctr">
            <a:noAutofit/>
          </a:bodyPr>
          <a:lstStyle/>
          <a:p>
            <a:pPr marL="0" indent="0">
              <a:buNone/>
            </a:pPr>
            <a:r>
              <a:rPr lang="en-US" sz="1200" dirty="0">
                <a:solidFill>
                  <a:srgbClr val="1E1E1E"/>
                </a:solidFill>
              </a:rPr>
              <a:t>Limited GPU budget but weight updates are necessary</a:t>
            </a:r>
            <a:endParaRPr lang="en-US" sz="1200" dirty="0"/>
          </a:p>
        </p:txBody>
      </p:sp>
      <p:sp>
        <p:nvSpPr>
          <p:cNvPr id="39" name="Text 36"/>
          <p:cNvSpPr/>
          <p:nvPr/>
        </p:nvSpPr>
        <p:spPr>
          <a:xfrm>
            <a:off x="3767328" y="4297680"/>
            <a:ext cx="2514600" cy="219456"/>
          </a:xfrm>
          <a:prstGeom prst="rect">
            <a:avLst/>
          </a:prstGeom>
          <a:noFill/>
          <a:ln/>
        </p:spPr>
        <p:txBody>
          <a:bodyPr wrap="square" lIns="0" tIns="0" rIns="0" bIns="0" rtlCol="0" anchor="ctr">
            <a:normAutofit/>
          </a:bodyPr>
          <a:lstStyle/>
          <a:p>
            <a:pPr marL="0" indent="0">
              <a:buNone/>
            </a:pPr>
            <a:r>
              <a:rPr lang="en-US" sz="1200" dirty="0">
                <a:solidFill>
                  <a:srgbClr val="1E1E1E"/>
                </a:solidFill>
              </a:rPr>
              <a:t>PEFT / LoRA or QLoRA</a:t>
            </a:r>
            <a:endParaRPr lang="en-US" sz="1200" dirty="0"/>
          </a:p>
        </p:txBody>
      </p:sp>
      <p:sp>
        <p:nvSpPr>
          <p:cNvPr id="40" name="Text 37"/>
          <p:cNvSpPr/>
          <p:nvPr/>
        </p:nvSpPr>
        <p:spPr>
          <a:xfrm>
            <a:off x="6537960" y="4297680"/>
            <a:ext cx="2011680" cy="219456"/>
          </a:xfrm>
          <a:prstGeom prst="rect">
            <a:avLst/>
          </a:prstGeom>
          <a:noFill/>
          <a:ln/>
        </p:spPr>
        <p:txBody>
          <a:bodyPr wrap="square" lIns="0" tIns="0" rIns="0" bIns="0" rtlCol="0" anchor="ctr">
            <a:noAutofit/>
          </a:bodyPr>
          <a:lstStyle/>
          <a:p>
            <a:pPr marL="0" indent="0">
              <a:buNone/>
            </a:pPr>
            <a:r>
              <a:rPr lang="en-US" sz="1200" dirty="0">
                <a:solidFill>
                  <a:srgbClr val="1E1E1E"/>
                </a:solidFill>
              </a:rPr>
              <a:t>Full fine-tuning only if adapters fail and budget allows</a:t>
            </a:r>
            <a:endParaRPr lang="en-US" sz="1200" dirty="0"/>
          </a:p>
        </p:txBody>
      </p:sp>
      <p:sp>
        <p:nvSpPr>
          <p:cNvPr id="41" name="Text 38"/>
          <p:cNvSpPr/>
          <p:nvPr/>
        </p:nvSpPr>
        <p:spPr>
          <a:xfrm>
            <a:off x="8778240" y="4297680"/>
            <a:ext cx="2468880" cy="219456"/>
          </a:xfrm>
          <a:prstGeom prst="rect">
            <a:avLst/>
          </a:prstGeom>
          <a:noFill/>
          <a:ln/>
        </p:spPr>
        <p:txBody>
          <a:bodyPr wrap="square" lIns="0" tIns="0" rIns="0" bIns="0" rtlCol="0" anchor="ctr">
            <a:normAutofit fontScale="92500"/>
          </a:bodyPr>
          <a:lstStyle/>
          <a:p>
            <a:pPr marL="0" indent="0">
              <a:buNone/>
            </a:pPr>
            <a:r>
              <a:rPr lang="en-US" sz="1100" dirty="0">
                <a:solidFill>
                  <a:srgbClr val="1E1E1E"/>
                </a:solidFill>
              </a:rPr>
              <a:t>Same objective, smaller trainable surface.</a:t>
            </a:r>
            <a:endParaRPr lang="en-US" sz="1100" dirty="0"/>
          </a:p>
        </p:txBody>
      </p:sp>
      <p:sp>
        <p:nvSpPr>
          <p:cNvPr id="42" name="Shape 39"/>
          <p:cNvSpPr/>
          <p:nvPr/>
        </p:nvSpPr>
        <p:spPr>
          <a:xfrm>
            <a:off x="502920" y="5074920"/>
            <a:ext cx="3429000" cy="658368"/>
          </a:xfrm>
          <a:prstGeom prst="roundRect">
            <a:avLst>
              <a:gd name="adj" fmla="val 8333"/>
            </a:avLst>
          </a:prstGeom>
          <a:solidFill>
            <a:srgbClr val="DCE8F4"/>
          </a:solidFill>
          <a:ln w="12700">
            <a:solidFill>
              <a:srgbClr val="C8C7C4"/>
            </a:solidFill>
            <a:prstDash val="solid"/>
          </a:ln>
        </p:spPr>
        <p:txBody>
          <a:bodyPr/>
          <a:lstStyle/>
          <a:p>
            <a:endParaRPr lang="en-IN"/>
          </a:p>
        </p:txBody>
      </p:sp>
      <p:sp>
        <p:nvSpPr>
          <p:cNvPr id="43" name="Text 40"/>
          <p:cNvSpPr/>
          <p:nvPr/>
        </p:nvSpPr>
        <p:spPr>
          <a:xfrm>
            <a:off x="612648" y="5157216"/>
            <a:ext cx="3209544" cy="182880"/>
          </a:xfrm>
          <a:prstGeom prst="rect">
            <a:avLst/>
          </a:prstGeom>
          <a:noFill/>
          <a:ln/>
        </p:spPr>
        <p:txBody>
          <a:bodyPr wrap="square" lIns="0" tIns="0" rIns="0" bIns="0" rtlCol="0" anchor="ctr"/>
          <a:lstStyle/>
          <a:p>
            <a:pPr marL="0" indent="0">
              <a:buNone/>
            </a:pPr>
            <a:r>
              <a:rPr lang="en-US" sz="980" b="1" dirty="0">
                <a:solidFill>
                  <a:srgbClr val="1E1E1E"/>
                </a:solidFill>
                <a:latin typeface="Arial" pitchFamily="34" charset="0"/>
                <a:ea typeface="Arial" pitchFamily="34" charset="-122"/>
                <a:cs typeface="Arial" pitchFamily="34" charset="-120"/>
              </a:rPr>
              <a:t>Hardware-aware note</a:t>
            </a:r>
            <a:endParaRPr lang="en-US" sz="980" dirty="0"/>
          </a:p>
        </p:txBody>
      </p:sp>
      <p:sp>
        <p:nvSpPr>
          <p:cNvPr id="44" name="Text 41"/>
          <p:cNvSpPr/>
          <p:nvPr/>
        </p:nvSpPr>
        <p:spPr>
          <a:xfrm>
            <a:off x="612648" y="5449824"/>
            <a:ext cx="3209544" cy="201168"/>
          </a:xfrm>
          <a:prstGeom prst="rect">
            <a:avLst/>
          </a:prstGeom>
          <a:noFill/>
          <a:ln/>
        </p:spPr>
        <p:txBody>
          <a:bodyPr wrap="square" lIns="0" tIns="0" rIns="0" bIns="0" rtlCol="0" anchor="t">
            <a:normAutofit fontScale="92500" lnSpcReduction="20000"/>
          </a:bodyPr>
          <a:lstStyle/>
          <a:p>
            <a:pPr marL="0" indent="0">
              <a:buNone/>
            </a:pPr>
            <a:r>
              <a:rPr lang="en-US" sz="880" dirty="0">
                <a:solidFill>
                  <a:srgbClr val="1E1E1E"/>
                </a:solidFill>
                <a:latin typeface="Arial" pitchFamily="34" charset="0"/>
                <a:ea typeface="Arial" pitchFamily="34" charset="-122"/>
                <a:cs typeface="Arial" pitchFamily="34" charset="-120"/>
              </a:rPr>
              <a:t>On small labs or Colab-class GPUs, adapter-based transfer learning is usually the first practical route.</a:t>
            </a:r>
            <a:endParaRPr lang="en-US" sz="880" dirty="0"/>
          </a:p>
        </p:txBody>
      </p:sp>
      <p:sp>
        <p:nvSpPr>
          <p:cNvPr id="45" name="Shape 42"/>
          <p:cNvSpPr/>
          <p:nvPr/>
        </p:nvSpPr>
        <p:spPr>
          <a:xfrm>
            <a:off x="4160520" y="5074920"/>
            <a:ext cx="3429000" cy="658368"/>
          </a:xfrm>
          <a:prstGeom prst="roundRect">
            <a:avLst>
              <a:gd name="adj" fmla="val 8333"/>
            </a:avLst>
          </a:prstGeom>
          <a:solidFill>
            <a:srgbClr val="DDEDE1"/>
          </a:solidFill>
          <a:ln w="12700">
            <a:solidFill>
              <a:srgbClr val="C8C7C4"/>
            </a:solidFill>
            <a:prstDash val="solid"/>
          </a:ln>
        </p:spPr>
        <p:txBody>
          <a:bodyPr/>
          <a:lstStyle/>
          <a:p>
            <a:endParaRPr lang="en-IN"/>
          </a:p>
        </p:txBody>
      </p:sp>
      <p:sp>
        <p:nvSpPr>
          <p:cNvPr id="46" name="Text 43"/>
          <p:cNvSpPr/>
          <p:nvPr/>
        </p:nvSpPr>
        <p:spPr>
          <a:xfrm>
            <a:off x="4270248" y="5157216"/>
            <a:ext cx="3209544" cy="182880"/>
          </a:xfrm>
          <a:prstGeom prst="rect">
            <a:avLst/>
          </a:prstGeom>
          <a:noFill/>
          <a:ln/>
        </p:spPr>
        <p:txBody>
          <a:bodyPr wrap="square" lIns="0" tIns="0" rIns="0" bIns="0" rtlCol="0" anchor="ctr"/>
          <a:lstStyle/>
          <a:p>
            <a:pPr marL="0" indent="0">
              <a:buNone/>
            </a:pPr>
            <a:r>
              <a:rPr lang="en-US" sz="980" b="1" dirty="0">
                <a:solidFill>
                  <a:srgbClr val="1E1E1E"/>
                </a:solidFill>
                <a:latin typeface="Arial" pitchFamily="34" charset="0"/>
                <a:ea typeface="Arial" pitchFamily="34" charset="-122"/>
                <a:cs typeface="Arial" pitchFamily="34" charset="-120"/>
              </a:rPr>
              <a:t>Model-governance note</a:t>
            </a:r>
            <a:endParaRPr lang="en-US" sz="980" dirty="0"/>
          </a:p>
        </p:txBody>
      </p:sp>
      <p:sp>
        <p:nvSpPr>
          <p:cNvPr id="47" name="Text 44"/>
          <p:cNvSpPr/>
          <p:nvPr/>
        </p:nvSpPr>
        <p:spPr>
          <a:xfrm>
            <a:off x="4270248" y="5449824"/>
            <a:ext cx="3209544" cy="201168"/>
          </a:xfrm>
          <a:prstGeom prst="rect">
            <a:avLst/>
          </a:prstGeom>
          <a:noFill/>
          <a:ln/>
        </p:spPr>
        <p:txBody>
          <a:bodyPr wrap="square" lIns="0" tIns="0" rIns="0" bIns="0" rtlCol="0" anchor="t">
            <a:normAutofit fontScale="92500" lnSpcReduction="20000"/>
          </a:bodyPr>
          <a:lstStyle/>
          <a:p>
            <a:pPr marL="0" indent="0">
              <a:buNone/>
            </a:pPr>
            <a:r>
              <a:rPr lang="en-US" sz="880" dirty="0">
                <a:solidFill>
                  <a:srgbClr val="1E1E1E"/>
                </a:solidFill>
                <a:latin typeface="Arial" pitchFamily="34" charset="0"/>
                <a:ea typeface="Arial" pitchFamily="34" charset="-122"/>
                <a:cs typeface="Arial" pitchFamily="34" charset="-120"/>
              </a:rPr>
              <a:t>The more stages you stack, the more carefully you must version data, prompts, adapters, and evaluation artifacts.</a:t>
            </a:r>
            <a:endParaRPr lang="en-US" sz="880" dirty="0"/>
          </a:p>
        </p:txBody>
      </p:sp>
      <p:sp>
        <p:nvSpPr>
          <p:cNvPr id="48" name="Shape 45"/>
          <p:cNvSpPr/>
          <p:nvPr/>
        </p:nvSpPr>
        <p:spPr>
          <a:xfrm>
            <a:off x="7818120" y="5074920"/>
            <a:ext cx="3794760" cy="658368"/>
          </a:xfrm>
          <a:prstGeom prst="roundRect">
            <a:avLst>
              <a:gd name="adj" fmla="val 8333"/>
            </a:avLst>
          </a:prstGeom>
          <a:solidFill>
            <a:srgbClr val="F2DDD7"/>
          </a:solidFill>
          <a:ln w="12700">
            <a:solidFill>
              <a:srgbClr val="C8C7C4"/>
            </a:solidFill>
            <a:prstDash val="solid"/>
          </a:ln>
        </p:spPr>
        <p:txBody>
          <a:bodyPr/>
          <a:lstStyle/>
          <a:p>
            <a:endParaRPr lang="en-IN"/>
          </a:p>
        </p:txBody>
      </p:sp>
      <p:sp>
        <p:nvSpPr>
          <p:cNvPr id="49" name="Text 46"/>
          <p:cNvSpPr/>
          <p:nvPr/>
        </p:nvSpPr>
        <p:spPr>
          <a:xfrm>
            <a:off x="7927848" y="5157216"/>
            <a:ext cx="3575304" cy="182880"/>
          </a:xfrm>
          <a:prstGeom prst="rect">
            <a:avLst/>
          </a:prstGeom>
          <a:noFill/>
          <a:ln/>
        </p:spPr>
        <p:txBody>
          <a:bodyPr wrap="square" lIns="0" tIns="0" rIns="0" bIns="0" rtlCol="0" anchor="ctr"/>
          <a:lstStyle/>
          <a:p>
            <a:pPr marL="0" indent="0">
              <a:buNone/>
            </a:pPr>
            <a:r>
              <a:rPr lang="en-US" sz="980" b="1" dirty="0">
                <a:solidFill>
                  <a:srgbClr val="1E1E1E"/>
                </a:solidFill>
                <a:latin typeface="Arial" pitchFamily="34" charset="0"/>
                <a:ea typeface="Arial" pitchFamily="34" charset="-122"/>
                <a:cs typeface="Arial" pitchFamily="34" charset="-120"/>
              </a:rPr>
              <a:t>Lead-in to Segment 5</a:t>
            </a:r>
            <a:endParaRPr lang="en-US" sz="980" dirty="0"/>
          </a:p>
        </p:txBody>
      </p:sp>
      <p:sp>
        <p:nvSpPr>
          <p:cNvPr id="50" name="Text 47"/>
          <p:cNvSpPr/>
          <p:nvPr/>
        </p:nvSpPr>
        <p:spPr>
          <a:xfrm>
            <a:off x="7927848" y="5449824"/>
            <a:ext cx="3575304" cy="201168"/>
          </a:xfrm>
          <a:prstGeom prst="rect">
            <a:avLst/>
          </a:prstGeom>
          <a:noFill/>
          <a:ln/>
        </p:spPr>
        <p:txBody>
          <a:bodyPr wrap="square" lIns="0" tIns="0" rIns="0" bIns="0" rtlCol="0" anchor="t">
            <a:normAutofit fontScale="92500" lnSpcReduction="20000"/>
          </a:bodyPr>
          <a:lstStyle/>
          <a:p>
            <a:pPr marL="0" indent="0">
              <a:buNone/>
            </a:pPr>
            <a:r>
              <a:rPr lang="en-US" sz="880" dirty="0">
                <a:solidFill>
                  <a:srgbClr val="1E1E1E"/>
                </a:solidFill>
                <a:latin typeface="Arial" pitchFamily="34" charset="0"/>
                <a:ea typeface="Arial" pitchFamily="34" charset="-122"/>
                <a:cs typeface="Arial" pitchFamily="34" charset="-120"/>
              </a:rPr>
              <a:t>Next we keep the same transfer-learning goals but change the economics using PEFT and LoRA.</a:t>
            </a:r>
            <a:endParaRPr lang="en-US" sz="88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5">
            <a:extLst>
              <a:ext uri="{FF2B5EF4-FFF2-40B4-BE49-F238E27FC236}">
                <a16:creationId xmlns:a16="http://schemas.microsoft.com/office/drawing/2014/main" id="{8E4785E4-0C78-7845-99EF-96A8E763BC00}"/>
              </a:ext>
            </a:extLst>
          </p:cNvPr>
          <p:cNvSpPr/>
          <p:nvPr/>
        </p:nvSpPr>
        <p:spPr>
          <a:xfrm>
            <a:off x="5012831" y="2539340"/>
            <a:ext cx="4876800" cy="560832"/>
          </a:xfrm>
          <a:prstGeom prst="rect">
            <a:avLst/>
          </a:prstGeom>
          <a:noFill/>
          <a:ln/>
        </p:spPr>
        <p:txBody>
          <a:bodyPr wrap="square" lIns="0" tIns="0" rIns="0" bIns="0" rtlCol="0" anchor="ctr"/>
          <a:lstStyle/>
          <a:p>
            <a:r>
              <a:rPr lang="en-US" sz="2400" b="1" dirty="0">
                <a:solidFill>
                  <a:srgbClr val="111111"/>
                </a:solidFill>
                <a:latin typeface="Aptos Display" pitchFamily="34" charset="0"/>
                <a:ea typeface="Aptos Display" pitchFamily="34" charset="-122"/>
                <a:cs typeface="Aptos Display" pitchFamily="34" charset="-120"/>
              </a:rPr>
              <a:t>Thank You</a:t>
            </a:r>
            <a:endParaRPr lang="en-US" sz="2400" dirty="0"/>
          </a:p>
        </p:txBody>
      </p:sp>
    </p:spTree>
    <p:extLst>
      <p:ext uri="{BB962C8B-B14F-4D97-AF65-F5344CB8AC3E}">
        <p14:creationId xmlns:p14="http://schemas.microsoft.com/office/powerpoint/2010/main" val="70862899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7</TotalTime>
  <Words>1624</Words>
  <Application>Microsoft Office PowerPoint</Application>
  <PresentationFormat>Widescreen</PresentationFormat>
  <Paragraphs>151</Paragraphs>
  <Slides>7</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Aptos Display</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OpenAI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AAAI Week 6 Segment 4 - Transfer Learning for Large Models</dc:title>
  <dc:subject>AAAI Week 6 Segment 4</dc:subject>
  <dc:creator>OpenAI</dc:creator>
  <cp:lastModifiedBy>satyajit das</cp:lastModifiedBy>
  <cp:revision>12</cp:revision>
  <dcterms:created xsi:type="dcterms:W3CDTF">2026-04-08T01:44:25Z</dcterms:created>
  <dcterms:modified xsi:type="dcterms:W3CDTF">2026-04-10T03:14:35Z</dcterms:modified>
</cp:coreProperties>
</file>