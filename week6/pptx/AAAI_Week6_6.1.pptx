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70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4" autoAdjust="0"/>
    <p:restoredTop sz="94610"/>
  </p:normalViewPr>
  <p:slideViewPr>
    <p:cSldViewPr snapToGrid="0" snapToObjects="1">
      <p:cViewPr>
        <p:scale>
          <a:sx n="103" d="100"/>
          <a:sy n="103" d="100"/>
        </p:scale>
        <p:origin x="60" y="-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0695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course template slide deck and week-6 syllabus for layout and scope.
- Vaswani et al., Attention Is All You Need, NeurIPS 2017.
- Brown et al., Language Models are Few-Shot Learners, NeurIPS 2020.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73567-FB67-FFDD-F380-BD2E48976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B374E5-749E-5678-FF66-2B3DCAF770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4F56AE-E28E-408A-1EBE-1516201F16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week-6 syllabus for segment ordering and lecture alignment.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F0F106-D744-A97A-23BC-492F18BE4D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340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Learning objectives synthesized from the user-provided week-6 syllabus and the instructional structure requested by the user.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Vaswani et al., Attention Is All You Need, NeurIPS 2017.
- Brown et al., Language Models are Few-Shot Learners, NeurIPS 2020.
- Bommasani et al., On the Opportunities and Risks of Foundation Models, 2021.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Vaswani et al., Attention Is All You Need, NeurIPS 2017.
- Sennrich et al., Neural Machine Translation of Rare Words with Subword Units, ACL 2016.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Vaswani et al., Attention Is All You Need, NeurIPS 2017.
- Radford et al., Improving Language Understanding by Generative Pre-Training, 2018.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Vaswani et al., Attention Is All You Need, NeurIPS 2017.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Brown et al., Language Models are Few-Shot Learners, NeurIPS 2020.
- Ouyang et al., Training language models to follow instructions with human feedback, 2022.
- Touvron et al., Llama 2: Open Foundation and Fine-Tuned Chat Models, 2023.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Lewis et al., Retrieval-Augmented Generation for Knowledge-Intensive NLP Tasks, NeurIPS 2020.
- Hu et al., LoRA: Low-Rank Adaptation of Large Language Models, 2021.
- Touvron et al., Llama 2: Open Foundation and Fine-Tuned Chat Models, 2023.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Vaswani et al., Attention Is All You Need, NeurIPS 2017.
- Micikevicius et al., Mixed Precision Training, ICLR 2018.
- Chen et al., Training Deep Nets with Sublinear Memory Cost, 2016.
- Hu et al., LoRA: Low-Rank Adaptation of Large Language Models, 2021.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Lewis et al., Retrieval-Augmented Generation for Knowledge-Intensive NLP Tasks, NeurIPS 2020.
- Hu et al., LoRA: Low-Rank Adaptation of Large Language Models, 2021.
- Dettmers et al., QLoRA: Efficient Finetuning of Quantized LLMs, 2023.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week-6 syllabus for segment sequencing.
- Micikevicius et al., Mixed Precision Training, ICLR 2018.
- Chen et al., Training Deep Nets with Sublinear Memory Cost, 2016.
- Hu et al., LoRA: Low-Rank Adaptation of Large Language Models, 2021.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Summary synthesized from the preceding slides and the user-provided week-6 syllabus.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10312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/mnt/data/template_assets_py/slide1_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0713" y="274320"/>
            <a:ext cx="924285" cy="9326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335024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NPTEL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914400" y="1783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Applied Accelerated Artificial Intelligence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914400" y="22219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06 · Segment 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25146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Large Language Models: Foundations for Optimization and Fine-tuning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2011680" y="356616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Instructor: Dr. Satyajit Das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Department of Computer Science and Engineering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Indian Institute of Technology Guwahati, Assam, India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078992" y="4224528"/>
            <a:ext cx="6903720" cy="0"/>
          </a:xfrm>
          <a:prstGeom prst="line">
            <a:avLst/>
          </a:prstGeom>
          <a:noFill/>
          <a:ln w="1270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777240" y="4425696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2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 1 sets the conceptual base for the remaining Week 6 lectures: mixed precision, memory optimization, transfer learning, and PEFT/LoRA.</a:t>
            </a:r>
            <a:endParaRPr lang="en-US" sz="9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6D918-F938-8DA5-758A-2F3E47504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7DE26F1-E6C8-8456-F5C4-2480DF032EC5}"/>
              </a:ext>
            </a:extLst>
          </p:cNvPr>
          <p:cNvSpPr/>
          <p:nvPr/>
        </p:nvSpPr>
        <p:spPr>
          <a:xfrm>
            <a:off x="0" y="0"/>
            <a:ext cx="9144000" cy="210312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6832398-1DBC-FFBB-7966-C0471AD07CEB}"/>
              </a:ext>
            </a:extLst>
          </p:cNvPr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/mnt/data/template_master_assets/layout1_4.png">
            <a:extLst>
              <a:ext uri="{FF2B5EF4-FFF2-40B4-BE49-F238E27FC236}">
                <a16:creationId xmlns:a16="http://schemas.microsoft.com/office/drawing/2014/main" id="{2A4C347D-A5BB-479B-2DA7-9976336651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0014" y="246888"/>
            <a:ext cx="470692" cy="475488"/>
          </a:xfrm>
          <a:prstGeom prst="rect">
            <a:avLst/>
          </a:prstGeom>
        </p:spPr>
      </p:pic>
      <p:sp>
        <p:nvSpPr>
          <p:cNvPr id="5" name="Shape 2">
            <a:extLst>
              <a:ext uri="{FF2B5EF4-FFF2-40B4-BE49-F238E27FC236}">
                <a16:creationId xmlns:a16="http://schemas.microsoft.com/office/drawing/2014/main" id="{8EFD8D3B-95BF-C714-6FD9-C4F417117D54}"/>
              </a:ext>
            </a:extLst>
          </p:cNvPr>
          <p:cNvSpPr/>
          <p:nvPr/>
        </p:nvSpPr>
        <p:spPr>
          <a:xfrm>
            <a:off x="100584" y="4937760"/>
            <a:ext cx="68580" cy="68580"/>
          </a:xfrm>
          <a:prstGeom prst="ellipse">
            <a:avLst/>
          </a:prstGeom>
          <a:solidFill>
            <a:srgbClr val="234F84"/>
          </a:solidFill>
          <a:ln w="12700">
            <a:solidFill>
              <a:srgbClr val="234F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C6E29725-6354-279A-5F5D-7BDD317F8E23}"/>
              </a:ext>
            </a:extLst>
          </p:cNvPr>
          <p:cNvSpPr/>
          <p:nvPr/>
        </p:nvSpPr>
        <p:spPr>
          <a:xfrm>
            <a:off x="201168" y="4937760"/>
            <a:ext cx="68580" cy="68580"/>
          </a:xfrm>
          <a:prstGeom prst="ellipse">
            <a:avLst/>
          </a:prstGeom>
          <a:solidFill>
            <a:srgbClr val="EF3340"/>
          </a:solidFill>
          <a:ln w="12700">
            <a:solidFill>
              <a:srgbClr val="EF334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69C4532C-6C3E-01E5-7C84-4D9CF61C6B52}"/>
              </a:ext>
            </a:extLst>
          </p:cNvPr>
          <p:cNvSpPr/>
          <p:nvPr/>
        </p:nvSpPr>
        <p:spPr>
          <a:xfrm>
            <a:off x="1051560" y="802653"/>
            <a:ext cx="7040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 1 establishes the LLM foundations.</a:t>
            </a:r>
            <a:endParaRPr lang="en-US" sz="1550" dirty="0"/>
          </a:p>
          <a:p>
            <a:pPr marL="0" indent="0" algn="ctr">
              <a:buNone/>
            </a:pPr>
            <a:r>
              <a:rPr lang="en-US" sz="15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Segments 2–5 move into mixed precision, memory and throughput, transfer learning, and PEFT/LoRA.</a:t>
            </a:r>
            <a:endParaRPr lang="en-US" sz="155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9D3394F9-4ABD-4BDD-1113-5280D8C52BAB}"/>
              </a:ext>
            </a:extLst>
          </p:cNvPr>
          <p:cNvSpPr/>
          <p:nvPr/>
        </p:nvSpPr>
        <p:spPr>
          <a:xfrm>
            <a:off x="1051560" y="2247405"/>
            <a:ext cx="274320" cy="0"/>
          </a:xfrm>
          <a:prstGeom prst="line">
            <a:avLst/>
          </a:prstGeom>
          <a:noFill/>
          <a:ln w="19050">
            <a:solidFill>
              <a:srgbClr val="234F8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84711898-3B54-51EF-4C3E-09EB17B7AB31}"/>
              </a:ext>
            </a:extLst>
          </p:cNvPr>
          <p:cNvSpPr/>
          <p:nvPr/>
        </p:nvSpPr>
        <p:spPr>
          <a:xfrm>
            <a:off x="1353312" y="2073669"/>
            <a:ext cx="6720840" cy="310896"/>
          </a:xfrm>
          <a:prstGeom prst="roundRect">
            <a:avLst/>
          </a:prstGeom>
          <a:solidFill>
            <a:srgbClr val="EAF1FB"/>
          </a:solidFill>
          <a:ln w="15240">
            <a:solidFill>
              <a:srgbClr val="234F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B69F73BD-86C4-B2AB-40AD-BAA133C4B90A}"/>
              </a:ext>
            </a:extLst>
          </p:cNvPr>
          <p:cNvSpPr/>
          <p:nvPr/>
        </p:nvSpPr>
        <p:spPr>
          <a:xfrm>
            <a:off x="1508760" y="2128533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34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 1</a:t>
            </a:r>
            <a:endParaRPr lang="en-US" sz="115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F31524CB-DC0C-A13B-4913-DA3C72548656}"/>
              </a:ext>
            </a:extLst>
          </p:cNvPr>
          <p:cNvSpPr/>
          <p:nvPr/>
        </p:nvSpPr>
        <p:spPr>
          <a:xfrm>
            <a:off x="2331720" y="2128533"/>
            <a:ext cx="5440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foundations and terminology</a:t>
            </a:r>
            <a:endParaRPr lang="en-US" sz="1150" dirty="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7ACF01E0-0DE3-59AA-11B3-AEA63CAC7F36}"/>
              </a:ext>
            </a:extLst>
          </p:cNvPr>
          <p:cNvSpPr/>
          <p:nvPr/>
        </p:nvSpPr>
        <p:spPr>
          <a:xfrm>
            <a:off x="1051560" y="2604021"/>
            <a:ext cx="274320" cy="0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D0013DEA-18BD-F0C2-C53E-8B44EA112F68}"/>
              </a:ext>
            </a:extLst>
          </p:cNvPr>
          <p:cNvSpPr/>
          <p:nvPr/>
        </p:nvSpPr>
        <p:spPr>
          <a:xfrm>
            <a:off x="1353312" y="2430285"/>
            <a:ext cx="6720840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997CB892-C77C-9659-6978-A5F2EBB33413}"/>
              </a:ext>
            </a:extLst>
          </p:cNvPr>
          <p:cNvSpPr/>
          <p:nvPr/>
        </p:nvSpPr>
        <p:spPr>
          <a:xfrm>
            <a:off x="1508760" y="2485149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 2</a:t>
            </a:r>
            <a:endParaRPr lang="en-US" sz="115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6C76C6A5-2014-4FBE-40D5-55227D595A6C}"/>
              </a:ext>
            </a:extLst>
          </p:cNvPr>
          <p:cNvSpPr/>
          <p:nvPr/>
        </p:nvSpPr>
        <p:spPr>
          <a:xfrm>
            <a:off x="2331720" y="2485149"/>
            <a:ext cx="5440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Mixed precision and numerical stability</a:t>
            </a:r>
            <a:endParaRPr lang="en-US" sz="1150" dirty="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210FDC50-4D9B-634A-5885-B19D42EA94C0}"/>
              </a:ext>
            </a:extLst>
          </p:cNvPr>
          <p:cNvSpPr/>
          <p:nvPr/>
        </p:nvSpPr>
        <p:spPr>
          <a:xfrm>
            <a:off x="1051560" y="2960637"/>
            <a:ext cx="274320" cy="0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52A3642D-08FE-45DD-1E6E-F7B94D8F7B36}"/>
              </a:ext>
            </a:extLst>
          </p:cNvPr>
          <p:cNvSpPr/>
          <p:nvPr/>
        </p:nvSpPr>
        <p:spPr>
          <a:xfrm>
            <a:off x="1353312" y="2786901"/>
            <a:ext cx="6720840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395CA3D3-01B8-4EA8-6BE0-823D1B613300}"/>
              </a:ext>
            </a:extLst>
          </p:cNvPr>
          <p:cNvSpPr/>
          <p:nvPr/>
        </p:nvSpPr>
        <p:spPr>
          <a:xfrm>
            <a:off x="1508760" y="2841765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 3</a:t>
            </a:r>
            <a:endParaRPr lang="en-US" sz="1150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69136294-5F18-BA8B-73EE-B9A3D5DC7279}"/>
              </a:ext>
            </a:extLst>
          </p:cNvPr>
          <p:cNvSpPr/>
          <p:nvPr/>
        </p:nvSpPr>
        <p:spPr>
          <a:xfrm>
            <a:off x="2331720" y="2841765"/>
            <a:ext cx="5440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 optimization and throughput</a:t>
            </a:r>
            <a:endParaRPr lang="en-US" sz="1150" dirty="0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BE00BC1B-1721-45F7-6A47-04C55D42D01D}"/>
              </a:ext>
            </a:extLst>
          </p:cNvPr>
          <p:cNvSpPr/>
          <p:nvPr/>
        </p:nvSpPr>
        <p:spPr>
          <a:xfrm>
            <a:off x="1051560" y="3317253"/>
            <a:ext cx="274320" cy="0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620857C2-75CD-E3DC-8F84-F1EAE2F05231}"/>
              </a:ext>
            </a:extLst>
          </p:cNvPr>
          <p:cNvSpPr/>
          <p:nvPr/>
        </p:nvSpPr>
        <p:spPr>
          <a:xfrm>
            <a:off x="1353312" y="3143517"/>
            <a:ext cx="6720840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B21FB206-6CCB-272E-2168-177041336257}"/>
              </a:ext>
            </a:extLst>
          </p:cNvPr>
          <p:cNvSpPr/>
          <p:nvPr/>
        </p:nvSpPr>
        <p:spPr>
          <a:xfrm>
            <a:off x="1508760" y="3198381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 4</a:t>
            </a:r>
            <a:endParaRPr lang="en-US" sz="1150" dirty="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E6F28DB0-69E4-B018-1786-7E6DE2E967E7}"/>
              </a:ext>
            </a:extLst>
          </p:cNvPr>
          <p:cNvSpPr/>
          <p:nvPr/>
        </p:nvSpPr>
        <p:spPr>
          <a:xfrm>
            <a:off x="2331720" y="3198381"/>
            <a:ext cx="5440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learning for large models</a:t>
            </a:r>
            <a:endParaRPr lang="en-US" sz="1150" dirty="0"/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403EEE8A-0224-76ED-F60B-C00DF0B87699}"/>
              </a:ext>
            </a:extLst>
          </p:cNvPr>
          <p:cNvSpPr/>
          <p:nvPr/>
        </p:nvSpPr>
        <p:spPr>
          <a:xfrm>
            <a:off x="1051560" y="3673869"/>
            <a:ext cx="274320" cy="0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60F2C07A-9D4B-D657-49C1-2F66C5D8B20A}"/>
              </a:ext>
            </a:extLst>
          </p:cNvPr>
          <p:cNvSpPr/>
          <p:nvPr/>
        </p:nvSpPr>
        <p:spPr>
          <a:xfrm>
            <a:off x="1353312" y="3500133"/>
            <a:ext cx="6720840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F8859814-AAB7-3FFE-61F2-88BAD0BDF1B3}"/>
              </a:ext>
            </a:extLst>
          </p:cNvPr>
          <p:cNvSpPr/>
          <p:nvPr/>
        </p:nvSpPr>
        <p:spPr>
          <a:xfrm>
            <a:off x="1508760" y="3554997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 5</a:t>
            </a:r>
            <a:endParaRPr lang="en-US" sz="1150" dirty="0"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0DD9CF22-6B44-3562-D1BB-5E5ACC12A0FC}"/>
              </a:ext>
            </a:extLst>
          </p:cNvPr>
          <p:cNvSpPr/>
          <p:nvPr/>
        </p:nvSpPr>
        <p:spPr>
          <a:xfrm>
            <a:off x="2331720" y="3554997"/>
            <a:ext cx="5440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Efficient LLM fine-tuning using PEFT and LoRA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1585364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10312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/mnt/data/template_master_assets/layout1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0014" y="246888"/>
            <a:ext cx="470692" cy="4754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0584" y="4937760"/>
            <a:ext cx="68580" cy="68580"/>
          </a:xfrm>
          <a:prstGeom prst="ellipse">
            <a:avLst/>
          </a:prstGeom>
          <a:solidFill>
            <a:srgbClr val="234F84"/>
          </a:solidFill>
          <a:ln w="12700">
            <a:solidFill>
              <a:srgbClr val="234F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201168" y="4937760"/>
            <a:ext cx="68580" cy="68580"/>
          </a:xfrm>
          <a:prstGeom prst="ellipse">
            <a:avLst/>
          </a:prstGeom>
          <a:solidFill>
            <a:srgbClr val="EF3340"/>
          </a:solidFill>
          <a:ln w="12700">
            <a:solidFill>
              <a:srgbClr val="EF334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301752" y="4937760"/>
            <a:ext cx="68580" cy="68580"/>
          </a:xfrm>
          <a:prstGeom prst="ellipse">
            <a:avLst/>
          </a:prstGeom>
          <a:solidFill>
            <a:srgbClr val="D0C22D"/>
          </a:solidFill>
          <a:ln w="12700">
            <a:solidFill>
              <a:srgbClr val="D0C2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310896" y="210312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Objectives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365760" y="932688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49808" y="932688"/>
            <a:ext cx="7635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an LLM and distinguish pretraining, adaptation, and inference.</a:t>
            </a:r>
            <a:endParaRPr lang="en-US" sz="1320" dirty="0"/>
          </a:p>
        </p:txBody>
      </p:sp>
      <p:sp>
        <p:nvSpPr>
          <p:cNvPr id="11" name="Text 8"/>
          <p:cNvSpPr/>
          <p:nvPr/>
        </p:nvSpPr>
        <p:spPr>
          <a:xfrm>
            <a:off x="365760" y="1362456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49808" y="1362456"/>
            <a:ext cx="7635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the tokenizer → embedding → transformer → logits pipeline.</a:t>
            </a:r>
            <a:endParaRPr lang="en-US" sz="1320" dirty="0"/>
          </a:p>
        </p:txBody>
      </p:sp>
      <p:sp>
        <p:nvSpPr>
          <p:cNvPr id="13" name="Text 10"/>
          <p:cNvSpPr/>
          <p:nvPr/>
        </p:nvSpPr>
        <p:spPr>
          <a:xfrm>
            <a:off x="365760" y="1792224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749808" y="1792224"/>
            <a:ext cx="7635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Describe the role of masked self-attention in decoder-only models.</a:t>
            </a:r>
            <a:endParaRPr lang="en-US" sz="1320" dirty="0"/>
          </a:p>
        </p:txBody>
      </p:sp>
      <p:sp>
        <p:nvSpPr>
          <p:cNvPr id="15" name="Text 12"/>
          <p:cNvSpPr/>
          <p:nvPr/>
        </p:nvSpPr>
        <p:spPr>
          <a:xfrm>
            <a:off x="365760" y="222199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749808" y="2221992"/>
            <a:ext cx="7635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Relate next-token prediction to large-scale pretraining.</a:t>
            </a:r>
            <a:endParaRPr lang="en-US" sz="1320" dirty="0"/>
          </a:p>
        </p:txBody>
      </p:sp>
      <p:sp>
        <p:nvSpPr>
          <p:cNvPr id="17" name="Text 14"/>
          <p:cNvSpPr/>
          <p:nvPr/>
        </p:nvSpPr>
        <p:spPr>
          <a:xfrm>
            <a:off x="365760" y="265176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749808" y="2651760"/>
            <a:ext cx="7635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why pretrained LLMs still need task or domain adaptation.</a:t>
            </a:r>
            <a:endParaRPr lang="en-US" sz="1320" dirty="0"/>
          </a:p>
        </p:txBody>
      </p:sp>
      <p:sp>
        <p:nvSpPr>
          <p:cNvPr id="19" name="Text 16"/>
          <p:cNvSpPr/>
          <p:nvPr/>
        </p:nvSpPr>
        <p:spPr>
          <a:xfrm>
            <a:off x="365760" y="311161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749808" y="3111612"/>
            <a:ext cx="7635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the main compute and memory bottlenecks in LLM training.</a:t>
            </a:r>
            <a:endParaRPr lang="en-US" sz="1320" dirty="0"/>
          </a:p>
        </p:txBody>
      </p:sp>
      <p:sp>
        <p:nvSpPr>
          <p:cNvPr id="21" name="Text 18"/>
          <p:cNvSpPr/>
          <p:nvPr/>
        </p:nvSpPr>
        <p:spPr>
          <a:xfrm>
            <a:off x="365760" y="354138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749808" y="3541380"/>
            <a:ext cx="7635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prompting, RAG, full fine-tuning, and PEFT at a high level.</a:t>
            </a:r>
            <a:endParaRPr lang="en-US" sz="1320" dirty="0"/>
          </a:p>
        </p:txBody>
      </p:sp>
      <p:sp>
        <p:nvSpPr>
          <p:cNvPr id="23" name="Text 20"/>
          <p:cNvSpPr/>
          <p:nvPr/>
        </p:nvSpPr>
        <p:spPr>
          <a:xfrm>
            <a:off x="365760" y="3971148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749808" y="3971148"/>
            <a:ext cx="7635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these foundations to the remaining Week 6 segments.</a:t>
            </a:r>
            <a:endParaRPr lang="en-US" sz="13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10312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/mnt/data/template_master_assets/layout1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0014" y="246888"/>
            <a:ext cx="470692" cy="4754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0584" y="4937760"/>
            <a:ext cx="68580" cy="68580"/>
          </a:xfrm>
          <a:prstGeom prst="ellipse">
            <a:avLst/>
          </a:prstGeom>
          <a:solidFill>
            <a:srgbClr val="234F84"/>
          </a:solidFill>
          <a:ln w="12700">
            <a:solidFill>
              <a:srgbClr val="234F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201168" y="4937760"/>
            <a:ext cx="68580" cy="68580"/>
          </a:xfrm>
          <a:prstGeom prst="ellipse">
            <a:avLst/>
          </a:prstGeom>
          <a:solidFill>
            <a:srgbClr val="EF3340"/>
          </a:solidFill>
          <a:ln w="12700">
            <a:solidFill>
              <a:srgbClr val="EF334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301752" y="4937760"/>
            <a:ext cx="68580" cy="68580"/>
          </a:xfrm>
          <a:prstGeom prst="ellipse">
            <a:avLst/>
          </a:prstGeom>
          <a:solidFill>
            <a:srgbClr val="D0C22D"/>
          </a:solidFill>
          <a:ln w="12700">
            <a:solidFill>
              <a:srgbClr val="D0C2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8458200" y="462686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10896" y="21031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makes a model an LLM?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1700784" y="2331720"/>
            <a:ext cx="502920" cy="0"/>
          </a:xfrm>
          <a:prstGeom prst="line">
            <a:avLst/>
          </a:prstGeom>
          <a:noFill/>
          <a:ln w="25400">
            <a:solidFill>
              <a:srgbClr val="D9D9D9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3794760" y="2331720"/>
            <a:ext cx="502920" cy="0"/>
          </a:xfrm>
          <a:prstGeom prst="line">
            <a:avLst/>
          </a:prstGeom>
          <a:noFill/>
          <a:ln w="25400">
            <a:solidFill>
              <a:srgbClr val="D9D9D9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5897880" y="2331720"/>
            <a:ext cx="502920" cy="0"/>
          </a:xfrm>
          <a:prstGeom prst="line">
            <a:avLst/>
          </a:prstGeom>
          <a:noFill/>
          <a:ln w="25400">
            <a:solidFill>
              <a:srgbClr val="D9D9D9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640080" y="1874520"/>
            <a:ext cx="1600200" cy="914400"/>
          </a:xfrm>
          <a:prstGeom prst="roundRect">
            <a:avLst/>
          </a:prstGeom>
          <a:solidFill>
            <a:srgbClr val="EAF1FB"/>
          </a:solidFill>
          <a:ln w="1016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731520" y="1947673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Language model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31520" y="219456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1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Learns a probability distribution over the next token given prior context.</a:t>
            </a:r>
            <a:endParaRPr lang="en-US" sz="1010" dirty="0"/>
          </a:p>
        </p:txBody>
      </p:sp>
      <p:sp>
        <p:nvSpPr>
          <p:cNvPr id="16" name="Shape 13"/>
          <p:cNvSpPr/>
          <p:nvPr/>
        </p:nvSpPr>
        <p:spPr>
          <a:xfrm>
            <a:off x="2697480" y="1874520"/>
            <a:ext cx="1600200" cy="914400"/>
          </a:xfrm>
          <a:prstGeom prst="roundRect">
            <a:avLst/>
          </a:prstGeom>
          <a:solidFill>
            <a:srgbClr val="F7F3D4"/>
          </a:solidFill>
          <a:ln w="1016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2788920" y="193852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2788920" y="219456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1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very large parameter counts, datasets, and training compute.</a:t>
            </a:r>
            <a:endParaRPr lang="en-US" sz="1010" dirty="0"/>
          </a:p>
        </p:txBody>
      </p:sp>
      <p:sp>
        <p:nvSpPr>
          <p:cNvPr id="19" name="Shape 16"/>
          <p:cNvSpPr/>
          <p:nvPr/>
        </p:nvSpPr>
        <p:spPr>
          <a:xfrm>
            <a:off x="4800600" y="1874520"/>
            <a:ext cx="1600200" cy="914400"/>
          </a:xfrm>
          <a:prstGeom prst="roundRect">
            <a:avLst/>
          </a:prstGeom>
          <a:solidFill>
            <a:srgbClr val="EEF7F0"/>
          </a:solidFill>
          <a:ln w="1016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4892040" y="1947673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 model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892040" y="219456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1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pretraining, the same model can be adapted for many downstream tasks.</a:t>
            </a:r>
            <a:endParaRPr lang="en-US" sz="1010" dirty="0"/>
          </a:p>
        </p:txBody>
      </p:sp>
      <p:sp>
        <p:nvSpPr>
          <p:cNvPr id="22" name="Shape 19"/>
          <p:cNvSpPr/>
          <p:nvPr/>
        </p:nvSpPr>
        <p:spPr>
          <a:xfrm>
            <a:off x="6903720" y="1874520"/>
            <a:ext cx="1600200" cy="914400"/>
          </a:xfrm>
          <a:prstGeom prst="roundRect">
            <a:avLst/>
          </a:prstGeom>
          <a:solidFill>
            <a:srgbClr val="FDEDEE"/>
          </a:solidFill>
          <a:ln w="1016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6995160" y="193852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system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995160" y="219456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1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Prompting, RAG, or fine-tuning turns the base model into a task-oriented assistant.</a:t>
            </a:r>
            <a:endParaRPr lang="en-US" sz="1010" dirty="0"/>
          </a:p>
        </p:txBody>
      </p:sp>
      <p:sp>
        <p:nvSpPr>
          <p:cNvPr id="25" name="Text 22"/>
          <p:cNvSpPr/>
          <p:nvPr/>
        </p:nvSpPr>
        <p:spPr>
          <a:xfrm>
            <a:off x="658368" y="960120"/>
            <a:ext cx="7726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LLM is not just “a very big neural network.” It is a pretrained transformer-based language model whose scale gives it broad, reusable linguistic and reasoning capability.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658368" y="3840480"/>
            <a:ext cx="7726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234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Week 6, we are mainly interested in how such models are adapted efficiently after pretraining.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10312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/mnt/data/template_master_assets/layout1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0014" y="246888"/>
            <a:ext cx="470692" cy="4754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0584" y="4937760"/>
            <a:ext cx="68580" cy="68580"/>
          </a:xfrm>
          <a:prstGeom prst="ellipse">
            <a:avLst/>
          </a:prstGeom>
          <a:solidFill>
            <a:srgbClr val="234F84"/>
          </a:solidFill>
          <a:ln w="12700">
            <a:solidFill>
              <a:srgbClr val="234F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201168" y="4937760"/>
            <a:ext cx="68580" cy="68580"/>
          </a:xfrm>
          <a:prstGeom prst="ellipse">
            <a:avLst/>
          </a:prstGeom>
          <a:solidFill>
            <a:srgbClr val="EF3340"/>
          </a:solidFill>
          <a:ln w="12700">
            <a:solidFill>
              <a:srgbClr val="EF334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301752" y="4937760"/>
            <a:ext cx="68580" cy="68580"/>
          </a:xfrm>
          <a:prstGeom prst="ellipse">
            <a:avLst/>
          </a:prstGeom>
          <a:solidFill>
            <a:srgbClr val="D0C22D"/>
          </a:solidFill>
          <a:ln w="12700">
            <a:solidFill>
              <a:srgbClr val="D0C2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8458200" y="462686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10896" y="21031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raw text to next-token prediction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1508760" y="2267712"/>
            <a:ext cx="320040" cy="0"/>
          </a:xfrm>
          <a:prstGeom prst="line">
            <a:avLst/>
          </a:prstGeom>
          <a:noFill/>
          <a:ln w="22860">
            <a:solidFill>
              <a:srgbClr val="D9D9D9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2880360" y="2267712"/>
            <a:ext cx="320040" cy="0"/>
          </a:xfrm>
          <a:prstGeom prst="line">
            <a:avLst/>
          </a:prstGeom>
          <a:noFill/>
          <a:ln w="22860">
            <a:solidFill>
              <a:srgbClr val="D9D9D9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4251960" y="2267712"/>
            <a:ext cx="320040" cy="0"/>
          </a:xfrm>
          <a:prstGeom prst="line">
            <a:avLst/>
          </a:prstGeom>
          <a:noFill/>
          <a:ln w="22860">
            <a:solidFill>
              <a:srgbClr val="D9D9D9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5623560" y="2267712"/>
            <a:ext cx="320040" cy="0"/>
          </a:xfrm>
          <a:prstGeom prst="line">
            <a:avLst/>
          </a:prstGeom>
          <a:noFill/>
          <a:ln w="22860">
            <a:solidFill>
              <a:srgbClr val="D9D9D9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6995160" y="2267712"/>
            <a:ext cx="320040" cy="0"/>
          </a:xfrm>
          <a:prstGeom prst="line">
            <a:avLst/>
          </a:prstGeom>
          <a:noFill/>
          <a:ln w="22860">
            <a:solidFill>
              <a:srgbClr val="D9D9D9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502920" y="1755648"/>
            <a:ext cx="1005840" cy="1024128"/>
          </a:xfrm>
          <a:prstGeom prst="roundRect">
            <a:avLst/>
          </a:prstGeom>
          <a:solidFill>
            <a:srgbClr val="EAF1FB"/>
          </a:solidFill>
          <a:ln w="1016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557784" y="1901952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text</a:t>
            </a:r>
            <a:endParaRPr lang="en-US" sz="1140" dirty="0"/>
          </a:p>
        </p:txBody>
      </p:sp>
      <p:sp>
        <p:nvSpPr>
          <p:cNvPr id="17" name="Text 14"/>
          <p:cNvSpPr/>
          <p:nvPr/>
        </p:nvSpPr>
        <p:spPr>
          <a:xfrm>
            <a:off x="557784" y="2121408"/>
            <a:ext cx="896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"LLMs learn patterns in text"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1874520" y="1755648"/>
            <a:ext cx="1005840" cy="1024128"/>
          </a:xfrm>
          <a:prstGeom prst="roundRect">
            <a:avLst/>
          </a:prstGeom>
          <a:solidFill>
            <a:srgbClr val="F7F3D4"/>
          </a:solidFill>
          <a:ln w="1016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1929384" y="1901952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Tokenizer</a:t>
            </a:r>
            <a:endParaRPr lang="en-US" sz="1140" dirty="0"/>
          </a:p>
        </p:txBody>
      </p:sp>
      <p:sp>
        <p:nvSpPr>
          <p:cNvPr id="20" name="Text 17"/>
          <p:cNvSpPr/>
          <p:nvPr/>
        </p:nvSpPr>
        <p:spPr>
          <a:xfrm>
            <a:off x="1929384" y="2121408"/>
            <a:ext cx="896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Splits text into subword tokens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246120" y="1755648"/>
            <a:ext cx="1005840" cy="1024128"/>
          </a:xfrm>
          <a:prstGeom prst="roundRect">
            <a:avLst/>
          </a:prstGeom>
          <a:solidFill>
            <a:srgbClr val="FDEDEE"/>
          </a:solidFill>
          <a:ln w="1016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3300984" y="1901952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 IDs</a:t>
            </a:r>
            <a:endParaRPr lang="en-US" sz="1140" dirty="0"/>
          </a:p>
        </p:txBody>
      </p:sp>
      <p:sp>
        <p:nvSpPr>
          <p:cNvPr id="23" name="Text 20"/>
          <p:cNvSpPr/>
          <p:nvPr/>
        </p:nvSpPr>
        <p:spPr>
          <a:xfrm>
            <a:off x="3300984" y="2121408"/>
            <a:ext cx="896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Integer indices for each token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4617720" y="1755648"/>
            <a:ext cx="1005840" cy="1024128"/>
          </a:xfrm>
          <a:prstGeom prst="roundRect">
            <a:avLst/>
          </a:prstGeom>
          <a:solidFill>
            <a:srgbClr val="EEF7F0"/>
          </a:solidFill>
          <a:ln w="1016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4672584" y="1901952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Embeddings</a:t>
            </a:r>
            <a:endParaRPr lang="en-US" sz="1140" dirty="0"/>
          </a:p>
        </p:txBody>
      </p:sp>
      <p:sp>
        <p:nvSpPr>
          <p:cNvPr id="26" name="Text 23"/>
          <p:cNvSpPr/>
          <p:nvPr/>
        </p:nvSpPr>
        <p:spPr>
          <a:xfrm>
            <a:off x="4672584" y="2121408"/>
            <a:ext cx="896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Dense vectors used by the network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5989320" y="1755648"/>
            <a:ext cx="1005840" cy="1024128"/>
          </a:xfrm>
          <a:prstGeom prst="roundRect">
            <a:avLst/>
          </a:prstGeom>
          <a:solidFill>
            <a:srgbClr val="EAF1FB"/>
          </a:solidFill>
          <a:ln w="1016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6044184" y="1901952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Transformer</a:t>
            </a:r>
            <a:endParaRPr lang="en-US" sz="1140" dirty="0"/>
          </a:p>
        </p:txBody>
      </p:sp>
      <p:sp>
        <p:nvSpPr>
          <p:cNvPr id="29" name="Text 26"/>
          <p:cNvSpPr/>
          <p:nvPr/>
        </p:nvSpPr>
        <p:spPr>
          <a:xfrm>
            <a:off x="6044184" y="2121408"/>
            <a:ext cx="896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 mixing across many layers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7360920" y="1755648"/>
            <a:ext cx="1005840" cy="1024128"/>
          </a:xfrm>
          <a:prstGeom prst="roundRect">
            <a:avLst/>
          </a:prstGeom>
          <a:solidFill>
            <a:srgbClr val="F7F3D4"/>
          </a:solidFill>
          <a:ln w="1016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8"/>
          <p:cNvSpPr/>
          <p:nvPr/>
        </p:nvSpPr>
        <p:spPr>
          <a:xfrm>
            <a:off x="7415784" y="1901952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Logits / softmax</a:t>
            </a:r>
            <a:endParaRPr lang="en-US" sz="1140" dirty="0"/>
          </a:p>
        </p:txBody>
      </p:sp>
      <p:sp>
        <p:nvSpPr>
          <p:cNvPr id="32" name="Text 29"/>
          <p:cNvSpPr/>
          <p:nvPr/>
        </p:nvSpPr>
        <p:spPr>
          <a:xfrm>
            <a:off x="7415784" y="2121408"/>
            <a:ext cx="896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Probability of the next token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658368" y="331012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ideas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868680" y="3547872"/>
            <a:ext cx="7406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Tokenization defines the atomic units the model sees.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context window limits how many prior tokens are visible.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Training repeats this pipeline over massive corpora and many positions.</a:t>
            </a:r>
            <a:endParaRPr lang="en-US" sz="12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10312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/mnt/data/template_master_assets/layout1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0014" y="246888"/>
            <a:ext cx="470692" cy="4754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0584" y="4937760"/>
            <a:ext cx="68580" cy="68580"/>
          </a:xfrm>
          <a:prstGeom prst="ellipse">
            <a:avLst/>
          </a:prstGeom>
          <a:solidFill>
            <a:srgbClr val="234F84"/>
          </a:solidFill>
          <a:ln w="12700">
            <a:solidFill>
              <a:srgbClr val="234F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201168" y="4937760"/>
            <a:ext cx="68580" cy="68580"/>
          </a:xfrm>
          <a:prstGeom prst="ellipse">
            <a:avLst/>
          </a:prstGeom>
          <a:solidFill>
            <a:srgbClr val="EF3340"/>
          </a:solidFill>
          <a:ln w="12700">
            <a:solidFill>
              <a:srgbClr val="EF334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301752" y="4937760"/>
            <a:ext cx="68580" cy="68580"/>
          </a:xfrm>
          <a:prstGeom prst="ellipse">
            <a:avLst/>
          </a:prstGeom>
          <a:solidFill>
            <a:srgbClr val="D0C22D"/>
          </a:solidFill>
          <a:ln w="12700">
            <a:solidFill>
              <a:srgbClr val="D0C2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8458200" y="462686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10896" y="21031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Transformer foundations: the decoder stack used in LLMs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2578608" y="1508760"/>
            <a:ext cx="0" cy="228600"/>
          </a:xfrm>
          <a:prstGeom prst="line">
            <a:avLst/>
          </a:prstGeom>
          <a:noFill/>
          <a:ln w="21590">
            <a:solidFill>
              <a:srgbClr val="D9D9D9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2578608" y="2029968"/>
            <a:ext cx="0" cy="201168"/>
          </a:xfrm>
          <a:prstGeom prst="line">
            <a:avLst/>
          </a:prstGeom>
          <a:noFill/>
          <a:ln w="21590">
            <a:solidFill>
              <a:srgbClr val="D9D9D9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2578608" y="2505456"/>
            <a:ext cx="0" cy="201168"/>
          </a:xfrm>
          <a:prstGeom prst="line">
            <a:avLst/>
          </a:prstGeom>
          <a:noFill/>
          <a:ln w="21590">
            <a:solidFill>
              <a:srgbClr val="D9D9D9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2578608" y="2980944"/>
            <a:ext cx="0" cy="201168"/>
          </a:xfrm>
          <a:prstGeom prst="line">
            <a:avLst/>
          </a:prstGeom>
          <a:noFill/>
          <a:ln w="21590">
            <a:solidFill>
              <a:srgbClr val="D9D9D9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2011680" y="1188720"/>
            <a:ext cx="1143000" cy="310896"/>
          </a:xfrm>
          <a:prstGeom prst="roundRect">
            <a:avLst/>
          </a:prstGeom>
          <a:solidFill>
            <a:srgbClr val="EAF1FB"/>
          </a:solidFill>
          <a:ln w="1016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2084832" y="1261872"/>
            <a:ext cx="996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3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tokens + positions</a:t>
            </a:r>
            <a:endParaRPr lang="en-US" sz="1030" dirty="0"/>
          </a:p>
        </p:txBody>
      </p:sp>
      <p:sp>
        <p:nvSpPr>
          <p:cNvPr id="16" name="Shape 13"/>
          <p:cNvSpPr/>
          <p:nvPr/>
        </p:nvSpPr>
        <p:spPr>
          <a:xfrm>
            <a:off x="2011680" y="1591056"/>
            <a:ext cx="1143000" cy="512064"/>
          </a:xfrm>
          <a:prstGeom prst="roundRect">
            <a:avLst/>
          </a:prstGeom>
          <a:solidFill>
            <a:srgbClr val="F7F3D4"/>
          </a:solidFill>
          <a:ln w="1016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2084832" y="1792224"/>
            <a:ext cx="996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Masked multi-head self-attention</a:t>
            </a:r>
            <a:endParaRPr lang="en-US" sz="1030" dirty="0"/>
          </a:p>
        </p:txBody>
      </p:sp>
      <p:sp>
        <p:nvSpPr>
          <p:cNvPr id="18" name="Shape 15"/>
          <p:cNvSpPr/>
          <p:nvPr/>
        </p:nvSpPr>
        <p:spPr>
          <a:xfrm>
            <a:off x="2011680" y="2194560"/>
            <a:ext cx="1143000" cy="310896"/>
          </a:xfrm>
          <a:prstGeom prst="roundRect">
            <a:avLst/>
          </a:prstGeom>
          <a:solidFill>
            <a:srgbClr val="FDEDEE"/>
          </a:solidFill>
          <a:ln w="1016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2084832" y="2267712"/>
            <a:ext cx="996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3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&amp; norm</a:t>
            </a:r>
            <a:endParaRPr lang="en-US" sz="1030" dirty="0"/>
          </a:p>
        </p:txBody>
      </p:sp>
      <p:sp>
        <p:nvSpPr>
          <p:cNvPr id="20" name="Shape 17"/>
          <p:cNvSpPr/>
          <p:nvPr/>
        </p:nvSpPr>
        <p:spPr>
          <a:xfrm>
            <a:off x="2011680" y="2670048"/>
            <a:ext cx="1143000" cy="310896"/>
          </a:xfrm>
          <a:prstGeom prst="roundRect">
            <a:avLst/>
          </a:prstGeom>
          <a:solidFill>
            <a:srgbClr val="EEF7F0"/>
          </a:solidFill>
          <a:ln w="1016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2084832" y="2743200"/>
            <a:ext cx="996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3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Feed-forward network</a:t>
            </a:r>
            <a:endParaRPr lang="en-US" sz="1030" dirty="0"/>
          </a:p>
        </p:txBody>
      </p:sp>
      <p:sp>
        <p:nvSpPr>
          <p:cNvPr id="22" name="Shape 19"/>
          <p:cNvSpPr/>
          <p:nvPr/>
        </p:nvSpPr>
        <p:spPr>
          <a:xfrm>
            <a:off x="2011680" y="3145536"/>
            <a:ext cx="1143000" cy="310896"/>
          </a:xfrm>
          <a:prstGeom prst="roundRect">
            <a:avLst/>
          </a:prstGeom>
          <a:solidFill>
            <a:srgbClr val="EAF1FB"/>
          </a:solidFill>
          <a:ln w="1016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2084832" y="3218688"/>
            <a:ext cx="996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3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&amp; norm → next layer</a:t>
            </a:r>
            <a:endParaRPr lang="en-US" sz="1030" dirty="0"/>
          </a:p>
        </p:txBody>
      </p:sp>
      <p:sp>
        <p:nvSpPr>
          <p:cNvPr id="24" name="Text 21"/>
          <p:cNvSpPr/>
          <p:nvPr/>
        </p:nvSpPr>
        <p:spPr>
          <a:xfrm>
            <a:off x="3977640" y="115214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it works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4160520" y="1444752"/>
            <a:ext cx="3749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Self-attention lets each token mix information from earlier tokens in the same sequence.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Multi-head attention learns different relations in parallel: syntax, semantics, co-reference, code structure, and more.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Stacking many blocks builds increasingly abstract contextual representations.</a:t>
            </a:r>
            <a:endParaRPr lang="en-US" sz="1220" dirty="0"/>
          </a:p>
        </p:txBody>
      </p:sp>
      <p:sp>
        <p:nvSpPr>
          <p:cNvPr id="26" name="Text 23"/>
          <p:cNvSpPr/>
          <p:nvPr/>
        </p:nvSpPr>
        <p:spPr>
          <a:xfrm>
            <a:off x="4160520" y="2816352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i="1" dirty="0">
                <a:solidFill>
                  <a:srgbClr val="234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Decoder-only LLMs use causal masking, so token t can attend only to positions &lt; t during training and inference.</a:t>
            </a:r>
            <a:endParaRPr lang="en-US" sz="1220" dirty="0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07408" y="3511296"/>
            <a:ext cx="1600200" cy="384048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4133088" y="392277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Next-token modeling objective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10312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/mnt/data/template_master_assets/layout1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0014" y="246888"/>
            <a:ext cx="470692" cy="4754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0584" y="4937760"/>
            <a:ext cx="68580" cy="68580"/>
          </a:xfrm>
          <a:prstGeom prst="ellipse">
            <a:avLst/>
          </a:prstGeom>
          <a:solidFill>
            <a:srgbClr val="234F84"/>
          </a:solidFill>
          <a:ln w="12700">
            <a:solidFill>
              <a:srgbClr val="234F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201168" y="4937760"/>
            <a:ext cx="68580" cy="68580"/>
          </a:xfrm>
          <a:prstGeom prst="ellipse">
            <a:avLst/>
          </a:prstGeom>
          <a:solidFill>
            <a:srgbClr val="EF3340"/>
          </a:solidFill>
          <a:ln w="12700">
            <a:solidFill>
              <a:srgbClr val="EF334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301752" y="4937760"/>
            <a:ext cx="68580" cy="68580"/>
          </a:xfrm>
          <a:prstGeom prst="ellipse">
            <a:avLst/>
          </a:prstGeom>
          <a:solidFill>
            <a:srgbClr val="D0C22D"/>
          </a:solidFill>
          <a:ln w="12700">
            <a:solidFill>
              <a:srgbClr val="D0C2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8458200" y="462686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10896" y="21031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self-attention changed large-scale language modeling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58368" y="100584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Example: resolving a long-range dependency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897880" y="2148840"/>
            <a:ext cx="0" cy="0"/>
          </a:xfrm>
          <a:prstGeom prst="line">
            <a:avLst/>
          </a:prstGeom>
          <a:noFill/>
          <a:ln w="27940">
            <a:solidFill>
              <a:srgbClr val="234F8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777240" y="1920240"/>
            <a:ext cx="987552" cy="31089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822960" y="1993392"/>
            <a:ext cx="896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3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trophy</a:t>
            </a:r>
            <a:endParaRPr lang="en-US" sz="1030" dirty="0"/>
          </a:p>
        </p:txBody>
      </p:sp>
      <p:sp>
        <p:nvSpPr>
          <p:cNvPr id="14" name="Shape 11"/>
          <p:cNvSpPr/>
          <p:nvPr/>
        </p:nvSpPr>
        <p:spPr>
          <a:xfrm>
            <a:off x="1920240" y="1920240"/>
            <a:ext cx="987552" cy="31089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1965960" y="1993392"/>
            <a:ext cx="896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3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not fit</a:t>
            </a:r>
            <a:endParaRPr lang="en-US" sz="1030" dirty="0"/>
          </a:p>
        </p:txBody>
      </p:sp>
      <p:sp>
        <p:nvSpPr>
          <p:cNvPr id="16" name="Shape 13"/>
          <p:cNvSpPr/>
          <p:nvPr/>
        </p:nvSpPr>
        <p:spPr>
          <a:xfrm>
            <a:off x="3246120" y="1920240"/>
            <a:ext cx="987552" cy="31089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3291840" y="1993392"/>
            <a:ext cx="896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3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the suitcase</a:t>
            </a:r>
            <a:endParaRPr lang="en-US" sz="1030" dirty="0"/>
          </a:p>
        </p:txBody>
      </p:sp>
      <p:sp>
        <p:nvSpPr>
          <p:cNvPr id="18" name="Shape 15"/>
          <p:cNvSpPr/>
          <p:nvPr/>
        </p:nvSpPr>
        <p:spPr>
          <a:xfrm>
            <a:off x="4663440" y="1920240"/>
            <a:ext cx="987552" cy="31089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4709160" y="1993392"/>
            <a:ext cx="896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3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because</a:t>
            </a:r>
            <a:endParaRPr lang="en-US" sz="1030" dirty="0"/>
          </a:p>
        </p:txBody>
      </p:sp>
      <p:sp>
        <p:nvSpPr>
          <p:cNvPr id="20" name="Shape 17"/>
          <p:cNvSpPr/>
          <p:nvPr/>
        </p:nvSpPr>
        <p:spPr>
          <a:xfrm>
            <a:off x="5669280" y="1920240"/>
            <a:ext cx="987552" cy="310896"/>
          </a:xfrm>
          <a:prstGeom prst="roundRect">
            <a:avLst/>
          </a:prstGeom>
          <a:solidFill>
            <a:srgbClr val="F7F3D4"/>
          </a:solidFill>
          <a:ln w="11430">
            <a:solidFill>
              <a:srgbClr val="D0C2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5715000" y="1993392"/>
            <a:ext cx="896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3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</a:t>
            </a:r>
            <a:endParaRPr lang="en-US" sz="1030" dirty="0"/>
          </a:p>
        </p:txBody>
      </p:sp>
      <p:sp>
        <p:nvSpPr>
          <p:cNvPr id="22" name="Shape 19"/>
          <p:cNvSpPr/>
          <p:nvPr/>
        </p:nvSpPr>
        <p:spPr>
          <a:xfrm>
            <a:off x="6766560" y="1920240"/>
            <a:ext cx="987552" cy="31089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6812280" y="1993392"/>
            <a:ext cx="896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3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too large</a:t>
            </a:r>
            <a:endParaRPr lang="en-US" sz="1030" dirty="0"/>
          </a:p>
        </p:txBody>
      </p:sp>
      <p:sp>
        <p:nvSpPr>
          <p:cNvPr id="24" name="Text 21"/>
          <p:cNvSpPr/>
          <p:nvPr/>
        </p:nvSpPr>
        <p:spPr>
          <a:xfrm>
            <a:off x="868680" y="248716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6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can directly connect “it” to the earlier phrase “The trophy” without stepping through every intermediate word one by one.</a:t>
            </a:r>
            <a:endParaRPr lang="en-US" sz="1260" dirty="0"/>
          </a:p>
        </p:txBody>
      </p:sp>
      <p:sp>
        <p:nvSpPr>
          <p:cNvPr id="25" name="Shape 22"/>
          <p:cNvSpPr/>
          <p:nvPr/>
        </p:nvSpPr>
        <p:spPr>
          <a:xfrm>
            <a:off x="822960" y="3310128"/>
            <a:ext cx="2240280" cy="804672"/>
          </a:xfrm>
          <a:prstGeom prst="roundRect">
            <a:avLst/>
          </a:prstGeom>
          <a:solidFill>
            <a:srgbClr val="FDEDEE"/>
          </a:solidFill>
          <a:ln w="10160">
            <a:solidFill>
              <a:srgbClr val="E5B8B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3"/>
          <p:cNvSpPr/>
          <p:nvPr/>
        </p:nvSpPr>
        <p:spPr>
          <a:xfrm>
            <a:off x="3429000" y="3310128"/>
            <a:ext cx="2240280" cy="804672"/>
          </a:xfrm>
          <a:prstGeom prst="roundRect">
            <a:avLst/>
          </a:prstGeom>
          <a:solidFill>
            <a:srgbClr val="F7F3D4"/>
          </a:solidFill>
          <a:ln w="10160">
            <a:solidFill>
              <a:srgbClr val="E2D89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4"/>
          <p:cNvSpPr/>
          <p:nvPr/>
        </p:nvSpPr>
        <p:spPr>
          <a:xfrm>
            <a:off x="6035040" y="3310128"/>
            <a:ext cx="2240280" cy="804672"/>
          </a:xfrm>
          <a:prstGeom prst="roundRect">
            <a:avLst/>
          </a:prstGeom>
          <a:solidFill>
            <a:srgbClr val="EEF7F0"/>
          </a:solidFill>
          <a:ln w="10160">
            <a:solidFill>
              <a:srgbClr val="CFE0D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960120" y="351129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 long-range access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Earlier relevant tokens can be consulted immediately.</a:t>
            </a:r>
            <a:endParaRPr lang="en-US" sz="1120" dirty="0"/>
          </a:p>
        </p:txBody>
      </p:sp>
      <p:sp>
        <p:nvSpPr>
          <p:cNvPr id="29" name="Text 26"/>
          <p:cNvSpPr/>
          <p:nvPr/>
        </p:nvSpPr>
        <p:spPr>
          <a:xfrm>
            <a:off x="3584448" y="351129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Parallel training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token positions in a sequence are processed together.</a:t>
            </a:r>
            <a:endParaRPr lang="en-US" sz="1120" dirty="0"/>
          </a:p>
        </p:txBody>
      </p:sp>
      <p:sp>
        <p:nvSpPr>
          <p:cNvPr id="30" name="Text 27"/>
          <p:cNvSpPr/>
          <p:nvPr/>
        </p:nvSpPr>
        <p:spPr>
          <a:xfrm>
            <a:off x="6181344" y="3511296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Scales well with compute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one reason transformers dominate modern LLMs.</a:t>
            </a:r>
            <a:endParaRPr lang="en-US" sz="11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10312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/mnt/data/template_master_assets/layout1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0014" y="246888"/>
            <a:ext cx="470692" cy="4754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0584" y="4937760"/>
            <a:ext cx="68580" cy="68580"/>
          </a:xfrm>
          <a:prstGeom prst="ellipse">
            <a:avLst/>
          </a:prstGeom>
          <a:solidFill>
            <a:srgbClr val="234F84"/>
          </a:solidFill>
          <a:ln w="12700">
            <a:solidFill>
              <a:srgbClr val="234F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201168" y="4937760"/>
            <a:ext cx="68580" cy="68580"/>
          </a:xfrm>
          <a:prstGeom prst="ellipse">
            <a:avLst/>
          </a:prstGeom>
          <a:solidFill>
            <a:srgbClr val="EF3340"/>
          </a:solidFill>
          <a:ln w="12700">
            <a:solidFill>
              <a:srgbClr val="EF334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301752" y="4937760"/>
            <a:ext cx="68580" cy="68580"/>
          </a:xfrm>
          <a:prstGeom prst="ellipse">
            <a:avLst/>
          </a:prstGeom>
          <a:solidFill>
            <a:srgbClr val="D0C22D"/>
          </a:solidFill>
          <a:ln w="12700">
            <a:solidFill>
              <a:srgbClr val="D0C2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8458200" y="462686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10896" y="21031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LLMs learn before they become assistants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1874520" y="2103120"/>
            <a:ext cx="320040" cy="0"/>
          </a:xfrm>
          <a:prstGeom prst="line">
            <a:avLst/>
          </a:prstGeom>
          <a:noFill/>
          <a:ln w="25400">
            <a:solidFill>
              <a:srgbClr val="D9D9D9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3566160" y="2121408"/>
            <a:ext cx="320040" cy="0"/>
          </a:xfrm>
          <a:prstGeom prst="line">
            <a:avLst/>
          </a:prstGeom>
          <a:noFill/>
          <a:ln w="25400">
            <a:solidFill>
              <a:srgbClr val="D9D9D9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5212080" y="2103120"/>
            <a:ext cx="320040" cy="0"/>
          </a:xfrm>
          <a:prstGeom prst="line">
            <a:avLst/>
          </a:prstGeom>
          <a:noFill/>
          <a:ln w="25400">
            <a:solidFill>
              <a:srgbClr val="D9D9D9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640080" y="1664208"/>
            <a:ext cx="1280160" cy="841248"/>
          </a:xfrm>
          <a:prstGeom prst="roundRect">
            <a:avLst/>
          </a:prstGeom>
          <a:solidFill>
            <a:srgbClr val="EAF1FB"/>
          </a:solidFill>
          <a:ln w="1016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713232" y="1810512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Corpora</a:t>
            </a:r>
            <a:endParaRPr lang="en-US" sz="1180" dirty="0"/>
          </a:p>
        </p:txBody>
      </p:sp>
      <p:sp>
        <p:nvSpPr>
          <p:cNvPr id="15" name="Text 12"/>
          <p:cNvSpPr/>
          <p:nvPr/>
        </p:nvSpPr>
        <p:spPr>
          <a:xfrm>
            <a:off x="713232" y="2029968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1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web, books, code, docs</a:t>
            </a:r>
            <a:endParaRPr lang="en-US" sz="1010" dirty="0"/>
          </a:p>
        </p:txBody>
      </p:sp>
      <p:sp>
        <p:nvSpPr>
          <p:cNvPr id="16" name="Shape 13"/>
          <p:cNvSpPr/>
          <p:nvPr/>
        </p:nvSpPr>
        <p:spPr>
          <a:xfrm>
            <a:off x="2240280" y="1664208"/>
            <a:ext cx="1280160" cy="841248"/>
          </a:xfrm>
          <a:prstGeom prst="roundRect">
            <a:avLst/>
          </a:prstGeom>
          <a:solidFill>
            <a:srgbClr val="F7F3D4"/>
          </a:solidFill>
          <a:ln w="1016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2313432" y="1810512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Pretraining</a:t>
            </a:r>
            <a:endParaRPr lang="en-US" sz="1180" dirty="0"/>
          </a:p>
        </p:txBody>
      </p:sp>
      <p:sp>
        <p:nvSpPr>
          <p:cNvPr id="18" name="Text 15"/>
          <p:cNvSpPr/>
          <p:nvPr/>
        </p:nvSpPr>
        <p:spPr>
          <a:xfrm>
            <a:off x="2313432" y="2029968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1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next-token prediction</a:t>
            </a:r>
            <a:endParaRPr lang="en-US" sz="1010" dirty="0"/>
          </a:p>
        </p:txBody>
      </p:sp>
      <p:sp>
        <p:nvSpPr>
          <p:cNvPr id="19" name="Shape 16"/>
          <p:cNvSpPr/>
          <p:nvPr/>
        </p:nvSpPr>
        <p:spPr>
          <a:xfrm>
            <a:off x="3931920" y="1682496"/>
            <a:ext cx="1280160" cy="841248"/>
          </a:xfrm>
          <a:prstGeom prst="roundRect">
            <a:avLst/>
          </a:prstGeom>
          <a:solidFill>
            <a:srgbClr val="FDEDEE"/>
          </a:solidFill>
          <a:ln w="1016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4005072" y="1828800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model</a:t>
            </a:r>
            <a:endParaRPr lang="en-US" sz="1180" dirty="0"/>
          </a:p>
        </p:txBody>
      </p:sp>
      <p:sp>
        <p:nvSpPr>
          <p:cNvPr id="21" name="Text 18"/>
          <p:cNvSpPr/>
          <p:nvPr/>
        </p:nvSpPr>
        <p:spPr>
          <a:xfrm>
            <a:off x="4005072" y="2048256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1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continuation model</a:t>
            </a:r>
            <a:endParaRPr lang="en-US" sz="1010" dirty="0"/>
          </a:p>
        </p:txBody>
      </p:sp>
      <p:sp>
        <p:nvSpPr>
          <p:cNvPr id="22" name="Shape 19"/>
          <p:cNvSpPr/>
          <p:nvPr/>
        </p:nvSpPr>
        <p:spPr>
          <a:xfrm>
            <a:off x="5550408" y="1730502"/>
            <a:ext cx="1280160" cy="841248"/>
          </a:xfrm>
          <a:prstGeom prst="roundRect">
            <a:avLst/>
          </a:prstGeom>
          <a:solidFill>
            <a:srgbClr val="EEF7F0"/>
          </a:solidFill>
          <a:ln w="1016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5577840" y="1730780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 / preference tuning</a:t>
            </a:r>
            <a:endParaRPr lang="en-US" sz="1180" dirty="0"/>
          </a:p>
        </p:txBody>
      </p:sp>
      <p:sp>
        <p:nvSpPr>
          <p:cNvPr id="24" name="Text 21"/>
          <p:cNvSpPr/>
          <p:nvPr/>
        </p:nvSpPr>
        <p:spPr>
          <a:xfrm>
            <a:off x="5623560" y="2096262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1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helpful behavior</a:t>
            </a:r>
            <a:endParaRPr lang="en-US" sz="1010" dirty="0"/>
          </a:p>
        </p:txBody>
      </p:sp>
      <p:sp>
        <p:nvSpPr>
          <p:cNvPr id="25" name="Text 22"/>
          <p:cNvSpPr/>
          <p:nvPr/>
        </p:nvSpPr>
        <p:spPr>
          <a:xfrm>
            <a:off x="676656" y="3035808"/>
            <a:ext cx="7498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Pretraining gives broad language competence. Tuning changes the behavior of that model so it follows instructions, matches a target domain, or adapts to a deployment constraint.</a:t>
            </a:r>
            <a:endParaRPr lang="en-US" sz="1320" dirty="0"/>
          </a:p>
        </p:txBody>
      </p:sp>
      <p:sp>
        <p:nvSpPr>
          <p:cNvPr id="26" name="Text 23"/>
          <p:cNvSpPr/>
          <p:nvPr/>
        </p:nvSpPr>
        <p:spPr>
          <a:xfrm>
            <a:off x="676656" y="373075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234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why a chat model is usually not “just pretrained”; it is pretrained and then adapted.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10312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/mnt/data/template_master_assets/layout1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0014" y="246888"/>
            <a:ext cx="470692" cy="4754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0584" y="4937760"/>
            <a:ext cx="68580" cy="68580"/>
          </a:xfrm>
          <a:prstGeom prst="ellipse">
            <a:avLst/>
          </a:prstGeom>
          <a:solidFill>
            <a:srgbClr val="234F84"/>
          </a:solidFill>
          <a:ln w="12700">
            <a:solidFill>
              <a:srgbClr val="234F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201168" y="4937760"/>
            <a:ext cx="68580" cy="68580"/>
          </a:xfrm>
          <a:prstGeom prst="ellipse">
            <a:avLst/>
          </a:prstGeom>
          <a:solidFill>
            <a:srgbClr val="EF3340"/>
          </a:solidFill>
          <a:ln w="12700">
            <a:solidFill>
              <a:srgbClr val="EF334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301752" y="4937760"/>
            <a:ext cx="68580" cy="68580"/>
          </a:xfrm>
          <a:prstGeom prst="ellipse">
            <a:avLst/>
          </a:prstGeom>
          <a:solidFill>
            <a:srgbClr val="D0C22D"/>
          </a:solidFill>
          <a:ln w="12700">
            <a:solidFill>
              <a:srgbClr val="D0C2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8458200" y="462686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10896" y="21031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fine-tuning is needed even after pretraining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749808" y="1097280"/>
            <a:ext cx="3337560" cy="566928"/>
          </a:xfrm>
          <a:prstGeom prst="roundRect">
            <a:avLst/>
          </a:prstGeom>
          <a:solidFill>
            <a:srgbClr val="EAF1FB"/>
          </a:solidFill>
          <a:ln w="1016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896112" y="120700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 shift</a:t>
            </a:r>
            <a:endParaRPr lang="en-US" sz="1180" dirty="0"/>
          </a:p>
        </p:txBody>
      </p:sp>
      <p:sp>
        <p:nvSpPr>
          <p:cNvPr id="12" name="Text 9"/>
          <p:cNvSpPr/>
          <p:nvPr/>
        </p:nvSpPr>
        <p:spPr>
          <a:xfrm>
            <a:off x="1965960" y="1179576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Medical, legal, scientific, or enterprise language differs from generic web text.</a:t>
            </a:r>
            <a:endParaRPr lang="en-US" sz="1040" dirty="0"/>
          </a:p>
        </p:txBody>
      </p:sp>
      <p:sp>
        <p:nvSpPr>
          <p:cNvPr id="13" name="Shape 10"/>
          <p:cNvSpPr/>
          <p:nvPr/>
        </p:nvSpPr>
        <p:spPr>
          <a:xfrm>
            <a:off x="749808" y="1719072"/>
            <a:ext cx="3337560" cy="676656"/>
          </a:xfrm>
          <a:prstGeom prst="roundRect">
            <a:avLst/>
          </a:prstGeom>
          <a:solidFill>
            <a:srgbClr val="F7F3D4"/>
          </a:solidFill>
          <a:ln w="1016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896112" y="193852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format</a:t>
            </a:r>
            <a:endParaRPr lang="en-US" sz="1180" dirty="0"/>
          </a:p>
        </p:txBody>
      </p:sp>
      <p:sp>
        <p:nvSpPr>
          <p:cNvPr id="15" name="Text 12"/>
          <p:cNvSpPr/>
          <p:nvPr/>
        </p:nvSpPr>
        <p:spPr>
          <a:xfrm>
            <a:off x="1965960" y="1911096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Classification, extraction, summarization, code completion, and dialogue each need different behavior.</a:t>
            </a:r>
            <a:endParaRPr lang="en-US" sz="1040" dirty="0"/>
          </a:p>
        </p:txBody>
      </p:sp>
      <p:sp>
        <p:nvSpPr>
          <p:cNvPr id="16" name="Shape 13"/>
          <p:cNvSpPr/>
          <p:nvPr/>
        </p:nvSpPr>
        <p:spPr>
          <a:xfrm>
            <a:off x="749808" y="2450592"/>
            <a:ext cx="3337560" cy="566928"/>
          </a:xfrm>
          <a:prstGeom prst="roundRect">
            <a:avLst/>
          </a:prstGeom>
          <a:solidFill>
            <a:srgbClr val="FDEDEE"/>
          </a:solidFill>
          <a:ln w="1016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896112" y="2560320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and style</a:t>
            </a:r>
            <a:endParaRPr lang="en-US" sz="1180" dirty="0"/>
          </a:p>
        </p:txBody>
      </p:sp>
      <p:sp>
        <p:nvSpPr>
          <p:cNvPr id="18" name="Text 15"/>
          <p:cNvSpPr/>
          <p:nvPr/>
        </p:nvSpPr>
        <p:spPr>
          <a:xfrm>
            <a:off x="1965960" y="2532888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Tone, refusal behavior, safety rules, and output format often need explicit adaptation.</a:t>
            </a:r>
            <a:endParaRPr lang="en-US" sz="1040" dirty="0"/>
          </a:p>
        </p:txBody>
      </p:sp>
      <p:sp>
        <p:nvSpPr>
          <p:cNvPr id="19" name="Shape 16"/>
          <p:cNvSpPr/>
          <p:nvPr/>
        </p:nvSpPr>
        <p:spPr>
          <a:xfrm>
            <a:off x="749808" y="3127248"/>
            <a:ext cx="3337560" cy="566928"/>
          </a:xfrm>
          <a:prstGeom prst="roundRect">
            <a:avLst/>
          </a:prstGeom>
          <a:solidFill>
            <a:srgbClr val="EEF7F0"/>
          </a:solidFill>
          <a:ln w="1016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896112" y="323697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Efficiency</a:t>
            </a:r>
            <a:endParaRPr lang="en-US" sz="1180" dirty="0"/>
          </a:p>
        </p:txBody>
      </p:sp>
      <p:sp>
        <p:nvSpPr>
          <p:cNvPr id="21" name="Text 18"/>
          <p:cNvSpPr/>
          <p:nvPr/>
        </p:nvSpPr>
        <p:spPr>
          <a:xfrm>
            <a:off x="1965960" y="3209544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Updating only the right subset of parameters can be far cheaper than retraining or full fine-tuning.</a:t>
            </a:r>
            <a:endParaRPr lang="en-US" sz="1040" dirty="0"/>
          </a:p>
        </p:txBody>
      </p:sp>
      <p:sp>
        <p:nvSpPr>
          <p:cNvPr id="22" name="Text 19"/>
          <p:cNvSpPr/>
          <p:nvPr/>
        </p:nvSpPr>
        <p:spPr>
          <a:xfrm>
            <a:off x="4754880" y="107899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Typical adaptation choices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4937760" y="138988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1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Better prompts / in-context learning</a:t>
            </a:r>
            <a:endParaRPr lang="en-US" sz="1210" dirty="0"/>
          </a:p>
          <a:p>
            <a:pPr marL="0" indent="0">
              <a:buNone/>
            </a:pPr>
            <a:r>
              <a:rPr lang="en-US" sz="121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Retrieval-augmented generation (RAG)</a:t>
            </a:r>
            <a:endParaRPr lang="en-US" sz="1210" dirty="0"/>
          </a:p>
          <a:p>
            <a:pPr marL="0" indent="0">
              <a:buNone/>
            </a:pPr>
            <a:r>
              <a:rPr lang="en-US" sz="121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Supervised fine-tuning</a:t>
            </a:r>
            <a:endParaRPr lang="en-US" sz="1210" dirty="0"/>
          </a:p>
          <a:p>
            <a:pPr marL="0" indent="0">
              <a:buNone/>
            </a:pPr>
            <a:r>
              <a:rPr lang="en-US" sz="121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Parameter-efficient fine-tuning (PEFT)</a:t>
            </a:r>
            <a:endParaRPr lang="en-US" sz="1210" dirty="0"/>
          </a:p>
          <a:p>
            <a:pPr marL="0" indent="0">
              <a:buNone/>
            </a:pPr>
            <a:r>
              <a:rPr lang="en-US" sz="121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Full fine-tuning of all parameters</a:t>
            </a:r>
            <a:endParaRPr lang="en-US" sz="1210" dirty="0"/>
          </a:p>
        </p:txBody>
      </p:sp>
      <p:sp>
        <p:nvSpPr>
          <p:cNvPr id="24" name="Text 21"/>
          <p:cNvSpPr/>
          <p:nvPr/>
        </p:nvSpPr>
        <p:spPr>
          <a:xfrm>
            <a:off x="4754880" y="3054096"/>
            <a:ext cx="33101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34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6 begins by clarifying when these levers are conceptually appropriate; the later segments address how to make them practical at scale.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10312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/mnt/data/template_master_assets/layout1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0014" y="246888"/>
            <a:ext cx="470692" cy="4754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0584" y="4937760"/>
            <a:ext cx="68580" cy="68580"/>
          </a:xfrm>
          <a:prstGeom prst="ellipse">
            <a:avLst/>
          </a:prstGeom>
          <a:solidFill>
            <a:srgbClr val="234F84"/>
          </a:solidFill>
          <a:ln w="12700">
            <a:solidFill>
              <a:srgbClr val="234F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201168" y="4937760"/>
            <a:ext cx="68580" cy="68580"/>
          </a:xfrm>
          <a:prstGeom prst="ellipse">
            <a:avLst/>
          </a:prstGeom>
          <a:solidFill>
            <a:srgbClr val="EF3340"/>
          </a:solidFill>
          <a:ln w="12700">
            <a:solidFill>
              <a:srgbClr val="EF334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301752" y="4937760"/>
            <a:ext cx="68580" cy="68580"/>
          </a:xfrm>
          <a:prstGeom prst="ellipse">
            <a:avLst/>
          </a:prstGeom>
          <a:solidFill>
            <a:srgbClr val="D0C22D"/>
          </a:solidFill>
          <a:ln w="12700">
            <a:solidFill>
              <a:srgbClr val="D0C2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8458200" y="462686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10896" y="21031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the cost comes from in LLM training and fine-tuning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85800" y="98755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Training memory is not only the parameters.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1188720" y="1417320"/>
            <a:ext cx="1143000" cy="438912"/>
          </a:xfrm>
          <a:prstGeom prst="rect">
            <a:avLst/>
          </a:prstGeom>
          <a:solidFill>
            <a:srgbClr val="EAF1FB"/>
          </a:solidFill>
          <a:ln w="10160">
            <a:solidFill>
              <a:srgbClr val="234F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1188720" y="1856232"/>
            <a:ext cx="1143000" cy="365760"/>
          </a:xfrm>
          <a:prstGeom prst="rect">
            <a:avLst/>
          </a:prstGeom>
          <a:solidFill>
            <a:srgbClr val="F7F3D4"/>
          </a:solidFill>
          <a:ln w="10160">
            <a:solidFill>
              <a:srgbClr val="D0C2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1188720" y="2221992"/>
            <a:ext cx="1143000" cy="347472"/>
          </a:xfrm>
          <a:prstGeom prst="rect">
            <a:avLst/>
          </a:prstGeom>
          <a:solidFill>
            <a:srgbClr val="FDEDEE"/>
          </a:solidFill>
          <a:ln w="10160">
            <a:solidFill>
              <a:srgbClr val="EF33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1188720" y="2569464"/>
            <a:ext cx="1143000" cy="841248"/>
          </a:xfrm>
          <a:prstGeom prst="rect">
            <a:avLst/>
          </a:prstGeom>
          <a:solidFill>
            <a:srgbClr val="EEF7F0"/>
          </a:solidFill>
          <a:ln w="10160">
            <a:solidFill>
              <a:srgbClr val="5B8A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1344168" y="1581912"/>
            <a:ext cx="841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Parameters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344168" y="1975104"/>
            <a:ext cx="841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Gradients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1344168" y="2350008"/>
            <a:ext cx="841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Optimizer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344168" y="2926080"/>
            <a:ext cx="841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Activations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2999232" y="98755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it grows quickly</a:t>
            </a:r>
            <a:endParaRPr lang="en-US" sz="1320" dirty="0"/>
          </a:p>
        </p:txBody>
      </p:sp>
      <p:sp>
        <p:nvSpPr>
          <p:cNvPr id="20" name="Text 17"/>
          <p:cNvSpPr/>
          <p:nvPr/>
        </p:nvSpPr>
        <p:spPr>
          <a:xfrm>
            <a:off x="3127248" y="1325880"/>
            <a:ext cx="4983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Full fine-tuning updates every parameter, so gradients and optimizer states add major overhead.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Longer sequence lengths increase attention cost roughly quadratically with context length.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Larger batches improve hardware utilization but also raise memory pressure.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Activation tensors dominate memory during backpropagation for deep models.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127248" y="2852928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i="1" dirty="0">
                <a:solidFill>
                  <a:srgbClr val="234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exactly why mixed precision, gradient accumulation, checkpointing, efficient batching, and PEFT matter.</a:t>
            </a:r>
            <a:endParaRPr lang="en-US" sz="12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10312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/mnt/data/template_master_assets/layout1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0014" y="246888"/>
            <a:ext cx="470692" cy="4754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0584" y="4937760"/>
            <a:ext cx="68580" cy="68580"/>
          </a:xfrm>
          <a:prstGeom prst="ellipse">
            <a:avLst/>
          </a:prstGeom>
          <a:solidFill>
            <a:srgbClr val="234F84"/>
          </a:solidFill>
          <a:ln w="12700">
            <a:solidFill>
              <a:srgbClr val="234F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201168" y="4937760"/>
            <a:ext cx="68580" cy="68580"/>
          </a:xfrm>
          <a:prstGeom prst="ellipse">
            <a:avLst/>
          </a:prstGeom>
          <a:solidFill>
            <a:srgbClr val="EF3340"/>
          </a:solidFill>
          <a:ln w="12700">
            <a:solidFill>
              <a:srgbClr val="EF334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301752" y="4937760"/>
            <a:ext cx="68580" cy="68580"/>
          </a:xfrm>
          <a:prstGeom prst="ellipse">
            <a:avLst/>
          </a:prstGeom>
          <a:solidFill>
            <a:srgbClr val="D0C22D"/>
          </a:solidFill>
          <a:ln w="12700">
            <a:solidFill>
              <a:srgbClr val="D0C2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8458200" y="462686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10896" y="21031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Adaptation strategies for large models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66928" y="1097280"/>
            <a:ext cx="1417320" cy="347472"/>
          </a:xfrm>
          <a:prstGeom prst="rect">
            <a:avLst/>
          </a:prstGeom>
          <a:solidFill>
            <a:srgbClr val="EAF1FB"/>
          </a:solidFill>
          <a:ln w="10160">
            <a:solidFill>
              <a:srgbClr val="234F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612648" y="1188720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984248" y="1097280"/>
            <a:ext cx="2423160" cy="347472"/>
          </a:xfrm>
          <a:prstGeom prst="rect">
            <a:avLst/>
          </a:prstGeom>
          <a:solidFill>
            <a:srgbClr val="EAF1FB"/>
          </a:solidFill>
          <a:ln w="10160">
            <a:solidFill>
              <a:srgbClr val="234F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2029968" y="1188720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changes?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407408" y="1097280"/>
            <a:ext cx="1051560" cy="347472"/>
          </a:xfrm>
          <a:prstGeom prst="rect">
            <a:avLst/>
          </a:prstGeom>
          <a:solidFill>
            <a:srgbClr val="EAF1FB"/>
          </a:solidFill>
          <a:ln w="10160">
            <a:solidFill>
              <a:srgbClr val="234F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4453128" y="1188720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58968" y="1097280"/>
            <a:ext cx="2514600" cy="347472"/>
          </a:xfrm>
          <a:prstGeom prst="rect">
            <a:avLst/>
          </a:prstGeom>
          <a:solidFill>
            <a:srgbClr val="EAF1FB"/>
          </a:solidFill>
          <a:ln w="10160">
            <a:solidFill>
              <a:srgbClr val="234F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504688" y="1188720"/>
            <a:ext cx="2423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fit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66928" y="1444752"/>
            <a:ext cx="141732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6D6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621792" y="1517904"/>
            <a:ext cx="1307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6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Prompting / ICL</a:t>
            </a:r>
            <a:endParaRPr lang="en-US" sz="1060" dirty="0"/>
          </a:p>
        </p:txBody>
      </p:sp>
      <p:sp>
        <p:nvSpPr>
          <p:cNvPr id="20" name="Shape 17"/>
          <p:cNvSpPr/>
          <p:nvPr/>
        </p:nvSpPr>
        <p:spPr>
          <a:xfrm>
            <a:off x="1984248" y="1444752"/>
            <a:ext cx="242316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6D6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2039112" y="1517904"/>
            <a:ext cx="2313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1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weights; only the input context changes</a:t>
            </a:r>
            <a:endParaRPr lang="en-US" sz="1010" dirty="0"/>
          </a:p>
        </p:txBody>
      </p:sp>
      <p:sp>
        <p:nvSpPr>
          <p:cNvPr id="22" name="Shape 19"/>
          <p:cNvSpPr/>
          <p:nvPr/>
        </p:nvSpPr>
        <p:spPr>
          <a:xfrm>
            <a:off x="4407408" y="1444752"/>
            <a:ext cx="105156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6D6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4462272" y="1517904"/>
            <a:ext cx="941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1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</a:t>
            </a:r>
            <a:endParaRPr lang="en-US" sz="1010" dirty="0"/>
          </a:p>
        </p:txBody>
      </p:sp>
      <p:sp>
        <p:nvSpPr>
          <p:cNvPr id="24" name="Shape 21"/>
          <p:cNvSpPr/>
          <p:nvPr/>
        </p:nvSpPr>
        <p:spPr>
          <a:xfrm>
            <a:off x="5458968" y="1444752"/>
            <a:ext cx="251460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6D6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5513832" y="1517904"/>
            <a:ext cx="2404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1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iteration when the base model already knows enough</a:t>
            </a:r>
            <a:endParaRPr lang="en-US" sz="1010" dirty="0"/>
          </a:p>
        </p:txBody>
      </p:sp>
      <p:sp>
        <p:nvSpPr>
          <p:cNvPr id="26" name="Shape 23"/>
          <p:cNvSpPr/>
          <p:nvPr/>
        </p:nvSpPr>
        <p:spPr>
          <a:xfrm>
            <a:off x="566928" y="2011680"/>
            <a:ext cx="1417320" cy="566928"/>
          </a:xfrm>
          <a:prstGeom prst="rect">
            <a:avLst/>
          </a:prstGeom>
          <a:solidFill>
            <a:srgbClr val="FAFAFA"/>
          </a:solidFill>
          <a:ln w="7620">
            <a:solidFill>
              <a:srgbClr val="D6D6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621792" y="2084832"/>
            <a:ext cx="1307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6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</a:t>
            </a:r>
            <a:endParaRPr lang="en-US" sz="1060" dirty="0"/>
          </a:p>
        </p:txBody>
      </p:sp>
      <p:sp>
        <p:nvSpPr>
          <p:cNvPr id="28" name="Shape 25"/>
          <p:cNvSpPr/>
          <p:nvPr/>
        </p:nvSpPr>
        <p:spPr>
          <a:xfrm>
            <a:off x="1984248" y="2011680"/>
            <a:ext cx="2423160" cy="566928"/>
          </a:xfrm>
          <a:prstGeom prst="rect">
            <a:avLst/>
          </a:prstGeom>
          <a:solidFill>
            <a:srgbClr val="FAFAFA"/>
          </a:solidFill>
          <a:ln w="7620">
            <a:solidFill>
              <a:srgbClr val="D6D6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2039112" y="2084832"/>
            <a:ext cx="2313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1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weights stay fixed; external knowledge is retrieved at run time</a:t>
            </a:r>
            <a:endParaRPr lang="en-US" sz="1010" dirty="0"/>
          </a:p>
        </p:txBody>
      </p:sp>
      <p:sp>
        <p:nvSpPr>
          <p:cNvPr id="30" name="Shape 27"/>
          <p:cNvSpPr/>
          <p:nvPr/>
        </p:nvSpPr>
        <p:spPr>
          <a:xfrm>
            <a:off x="4407408" y="2011680"/>
            <a:ext cx="1051560" cy="566928"/>
          </a:xfrm>
          <a:prstGeom prst="rect">
            <a:avLst/>
          </a:prstGeom>
          <a:solidFill>
            <a:srgbClr val="FAFAFA"/>
          </a:solidFill>
          <a:ln w="7620">
            <a:solidFill>
              <a:srgbClr val="D6D6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8"/>
          <p:cNvSpPr/>
          <p:nvPr/>
        </p:nvSpPr>
        <p:spPr>
          <a:xfrm>
            <a:off x="4462272" y="2084832"/>
            <a:ext cx="941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1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Low–Med</a:t>
            </a:r>
            <a:endParaRPr lang="en-US" sz="1010" dirty="0"/>
          </a:p>
        </p:txBody>
      </p:sp>
      <p:sp>
        <p:nvSpPr>
          <p:cNvPr id="32" name="Shape 29"/>
          <p:cNvSpPr/>
          <p:nvPr/>
        </p:nvSpPr>
        <p:spPr>
          <a:xfrm>
            <a:off x="5458968" y="2011680"/>
            <a:ext cx="2514600" cy="566928"/>
          </a:xfrm>
          <a:prstGeom prst="rect">
            <a:avLst/>
          </a:prstGeom>
          <a:solidFill>
            <a:srgbClr val="FAFAFA"/>
          </a:solidFill>
          <a:ln w="7620">
            <a:solidFill>
              <a:srgbClr val="D6D6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5513832" y="2084832"/>
            <a:ext cx="2404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1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Fresh knowledge or private documents without retraining</a:t>
            </a:r>
            <a:endParaRPr lang="en-US" sz="1010" dirty="0"/>
          </a:p>
        </p:txBody>
      </p:sp>
      <p:sp>
        <p:nvSpPr>
          <p:cNvPr id="34" name="Shape 31"/>
          <p:cNvSpPr/>
          <p:nvPr/>
        </p:nvSpPr>
        <p:spPr>
          <a:xfrm>
            <a:off x="566928" y="2578608"/>
            <a:ext cx="141732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6D6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2"/>
          <p:cNvSpPr/>
          <p:nvPr/>
        </p:nvSpPr>
        <p:spPr>
          <a:xfrm>
            <a:off x="621792" y="2651760"/>
            <a:ext cx="1307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6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FT / SFT</a:t>
            </a:r>
            <a:endParaRPr lang="en-US" sz="1060" dirty="0"/>
          </a:p>
        </p:txBody>
      </p:sp>
      <p:sp>
        <p:nvSpPr>
          <p:cNvPr id="36" name="Shape 33"/>
          <p:cNvSpPr/>
          <p:nvPr/>
        </p:nvSpPr>
        <p:spPr>
          <a:xfrm>
            <a:off x="1984248" y="2578608"/>
            <a:ext cx="242316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6D6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4"/>
          <p:cNvSpPr/>
          <p:nvPr/>
        </p:nvSpPr>
        <p:spPr>
          <a:xfrm>
            <a:off x="2039112" y="2651760"/>
            <a:ext cx="2313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1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or most model weights are updated</a:t>
            </a:r>
            <a:endParaRPr lang="en-US" sz="1010" dirty="0"/>
          </a:p>
        </p:txBody>
      </p:sp>
      <p:sp>
        <p:nvSpPr>
          <p:cNvPr id="38" name="Shape 35"/>
          <p:cNvSpPr/>
          <p:nvPr/>
        </p:nvSpPr>
        <p:spPr>
          <a:xfrm>
            <a:off x="4407408" y="2578608"/>
            <a:ext cx="105156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6D6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6"/>
          <p:cNvSpPr/>
          <p:nvPr/>
        </p:nvSpPr>
        <p:spPr>
          <a:xfrm>
            <a:off x="4462272" y="2651760"/>
            <a:ext cx="941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1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1010" dirty="0"/>
          </a:p>
        </p:txBody>
      </p:sp>
      <p:sp>
        <p:nvSpPr>
          <p:cNvPr id="40" name="Shape 37"/>
          <p:cNvSpPr/>
          <p:nvPr/>
        </p:nvSpPr>
        <p:spPr>
          <a:xfrm>
            <a:off x="5458968" y="2578608"/>
            <a:ext cx="251460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6D6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8"/>
          <p:cNvSpPr/>
          <p:nvPr/>
        </p:nvSpPr>
        <p:spPr>
          <a:xfrm>
            <a:off x="5513832" y="2651760"/>
            <a:ext cx="2404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1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Maximum specialization when enough data and compute exist</a:t>
            </a:r>
            <a:endParaRPr lang="en-US" sz="1010" dirty="0"/>
          </a:p>
        </p:txBody>
      </p:sp>
      <p:sp>
        <p:nvSpPr>
          <p:cNvPr id="42" name="Shape 39"/>
          <p:cNvSpPr/>
          <p:nvPr/>
        </p:nvSpPr>
        <p:spPr>
          <a:xfrm>
            <a:off x="566928" y="3145536"/>
            <a:ext cx="1417320" cy="566928"/>
          </a:xfrm>
          <a:prstGeom prst="rect">
            <a:avLst/>
          </a:prstGeom>
          <a:solidFill>
            <a:srgbClr val="FAFAFA"/>
          </a:solidFill>
          <a:ln w="7620">
            <a:solidFill>
              <a:srgbClr val="D6D6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0"/>
          <p:cNvSpPr/>
          <p:nvPr/>
        </p:nvSpPr>
        <p:spPr>
          <a:xfrm>
            <a:off x="621792" y="3218688"/>
            <a:ext cx="1307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6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PEFT / LoRA</a:t>
            </a:r>
            <a:endParaRPr lang="en-US" sz="1060" dirty="0"/>
          </a:p>
        </p:txBody>
      </p:sp>
      <p:sp>
        <p:nvSpPr>
          <p:cNvPr id="44" name="Shape 41"/>
          <p:cNvSpPr/>
          <p:nvPr/>
        </p:nvSpPr>
        <p:spPr>
          <a:xfrm>
            <a:off x="1984248" y="3145536"/>
            <a:ext cx="2423160" cy="566928"/>
          </a:xfrm>
          <a:prstGeom prst="rect">
            <a:avLst/>
          </a:prstGeom>
          <a:solidFill>
            <a:srgbClr val="FAFAFA"/>
          </a:solidFill>
          <a:ln w="7620">
            <a:solidFill>
              <a:srgbClr val="D6D6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2"/>
          <p:cNvSpPr/>
          <p:nvPr/>
        </p:nvSpPr>
        <p:spPr>
          <a:xfrm>
            <a:off x="2039112" y="3218688"/>
            <a:ext cx="2313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1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small trainable adapters are updated</a:t>
            </a:r>
            <a:endParaRPr lang="en-US" sz="1010" dirty="0"/>
          </a:p>
        </p:txBody>
      </p:sp>
      <p:sp>
        <p:nvSpPr>
          <p:cNvPr id="46" name="Shape 43"/>
          <p:cNvSpPr/>
          <p:nvPr/>
        </p:nvSpPr>
        <p:spPr>
          <a:xfrm>
            <a:off x="4407408" y="3145536"/>
            <a:ext cx="1051560" cy="566928"/>
          </a:xfrm>
          <a:prstGeom prst="rect">
            <a:avLst/>
          </a:prstGeom>
          <a:solidFill>
            <a:srgbClr val="FAFAFA"/>
          </a:solidFill>
          <a:ln w="7620">
            <a:solidFill>
              <a:srgbClr val="D6D6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4"/>
          <p:cNvSpPr/>
          <p:nvPr/>
        </p:nvSpPr>
        <p:spPr>
          <a:xfrm>
            <a:off x="4462272" y="3218688"/>
            <a:ext cx="941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1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</a:t>
            </a:r>
            <a:endParaRPr lang="en-US" sz="1010" dirty="0"/>
          </a:p>
        </p:txBody>
      </p:sp>
      <p:sp>
        <p:nvSpPr>
          <p:cNvPr id="48" name="Shape 45"/>
          <p:cNvSpPr/>
          <p:nvPr/>
        </p:nvSpPr>
        <p:spPr>
          <a:xfrm>
            <a:off x="5458968" y="3145536"/>
            <a:ext cx="2514600" cy="566928"/>
          </a:xfrm>
          <a:prstGeom prst="rect">
            <a:avLst/>
          </a:prstGeom>
          <a:solidFill>
            <a:srgbClr val="FAFAFA"/>
          </a:solidFill>
          <a:ln w="7620">
            <a:solidFill>
              <a:srgbClr val="D6D6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6"/>
          <p:cNvSpPr/>
          <p:nvPr/>
        </p:nvSpPr>
        <p:spPr>
          <a:xfrm>
            <a:off x="5513832" y="3218688"/>
            <a:ext cx="2404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1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adaptation under tight GPU memory and storage budgets</a:t>
            </a:r>
            <a:endParaRPr lang="en-US" sz="1010" dirty="0"/>
          </a:p>
        </p:txBody>
      </p:sp>
      <p:sp>
        <p:nvSpPr>
          <p:cNvPr id="50" name="Text 47"/>
          <p:cNvSpPr/>
          <p:nvPr/>
        </p:nvSpPr>
        <p:spPr>
          <a:xfrm>
            <a:off x="658368" y="4023360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34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Takeaway: the choice is not “fine-tune or not.” The real question is which part of the system should change: the prompt, the retrieved context, a few trainable adapters, or the whole model.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10312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/mnt/data/template_master_assets/layout1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0014" y="246888"/>
            <a:ext cx="470692" cy="4754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0584" y="4937760"/>
            <a:ext cx="68580" cy="68580"/>
          </a:xfrm>
          <a:prstGeom prst="ellipse">
            <a:avLst/>
          </a:prstGeom>
          <a:solidFill>
            <a:srgbClr val="234F84"/>
          </a:solidFill>
          <a:ln w="12700">
            <a:solidFill>
              <a:srgbClr val="234F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201168" y="4937760"/>
            <a:ext cx="68580" cy="68580"/>
          </a:xfrm>
          <a:prstGeom prst="ellipse">
            <a:avLst/>
          </a:prstGeom>
          <a:solidFill>
            <a:srgbClr val="EF3340"/>
          </a:solidFill>
          <a:ln w="12700">
            <a:solidFill>
              <a:srgbClr val="EF334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301752" y="4937760"/>
            <a:ext cx="68580" cy="68580"/>
          </a:xfrm>
          <a:prstGeom prst="ellipse">
            <a:avLst/>
          </a:prstGeom>
          <a:solidFill>
            <a:srgbClr val="D0C22D"/>
          </a:solidFill>
          <a:ln w="12700">
            <a:solidFill>
              <a:srgbClr val="D0C2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8458200" y="462686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10896" y="21031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Segment 1 supports the remaining Week 6 lectures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76656" y="100584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4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Foundation established here</a:t>
            </a:r>
            <a:endParaRPr lang="en-US" sz="1340" dirty="0"/>
          </a:p>
        </p:txBody>
      </p:sp>
      <p:sp>
        <p:nvSpPr>
          <p:cNvPr id="11" name="Text 8"/>
          <p:cNvSpPr/>
          <p:nvPr/>
        </p:nvSpPr>
        <p:spPr>
          <a:xfrm>
            <a:off x="877824" y="1316736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1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LLM pipeline and next-token objective</a:t>
            </a:r>
            <a:endParaRPr lang="en-US" sz="1210" dirty="0"/>
          </a:p>
          <a:p>
            <a:pPr marL="0" indent="0">
              <a:buNone/>
            </a:pPr>
            <a:r>
              <a:rPr lang="en-US" sz="121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Transformer and attention intuition</a:t>
            </a:r>
            <a:endParaRPr lang="en-US" sz="1210" dirty="0"/>
          </a:p>
          <a:p>
            <a:pPr marL="0" indent="0">
              <a:buNone/>
            </a:pPr>
            <a:r>
              <a:rPr lang="en-US" sz="121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Pretraining vs adaptation</a:t>
            </a:r>
            <a:endParaRPr lang="en-US" sz="1210" dirty="0"/>
          </a:p>
          <a:p>
            <a:pPr marL="0" indent="0">
              <a:buNone/>
            </a:pPr>
            <a:r>
              <a:rPr lang="en-US" sz="121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Where memory and compute costs arise</a:t>
            </a:r>
            <a:endParaRPr lang="en-US" sz="1210" dirty="0"/>
          </a:p>
        </p:txBody>
      </p:sp>
      <p:sp>
        <p:nvSpPr>
          <p:cNvPr id="16" name="Shape 13"/>
          <p:cNvSpPr/>
          <p:nvPr/>
        </p:nvSpPr>
        <p:spPr>
          <a:xfrm>
            <a:off x="4206239" y="1170432"/>
            <a:ext cx="4004793" cy="457200"/>
          </a:xfrm>
          <a:prstGeom prst="roundRect">
            <a:avLst/>
          </a:prstGeom>
          <a:solidFill>
            <a:srgbClr val="EAF1FB"/>
          </a:solidFill>
          <a:ln w="1016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4370832" y="1261872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234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 2</a:t>
            </a:r>
            <a:endParaRPr lang="en-US" sz="1120" dirty="0"/>
          </a:p>
        </p:txBody>
      </p:sp>
      <p:sp>
        <p:nvSpPr>
          <p:cNvPr id="18" name="Text 15"/>
          <p:cNvSpPr/>
          <p:nvPr/>
        </p:nvSpPr>
        <p:spPr>
          <a:xfrm>
            <a:off x="5193792" y="1261872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Mixed precision</a:t>
            </a:r>
            <a:endParaRPr lang="en-US" sz="1120" dirty="0"/>
          </a:p>
        </p:txBody>
      </p:sp>
      <p:sp>
        <p:nvSpPr>
          <p:cNvPr id="19" name="Text 16"/>
          <p:cNvSpPr/>
          <p:nvPr/>
        </p:nvSpPr>
        <p:spPr>
          <a:xfrm>
            <a:off x="6272784" y="1243584"/>
            <a:ext cx="19382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can we reduce precision while preserving stable training?</a:t>
            </a:r>
            <a:endParaRPr lang="en-US" sz="970" dirty="0"/>
          </a:p>
        </p:txBody>
      </p:sp>
      <p:sp>
        <p:nvSpPr>
          <p:cNvPr id="20" name="Shape 17"/>
          <p:cNvSpPr/>
          <p:nvPr/>
        </p:nvSpPr>
        <p:spPr>
          <a:xfrm>
            <a:off x="4206240" y="1810512"/>
            <a:ext cx="4004794" cy="457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4370832" y="1901952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234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 3</a:t>
            </a:r>
            <a:endParaRPr lang="en-US" sz="1120" dirty="0"/>
          </a:p>
        </p:txBody>
      </p:sp>
      <p:sp>
        <p:nvSpPr>
          <p:cNvPr id="22" name="Text 19"/>
          <p:cNvSpPr/>
          <p:nvPr/>
        </p:nvSpPr>
        <p:spPr>
          <a:xfrm>
            <a:off x="5193792" y="1901952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 + throughput</a:t>
            </a:r>
            <a:endParaRPr lang="en-US" sz="1120" dirty="0"/>
          </a:p>
        </p:txBody>
      </p:sp>
      <p:sp>
        <p:nvSpPr>
          <p:cNvPr id="23" name="Text 20"/>
          <p:cNvSpPr/>
          <p:nvPr/>
        </p:nvSpPr>
        <p:spPr>
          <a:xfrm>
            <a:off x="6272784" y="1883664"/>
            <a:ext cx="18593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 batching, accumulation, and checkpointing fit large jobs into memory?</a:t>
            </a:r>
            <a:endParaRPr lang="en-US" sz="970" dirty="0"/>
          </a:p>
        </p:txBody>
      </p:sp>
      <p:sp>
        <p:nvSpPr>
          <p:cNvPr id="24" name="Shape 21"/>
          <p:cNvSpPr/>
          <p:nvPr/>
        </p:nvSpPr>
        <p:spPr>
          <a:xfrm>
            <a:off x="4206240" y="2450592"/>
            <a:ext cx="4004794" cy="457200"/>
          </a:xfrm>
          <a:prstGeom prst="roundRect">
            <a:avLst/>
          </a:prstGeom>
          <a:solidFill>
            <a:srgbClr val="EAF1FB"/>
          </a:solidFill>
          <a:ln w="1016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4370832" y="2542032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234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 4</a:t>
            </a:r>
            <a:endParaRPr lang="en-US" sz="1120" dirty="0"/>
          </a:p>
        </p:txBody>
      </p:sp>
      <p:sp>
        <p:nvSpPr>
          <p:cNvPr id="26" name="Text 23"/>
          <p:cNvSpPr/>
          <p:nvPr/>
        </p:nvSpPr>
        <p:spPr>
          <a:xfrm>
            <a:off x="5193792" y="2542032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learning</a:t>
            </a:r>
            <a:endParaRPr lang="en-US" sz="1120" dirty="0"/>
          </a:p>
        </p:txBody>
      </p:sp>
      <p:sp>
        <p:nvSpPr>
          <p:cNvPr id="27" name="Text 24"/>
          <p:cNvSpPr/>
          <p:nvPr/>
        </p:nvSpPr>
        <p:spPr>
          <a:xfrm>
            <a:off x="6272784" y="2596896"/>
            <a:ext cx="193825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can a pretrained model adapt with far less data than training from scratch?</a:t>
            </a:r>
            <a:endParaRPr lang="en-US" sz="970" dirty="0"/>
          </a:p>
        </p:txBody>
      </p:sp>
      <p:sp>
        <p:nvSpPr>
          <p:cNvPr id="28" name="Shape 25"/>
          <p:cNvSpPr/>
          <p:nvPr/>
        </p:nvSpPr>
        <p:spPr>
          <a:xfrm>
            <a:off x="4206239" y="3090672"/>
            <a:ext cx="3958377" cy="457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4370832" y="3182112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234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 5</a:t>
            </a:r>
            <a:endParaRPr lang="en-US" sz="1120" dirty="0"/>
          </a:p>
        </p:txBody>
      </p:sp>
      <p:sp>
        <p:nvSpPr>
          <p:cNvPr id="30" name="Text 27"/>
          <p:cNvSpPr/>
          <p:nvPr/>
        </p:nvSpPr>
        <p:spPr>
          <a:xfrm>
            <a:off x="5193792" y="3182112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PEFT / LoRA</a:t>
            </a:r>
            <a:endParaRPr lang="en-US" sz="1120" dirty="0"/>
          </a:p>
        </p:txBody>
      </p:sp>
      <p:sp>
        <p:nvSpPr>
          <p:cNvPr id="31" name="Text 28"/>
          <p:cNvSpPr/>
          <p:nvPr/>
        </p:nvSpPr>
        <p:spPr>
          <a:xfrm>
            <a:off x="6272784" y="3163824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can we modify only a tiny number of parameters and still adapt effectively?</a:t>
            </a:r>
            <a:endParaRPr lang="en-US" sz="97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10312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/mnt/data/template_master_assets/layout1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0014" y="246888"/>
            <a:ext cx="470692" cy="4754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0584" y="4937760"/>
            <a:ext cx="68580" cy="68580"/>
          </a:xfrm>
          <a:prstGeom prst="ellipse">
            <a:avLst/>
          </a:prstGeom>
          <a:solidFill>
            <a:srgbClr val="234F84"/>
          </a:solidFill>
          <a:ln w="12700">
            <a:solidFill>
              <a:srgbClr val="234F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201168" y="4937760"/>
            <a:ext cx="68580" cy="68580"/>
          </a:xfrm>
          <a:prstGeom prst="ellipse">
            <a:avLst/>
          </a:prstGeom>
          <a:solidFill>
            <a:srgbClr val="EF3340"/>
          </a:solidFill>
          <a:ln w="12700">
            <a:solidFill>
              <a:srgbClr val="EF334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301752" y="4937760"/>
            <a:ext cx="68580" cy="68580"/>
          </a:xfrm>
          <a:prstGeom prst="ellipse">
            <a:avLst/>
          </a:prstGeom>
          <a:solidFill>
            <a:srgbClr val="D0C22D"/>
          </a:solidFill>
          <a:ln w="12700">
            <a:solidFill>
              <a:srgbClr val="D0C2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310896" y="210312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Summary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58368" y="1051560"/>
            <a:ext cx="7635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LLMs are large transformer-based next-token models pretrained at scale.</a:t>
            </a:r>
            <a:endParaRPr lang="en-US" sz="1420" dirty="0"/>
          </a:p>
          <a:p>
            <a:pPr marL="0" indent="0">
              <a:buNone/>
            </a:pP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Pretraining gives general capability; prompting, retrieval, and fine-tuning make the model useful for specific settings.</a:t>
            </a:r>
            <a:endParaRPr lang="en-US" sz="1420" dirty="0"/>
          </a:p>
          <a:p>
            <a:pPr marL="0" indent="0">
              <a:buNone/>
            </a:pP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Week 6 efficiency methods matter because memory, attention cost, and optimizer overhead make naïve full fine-tuning expensive.</a:t>
            </a:r>
            <a:endParaRPr lang="en-US" sz="1420" dirty="0"/>
          </a:p>
        </p:txBody>
      </p:sp>
      <p:sp>
        <p:nvSpPr>
          <p:cNvPr id="10" name="Text 7"/>
          <p:cNvSpPr/>
          <p:nvPr/>
        </p:nvSpPr>
        <p:spPr>
          <a:xfrm>
            <a:off x="658368" y="352044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234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Next: mixed precision and numerical stability</a:t>
            </a:r>
            <a:endParaRPr lang="en-US" sz="13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>
            <a:extLst>
              <a:ext uri="{FF2B5EF4-FFF2-40B4-BE49-F238E27FC236}">
                <a16:creationId xmlns:a16="http://schemas.microsoft.com/office/drawing/2014/main" id="{8E4785E4-0C78-7845-99EF-96A8E763BC00}"/>
              </a:ext>
            </a:extLst>
          </p:cNvPr>
          <p:cNvSpPr/>
          <p:nvPr/>
        </p:nvSpPr>
        <p:spPr>
          <a:xfrm>
            <a:off x="3759623" y="1904505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7086289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1822</Words>
  <Application>Microsoft Office PowerPoint</Application>
  <PresentationFormat>On-screen Show (16:9)</PresentationFormat>
  <Paragraphs>214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06 Segment 1: Large Language Models — Foundations for Optimization and Fine-tuning</dc:title>
  <dc:subject>AAAI Week 6 Segment 1</dc:subject>
  <dc:creator>OpenAI</dc:creator>
  <cp:lastModifiedBy>satyajit das</cp:lastModifiedBy>
  <cp:revision>12</cp:revision>
  <dcterms:created xsi:type="dcterms:W3CDTF">2026-04-06T04:39:36Z</dcterms:created>
  <dcterms:modified xsi:type="dcterms:W3CDTF">2026-04-06T05:51:42Z</dcterms:modified>
</cp:coreProperties>
</file>