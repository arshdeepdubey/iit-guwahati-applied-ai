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73" r:id="rId2"/>
    <p:sldId id="258" r:id="rId3"/>
    <p:sldId id="259" r:id="rId4"/>
    <p:sldId id="269" r:id="rId5"/>
    <p:sldId id="260" r:id="rId6"/>
    <p:sldId id="270" r:id="rId7"/>
    <p:sldId id="271" r:id="rId8"/>
    <p:sldId id="272" r:id="rId9"/>
    <p:sldId id="261" r:id="rId10"/>
    <p:sldId id="262" r:id="rId11"/>
    <p:sldId id="274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84" autoAdjust="0"/>
    <p:restoredTop sz="94610"/>
  </p:normalViewPr>
  <p:slideViewPr>
    <p:cSldViewPr snapToGrid="0" snapToObjects="1">
      <p:cViewPr varScale="1">
        <p:scale>
          <a:sx n="75" d="100"/>
          <a:sy n="75" d="100"/>
        </p:scale>
        <p:origin x="135" y="2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62292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course template slide deck and week-6 syllabus for layout and scope.
- Vaswani et al., Attention Is All You Need, NeurIPS 2017.
- Brown et al., Language Models are Few-Shot Learners, NeurIPS 2020.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Hu et al., LoRA: Low-Rank Adaptation of Large Language Models, arXiv:2106.09685, 2021.
- Dettmers et al., QLoRA: Efficient Finetuning of Quantized LLMs, arXiv:2305.14314, 2023.
- Houlsby et al., Parameter-Efficient Transfer Learning for NLP, ICML 2019.
- Hugging Face PEFT LoRA developer guide, accessed 2026.
- Hugging Face PEFT quantization guide, accessed 2026.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Hu et al., LoRA: Low-Rank Adaptation of Large Language Models, arXiv:2106.09685, 2021.
- Dettmers et al., QLoRA: Efficient Finetuning of Quantized LLMs, arXiv:2305.14314, 2023.
- Houlsby et al., Parameter-Efficient Transfer Learning for NLP, ICML 2019.
- Li and Liang, Prefix-Tuning: Optimizing Continuous Prompts for Generation, ACL 2021.
- Lester et al., The Power of Scale for Parameter-Efficient Prompt Tuning, EMNLP 2021.
- Hugging Face PEFT LoRA developer guide, accessed 2026.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22E65E-A753-294F-B28D-741843DB51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C7BBC6-CF37-EADD-B438-B67BCC79EF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A543C7-12E5-B166-0642-1F165F36C7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Hu et al., LoRA: Low-Rank Adaptation of Large Language Models, arXiv:2106.09685, 2021.
- Dettmers et al., QLoRA: Efficient Finetuning of Quantized LLMs, arXiv:2305.14314, 2023.
- Houlsby et al., Parameter-Efficient Transfer Learning for NLP, ICML 2019.
- Hugging Face PEFT LoRA developer guide, accessed 2026.
- Hugging Face PEFT quantization guide, accessed 2026.
[/Sources]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D4E150-C8CC-6CE6-0A61-3F5560B04E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6901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Hu et al., LoRA: Low-Rank Adaptation of Large Language Models, arXiv:2106.09685, 2021.
- Hugging Face PEFT LoRA developer guide, accessed 2026.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742C43-B6C9-5188-FB06-05038CC5E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E3F1F8-938A-DD99-F834-327C02831E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24E97A-2FB9-A928-3BC5-0F5ABAE65D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Hu et al., LoRA: Low-Rank Adaptation of Large Language Models, arXiv:2106.09685, 2021.
- Hugging Face PEFT LoRA developer guide, accessed 2026.
[/Sources]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84172C-B575-2DB0-50F1-D6F1AEAD85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9639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DC8DC9-45C3-D16D-2157-970A3F6A52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32FF20-2E17-046F-DA24-0FA852365E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C5D436-DD74-D9CB-1DC0-67535CC57E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Hu et al., LoRA: Low-Rank Adaptation of Large Language Models, arXiv:2106.09685, 2021.
- Hugging Face PEFT LoRA developer guide, accessed 2026.
[/Sources]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DD92DA-FD2C-3A80-21E3-135B7D6CFF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1010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AE8BC4-5568-5C9A-7837-E171440D68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A1489A-2CE0-6996-3A46-299215EB6F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289B26-FB36-00ED-0212-4CD4FF8DE0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Hu et al., LoRA: Low-Rank Adaptation of Large Language Models, arXiv:2106.09685, 2021.
- Hugging Face PEFT LoRA developer guide, accessed 2026.
[/Sources]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D4B069-7689-AF00-05D4-2E2FD77FAF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4685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Hu et al., LoRA: Low-Rank Adaptation of Large Language Models, arXiv:2106.09685, 2021.
- Dettmers et al., QLoRA: Efficient Finetuning of Quantized LLMs, arXiv:2305.14314, 2023.
- Hugging Face PEFT LoRA developer guide, accessed 2026.
- Hugging Face PEFT quantization guide, accessed 2026.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Hu et al., LoRA: Low-Rank Adaptation of Large Language Models, arXiv:2106.09685, 2021.
- Dettmers et al., QLoRA: Efficient Finetuning of Quantized LLMs, arXiv:2305.14314, 2023.
- Hugging Face PEFT LoRA developer guide, accessed 2026.
- Hugging Face PEFT quantization guide, accessed 2026.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9F457BF-24BB-0EAF-7D59-B01C2CFE184A}"/>
              </a:ext>
            </a:extLst>
          </p:cNvPr>
          <p:cNvSpPr/>
          <p:nvPr userDrawn="1"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E5B89"/>
          </a:solidFill>
          <a:ln w="12700">
            <a:solidFill>
              <a:srgbClr val="2E5B8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5EDCF43-0375-74B1-ED4E-42E0539DBFC0}"/>
              </a:ext>
            </a:extLst>
          </p:cNvPr>
          <p:cNvSpPr/>
          <p:nvPr userDrawn="1"/>
        </p:nvSpPr>
        <p:spPr>
          <a:xfrm>
            <a:off x="0" y="6775704"/>
            <a:ext cx="12191695" cy="41148"/>
          </a:xfrm>
          <a:prstGeom prst="rect">
            <a:avLst/>
          </a:prstGeom>
          <a:solidFill>
            <a:srgbClr val="2E5B89"/>
          </a:solidFill>
          <a:ln w="12700">
            <a:solidFill>
              <a:srgbClr val="2E5B8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E5B89"/>
          </a:solidFill>
          <a:ln w="12700">
            <a:solidFill>
              <a:srgbClr val="2E5B8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6775704"/>
            <a:ext cx="12191695" cy="41148"/>
          </a:xfrm>
          <a:prstGeom prst="rect">
            <a:avLst/>
          </a:prstGeom>
          <a:solidFill>
            <a:srgbClr val="2E5B89"/>
          </a:solidFill>
          <a:ln w="12700">
            <a:solidFill>
              <a:srgbClr val="2E5B8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567DF4A-1CFC-EF04-4D4A-909BAA2E8A34}"/>
              </a:ext>
            </a:extLst>
          </p:cNvPr>
          <p:cNvSpPr/>
          <p:nvPr userDrawn="1"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E5B89"/>
          </a:solidFill>
          <a:ln w="12700">
            <a:solidFill>
              <a:srgbClr val="2E5B8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C26DB9C-9A1D-5068-4587-9B5842D495D1}"/>
              </a:ext>
            </a:extLst>
          </p:cNvPr>
          <p:cNvSpPr/>
          <p:nvPr userDrawn="1"/>
        </p:nvSpPr>
        <p:spPr>
          <a:xfrm>
            <a:off x="0" y="6775704"/>
            <a:ext cx="12191695" cy="41148"/>
          </a:xfrm>
          <a:prstGeom prst="rect">
            <a:avLst/>
          </a:prstGeom>
          <a:solidFill>
            <a:srgbClr val="2E5B89"/>
          </a:solidFill>
          <a:ln w="12700">
            <a:solidFill>
              <a:srgbClr val="2E5B8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jpg"/><Relationship Id="rId9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280416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3" name="Shape 1"/>
          <p:cNvSpPr/>
          <p:nvPr/>
        </p:nvSpPr>
        <p:spPr>
          <a:xfrm>
            <a:off x="0" y="6766560"/>
            <a:ext cx="12192000" cy="85344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pic>
        <p:nvPicPr>
          <p:cNvPr id="4" name="Image 0" descr="/mnt/data/template_assets_py/slide1_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7618" y="365760"/>
            <a:ext cx="1232380" cy="12435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02080" y="1780032"/>
            <a:ext cx="938784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NPTEL</a:t>
            </a: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1219200" y="2377440"/>
            <a:ext cx="97536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667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Applied Accelerated Artificial Intelligence</a:t>
            </a:r>
            <a:endParaRPr lang="en-US" sz="2667" dirty="0"/>
          </a:p>
        </p:txBody>
      </p:sp>
      <p:sp>
        <p:nvSpPr>
          <p:cNvPr id="7" name="Text 4"/>
          <p:cNvSpPr/>
          <p:nvPr/>
        </p:nvSpPr>
        <p:spPr>
          <a:xfrm>
            <a:off x="1219200" y="2962656"/>
            <a:ext cx="97536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b="1" dirty="0">
                <a:solidFill>
                  <a:srgbClr val="0020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06 · Segment 1</a:t>
            </a:r>
            <a:endParaRPr lang="en-US" sz="1733" dirty="0"/>
          </a:p>
        </p:txBody>
      </p:sp>
      <p:sp>
        <p:nvSpPr>
          <p:cNvPr id="8" name="Text 5"/>
          <p:cNvSpPr/>
          <p:nvPr/>
        </p:nvSpPr>
        <p:spPr>
          <a:xfrm>
            <a:off x="975360" y="3352800"/>
            <a:ext cx="1024128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933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Large Language Models: Foundations for Optimization and Fine-tuning</a:t>
            </a:r>
            <a:endParaRPr lang="en-US" sz="2933" dirty="0"/>
          </a:p>
        </p:txBody>
      </p:sp>
      <p:sp>
        <p:nvSpPr>
          <p:cNvPr id="9" name="Text 6"/>
          <p:cNvSpPr/>
          <p:nvPr/>
        </p:nvSpPr>
        <p:spPr>
          <a:xfrm>
            <a:off x="2682240" y="4754880"/>
            <a:ext cx="682752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Instructor: Dr. Satyajit Das</a:t>
            </a:r>
            <a:endParaRPr lang="en-US" sz="1400" dirty="0"/>
          </a:p>
          <a:p>
            <a:pPr algn="ctr"/>
            <a:r>
              <a:rPr lang="en-US" sz="14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Department of Computer Science and Engineering</a:t>
            </a:r>
            <a:endParaRPr lang="en-US" sz="1400" dirty="0"/>
          </a:p>
          <a:p>
            <a:pPr algn="ctr"/>
            <a:r>
              <a:rPr lang="en-US" sz="14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Indian Institute of Technology Guwahati, Assam, India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1438656" y="5632704"/>
            <a:ext cx="9204960" cy="0"/>
          </a:xfrm>
          <a:prstGeom prst="line">
            <a:avLst/>
          </a:prstGeom>
          <a:noFill/>
          <a:ln w="12700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11" name="Text 8"/>
          <p:cNvSpPr/>
          <p:nvPr/>
        </p:nvSpPr>
        <p:spPr>
          <a:xfrm>
            <a:off x="1036320" y="5900928"/>
            <a:ext cx="999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27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Segment 1 sets the conceptual base for the remaining Week 6 lectures: mixed precision, memory optimization, transfer learning, and PEFT/LoRA.</a:t>
            </a:r>
            <a:endParaRPr lang="en-US" sz="1227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user-5OMUinS2DRg9DUHxNmCh75Xw/0de77cf23bb846ec834131240e4472fb/mnt/data/template_extract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40896" y="64008"/>
            <a:ext cx="292608" cy="2926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4592" y="128016"/>
            <a:ext cx="8046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406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Why PEFT exists: the cost structure of LLM adaptation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8321040" y="137160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D7D7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Week 06 · Segment 5</a:t>
            </a:r>
            <a:endParaRPr lang="en-US" sz="7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256032" y="777240"/>
            <a:ext cx="3657600" cy="960120"/>
          </a:xfrm>
          <a:prstGeom prst="roundRect">
            <a:avLst>
              <a:gd name="adj" fmla="val 7619"/>
            </a:avLst>
          </a:prstGeom>
          <a:solidFill>
            <a:srgbClr val="DDEBF7"/>
          </a:solidFill>
          <a:ln w="10160">
            <a:solidFill>
              <a:srgbClr val="C8C1B2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365760" y="868680"/>
            <a:ext cx="343814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406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engineering problem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365760" y="1051560"/>
            <a:ext cx="3438144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a new task or domain, a naive full fine-tune duplicates training state for the whole model. As model size grows, that means more gradient memory, more optimizer state, more checkpoint storage, and more deployment copies.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256032" y="1828800"/>
            <a:ext cx="3657600" cy="1051560"/>
          </a:xfrm>
          <a:prstGeom prst="roundRect">
            <a:avLst>
              <a:gd name="adj" fmla="val 6957"/>
            </a:avLst>
          </a:prstGeom>
          <a:solidFill>
            <a:srgbClr val="F8EDBE"/>
          </a:solidFill>
          <a:ln w="10160">
            <a:solidFill>
              <a:srgbClr val="C8C1B2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365760" y="1920240"/>
            <a:ext cx="343814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406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PEFT changes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365760" y="2103120"/>
            <a:ext cx="3438144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PEFT freezes the backbone and trains only a small set of extra parameters. That reduces trainable state dramatically and makes it easier to keep one shared base model while swapping compact task adapters.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256032" y="2971800"/>
            <a:ext cx="3657600" cy="987552"/>
          </a:xfrm>
          <a:prstGeom prst="roundRect">
            <a:avLst>
              <a:gd name="adj" fmla="val 7407"/>
            </a:avLst>
          </a:prstGeom>
          <a:solidFill>
            <a:srgbClr val="F7E0D8"/>
          </a:solidFill>
          <a:ln w="10160">
            <a:solidFill>
              <a:srgbClr val="C8C1B2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365760" y="3063240"/>
            <a:ext cx="343814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406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Rule of thumb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365760" y="3246120"/>
            <a:ext cx="3438144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If the task can be solved with prompts or retrieval, do that first. If you need parameter updates, PEFT is usually the first adaptation route to try; full fine-tuning is the escalation path, not the default.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4206240" y="749808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406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Memory and storage burden per task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4343400" y="2991917"/>
            <a:ext cx="777240" cy="1305763"/>
          </a:xfrm>
          <a:prstGeom prst="rect">
            <a:avLst/>
          </a:prstGeom>
          <a:solidFill>
            <a:srgbClr val="DFE6EE"/>
          </a:solidFill>
          <a:ln w="762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IN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4370832" y="3535070"/>
            <a:ext cx="7223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" dirty="0">
                <a:solidFill>
                  <a:srgbClr val="55555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Frozen base</a:t>
            </a:r>
            <a:endParaRPr lang="en-US" sz="64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4343400" y="2342144"/>
            <a:ext cx="777240" cy="649773"/>
          </a:xfrm>
          <a:prstGeom prst="rect">
            <a:avLst/>
          </a:prstGeom>
          <a:solidFill>
            <a:srgbClr val="C9DDF2"/>
          </a:solidFill>
          <a:ln w="762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en-IN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4343400" y="1720352"/>
            <a:ext cx="777240" cy="621792"/>
          </a:xfrm>
          <a:prstGeom prst="rect">
            <a:avLst/>
          </a:prstGeom>
          <a:solidFill>
            <a:srgbClr val="F5C9B8"/>
          </a:solidFill>
          <a:ln w="762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en-IN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4343400" y="1247790"/>
            <a:ext cx="777240" cy="472562"/>
          </a:xfrm>
          <a:prstGeom prst="rect">
            <a:avLst/>
          </a:prstGeom>
          <a:solidFill>
            <a:srgbClr val="D8CFEE"/>
          </a:solidFill>
          <a:ln w="762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en-IN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4297680" y="4526280"/>
            <a:ext cx="8686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1E406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Full FT</a:t>
            </a:r>
            <a:endParaRPr lang="en-US" sz="84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5532120" y="2991917"/>
            <a:ext cx="777240" cy="1305763"/>
          </a:xfrm>
          <a:prstGeom prst="rect">
            <a:avLst/>
          </a:prstGeom>
          <a:solidFill>
            <a:srgbClr val="DFE6EE"/>
          </a:solidFill>
          <a:ln w="762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IN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5559552" y="3535070"/>
            <a:ext cx="7223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" dirty="0">
                <a:solidFill>
                  <a:srgbClr val="55555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Frozen base</a:t>
            </a:r>
            <a:endParaRPr lang="en-US" sz="64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5532120" y="2684130"/>
            <a:ext cx="777240" cy="307787"/>
          </a:xfrm>
          <a:prstGeom prst="rect">
            <a:avLst/>
          </a:prstGeom>
          <a:solidFill>
            <a:srgbClr val="F5E59C"/>
          </a:solidFill>
          <a:ln w="762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en-IN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5532120" y="2373234"/>
            <a:ext cx="777240" cy="310896"/>
          </a:xfrm>
          <a:prstGeom prst="rect">
            <a:avLst/>
          </a:prstGeom>
          <a:solidFill>
            <a:srgbClr val="F5C9B8"/>
          </a:solidFill>
          <a:ln w="762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en-IN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5532120" y="2149389"/>
            <a:ext cx="777240" cy="223845"/>
          </a:xfrm>
          <a:prstGeom prst="rect">
            <a:avLst/>
          </a:prstGeom>
          <a:solidFill>
            <a:srgbClr val="D8CFEE"/>
          </a:solidFill>
          <a:ln w="762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en-IN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5486400" y="4526280"/>
            <a:ext cx="8686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1E406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Selective FT</a:t>
            </a:r>
            <a:endParaRPr lang="en-US" sz="84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6720840" y="2991917"/>
            <a:ext cx="777240" cy="1305763"/>
          </a:xfrm>
          <a:prstGeom prst="rect">
            <a:avLst/>
          </a:prstGeom>
          <a:solidFill>
            <a:srgbClr val="DFE6EE"/>
          </a:solidFill>
          <a:ln w="762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IN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6748272" y="3535070"/>
            <a:ext cx="7223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" dirty="0">
                <a:solidFill>
                  <a:srgbClr val="55555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Frozen base</a:t>
            </a:r>
            <a:endParaRPr lang="en-US" sz="64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Shape 26"/>
          <p:cNvSpPr/>
          <p:nvPr/>
        </p:nvSpPr>
        <p:spPr>
          <a:xfrm>
            <a:off x="6720840" y="2937199"/>
            <a:ext cx="777240" cy="54718"/>
          </a:xfrm>
          <a:prstGeom prst="rect">
            <a:avLst/>
          </a:prstGeom>
          <a:solidFill>
            <a:srgbClr val="D9EBD6"/>
          </a:solidFill>
          <a:ln w="762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en-IN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Shape 27"/>
          <p:cNvSpPr/>
          <p:nvPr/>
        </p:nvSpPr>
        <p:spPr>
          <a:xfrm>
            <a:off x="6720840" y="2875020"/>
            <a:ext cx="777240" cy="62179"/>
          </a:xfrm>
          <a:prstGeom prst="rect">
            <a:avLst/>
          </a:prstGeom>
          <a:solidFill>
            <a:srgbClr val="F5C9B8"/>
          </a:solidFill>
          <a:ln w="762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en-IN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Shape 28"/>
          <p:cNvSpPr/>
          <p:nvPr/>
        </p:nvSpPr>
        <p:spPr>
          <a:xfrm>
            <a:off x="6720840" y="2835225"/>
            <a:ext cx="777240" cy="39795"/>
          </a:xfrm>
          <a:prstGeom prst="rect">
            <a:avLst/>
          </a:prstGeom>
          <a:solidFill>
            <a:srgbClr val="D8CFEE"/>
          </a:solidFill>
          <a:ln w="762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en-IN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6675120" y="4526280"/>
            <a:ext cx="8686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1E406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LoRA</a:t>
            </a:r>
            <a:endParaRPr lang="en-US" sz="84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Shape 30"/>
          <p:cNvSpPr/>
          <p:nvPr/>
        </p:nvSpPr>
        <p:spPr>
          <a:xfrm>
            <a:off x="7909560" y="2991917"/>
            <a:ext cx="777240" cy="1305763"/>
          </a:xfrm>
          <a:prstGeom prst="rect">
            <a:avLst/>
          </a:prstGeom>
          <a:solidFill>
            <a:srgbClr val="DFE6EE"/>
          </a:solidFill>
          <a:ln w="762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IN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7936992" y="3535070"/>
            <a:ext cx="7223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" dirty="0">
                <a:solidFill>
                  <a:srgbClr val="55555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Frozen base</a:t>
            </a:r>
            <a:endParaRPr lang="en-US" sz="64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5" name="Shape 32"/>
          <p:cNvSpPr/>
          <p:nvPr/>
        </p:nvSpPr>
        <p:spPr>
          <a:xfrm>
            <a:off x="7909560" y="2937199"/>
            <a:ext cx="777240" cy="54718"/>
          </a:xfrm>
          <a:prstGeom prst="rect">
            <a:avLst/>
          </a:prstGeom>
          <a:solidFill>
            <a:srgbClr val="E6DAF7"/>
          </a:solidFill>
          <a:ln w="762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en-IN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" name="Shape 33"/>
          <p:cNvSpPr/>
          <p:nvPr/>
        </p:nvSpPr>
        <p:spPr>
          <a:xfrm>
            <a:off x="7909560" y="2875020"/>
            <a:ext cx="777240" cy="62179"/>
          </a:xfrm>
          <a:prstGeom prst="rect">
            <a:avLst/>
          </a:prstGeom>
          <a:solidFill>
            <a:srgbClr val="F5C9B8"/>
          </a:solidFill>
          <a:ln w="762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en-IN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7" name="Shape 34"/>
          <p:cNvSpPr/>
          <p:nvPr/>
        </p:nvSpPr>
        <p:spPr>
          <a:xfrm>
            <a:off x="7909560" y="2835225"/>
            <a:ext cx="777240" cy="39795"/>
          </a:xfrm>
          <a:prstGeom prst="rect">
            <a:avLst/>
          </a:prstGeom>
          <a:solidFill>
            <a:srgbClr val="D8CFEE"/>
          </a:solidFill>
          <a:ln w="762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en-IN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8" name="Text 35"/>
          <p:cNvSpPr/>
          <p:nvPr/>
        </p:nvSpPr>
        <p:spPr>
          <a:xfrm>
            <a:off x="7863840" y="4526280"/>
            <a:ext cx="8686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1E406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QLoRA</a:t>
            </a:r>
            <a:endParaRPr lang="en-US" sz="84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9" name="Shape 36"/>
          <p:cNvSpPr/>
          <p:nvPr/>
        </p:nvSpPr>
        <p:spPr>
          <a:xfrm>
            <a:off x="8458200" y="1234440"/>
            <a:ext cx="164592" cy="137160"/>
          </a:xfrm>
          <a:prstGeom prst="rect">
            <a:avLst/>
          </a:prstGeom>
          <a:solidFill>
            <a:srgbClr val="D9EBD6"/>
          </a:solidFill>
          <a:ln w="635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en-IN" sz="2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0" name="Text 37"/>
          <p:cNvSpPr/>
          <p:nvPr/>
        </p:nvSpPr>
        <p:spPr>
          <a:xfrm>
            <a:off x="8668512" y="1197864"/>
            <a:ext cx="1325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Trainable params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1" name="Shape 38"/>
          <p:cNvSpPr/>
          <p:nvPr/>
        </p:nvSpPr>
        <p:spPr>
          <a:xfrm>
            <a:off x="8458200" y="1536192"/>
            <a:ext cx="164592" cy="137160"/>
          </a:xfrm>
          <a:prstGeom prst="rect">
            <a:avLst/>
          </a:prstGeom>
          <a:solidFill>
            <a:srgbClr val="F5C9B8"/>
          </a:solidFill>
          <a:ln w="635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en-IN" sz="2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2" name="Text 39"/>
          <p:cNvSpPr/>
          <p:nvPr/>
        </p:nvSpPr>
        <p:spPr>
          <a:xfrm>
            <a:off x="8668512" y="1499616"/>
            <a:ext cx="1325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Optimizer state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3" name="Shape 40"/>
          <p:cNvSpPr/>
          <p:nvPr/>
        </p:nvSpPr>
        <p:spPr>
          <a:xfrm>
            <a:off x="8458200" y="1837944"/>
            <a:ext cx="164592" cy="137160"/>
          </a:xfrm>
          <a:prstGeom prst="rect">
            <a:avLst/>
          </a:prstGeom>
          <a:solidFill>
            <a:srgbClr val="D8CFEE"/>
          </a:solidFill>
          <a:ln w="635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en-IN" sz="2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4" name="Text 41"/>
          <p:cNvSpPr/>
          <p:nvPr/>
        </p:nvSpPr>
        <p:spPr>
          <a:xfrm>
            <a:off x="8668512" y="1801368"/>
            <a:ext cx="1325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Task checkpoint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5" name="Shape 42"/>
          <p:cNvSpPr/>
          <p:nvPr/>
        </p:nvSpPr>
        <p:spPr>
          <a:xfrm>
            <a:off x="8458200" y="2139696"/>
            <a:ext cx="164592" cy="137160"/>
          </a:xfrm>
          <a:prstGeom prst="rect">
            <a:avLst/>
          </a:prstGeom>
          <a:solidFill>
            <a:srgbClr val="DFE6EE"/>
          </a:solidFill>
          <a:ln w="635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en-IN" sz="2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6" name="Text 43"/>
          <p:cNvSpPr/>
          <p:nvPr/>
        </p:nvSpPr>
        <p:spPr>
          <a:xfrm>
            <a:off x="8668512" y="2103120"/>
            <a:ext cx="1325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Frozen base copy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8" name="Text 45"/>
          <p:cNvSpPr/>
          <p:nvPr/>
        </p:nvSpPr>
        <p:spPr>
          <a:xfrm>
            <a:off x="8799576" y="3072384"/>
            <a:ext cx="339242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406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Why LoRA became the default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9" name="Text 46"/>
          <p:cNvSpPr/>
          <p:nvPr/>
        </p:nvSpPr>
        <p:spPr>
          <a:xfrm>
            <a:off x="8799576" y="3255264"/>
            <a:ext cx="3392424" cy="9326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LoRA preserves the familiar backpropagation workflow while shrinking trainable state to a small low-rank update. That makes it simple to implement, easy to checkpoint, and friendly to deployment as a compact adapter file.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0" name="Shape 47"/>
          <p:cNvSpPr/>
          <p:nvPr/>
        </p:nvSpPr>
        <p:spPr>
          <a:xfrm>
            <a:off x="4206240" y="4892040"/>
            <a:ext cx="7315200" cy="704088"/>
          </a:xfrm>
          <a:prstGeom prst="roundRect">
            <a:avLst>
              <a:gd name="adj" fmla="val 12903"/>
            </a:avLst>
          </a:prstGeom>
          <a:solidFill>
            <a:srgbClr val="E9E5F8"/>
          </a:solidFill>
          <a:ln w="10160">
            <a:solidFill>
              <a:srgbClr val="C8C1B2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1" name="Text 48"/>
          <p:cNvSpPr/>
          <p:nvPr/>
        </p:nvSpPr>
        <p:spPr>
          <a:xfrm>
            <a:off x="4315968" y="4983480"/>
            <a:ext cx="709574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406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Interpretation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2" name="Text 49"/>
          <p:cNvSpPr/>
          <p:nvPr/>
        </p:nvSpPr>
        <p:spPr>
          <a:xfrm>
            <a:off x="4315968" y="5166360"/>
            <a:ext cx="709574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largest savings come from not training, storing, and shipping full per-task copies of the backbone. QLoRA then compresses the frozen base further so that the same LoRA idea can fit tighter hardware budgets.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3" name="Text 50"/>
          <p:cNvSpPr/>
          <p:nvPr/>
        </p:nvSpPr>
        <p:spPr>
          <a:xfrm>
            <a:off x="201168" y="6446520"/>
            <a:ext cx="11521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" i="1" dirty="0">
                <a:solidFill>
                  <a:srgbClr val="6F6F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Figure redrawn for teaching from [1], [2], [3], [6], [7]. Not to scale; stack heights show relative engineering burden per task.</a:t>
            </a:r>
            <a:endParaRPr lang="en-US" sz="72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5" name="Shape 51"/>
          <p:cNvSpPr/>
          <p:nvPr/>
        </p:nvSpPr>
        <p:spPr>
          <a:xfrm>
            <a:off x="109728" y="6702552"/>
            <a:ext cx="36576" cy="36576"/>
          </a:xfrm>
          <a:prstGeom prst="ellipse">
            <a:avLst/>
          </a:prstGeom>
          <a:solidFill>
            <a:srgbClr val="B64A3A"/>
          </a:solidFill>
          <a:ln w="12700">
            <a:solidFill>
              <a:srgbClr val="B64A3A"/>
            </a:solidFill>
            <a:prstDash val="solid"/>
          </a:ln>
        </p:spPr>
        <p:txBody>
          <a:bodyPr/>
          <a:lstStyle/>
          <a:p>
            <a:endParaRPr lang="en-IN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6" name="Shape 52"/>
          <p:cNvSpPr/>
          <p:nvPr/>
        </p:nvSpPr>
        <p:spPr>
          <a:xfrm>
            <a:off x="201168" y="6702552"/>
            <a:ext cx="36576" cy="36576"/>
          </a:xfrm>
          <a:prstGeom prst="ellipse">
            <a:avLst/>
          </a:prstGeom>
          <a:solidFill>
            <a:srgbClr val="5E8D66"/>
          </a:solidFill>
          <a:ln w="12700">
            <a:solidFill>
              <a:srgbClr val="5E8D66"/>
            </a:solidFill>
            <a:prstDash val="solid"/>
          </a:ln>
        </p:spPr>
        <p:txBody>
          <a:bodyPr/>
          <a:lstStyle/>
          <a:p>
            <a:endParaRPr lang="en-IN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7" name="Shape 53"/>
          <p:cNvSpPr/>
          <p:nvPr/>
        </p:nvSpPr>
        <p:spPr>
          <a:xfrm>
            <a:off x="292608" y="6702552"/>
            <a:ext cx="36576" cy="36576"/>
          </a:xfrm>
          <a:prstGeom prst="ellipse">
            <a:avLst/>
          </a:prstGeom>
          <a:solidFill>
            <a:srgbClr val="E6B833"/>
          </a:solidFill>
          <a:ln w="12700">
            <a:solidFill>
              <a:srgbClr val="E6B833"/>
            </a:solidFill>
            <a:prstDash val="solid"/>
          </a:ln>
        </p:spPr>
        <p:txBody>
          <a:bodyPr/>
          <a:lstStyle/>
          <a:p>
            <a:endParaRPr lang="en-IN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8" name="Text 54"/>
          <p:cNvSpPr/>
          <p:nvPr/>
        </p:nvSpPr>
        <p:spPr>
          <a:xfrm>
            <a:off x="11804904" y="6675120"/>
            <a:ext cx="164592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406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  <a:endParaRPr lang="en-US" sz="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user-5OMUinS2DRg9DUHxNmCh75Xw/0de77cf23bb846ec834131240e4472fb/mnt/data/template_extract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40896" y="64008"/>
            <a:ext cx="292608" cy="2926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4592" y="128016"/>
            <a:ext cx="8046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406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PEFT landscape: where LoRA fits and why it dominates LLM practice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8321040" y="137160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D7D7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Week 06 · Segment 5</a:t>
            </a:r>
            <a:endParaRPr lang="en-US" sz="7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411480" y="749808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406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Adaptation continuum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685800" y="1417320"/>
            <a:ext cx="10469880" cy="0"/>
          </a:xfrm>
          <a:prstGeom prst="line">
            <a:avLst/>
          </a:prstGeom>
          <a:noFill/>
          <a:ln w="27940">
            <a:solidFill>
              <a:srgbClr val="2E5B89"/>
            </a:solidFill>
            <a:prstDash val="solid"/>
            <a:tailEnd type="triangle"/>
          </a:ln>
        </p:spPr>
        <p:txBody>
          <a:bodyPr/>
          <a:lstStyle/>
          <a:p>
            <a:endParaRPr lang="en-IN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731520" y="1207008"/>
            <a:ext cx="384048" cy="384048"/>
          </a:xfrm>
          <a:prstGeom prst="ellipse">
            <a:avLst/>
          </a:prstGeom>
          <a:solidFill>
            <a:srgbClr val="DDEBF7"/>
          </a:solidFill>
          <a:ln w="12700">
            <a:solidFill>
              <a:srgbClr val="2E5B89"/>
            </a:solidFill>
            <a:prstDash val="solid"/>
          </a:ln>
        </p:spPr>
        <p:txBody>
          <a:bodyPr/>
          <a:lstStyle/>
          <a:p>
            <a:endParaRPr lang="en-IN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75488" y="1783080"/>
            <a:ext cx="1627632" cy="1005840"/>
          </a:xfrm>
          <a:prstGeom prst="roundRect">
            <a:avLst>
              <a:gd name="adj" fmla="val 7273"/>
            </a:avLst>
          </a:prstGeom>
          <a:solidFill>
            <a:srgbClr val="DDEBF7"/>
          </a:solidFill>
          <a:ln w="10160">
            <a:solidFill>
              <a:srgbClr val="C8C1B2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585216" y="1874520"/>
            <a:ext cx="14081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406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Prompting / RAG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585216" y="2057400"/>
            <a:ext cx="1408176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Zero trainable weights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Fastest to try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2651760" y="1207008"/>
            <a:ext cx="384048" cy="384048"/>
          </a:xfrm>
          <a:prstGeom prst="ellipse">
            <a:avLst/>
          </a:prstGeom>
          <a:solidFill>
            <a:srgbClr val="F7E8D9"/>
          </a:solidFill>
          <a:ln w="12700">
            <a:solidFill>
              <a:srgbClr val="2E5B89"/>
            </a:solidFill>
            <a:prstDash val="solid"/>
          </a:ln>
        </p:spPr>
        <p:txBody>
          <a:bodyPr/>
          <a:lstStyle/>
          <a:p>
            <a:endParaRPr lang="en-IN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2395728" y="1783080"/>
            <a:ext cx="1627632" cy="1005840"/>
          </a:xfrm>
          <a:prstGeom prst="roundRect">
            <a:avLst>
              <a:gd name="adj" fmla="val 7273"/>
            </a:avLst>
          </a:prstGeom>
          <a:solidFill>
            <a:srgbClr val="F7E8D9"/>
          </a:solidFill>
          <a:ln w="10160">
            <a:solidFill>
              <a:srgbClr val="C8C1B2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2505456" y="1874520"/>
            <a:ext cx="1581912" cy="2161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406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Prompt / Prefix tuning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2432304" y="2113788"/>
            <a:ext cx="1792224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Soft prompts or prefixes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Smallest PEFT footprint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4663440" y="1207008"/>
            <a:ext cx="384048" cy="384048"/>
          </a:xfrm>
          <a:prstGeom prst="ellipse">
            <a:avLst/>
          </a:prstGeom>
          <a:solidFill>
            <a:srgbClr val="DDEED8"/>
          </a:solidFill>
          <a:ln w="12700">
            <a:solidFill>
              <a:srgbClr val="2E5B89"/>
            </a:solidFill>
            <a:prstDash val="solid"/>
          </a:ln>
        </p:spPr>
        <p:txBody>
          <a:bodyPr/>
          <a:lstStyle/>
          <a:p>
            <a:endParaRPr lang="en-IN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4407408" y="1783080"/>
            <a:ext cx="1627632" cy="1005840"/>
          </a:xfrm>
          <a:prstGeom prst="roundRect">
            <a:avLst>
              <a:gd name="adj" fmla="val 7273"/>
            </a:avLst>
          </a:prstGeom>
          <a:solidFill>
            <a:srgbClr val="DDEED8"/>
          </a:solidFill>
          <a:ln w="10160">
            <a:solidFill>
              <a:srgbClr val="C8C1B2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4517136" y="1874520"/>
            <a:ext cx="14081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406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Adapters / IA3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4517136" y="2057400"/>
            <a:ext cx="1673352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Extra modules or gating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More structure, some overhead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6812280" y="1207008"/>
            <a:ext cx="384048" cy="384048"/>
          </a:xfrm>
          <a:prstGeom prst="ellipse">
            <a:avLst/>
          </a:prstGeom>
          <a:solidFill>
            <a:srgbClr val="F6E18A"/>
          </a:solidFill>
          <a:ln w="12700">
            <a:solidFill>
              <a:srgbClr val="2E5B89"/>
            </a:solidFill>
            <a:prstDash val="solid"/>
          </a:ln>
        </p:spPr>
        <p:txBody>
          <a:bodyPr/>
          <a:lstStyle/>
          <a:p>
            <a:endParaRPr lang="en-IN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6556248" y="1783080"/>
            <a:ext cx="1627632" cy="1005840"/>
          </a:xfrm>
          <a:prstGeom prst="roundRect">
            <a:avLst>
              <a:gd name="adj" fmla="val 7273"/>
            </a:avLst>
          </a:prstGeom>
          <a:solidFill>
            <a:srgbClr val="F6E18A"/>
          </a:solidFill>
          <a:ln w="10160">
            <a:solidFill>
              <a:srgbClr val="C8C1B2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6665976" y="1874520"/>
            <a:ext cx="14081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406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LoRA family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6665976" y="2057400"/>
            <a:ext cx="1627632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Low-rank weight updates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Best default for many LLMs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8869680" y="1207008"/>
            <a:ext cx="384048" cy="384048"/>
          </a:xfrm>
          <a:prstGeom prst="ellipse">
            <a:avLst/>
          </a:prstGeom>
          <a:solidFill>
            <a:srgbClr val="E6DEF7"/>
          </a:solidFill>
          <a:ln w="12700">
            <a:solidFill>
              <a:srgbClr val="2E5B89"/>
            </a:solidFill>
            <a:prstDash val="solid"/>
          </a:ln>
        </p:spPr>
        <p:txBody>
          <a:bodyPr/>
          <a:lstStyle/>
          <a:p>
            <a:endParaRPr lang="en-IN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8613648" y="1783080"/>
            <a:ext cx="1627632" cy="1005840"/>
          </a:xfrm>
          <a:prstGeom prst="roundRect">
            <a:avLst>
              <a:gd name="adj" fmla="val 7273"/>
            </a:avLst>
          </a:prstGeom>
          <a:solidFill>
            <a:srgbClr val="E6DEF7"/>
          </a:solidFill>
          <a:ln w="10160">
            <a:solidFill>
              <a:srgbClr val="C8C1B2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8668512" y="1883667"/>
            <a:ext cx="1837944" cy="822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406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QLoRA / quantized LoRA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8723376" y="2057400"/>
            <a:ext cx="1517904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LoRA on a compressed base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Best when memory is tight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822960" y="3200400"/>
            <a:ext cx="10149840" cy="0"/>
          </a:xfrm>
          <a:prstGeom prst="line">
            <a:avLst/>
          </a:prstGeom>
          <a:noFill/>
          <a:ln w="20320">
            <a:solidFill>
              <a:srgbClr val="A6681F"/>
            </a:solidFill>
            <a:prstDash val="solid"/>
            <a:tailEnd type="triangle"/>
          </a:ln>
        </p:spPr>
        <p:txBody>
          <a:bodyPr/>
          <a:lstStyle/>
          <a:p>
            <a:endParaRPr lang="en-IN" sz="3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868680" y="2999232"/>
            <a:ext cx="4023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6A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More trainable capacity / adaptation strength →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Shape 26"/>
          <p:cNvSpPr/>
          <p:nvPr/>
        </p:nvSpPr>
        <p:spPr>
          <a:xfrm>
            <a:off x="822960" y="3611880"/>
            <a:ext cx="10149840" cy="0"/>
          </a:xfrm>
          <a:prstGeom prst="line">
            <a:avLst/>
          </a:prstGeom>
          <a:noFill/>
          <a:ln w="20320">
            <a:solidFill>
              <a:srgbClr val="7B506C"/>
            </a:solidFill>
            <a:prstDash val="solid"/>
            <a:tailEnd type="triangle"/>
          </a:ln>
        </p:spPr>
        <p:txBody>
          <a:bodyPr/>
          <a:lstStyle/>
          <a:p>
            <a:endParaRPr lang="en-IN" sz="3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868680" y="3401568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B506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More implementation complexity / deployment care →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Shape 28"/>
          <p:cNvSpPr/>
          <p:nvPr/>
        </p:nvSpPr>
        <p:spPr>
          <a:xfrm>
            <a:off x="411480" y="4069080"/>
            <a:ext cx="2697480" cy="1280160"/>
          </a:xfrm>
          <a:prstGeom prst="roundRect">
            <a:avLst>
              <a:gd name="adj" fmla="val 5714"/>
            </a:avLst>
          </a:prstGeom>
          <a:solidFill>
            <a:srgbClr val="DDEBF7"/>
          </a:solidFill>
          <a:ln w="10160">
            <a:solidFill>
              <a:srgbClr val="C8C1B2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521208" y="4160520"/>
            <a:ext cx="247802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406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Prompt methods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521208" y="4343400"/>
            <a:ext cx="2478024" cy="9326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 first when the model already knows the task and you mainly need better instructions, better context packing, or external retrieval.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4" name="Shape 31"/>
          <p:cNvSpPr/>
          <p:nvPr/>
        </p:nvSpPr>
        <p:spPr>
          <a:xfrm>
            <a:off x="3246120" y="4069080"/>
            <a:ext cx="2697480" cy="1280160"/>
          </a:xfrm>
          <a:prstGeom prst="roundRect">
            <a:avLst>
              <a:gd name="adj" fmla="val 5714"/>
            </a:avLst>
          </a:prstGeom>
          <a:solidFill>
            <a:srgbClr val="F7E8D9"/>
          </a:solidFill>
          <a:ln w="10160">
            <a:solidFill>
              <a:srgbClr val="C8C1B2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5" name="Text 32"/>
          <p:cNvSpPr/>
          <p:nvPr/>
        </p:nvSpPr>
        <p:spPr>
          <a:xfrm>
            <a:off x="3355848" y="4160520"/>
            <a:ext cx="247802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406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Adapters / prefixes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" name="Text 33"/>
          <p:cNvSpPr/>
          <p:nvPr/>
        </p:nvSpPr>
        <p:spPr>
          <a:xfrm>
            <a:off x="3355848" y="4343400"/>
            <a:ext cx="2478024" cy="9326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More explicit task-specific structure, but often more architecture-specific engineering than LoRA and sometimes more inference overhead.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7" name="Shape 34"/>
          <p:cNvSpPr/>
          <p:nvPr/>
        </p:nvSpPr>
        <p:spPr>
          <a:xfrm>
            <a:off x="6080760" y="4069080"/>
            <a:ext cx="2697480" cy="1280160"/>
          </a:xfrm>
          <a:prstGeom prst="roundRect">
            <a:avLst>
              <a:gd name="adj" fmla="val 5714"/>
            </a:avLst>
          </a:prstGeom>
          <a:solidFill>
            <a:srgbClr val="F8EDBE"/>
          </a:solidFill>
          <a:ln w="10160">
            <a:solidFill>
              <a:srgbClr val="C8C1B2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8" name="Text 35"/>
          <p:cNvSpPr/>
          <p:nvPr/>
        </p:nvSpPr>
        <p:spPr>
          <a:xfrm>
            <a:off x="6190488" y="4160520"/>
            <a:ext cx="247802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406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Why LoRA sits in the middle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9" name="Text 36"/>
          <p:cNvSpPr/>
          <p:nvPr/>
        </p:nvSpPr>
        <p:spPr>
          <a:xfrm>
            <a:off x="6190488" y="4343400"/>
            <a:ext cx="2478024" cy="9326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captures useful weight updates without retraining the full model, introduces little deployment friction, and works naturally with modern transformer stacks.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0" name="Shape 37"/>
          <p:cNvSpPr/>
          <p:nvPr/>
        </p:nvSpPr>
        <p:spPr>
          <a:xfrm>
            <a:off x="8915400" y="4069080"/>
            <a:ext cx="2697480" cy="1280160"/>
          </a:xfrm>
          <a:prstGeom prst="roundRect">
            <a:avLst>
              <a:gd name="adj" fmla="val 5714"/>
            </a:avLst>
          </a:prstGeom>
          <a:solidFill>
            <a:srgbClr val="E6DEF7"/>
          </a:solidFill>
          <a:ln w="10160">
            <a:solidFill>
              <a:srgbClr val="C8C1B2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1" name="Text 38"/>
          <p:cNvSpPr/>
          <p:nvPr/>
        </p:nvSpPr>
        <p:spPr>
          <a:xfrm>
            <a:off x="9025128" y="4160520"/>
            <a:ext cx="247802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406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Why QLoRA matters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2" name="Text 39"/>
          <p:cNvSpPr/>
          <p:nvPr/>
        </p:nvSpPr>
        <p:spPr>
          <a:xfrm>
            <a:off x="9025128" y="4343400"/>
            <a:ext cx="2478024" cy="9326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QLoRA keeps the LoRA training story but shrinks the frozen base further so much larger backbones fit on limited GPU memory.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3" name="Text 40"/>
          <p:cNvSpPr/>
          <p:nvPr/>
        </p:nvSpPr>
        <p:spPr>
          <a:xfrm>
            <a:off x="201168" y="6446520"/>
            <a:ext cx="11521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" i="1" dirty="0">
                <a:solidFill>
                  <a:srgbClr val="6F6F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Figure synthesized from [1], [2], [3], [4], [5], [6]. Position indicates a practical continuum, not a strict superiority ranking.</a:t>
            </a:r>
            <a:endParaRPr lang="en-US" sz="72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5" name="Shape 41"/>
          <p:cNvSpPr/>
          <p:nvPr/>
        </p:nvSpPr>
        <p:spPr>
          <a:xfrm>
            <a:off x="109728" y="6702552"/>
            <a:ext cx="36576" cy="36576"/>
          </a:xfrm>
          <a:prstGeom prst="ellipse">
            <a:avLst/>
          </a:prstGeom>
          <a:solidFill>
            <a:srgbClr val="B64A3A"/>
          </a:solidFill>
          <a:ln w="12700">
            <a:solidFill>
              <a:srgbClr val="B64A3A"/>
            </a:solidFill>
            <a:prstDash val="solid"/>
          </a:ln>
        </p:spPr>
        <p:txBody>
          <a:bodyPr/>
          <a:lstStyle/>
          <a:p>
            <a:endParaRPr lang="en-IN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6" name="Shape 42"/>
          <p:cNvSpPr/>
          <p:nvPr/>
        </p:nvSpPr>
        <p:spPr>
          <a:xfrm>
            <a:off x="201168" y="6702552"/>
            <a:ext cx="36576" cy="36576"/>
          </a:xfrm>
          <a:prstGeom prst="ellipse">
            <a:avLst/>
          </a:prstGeom>
          <a:solidFill>
            <a:srgbClr val="5E8D66"/>
          </a:solidFill>
          <a:ln w="12700">
            <a:solidFill>
              <a:srgbClr val="5E8D66"/>
            </a:solidFill>
            <a:prstDash val="solid"/>
          </a:ln>
        </p:spPr>
        <p:txBody>
          <a:bodyPr/>
          <a:lstStyle/>
          <a:p>
            <a:endParaRPr lang="en-IN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7" name="Shape 43"/>
          <p:cNvSpPr/>
          <p:nvPr/>
        </p:nvSpPr>
        <p:spPr>
          <a:xfrm>
            <a:off x="292608" y="6702552"/>
            <a:ext cx="36576" cy="36576"/>
          </a:xfrm>
          <a:prstGeom prst="ellipse">
            <a:avLst/>
          </a:prstGeom>
          <a:solidFill>
            <a:srgbClr val="E6B833"/>
          </a:solidFill>
          <a:ln w="12700">
            <a:solidFill>
              <a:srgbClr val="E6B833"/>
            </a:solidFill>
            <a:prstDash val="solid"/>
          </a:ln>
        </p:spPr>
        <p:txBody>
          <a:bodyPr/>
          <a:lstStyle/>
          <a:p>
            <a:endParaRPr lang="en-IN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8" name="Text 44"/>
          <p:cNvSpPr/>
          <p:nvPr/>
        </p:nvSpPr>
        <p:spPr>
          <a:xfrm>
            <a:off x="11804904" y="6675120"/>
            <a:ext cx="164592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406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</a:t>
            </a:r>
            <a:endParaRPr lang="en-US" sz="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4" name="Shape 0">
            <a:extLst>
              <a:ext uri="{FF2B5EF4-FFF2-40B4-BE49-F238E27FC236}">
                <a16:creationId xmlns:a16="http://schemas.microsoft.com/office/drawing/2014/main" id="{E310E899-EB6C-9D4F-B58B-EB6540E895ED}"/>
              </a:ext>
            </a:extLst>
          </p:cNvPr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E5B89"/>
          </a:solidFill>
          <a:ln w="12700">
            <a:solidFill>
              <a:srgbClr val="2E5B89"/>
            </a:solidFill>
            <a:prstDash val="solid"/>
          </a:ln>
        </p:spPr>
        <p:txBody>
          <a:bodyPr/>
          <a:lstStyle/>
          <a:p>
            <a:endParaRPr lang="en-IN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9" name="Shape 1">
            <a:extLst>
              <a:ext uri="{FF2B5EF4-FFF2-40B4-BE49-F238E27FC236}">
                <a16:creationId xmlns:a16="http://schemas.microsoft.com/office/drawing/2014/main" id="{412F3094-01A2-A279-9081-6B4CC5ABACE2}"/>
              </a:ext>
            </a:extLst>
          </p:cNvPr>
          <p:cNvSpPr/>
          <p:nvPr/>
        </p:nvSpPr>
        <p:spPr>
          <a:xfrm>
            <a:off x="0" y="6775704"/>
            <a:ext cx="12191695" cy="41148"/>
          </a:xfrm>
          <a:prstGeom prst="rect">
            <a:avLst/>
          </a:prstGeom>
          <a:solidFill>
            <a:srgbClr val="2E5B89"/>
          </a:solidFill>
          <a:ln w="12700">
            <a:solidFill>
              <a:srgbClr val="2E5B89"/>
            </a:solidFill>
            <a:prstDash val="solid"/>
          </a:ln>
        </p:spPr>
        <p:txBody>
          <a:bodyPr/>
          <a:lstStyle/>
          <a:p>
            <a:endParaRPr lang="en-IN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668559-0557-A011-A77A-4C6D6E18B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user-5OMUinS2DRg9DUHxNmCh75Xw/0de77cf23bb846ec834131240e4472fb/mnt/data/template_extract/image2.png">
            <a:extLst>
              <a:ext uri="{FF2B5EF4-FFF2-40B4-BE49-F238E27FC236}">
                <a16:creationId xmlns:a16="http://schemas.microsoft.com/office/drawing/2014/main" id="{B27D0FC7-6950-61E2-B6C1-6F66CE406C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40896" y="64008"/>
            <a:ext cx="292608" cy="292608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6215ECD6-8313-DEB6-6CAE-2F9BC6C4F71B}"/>
              </a:ext>
            </a:extLst>
          </p:cNvPr>
          <p:cNvSpPr/>
          <p:nvPr/>
        </p:nvSpPr>
        <p:spPr>
          <a:xfrm>
            <a:off x="164592" y="128016"/>
            <a:ext cx="8046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406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Why PEFT exists: the cost structure of LLM adaptation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67FF11E4-707B-FE37-7678-322C4A84D51E}"/>
              </a:ext>
            </a:extLst>
          </p:cNvPr>
          <p:cNvSpPr/>
          <p:nvPr/>
        </p:nvSpPr>
        <p:spPr>
          <a:xfrm>
            <a:off x="8321040" y="137160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D7D7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Week 06 · Segment 5</a:t>
            </a:r>
            <a:endParaRPr lang="en-US" sz="7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3" name="Text 50">
            <a:extLst>
              <a:ext uri="{FF2B5EF4-FFF2-40B4-BE49-F238E27FC236}">
                <a16:creationId xmlns:a16="http://schemas.microsoft.com/office/drawing/2014/main" id="{B45D92DD-2688-B9F6-7CF3-8841EF9FB0B6}"/>
              </a:ext>
            </a:extLst>
          </p:cNvPr>
          <p:cNvSpPr/>
          <p:nvPr/>
        </p:nvSpPr>
        <p:spPr>
          <a:xfrm>
            <a:off x="201168" y="6446520"/>
            <a:ext cx="11521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" i="1" dirty="0">
                <a:solidFill>
                  <a:srgbClr val="6F6F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Figure redrawn for teaching from [1], [2], [3], [6], [7]. Not to scale; stack heights show relative engineering burden per task.</a:t>
            </a:r>
            <a:endParaRPr lang="en-US" sz="72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5" name="Shape 51">
            <a:extLst>
              <a:ext uri="{FF2B5EF4-FFF2-40B4-BE49-F238E27FC236}">
                <a16:creationId xmlns:a16="http://schemas.microsoft.com/office/drawing/2014/main" id="{68D2372C-05E7-66FF-3675-EB5F9EF2E860}"/>
              </a:ext>
            </a:extLst>
          </p:cNvPr>
          <p:cNvSpPr/>
          <p:nvPr/>
        </p:nvSpPr>
        <p:spPr>
          <a:xfrm>
            <a:off x="109728" y="6702552"/>
            <a:ext cx="36576" cy="36576"/>
          </a:xfrm>
          <a:prstGeom prst="ellipse">
            <a:avLst/>
          </a:prstGeom>
          <a:solidFill>
            <a:srgbClr val="B64A3A"/>
          </a:solidFill>
          <a:ln w="12700">
            <a:solidFill>
              <a:srgbClr val="B64A3A"/>
            </a:solidFill>
            <a:prstDash val="solid"/>
          </a:ln>
        </p:spPr>
        <p:txBody>
          <a:bodyPr/>
          <a:lstStyle/>
          <a:p>
            <a:endParaRPr lang="en-IN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6" name="Shape 52">
            <a:extLst>
              <a:ext uri="{FF2B5EF4-FFF2-40B4-BE49-F238E27FC236}">
                <a16:creationId xmlns:a16="http://schemas.microsoft.com/office/drawing/2014/main" id="{2F26C75A-17F6-4A5E-CD1E-07730D38E141}"/>
              </a:ext>
            </a:extLst>
          </p:cNvPr>
          <p:cNvSpPr/>
          <p:nvPr/>
        </p:nvSpPr>
        <p:spPr>
          <a:xfrm>
            <a:off x="201168" y="6702552"/>
            <a:ext cx="36576" cy="36576"/>
          </a:xfrm>
          <a:prstGeom prst="ellipse">
            <a:avLst/>
          </a:prstGeom>
          <a:solidFill>
            <a:srgbClr val="5E8D66"/>
          </a:solidFill>
          <a:ln w="12700">
            <a:solidFill>
              <a:srgbClr val="5E8D66"/>
            </a:solidFill>
            <a:prstDash val="solid"/>
          </a:ln>
        </p:spPr>
        <p:txBody>
          <a:bodyPr/>
          <a:lstStyle/>
          <a:p>
            <a:endParaRPr lang="en-IN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7" name="Shape 53">
            <a:extLst>
              <a:ext uri="{FF2B5EF4-FFF2-40B4-BE49-F238E27FC236}">
                <a16:creationId xmlns:a16="http://schemas.microsoft.com/office/drawing/2014/main" id="{99D42E79-AD76-A658-F027-A85B8AB77C6B}"/>
              </a:ext>
            </a:extLst>
          </p:cNvPr>
          <p:cNvSpPr/>
          <p:nvPr/>
        </p:nvSpPr>
        <p:spPr>
          <a:xfrm>
            <a:off x="292608" y="6702552"/>
            <a:ext cx="36576" cy="36576"/>
          </a:xfrm>
          <a:prstGeom prst="ellipse">
            <a:avLst/>
          </a:prstGeom>
          <a:solidFill>
            <a:srgbClr val="E6B833"/>
          </a:solidFill>
          <a:ln w="12700">
            <a:solidFill>
              <a:srgbClr val="E6B833"/>
            </a:solidFill>
            <a:prstDash val="solid"/>
          </a:ln>
        </p:spPr>
        <p:txBody>
          <a:bodyPr/>
          <a:lstStyle/>
          <a:p>
            <a:endParaRPr lang="en-IN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8" name="Text 54">
            <a:extLst>
              <a:ext uri="{FF2B5EF4-FFF2-40B4-BE49-F238E27FC236}">
                <a16:creationId xmlns:a16="http://schemas.microsoft.com/office/drawing/2014/main" id="{2F8D3C12-0CAB-A62D-9503-471B7D853379}"/>
              </a:ext>
            </a:extLst>
          </p:cNvPr>
          <p:cNvSpPr/>
          <p:nvPr/>
        </p:nvSpPr>
        <p:spPr>
          <a:xfrm>
            <a:off x="11804904" y="6675120"/>
            <a:ext cx="164592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406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  <a:endParaRPr lang="en-US" sz="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7" name="object 2">
            <a:extLst>
              <a:ext uri="{FF2B5EF4-FFF2-40B4-BE49-F238E27FC236}">
                <a16:creationId xmlns:a16="http://schemas.microsoft.com/office/drawing/2014/main" id="{C4C15EE2-A308-FDB5-3AE5-B1F59ED0B6A7}"/>
              </a:ext>
            </a:extLst>
          </p:cNvPr>
          <p:cNvSpPr txBox="1"/>
          <p:nvPr/>
        </p:nvSpPr>
        <p:spPr>
          <a:xfrm>
            <a:off x="1844675" y="1260983"/>
            <a:ext cx="41751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8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Adapter</a:t>
            </a:r>
            <a:r>
              <a:rPr sz="2400" b="1" spc="-5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00" b="1" spc="-11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(Houlsby</a:t>
            </a:r>
            <a:r>
              <a:rPr sz="2400" b="1" spc="-5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00" b="1" spc="-9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et</a:t>
            </a:r>
            <a:r>
              <a:rPr sz="2400" b="1" spc="-5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00" b="1" spc="-8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al.</a:t>
            </a:r>
            <a:r>
              <a:rPr sz="2400" b="1" spc="-6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00" b="1" spc="-18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2019)</a:t>
            </a:r>
            <a:endParaRPr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4" name="object 4">
            <a:extLst>
              <a:ext uri="{FF2B5EF4-FFF2-40B4-BE49-F238E27FC236}">
                <a16:creationId xmlns:a16="http://schemas.microsoft.com/office/drawing/2014/main" id="{30F85B1D-94F3-A5CA-20CC-E6CFDA5E8D84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629856" y="2019487"/>
            <a:ext cx="4832565" cy="3020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60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user-5OMUinS2DRg9DUHxNmCh75Xw/0de77cf23bb846ec834131240e4472fb/mnt/data/template_extract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40896" y="64008"/>
            <a:ext cx="292608" cy="2926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4592" y="128016"/>
            <a:ext cx="8046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406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LoRA intuition and math: a frozen weight plus a trainable low-rank update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8321040" y="137160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D7D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06 · Segment 5</a:t>
            </a:r>
            <a:endParaRPr lang="en-US" sz="750" dirty="0"/>
          </a:p>
        </p:txBody>
      </p:sp>
      <p:sp>
        <p:nvSpPr>
          <p:cNvPr id="43" name="Text 40"/>
          <p:cNvSpPr/>
          <p:nvPr/>
        </p:nvSpPr>
        <p:spPr>
          <a:xfrm>
            <a:off x="201168" y="6446520"/>
            <a:ext cx="11521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" i="1" dirty="0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Figure redrawn for teaching from [1] and [6].</a:t>
            </a:r>
            <a:endParaRPr lang="en-US" sz="720" dirty="0"/>
          </a:p>
        </p:txBody>
      </p:sp>
      <p:sp>
        <p:nvSpPr>
          <p:cNvPr id="45" name="Shape 41"/>
          <p:cNvSpPr/>
          <p:nvPr/>
        </p:nvSpPr>
        <p:spPr>
          <a:xfrm>
            <a:off x="109728" y="6702552"/>
            <a:ext cx="36576" cy="36576"/>
          </a:xfrm>
          <a:prstGeom prst="ellipse">
            <a:avLst/>
          </a:prstGeom>
          <a:solidFill>
            <a:srgbClr val="B64A3A"/>
          </a:solidFill>
          <a:ln w="12700">
            <a:solidFill>
              <a:srgbClr val="B64A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Shape 42"/>
          <p:cNvSpPr/>
          <p:nvPr/>
        </p:nvSpPr>
        <p:spPr>
          <a:xfrm>
            <a:off x="201168" y="6702552"/>
            <a:ext cx="36576" cy="36576"/>
          </a:xfrm>
          <a:prstGeom prst="ellipse">
            <a:avLst/>
          </a:prstGeom>
          <a:solidFill>
            <a:srgbClr val="5E8D66"/>
          </a:solidFill>
          <a:ln w="12700">
            <a:solidFill>
              <a:srgbClr val="5E8D6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Shape 43"/>
          <p:cNvSpPr/>
          <p:nvPr/>
        </p:nvSpPr>
        <p:spPr>
          <a:xfrm>
            <a:off x="292608" y="6702552"/>
            <a:ext cx="36576" cy="36576"/>
          </a:xfrm>
          <a:prstGeom prst="ellipse">
            <a:avLst/>
          </a:prstGeom>
          <a:solidFill>
            <a:srgbClr val="E6B833"/>
          </a:solidFill>
          <a:ln w="12700">
            <a:solidFill>
              <a:srgbClr val="E6B8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4"/>
          <p:cNvSpPr/>
          <p:nvPr/>
        </p:nvSpPr>
        <p:spPr>
          <a:xfrm>
            <a:off x="11804904" y="6675120"/>
            <a:ext cx="164592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40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00" dirty="0"/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92D01903-0C62-FD24-6AC9-728ADD8628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933" y="942930"/>
            <a:ext cx="8902817" cy="413390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6D64EA-DE20-6DA8-7EFB-3B1A0AE911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user-5OMUinS2DRg9DUHxNmCh75Xw/0de77cf23bb846ec834131240e4472fb/mnt/data/template_extract/image2.png">
            <a:extLst>
              <a:ext uri="{FF2B5EF4-FFF2-40B4-BE49-F238E27FC236}">
                <a16:creationId xmlns:a16="http://schemas.microsoft.com/office/drawing/2014/main" id="{F0057C8F-56CE-C190-9205-3C1BFD6EDB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40896" y="64008"/>
            <a:ext cx="292608" cy="292608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339F6C19-FAAD-5C33-C581-F5D2C3D229F0}"/>
              </a:ext>
            </a:extLst>
          </p:cNvPr>
          <p:cNvSpPr/>
          <p:nvPr/>
        </p:nvSpPr>
        <p:spPr>
          <a:xfrm>
            <a:off x="164592" y="128016"/>
            <a:ext cx="8046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406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LoRA intuition and math: a frozen weight plus a trainable low-rank update</a:t>
            </a:r>
            <a:endParaRPr lang="en-US" sz="20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510706A2-B981-A8C0-37A0-5FD5080356E5}"/>
              </a:ext>
            </a:extLst>
          </p:cNvPr>
          <p:cNvSpPr/>
          <p:nvPr/>
        </p:nvSpPr>
        <p:spPr>
          <a:xfrm>
            <a:off x="8321040" y="137160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D7D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06 · Segment 5</a:t>
            </a:r>
            <a:endParaRPr lang="en-US" sz="750" dirty="0"/>
          </a:p>
        </p:txBody>
      </p:sp>
      <p:sp>
        <p:nvSpPr>
          <p:cNvPr id="43" name="Text 40">
            <a:extLst>
              <a:ext uri="{FF2B5EF4-FFF2-40B4-BE49-F238E27FC236}">
                <a16:creationId xmlns:a16="http://schemas.microsoft.com/office/drawing/2014/main" id="{8E69CB2A-5E39-BF20-203B-64ADA080CF31}"/>
              </a:ext>
            </a:extLst>
          </p:cNvPr>
          <p:cNvSpPr/>
          <p:nvPr/>
        </p:nvSpPr>
        <p:spPr>
          <a:xfrm>
            <a:off x="201168" y="6446520"/>
            <a:ext cx="11521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" i="1" dirty="0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Figure redrawn for teaching from [1] and [6].</a:t>
            </a:r>
            <a:endParaRPr lang="en-US" sz="720" dirty="0"/>
          </a:p>
        </p:txBody>
      </p:sp>
      <p:sp>
        <p:nvSpPr>
          <p:cNvPr id="45" name="Shape 41">
            <a:extLst>
              <a:ext uri="{FF2B5EF4-FFF2-40B4-BE49-F238E27FC236}">
                <a16:creationId xmlns:a16="http://schemas.microsoft.com/office/drawing/2014/main" id="{2BEEB1AC-9F0A-1BEA-D1F4-92F92592F084}"/>
              </a:ext>
            </a:extLst>
          </p:cNvPr>
          <p:cNvSpPr/>
          <p:nvPr/>
        </p:nvSpPr>
        <p:spPr>
          <a:xfrm>
            <a:off x="109728" y="6702552"/>
            <a:ext cx="36576" cy="36576"/>
          </a:xfrm>
          <a:prstGeom prst="ellipse">
            <a:avLst/>
          </a:prstGeom>
          <a:solidFill>
            <a:srgbClr val="B64A3A"/>
          </a:solidFill>
          <a:ln w="12700">
            <a:solidFill>
              <a:srgbClr val="B64A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Shape 42">
            <a:extLst>
              <a:ext uri="{FF2B5EF4-FFF2-40B4-BE49-F238E27FC236}">
                <a16:creationId xmlns:a16="http://schemas.microsoft.com/office/drawing/2014/main" id="{5828028A-4FDE-7E76-4700-034CF890D7A4}"/>
              </a:ext>
            </a:extLst>
          </p:cNvPr>
          <p:cNvSpPr/>
          <p:nvPr/>
        </p:nvSpPr>
        <p:spPr>
          <a:xfrm>
            <a:off x="201168" y="6702552"/>
            <a:ext cx="36576" cy="36576"/>
          </a:xfrm>
          <a:prstGeom prst="ellipse">
            <a:avLst/>
          </a:prstGeom>
          <a:solidFill>
            <a:srgbClr val="5E8D66"/>
          </a:solidFill>
          <a:ln w="12700">
            <a:solidFill>
              <a:srgbClr val="5E8D6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Shape 43">
            <a:extLst>
              <a:ext uri="{FF2B5EF4-FFF2-40B4-BE49-F238E27FC236}">
                <a16:creationId xmlns:a16="http://schemas.microsoft.com/office/drawing/2014/main" id="{4200CBB7-CC72-C924-C1AA-2E84E4476118}"/>
              </a:ext>
            </a:extLst>
          </p:cNvPr>
          <p:cNvSpPr/>
          <p:nvPr/>
        </p:nvSpPr>
        <p:spPr>
          <a:xfrm>
            <a:off x="292608" y="6702552"/>
            <a:ext cx="36576" cy="36576"/>
          </a:xfrm>
          <a:prstGeom prst="ellipse">
            <a:avLst/>
          </a:prstGeom>
          <a:solidFill>
            <a:srgbClr val="E6B833"/>
          </a:solidFill>
          <a:ln w="12700">
            <a:solidFill>
              <a:srgbClr val="E6B8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4">
            <a:extLst>
              <a:ext uri="{FF2B5EF4-FFF2-40B4-BE49-F238E27FC236}">
                <a16:creationId xmlns:a16="http://schemas.microsoft.com/office/drawing/2014/main" id="{5AA93AD4-BEC8-6D3C-5AFE-8F7B08482C0B}"/>
              </a:ext>
            </a:extLst>
          </p:cNvPr>
          <p:cNvSpPr/>
          <p:nvPr/>
        </p:nvSpPr>
        <p:spPr>
          <a:xfrm>
            <a:off x="11804904" y="6675120"/>
            <a:ext cx="164592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40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00" dirty="0"/>
          </a:p>
        </p:txBody>
      </p:sp>
      <p:pic>
        <p:nvPicPr>
          <p:cNvPr id="5" name="object 3">
            <a:extLst>
              <a:ext uri="{FF2B5EF4-FFF2-40B4-BE49-F238E27FC236}">
                <a16:creationId xmlns:a16="http://schemas.microsoft.com/office/drawing/2014/main" id="{28CDB7B1-7128-AD87-9742-C72761601A89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33911" y="2840465"/>
            <a:ext cx="1871246" cy="1964820"/>
          </a:xfrm>
          <a:prstGeom prst="rect">
            <a:avLst/>
          </a:prstGeom>
        </p:spPr>
      </p:pic>
      <p:pic>
        <p:nvPicPr>
          <p:cNvPr id="6" name="object 4">
            <a:extLst>
              <a:ext uri="{FF2B5EF4-FFF2-40B4-BE49-F238E27FC236}">
                <a16:creationId xmlns:a16="http://schemas.microsoft.com/office/drawing/2014/main" id="{1269AD18-C42C-CB6E-4361-B6E5C15EDFF4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343325" y="3350774"/>
            <a:ext cx="2809874" cy="178593"/>
          </a:xfrm>
          <a:prstGeom prst="rect">
            <a:avLst/>
          </a:prstGeom>
        </p:spPr>
      </p:pic>
      <p:pic>
        <p:nvPicPr>
          <p:cNvPr id="7" name="object 5">
            <a:extLst>
              <a:ext uri="{FF2B5EF4-FFF2-40B4-BE49-F238E27FC236}">
                <a16:creationId xmlns:a16="http://schemas.microsoft.com/office/drawing/2014/main" id="{79FB5573-9656-2DC3-F34D-29939D7828E6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086412" y="3691325"/>
            <a:ext cx="3323700" cy="247799"/>
          </a:xfrm>
          <a:prstGeom prst="rect">
            <a:avLst/>
          </a:prstGeom>
        </p:spPr>
      </p:pic>
      <p:pic>
        <p:nvPicPr>
          <p:cNvPr id="8" name="object 6">
            <a:extLst>
              <a:ext uri="{FF2B5EF4-FFF2-40B4-BE49-F238E27FC236}">
                <a16:creationId xmlns:a16="http://schemas.microsoft.com/office/drawing/2014/main" id="{C5298C07-691B-7E9B-D5B6-6E7E7EED5741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070025" y="4479974"/>
            <a:ext cx="1284287" cy="177799"/>
          </a:xfrm>
          <a:prstGeom prst="rect">
            <a:avLst/>
          </a:prstGeom>
        </p:spPr>
      </p:pic>
      <p:pic>
        <p:nvPicPr>
          <p:cNvPr id="9" name="object 7">
            <a:extLst>
              <a:ext uri="{FF2B5EF4-FFF2-40B4-BE49-F238E27FC236}">
                <a16:creationId xmlns:a16="http://schemas.microsoft.com/office/drawing/2014/main" id="{68C13B41-D7C3-63C5-8554-7C8999501655}"/>
              </a:ext>
            </a:extLst>
          </p:cNvPr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665387" y="2820525"/>
            <a:ext cx="909637" cy="215899"/>
          </a:xfrm>
          <a:prstGeom prst="rect">
            <a:avLst/>
          </a:prstGeom>
        </p:spPr>
      </p:pic>
      <p:pic>
        <p:nvPicPr>
          <p:cNvPr id="10" name="object 8">
            <a:extLst>
              <a:ext uri="{FF2B5EF4-FFF2-40B4-BE49-F238E27FC236}">
                <a16:creationId xmlns:a16="http://schemas.microsoft.com/office/drawing/2014/main" id="{9F69B245-C708-8D39-1BB9-6B7B3BA860D9}"/>
              </a:ext>
            </a:extLst>
          </p:cNvPr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755987" y="2842750"/>
            <a:ext cx="246062" cy="171449"/>
          </a:xfrm>
          <a:prstGeom prst="rect">
            <a:avLst/>
          </a:prstGeom>
        </p:spPr>
      </p:pic>
      <p:sp>
        <p:nvSpPr>
          <p:cNvPr id="11" name="object 9">
            <a:extLst>
              <a:ext uri="{FF2B5EF4-FFF2-40B4-BE49-F238E27FC236}">
                <a16:creationId xmlns:a16="http://schemas.microsoft.com/office/drawing/2014/main" id="{00C2FCE8-4C5F-B2CC-1081-A74E43805B95}"/>
              </a:ext>
            </a:extLst>
          </p:cNvPr>
          <p:cNvSpPr txBox="1"/>
          <p:nvPr/>
        </p:nvSpPr>
        <p:spPr>
          <a:xfrm>
            <a:off x="511175" y="1032383"/>
            <a:ext cx="8227695" cy="2029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Previous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study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shows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that</a:t>
            </a:r>
            <a:endParaRPr sz="2400">
              <a:latin typeface="Calibri"/>
              <a:cs typeface="Calibri"/>
            </a:endParaRPr>
          </a:p>
          <a:p>
            <a:pPr marL="469265" indent="-361315">
              <a:lnSpc>
                <a:spcPct val="100000"/>
              </a:lnSpc>
              <a:spcBef>
                <a:spcPts val="2410"/>
              </a:spcBef>
              <a:buChar char="•"/>
              <a:tabLst>
                <a:tab pos="469265" algn="l"/>
              </a:tabLst>
            </a:pPr>
            <a:r>
              <a:rPr sz="2100" spc="-30" dirty="0">
                <a:latin typeface="Calibri"/>
                <a:cs typeface="Calibri"/>
              </a:rPr>
              <a:t>Pre-</a:t>
            </a:r>
            <a:r>
              <a:rPr sz="2100" dirty="0">
                <a:latin typeface="Calibri"/>
                <a:cs typeface="Calibri"/>
              </a:rPr>
              <a:t>trained</a:t>
            </a:r>
            <a:r>
              <a:rPr sz="2100" spc="-5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LLMs</a:t>
            </a:r>
            <a:r>
              <a:rPr sz="2100" spc="-5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have</a:t>
            </a:r>
            <a:r>
              <a:rPr sz="2100" spc="-4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</a:t>
            </a:r>
            <a:r>
              <a:rPr sz="2100" spc="-35" dirty="0"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C00000"/>
                </a:solidFill>
                <a:latin typeface="Calibri"/>
                <a:cs typeface="Calibri"/>
              </a:rPr>
              <a:t>“low</a:t>
            </a:r>
            <a:r>
              <a:rPr sz="2100" spc="-5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100" spc="-10" dirty="0">
                <a:solidFill>
                  <a:srgbClr val="C00000"/>
                </a:solidFill>
                <a:latin typeface="Calibri"/>
                <a:cs typeface="Calibri"/>
              </a:rPr>
              <a:t>intrinsic</a:t>
            </a:r>
            <a:r>
              <a:rPr sz="2100" spc="-5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100" spc="-10" dirty="0">
                <a:solidFill>
                  <a:srgbClr val="C00000"/>
                </a:solidFill>
                <a:latin typeface="Calibri"/>
                <a:cs typeface="Calibri"/>
              </a:rPr>
              <a:t>dimension”</a:t>
            </a:r>
            <a:endParaRPr sz="2100">
              <a:latin typeface="Calibri"/>
              <a:cs typeface="Calibri"/>
            </a:endParaRPr>
          </a:p>
          <a:p>
            <a:pPr marL="469265" indent="-361315">
              <a:lnSpc>
                <a:spcPct val="100000"/>
              </a:lnSpc>
              <a:spcBef>
                <a:spcPts val="380"/>
              </a:spcBef>
              <a:buChar char="•"/>
              <a:tabLst>
                <a:tab pos="469265" algn="l"/>
              </a:tabLst>
            </a:pPr>
            <a:r>
              <a:rPr sz="2100" dirty="0">
                <a:latin typeface="Calibri"/>
                <a:cs typeface="Calibri"/>
              </a:rPr>
              <a:t>LLMs</a:t>
            </a:r>
            <a:r>
              <a:rPr sz="2100" spc="-5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can</a:t>
            </a:r>
            <a:r>
              <a:rPr sz="2100" spc="-5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still</a:t>
            </a:r>
            <a:r>
              <a:rPr sz="2100" spc="-5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learn</a:t>
            </a:r>
            <a:r>
              <a:rPr sz="2100" spc="-50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efficiently</a:t>
            </a:r>
            <a:r>
              <a:rPr sz="2100" spc="-5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despite</a:t>
            </a:r>
            <a:r>
              <a:rPr sz="2100" spc="-5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</a:t>
            </a:r>
            <a:r>
              <a:rPr sz="2100" spc="-50" dirty="0">
                <a:latin typeface="Calibri"/>
                <a:cs typeface="Calibri"/>
              </a:rPr>
              <a:t> </a:t>
            </a:r>
            <a:r>
              <a:rPr sz="2100" spc="-30" dirty="0">
                <a:latin typeface="Calibri"/>
                <a:cs typeface="Calibri"/>
              </a:rPr>
              <a:t>low-</a:t>
            </a:r>
            <a:r>
              <a:rPr sz="2100" dirty="0">
                <a:latin typeface="Calibri"/>
                <a:cs typeface="Calibri"/>
              </a:rPr>
              <a:t>dim</a:t>
            </a:r>
            <a:r>
              <a:rPr sz="2100" spc="-55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reparametrization</a:t>
            </a:r>
            <a:endParaRPr sz="2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40"/>
              </a:spcBef>
            </a:pPr>
            <a:endParaRPr sz="2100">
              <a:latin typeface="Calibri"/>
              <a:cs typeface="Calibri"/>
            </a:endParaRPr>
          </a:p>
          <a:p>
            <a:pPr marL="2527300">
              <a:lnSpc>
                <a:spcPct val="100000"/>
              </a:lnSpc>
              <a:tabLst>
                <a:tab pos="7049770" algn="l"/>
                <a:tab pos="7571740" algn="l"/>
              </a:tabLst>
            </a:pPr>
            <a:r>
              <a:rPr sz="1800" dirty="0">
                <a:latin typeface="Calibri"/>
                <a:cs typeface="Calibri"/>
              </a:rPr>
              <a:t>During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training: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pre-</a:t>
            </a:r>
            <a:r>
              <a:rPr sz="1800" spc="-10" dirty="0">
                <a:latin typeface="Calibri"/>
                <a:cs typeface="Calibri"/>
              </a:rPr>
              <a:t>trained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weight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1800" spc="-50" dirty="0">
                <a:latin typeface="Calibri"/>
                <a:cs typeface="Calibri"/>
              </a:rPr>
              <a:t>,</a:t>
            </a:r>
            <a:r>
              <a:rPr sz="1800" dirty="0">
                <a:latin typeface="Calibri"/>
                <a:cs typeface="Calibri"/>
              </a:rPr>
              <a:t>	is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fixed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" name="object 10">
            <a:extLst>
              <a:ext uri="{FF2B5EF4-FFF2-40B4-BE49-F238E27FC236}">
                <a16:creationId xmlns:a16="http://schemas.microsoft.com/office/drawing/2014/main" id="{3F838CEA-D26F-B832-3FCC-B84ACECF2713}"/>
              </a:ext>
            </a:extLst>
          </p:cNvPr>
          <p:cNvSpPr txBox="1"/>
          <p:nvPr/>
        </p:nvSpPr>
        <p:spPr>
          <a:xfrm>
            <a:off x="3092025" y="4082651"/>
            <a:ext cx="153860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latin typeface="Calibri"/>
                <a:cs typeface="Calibri"/>
              </a:rPr>
              <a:t>During</a:t>
            </a:r>
            <a:r>
              <a:rPr sz="1700" spc="-30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inference:</a:t>
            </a:r>
            <a:endParaRPr sz="17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625447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D9694B-D311-9BE5-01A9-47D4D53A3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user-5OMUinS2DRg9DUHxNmCh75Xw/0de77cf23bb846ec834131240e4472fb/mnt/data/template_extract/image2.png">
            <a:extLst>
              <a:ext uri="{FF2B5EF4-FFF2-40B4-BE49-F238E27FC236}">
                <a16:creationId xmlns:a16="http://schemas.microsoft.com/office/drawing/2014/main" id="{1E8B03A4-DB5B-E476-4D36-1E382977EC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40896" y="64008"/>
            <a:ext cx="292608" cy="292608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30F53BA6-71FA-F1C0-12DF-EB05AE04C8C1}"/>
              </a:ext>
            </a:extLst>
          </p:cNvPr>
          <p:cNvSpPr/>
          <p:nvPr/>
        </p:nvSpPr>
        <p:spPr>
          <a:xfrm>
            <a:off x="164592" y="128016"/>
            <a:ext cx="8046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406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LoRA intuition and math: a frozen weight plus a trainable low-rank update</a:t>
            </a:r>
            <a:endParaRPr lang="en-US" sz="20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29539C0C-C426-0EE0-BD95-7BC185B61EEB}"/>
              </a:ext>
            </a:extLst>
          </p:cNvPr>
          <p:cNvSpPr/>
          <p:nvPr/>
        </p:nvSpPr>
        <p:spPr>
          <a:xfrm>
            <a:off x="8321040" y="137160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D7D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06 · Segment 5</a:t>
            </a:r>
            <a:endParaRPr lang="en-US" sz="750" dirty="0"/>
          </a:p>
        </p:txBody>
      </p:sp>
      <p:sp>
        <p:nvSpPr>
          <p:cNvPr id="43" name="Text 40">
            <a:extLst>
              <a:ext uri="{FF2B5EF4-FFF2-40B4-BE49-F238E27FC236}">
                <a16:creationId xmlns:a16="http://schemas.microsoft.com/office/drawing/2014/main" id="{514F0BA2-3205-D83C-C655-ADF708275684}"/>
              </a:ext>
            </a:extLst>
          </p:cNvPr>
          <p:cNvSpPr/>
          <p:nvPr/>
        </p:nvSpPr>
        <p:spPr>
          <a:xfrm>
            <a:off x="201168" y="6446520"/>
            <a:ext cx="11521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" i="1" dirty="0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Figure redrawn for teaching from [1] and [6].</a:t>
            </a:r>
            <a:endParaRPr lang="en-US" sz="720" dirty="0"/>
          </a:p>
        </p:txBody>
      </p:sp>
      <p:sp>
        <p:nvSpPr>
          <p:cNvPr id="45" name="Shape 41">
            <a:extLst>
              <a:ext uri="{FF2B5EF4-FFF2-40B4-BE49-F238E27FC236}">
                <a16:creationId xmlns:a16="http://schemas.microsoft.com/office/drawing/2014/main" id="{562263DA-2CA6-268C-8D7F-5749707F8CAE}"/>
              </a:ext>
            </a:extLst>
          </p:cNvPr>
          <p:cNvSpPr/>
          <p:nvPr/>
        </p:nvSpPr>
        <p:spPr>
          <a:xfrm>
            <a:off x="109728" y="6702552"/>
            <a:ext cx="36576" cy="36576"/>
          </a:xfrm>
          <a:prstGeom prst="ellipse">
            <a:avLst/>
          </a:prstGeom>
          <a:solidFill>
            <a:srgbClr val="B64A3A"/>
          </a:solidFill>
          <a:ln w="12700">
            <a:solidFill>
              <a:srgbClr val="B64A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Shape 42">
            <a:extLst>
              <a:ext uri="{FF2B5EF4-FFF2-40B4-BE49-F238E27FC236}">
                <a16:creationId xmlns:a16="http://schemas.microsoft.com/office/drawing/2014/main" id="{BE315340-9BDD-D0C7-DCE8-A1C0692A80A7}"/>
              </a:ext>
            </a:extLst>
          </p:cNvPr>
          <p:cNvSpPr/>
          <p:nvPr/>
        </p:nvSpPr>
        <p:spPr>
          <a:xfrm>
            <a:off x="201168" y="6702552"/>
            <a:ext cx="36576" cy="36576"/>
          </a:xfrm>
          <a:prstGeom prst="ellipse">
            <a:avLst/>
          </a:prstGeom>
          <a:solidFill>
            <a:srgbClr val="5E8D66"/>
          </a:solidFill>
          <a:ln w="12700">
            <a:solidFill>
              <a:srgbClr val="5E8D6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Shape 43">
            <a:extLst>
              <a:ext uri="{FF2B5EF4-FFF2-40B4-BE49-F238E27FC236}">
                <a16:creationId xmlns:a16="http://schemas.microsoft.com/office/drawing/2014/main" id="{5FD5491A-6561-8CB8-C4E3-53153E3D34C3}"/>
              </a:ext>
            </a:extLst>
          </p:cNvPr>
          <p:cNvSpPr/>
          <p:nvPr/>
        </p:nvSpPr>
        <p:spPr>
          <a:xfrm>
            <a:off x="292608" y="6702552"/>
            <a:ext cx="36576" cy="36576"/>
          </a:xfrm>
          <a:prstGeom prst="ellipse">
            <a:avLst/>
          </a:prstGeom>
          <a:solidFill>
            <a:srgbClr val="E6B833"/>
          </a:solidFill>
          <a:ln w="12700">
            <a:solidFill>
              <a:srgbClr val="E6B8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4">
            <a:extLst>
              <a:ext uri="{FF2B5EF4-FFF2-40B4-BE49-F238E27FC236}">
                <a16:creationId xmlns:a16="http://schemas.microsoft.com/office/drawing/2014/main" id="{9EA819B4-1C5E-4208-7FD3-D0256777783C}"/>
              </a:ext>
            </a:extLst>
          </p:cNvPr>
          <p:cNvSpPr/>
          <p:nvPr/>
        </p:nvSpPr>
        <p:spPr>
          <a:xfrm>
            <a:off x="11804904" y="6675120"/>
            <a:ext cx="164592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40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00" dirty="0"/>
          </a:p>
        </p:txBody>
      </p:sp>
      <p:sp>
        <p:nvSpPr>
          <p:cNvPr id="13" name="object 2">
            <a:extLst>
              <a:ext uri="{FF2B5EF4-FFF2-40B4-BE49-F238E27FC236}">
                <a16:creationId xmlns:a16="http://schemas.microsoft.com/office/drawing/2014/main" id="{6D849E26-1A91-0BFE-397A-072E419B1838}"/>
              </a:ext>
            </a:extLst>
          </p:cNvPr>
          <p:cNvSpPr txBox="1"/>
          <p:nvPr/>
        </p:nvSpPr>
        <p:spPr>
          <a:xfrm>
            <a:off x="511175" y="1032383"/>
            <a:ext cx="8108315" cy="38881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Applying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LoRA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Transformer</a:t>
            </a:r>
            <a:endParaRPr sz="2400">
              <a:latin typeface="Calibri"/>
              <a:cs typeface="Calibri"/>
            </a:endParaRPr>
          </a:p>
          <a:p>
            <a:pPr marL="469265" indent="-361315">
              <a:lnSpc>
                <a:spcPct val="100000"/>
              </a:lnSpc>
              <a:spcBef>
                <a:spcPts val="2410"/>
              </a:spcBef>
              <a:buChar char="•"/>
              <a:tabLst>
                <a:tab pos="469265" algn="l"/>
              </a:tabLst>
            </a:pPr>
            <a:r>
              <a:rPr sz="2100" dirty="0">
                <a:latin typeface="Calibri"/>
                <a:cs typeface="Calibri"/>
              </a:rPr>
              <a:t>In</a:t>
            </a:r>
            <a:r>
              <a:rPr sz="2100" spc="-50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principle,</a:t>
            </a:r>
            <a:r>
              <a:rPr sz="2100" spc="-4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LoRA</a:t>
            </a:r>
            <a:r>
              <a:rPr sz="2100" spc="-4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can</a:t>
            </a:r>
            <a:r>
              <a:rPr sz="2100" spc="-4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be</a:t>
            </a:r>
            <a:r>
              <a:rPr sz="2100" spc="-5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applied</a:t>
            </a:r>
            <a:r>
              <a:rPr sz="2100" spc="-4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to</a:t>
            </a:r>
            <a:r>
              <a:rPr sz="2100" spc="-20" dirty="0"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C00000"/>
                </a:solidFill>
                <a:latin typeface="Calibri"/>
                <a:cs typeface="Calibri"/>
              </a:rPr>
              <a:t>any</a:t>
            </a:r>
            <a:r>
              <a:rPr sz="2100" spc="-4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C00000"/>
                </a:solidFill>
                <a:latin typeface="Calibri"/>
                <a:cs typeface="Calibri"/>
              </a:rPr>
              <a:t>weight</a:t>
            </a:r>
            <a:r>
              <a:rPr sz="2100" spc="-4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C00000"/>
                </a:solidFill>
                <a:latin typeface="Calibri"/>
                <a:cs typeface="Calibri"/>
              </a:rPr>
              <a:t>matrices</a:t>
            </a:r>
            <a:r>
              <a:rPr sz="2100" spc="-4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C00000"/>
                </a:solidFill>
                <a:latin typeface="Calibri"/>
                <a:cs typeface="Calibri"/>
              </a:rPr>
              <a:t>in</a:t>
            </a:r>
            <a:r>
              <a:rPr sz="2100" spc="-4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100" spc="-35" dirty="0">
                <a:solidFill>
                  <a:srgbClr val="C00000"/>
                </a:solidFill>
                <a:latin typeface="Calibri"/>
                <a:cs typeface="Calibri"/>
              </a:rPr>
              <a:t>DL</a:t>
            </a:r>
            <a:endParaRPr sz="2100">
              <a:latin typeface="Calibri"/>
              <a:cs typeface="Calibri"/>
            </a:endParaRPr>
          </a:p>
          <a:p>
            <a:pPr marL="469265" indent="-361315">
              <a:lnSpc>
                <a:spcPct val="100000"/>
              </a:lnSpc>
              <a:spcBef>
                <a:spcPts val="380"/>
              </a:spcBef>
              <a:buChar char="•"/>
              <a:tabLst>
                <a:tab pos="469265" algn="l"/>
              </a:tabLst>
            </a:pPr>
            <a:r>
              <a:rPr sz="2100" spc="-35" dirty="0">
                <a:latin typeface="Calibri"/>
                <a:cs typeface="Calibri"/>
              </a:rPr>
              <a:t>LoRA’s</a:t>
            </a:r>
            <a:r>
              <a:rPr sz="2100" spc="-6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original</a:t>
            </a:r>
            <a:r>
              <a:rPr sz="2100" spc="-6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paper</a:t>
            </a:r>
            <a:r>
              <a:rPr sz="2100" spc="-5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only</a:t>
            </a:r>
            <a:r>
              <a:rPr sz="2100" spc="-6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study</a:t>
            </a:r>
            <a:r>
              <a:rPr sz="2100" spc="-6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changing</a:t>
            </a:r>
            <a:r>
              <a:rPr sz="2100" spc="-5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the</a:t>
            </a:r>
            <a:r>
              <a:rPr sz="2100" spc="-60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attention</a:t>
            </a:r>
            <a:r>
              <a:rPr sz="2100" spc="-60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weights</a:t>
            </a:r>
            <a:endParaRPr sz="2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0"/>
              </a:spcBef>
              <a:buFont typeface="Calibri"/>
              <a:buChar char="•"/>
            </a:pPr>
            <a:endParaRPr sz="2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spc="-10" dirty="0">
                <a:latin typeface="Calibri"/>
                <a:cs typeface="Calibri"/>
              </a:rPr>
              <a:t>Benefits</a:t>
            </a:r>
            <a:endParaRPr sz="2400">
              <a:latin typeface="Calibri"/>
              <a:cs typeface="Calibri"/>
            </a:endParaRPr>
          </a:p>
          <a:p>
            <a:pPr marL="469900" marR="5080" indent="-361950">
              <a:lnSpc>
                <a:spcPct val="114999"/>
              </a:lnSpc>
              <a:spcBef>
                <a:spcPts val="2465"/>
              </a:spcBef>
              <a:buChar char="•"/>
              <a:tabLst>
                <a:tab pos="469900" algn="l"/>
              </a:tabLst>
            </a:pPr>
            <a:r>
              <a:rPr sz="2100" dirty="0">
                <a:latin typeface="Calibri"/>
                <a:cs typeface="Calibri"/>
              </a:rPr>
              <a:t>No</a:t>
            </a:r>
            <a:r>
              <a:rPr sz="2100" spc="-6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need</a:t>
            </a:r>
            <a:r>
              <a:rPr sz="2100" spc="-6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to</a:t>
            </a:r>
            <a:r>
              <a:rPr sz="2100" spc="-6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track</a:t>
            </a:r>
            <a:r>
              <a:rPr sz="2100" spc="-65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optimizer</a:t>
            </a:r>
            <a:r>
              <a:rPr sz="2100" spc="-65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state</a:t>
            </a:r>
            <a:r>
              <a:rPr sz="2100" spc="-6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for</a:t>
            </a:r>
            <a:r>
              <a:rPr sz="2100" spc="-65" dirty="0">
                <a:latin typeface="Calibri"/>
                <a:cs typeface="Calibri"/>
              </a:rPr>
              <a:t> </a:t>
            </a:r>
            <a:r>
              <a:rPr sz="2100" spc="-20" dirty="0">
                <a:latin typeface="Calibri"/>
                <a:cs typeface="Calibri"/>
              </a:rPr>
              <a:t>frozen</a:t>
            </a:r>
            <a:r>
              <a:rPr sz="2100" spc="-6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params,</a:t>
            </a:r>
            <a:r>
              <a:rPr sz="2100" spc="-6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smaller</a:t>
            </a:r>
            <a:r>
              <a:rPr sz="2100" spc="-30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checkpoint </a:t>
            </a:r>
            <a:r>
              <a:rPr sz="2100" dirty="0">
                <a:latin typeface="Calibri"/>
                <a:cs typeface="Calibri"/>
              </a:rPr>
              <a:t>size</a:t>
            </a:r>
            <a:r>
              <a:rPr sz="2100" spc="-35" dirty="0">
                <a:latin typeface="Calibri"/>
                <a:cs typeface="Calibri"/>
              </a:rPr>
              <a:t> </a:t>
            </a:r>
            <a:r>
              <a:rPr sz="2100" spc="-55" dirty="0">
                <a:latin typeface="Calibri"/>
                <a:cs typeface="Calibri"/>
              </a:rPr>
              <a:t>(GPT-</a:t>
            </a:r>
            <a:r>
              <a:rPr sz="2100" dirty="0">
                <a:latin typeface="Calibri"/>
                <a:cs typeface="Calibri"/>
              </a:rPr>
              <a:t>3:</a:t>
            </a:r>
            <a:r>
              <a:rPr sz="2100" spc="-3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1.2TB</a:t>
            </a:r>
            <a:r>
              <a:rPr sz="2100" spc="-35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[before] </a:t>
            </a:r>
            <a:r>
              <a:rPr sz="2100" dirty="0">
                <a:latin typeface="Arial MT"/>
                <a:cs typeface="Arial MT"/>
              </a:rPr>
              <a:t>→</a:t>
            </a:r>
            <a:r>
              <a:rPr sz="2100" spc="-135" dirty="0">
                <a:latin typeface="Arial MT"/>
                <a:cs typeface="Arial MT"/>
              </a:rPr>
              <a:t> </a:t>
            </a:r>
            <a:r>
              <a:rPr sz="2100" dirty="0">
                <a:latin typeface="Calibri"/>
                <a:cs typeface="Calibri"/>
              </a:rPr>
              <a:t>350GB</a:t>
            </a:r>
            <a:r>
              <a:rPr sz="2100" spc="-35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[training] </a:t>
            </a:r>
            <a:r>
              <a:rPr sz="2100" dirty="0">
                <a:latin typeface="Arial MT"/>
                <a:cs typeface="Arial MT"/>
              </a:rPr>
              <a:t>→</a:t>
            </a:r>
            <a:r>
              <a:rPr sz="2100" spc="-140" dirty="0">
                <a:latin typeface="Arial MT"/>
                <a:cs typeface="Arial MT"/>
              </a:rPr>
              <a:t> </a:t>
            </a:r>
            <a:r>
              <a:rPr sz="2100" dirty="0">
                <a:latin typeface="Calibri"/>
                <a:cs typeface="Calibri"/>
              </a:rPr>
              <a:t>35MB</a:t>
            </a:r>
            <a:r>
              <a:rPr sz="2100" spc="-35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[inference])</a:t>
            </a:r>
            <a:endParaRPr sz="2100">
              <a:latin typeface="Calibri"/>
              <a:cs typeface="Calibri"/>
            </a:endParaRPr>
          </a:p>
          <a:p>
            <a:pPr marL="469265" indent="-361315">
              <a:lnSpc>
                <a:spcPct val="100000"/>
              </a:lnSpc>
              <a:spcBef>
                <a:spcPts val="380"/>
              </a:spcBef>
              <a:buChar char="•"/>
              <a:tabLst>
                <a:tab pos="469265" algn="l"/>
              </a:tabLst>
            </a:pPr>
            <a:r>
              <a:rPr sz="2100" dirty="0">
                <a:latin typeface="Calibri"/>
                <a:cs typeface="Calibri"/>
              </a:rPr>
              <a:t>No</a:t>
            </a:r>
            <a:r>
              <a:rPr sz="2100" spc="-3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additional</a:t>
            </a:r>
            <a:r>
              <a:rPr sz="2100" spc="-30" dirty="0">
                <a:latin typeface="Calibri"/>
                <a:cs typeface="Calibri"/>
              </a:rPr>
              <a:t> </a:t>
            </a:r>
            <a:r>
              <a:rPr sz="2100" spc="-20" dirty="0">
                <a:latin typeface="Calibri"/>
                <a:cs typeface="Calibri"/>
              </a:rPr>
              <a:t>inference</a:t>
            </a:r>
            <a:r>
              <a:rPr sz="2100" spc="-25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latency</a:t>
            </a:r>
            <a:endParaRPr sz="2100">
              <a:latin typeface="Calibri"/>
              <a:cs typeface="Calibri"/>
            </a:endParaRPr>
          </a:p>
          <a:p>
            <a:pPr marL="469265" indent="-361315">
              <a:lnSpc>
                <a:spcPct val="100000"/>
              </a:lnSpc>
              <a:spcBef>
                <a:spcPts val="380"/>
              </a:spcBef>
              <a:buChar char="•"/>
              <a:tabLst>
                <a:tab pos="469265" algn="l"/>
              </a:tabLst>
            </a:pPr>
            <a:r>
              <a:rPr sz="2100" dirty="0">
                <a:latin typeface="Calibri"/>
                <a:cs typeface="Calibri"/>
              </a:rPr>
              <a:t>speed</a:t>
            </a:r>
            <a:r>
              <a:rPr sz="2100" spc="-4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up</a:t>
            </a:r>
            <a:r>
              <a:rPr sz="2100" spc="-4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during</a:t>
            </a:r>
            <a:r>
              <a:rPr sz="2100" spc="-40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training</a:t>
            </a:r>
            <a:endParaRPr sz="2100">
              <a:latin typeface="Calibri"/>
              <a:cs typeface="Calibri"/>
            </a:endParaRPr>
          </a:p>
        </p:txBody>
      </p:sp>
      <p:pic>
        <p:nvPicPr>
          <p:cNvPr id="14" name="object 4">
            <a:extLst>
              <a:ext uri="{FF2B5EF4-FFF2-40B4-BE49-F238E27FC236}">
                <a16:creationId xmlns:a16="http://schemas.microsoft.com/office/drawing/2014/main" id="{C67F0871-B919-CA66-8E16-1DCB80E0E726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208800" y="2632924"/>
            <a:ext cx="2372494" cy="247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8235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4B54ED-E766-C0C6-E74C-6C8F82898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user-5OMUinS2DRg9DUHxNmCh75Xw/0de77cf23bb846ec834131240e4472fb/mnt/data/template_extract/image2.png">
            <a:extLst>
              <a:ext uri="{FF2B5EF4-FFF2-40B4-BE49-F238E27FC236}">
                <a16:creationId xmlns:a16="http://schemas.microsoft.com/office/drawing/2014/main" id="{28E53C25-98F2-8C9D-CE73-3B7E9A5D25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40896" y="64008"/>
            <a:ext cx="292608" cy="292608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E7D2C7C5-6652-576A-F468-79F1E5EF6732}"/>
              </a:ext>
            </a:extLst>
          </p:cNvPr>
          <p:cNvSpPr/>
          <p:nvPr/>
        </p:nvSpPr>
        <p:spPr>
          <a:xfrm>
            <a:off x="164592" y="128016"/>
            <a:ext cx="8046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 err="1">
                <a:solidFill>
                  <a:srgbClr val="1E406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QLoRA</a:t>
            </a:r>
            <a:endParaRPr lang="en-US" sz="20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87747CC6-CC33-F8AA-9A67-EF24BED528C5}"/>
              </a:ext>
            </a:extLst>
          </p:cNvPr>
          <p:cNvSpPr/>
          <p:nvPr/>
        </p:nvSpPr>
        <p:spPr>
          <a:xfrm>
            <a:off x="8321040" y="137160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D7D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06 · Segment 5</a:t>
            </a:r>
            <a:endParaRPr lang="en-US" sz="750" dirty="0"/>
          </a:p>
        </p:txBody>
      </p:sp>
      <p:sp>
        <p:nvSpPr>
          <p:cNvPr id="43" name="Text 40">
            <a:extLst>
              <a:ext uri="{FF2B5EF4-FFF2-40B4-BE49-F238E27FC236}">
                <a16:creationId xmlns:a16="http://schemas.microsoft.com/office/drawing/2014/main" id="{583078EC-4356-18E4-99A6-949C3D51E775}"/>
              </a:ext>
            </a:extLst>
          </p:cNvPr>
          <p:cNvSpPr/>
          <p:nvPr/>
        </p:nvSpPr>
        <p:spPr>
          <a:xfrm>
            <a:off x="201168" y="6446520"/>
            <a:ext cx="11521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" i="1" dirty="0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Figure redrawn for teaching from [1] and [6].</a:t>
            </a:r>
            <a:endParaRPr lang="en-US" sz="720" dirty="0"/>
          </a:p>
        </p:txBody>
      </p:sp>
      <p:sp>
        <p:nvSpPr>
          <p:cNvPr id="45" name="Shape 41">
            <a:extLst>
              <a:ext uri="{FF2B5EF4-FFF2-40B4-BE49-F238E27FC236}">
                <a16:creationId xmlns:a16="http://schemas.microsoft.com/office/drawing/2014/main" id="{5E0B905F-D0D6-6207-E896-74EECA3AB888}"/>
              </a:ext>
            </a:extLst>
          </p:cNvPr>
          <p:cNvSpPr/>
          <p:nvPr/>
        </p:nvSpPr>
        <p:spPr>
          <a:xfrm>
            <a:off x="109728" y="6702552"/>
            <a:ext cx="36576" cy="36576"/>
          </a:xfrm>
          <a:prstGeom prst="ellipse">
            <a:avLst/>
          </a:prstGeom>
          <a:solidFill>
            <a:srgbClr val="B64A3A"/>
          </a:solidFill>
          <a:ln w="12700">
            <a:solidFill>
              <a:srgbClr val="B64A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Shape 42">
            <a:extLst>
              <a:ext uri="{FF2B5EF4-FFF2-40B4-BE49-F238E27FC236}">
                <a16:creationId xmlns:a16="http://schemas.microsoft.com/office/drawing/2014/main" id="{617FC084-B511-2D65-AA24-662F5A07ABEC}"/>
              </a:ext>
            </a:extLst>
          </p:cNvPr>
          <p:cNvSpPr/>
          <p:nvPr/>
        </p:nvSpPr>
        <p:spPr>
          <a:xfrm>
            <a:off x="201168" y="6702552"/>
            <a:ext cx="36576" cy="36576"/>
          </a:xfrm>
          <a:prstGeom prst="ellipse">
            <a:avLst/>
          </a:prstGeom>
          <a:solidFill>
            <a:srgbClr val="5E8D66"/>
          </a:solidFill>
          <a:ln w="12700">
            <a:solidFill>
              <a:srgbClr val="5E8D6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Shape 43">
            <a:extLst>
              <a:ext uri="{FF2B5EF4-FFF2-40B4-BE49-F238E27FC236}">
                <a16:creationId xmlns:a16="http://schemas.microsoft.com/office/drawing/2014/main" id="{CFD1CA32-5BDC-2E46-90AB-0F66756AC5B9}"/>
              </a:ext>
            </a:extLst>
          </p:cNvPr>
          <p:cNvSpPr/>
          <p:nvPr/>
        </p:nvSpPr>
        <p:spPr>
          <a:xfrm>
            <a:off x="292608" y="6702552"/>
            <a:ext cx="36576" cy="36576"/>
          </a:xfrm>
          <a:prstGeom prst="ellipse">
            <a:avLst/>
          </a:prstGeom>
          <a:solidFill>
            <a:srgbClr val="E6B833"/>
          </a:solidFill>
          <a:ln w="12700">
            <a:solidFill>
              <a:srgbClr val="E6B8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4">
            <a:extLst>
              <a:ext uri="{FF2B5EF4-FFF2-40B4-BE49-F238E27FC236}">
                <a16:creationId xmlns:a16="http://schemas.microsoft.com/office/drawing/2014/main" id="{EFB98BE6-5DCB-83ED-3E00-149411D2F5F2}"/>
              </a:ext>
            </a:extLst>
          </p:cNvPr>
          <p:cNvSpPr/>
          <p:nvPr/>
        </p:nvSpPr>
        <p:spPr>
          <a:xfrm>
            <a:off x="11804904" y="6675120"/>
            <a:ext cx="164592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40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00" dirty="0"/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305196BB-E8D7-D938-7123-FB47A85A1BFA}"/>
              </a:ext>
            </a:extLst>
          </p:cNvPr>
          <p:cNvSpPr txBox="1"/>
          <p:nvPr/>
        </p:nvSpPr>
        <p:spPr>
          <a:xfrm>
            <a:off x="875100" y="1098285"/>
            <a:ext cx="6069330" cy="2345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212121"/>
                </a:solidFill>
                <a:latin typeface="Arial"/>
                <a:cs typeface="Arial"/>
              </a:rPr>
              <a:t>QLoRA</a:t>
            </a:r>
            <a:r>
              <a:rPr sz="2400" b="1" spc="-11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212121"/>
                </a:solidFill>
                <a:latin typeface="Arial"/>
                <a:cs typeface="Arial"/>
              </a:rPr>
              <a:t>=</a:t>
            </a:r>
            <a:r>
              <a:rPr sz="2400" b="1" spc="-2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212121"/>
                </a:solidFill>
                <a:latin typeface="Arial"/>
                <a:cs typeface="Arial"/>
              </a:rPr>
              <a:t>Quantized</a:t>
            </a:r>
            <a:r>
              <a:rPr sz="2400" b="1" spc="-2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2400" b="1" spc="-25" dirty="0">
                <a:solidFill>
                  <a:srgbClr val="212121"/>
                </a:solidFill>
                <a:latin typeface="Arial"/>
                <a:cs typeface="Arial"/>
              </a:rPr>
              <a:t>pre-</a:t>
            </a:r>
            <a:r>
              <a:rPr sz="2400" b="1" dirty="0">
                <a:solidFill>
                  <a:srgbClr val="212121"/>
                </a:solidFill>
                <a:latin typeface="Arial"/>
                <a:cs typeface="Arial"/>
              </a:rPr>
              <a:t>train</a:t>
            </a:r>
            <a:r>
              <a:rPr sz="2400" b="1" spc="-2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212121"/>
                </a:solidFill>
                <a:latin typeface="Arial"/>
                <a:cs typeface="Arial"/>
              </a:rPr>
              <a:t>LLM</a:t>
            </a:r>
            <a:r>
              <a:rPr sz="2400" b="1" spc="-2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212121"/>
                </a:solidFill>
                <a:latin typeface="Arial"/>
                <a:cs typeface="Arial"/>
              </a:rPr>
              <a:t>+</a:t>
            </a:r>
            <a:r>
              <a:rPr sz="2400" b="1" spc="-20" dirty="0">
                <a:solidFill>
                  <a:srgbClr val="212121"/>
                </a:solidFill>
                <a:latin typeface="Arial"/>
                <a:cs typeface="Arial"/>
              </a:rPr>
              <a:t> LoRA</a:t>
            </a:r>
            <a:endParaRPr sz="2400">
              <a:latin typeface="Arial"/>
              <a:cs typeface="Arial"/>
            </a:endParaRPr>
          </a:p>
          <a:p>
            <a:pPr marL="469265" indent="-366395">
              <a:lnSpc>
                <a:spcPct val="100000"/>
              </a:lnSpc>
              <a:spcBef>
                <a:spcPts val="2425"/>
              </a:spcBef>
              <a:buChar char="●"/>
              <a:tabLst>
                <a:tab pos="469265" algn="l"/>
              </a:tabLst>
            </a:pPr>
            <a:r>
              <a:rPr sz="1800" dirty="0">
                <a:solidFill>
                  <a:srgbClr val="212121"/>
                </a:solidFill>
                <a:latin typeface="Arial MT"/>
                <a:cs typeface="Arial MT"/>
              </a:rPr>
              <a:t>Major</a:t>
            </a:r>
            <a:r>
              <a:rPr sz="1800" spc="-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212121"/>
                </a:solidFill>
                <a:latin typeface="Arial MT"/>
                <a:cs typeface="Arial MT"/>
              </a:rPr>
              <a:t>innovations:</a:t>
            </a:r>
            <a:endParaRPr sz="1800">
              <a:latin typeface="Arial MT"/>
              <a:cs typeface="Arial MT"/>
            </a:endParaRPr>
          </a:p>
          <a:p>
            <a:pPr marL="926465" lvl="1" indent="-366395">
              <a:lnSpc>
                <a:spcPct val="100000"/>
              </a:lnSpc>
              <a:buChar char="○"/>
              <a:tabLst>
                <a:tab pos="926465" algn="l"/>
              </a:tabLst>
            </a:pPr>
            <a:r>
              <a:rPr sz="1800" spc="-10" dirty="0">
                <a:solidFill>
                  <a:srgbClr val="212121"/>
                </a:solidFill>
                <a:latin typeface="Arial MT"/>
                <a:cs typeface="Arial MT"/>
              </a:rPr>
              <a:t>4-</a:t>
            </a:r>
            <a:r>
              <a:rPr sz="1800" dirty="0">
                <a:solidFill>
                  <a:srgbClr val="212121"/>
                </a:solidFill>
                <a:latin typeface="Arial MT"/>
                <a:cs typeface="Arial MT"/>
              </a:rPr>
              <a:t>bit</a:t>
            </a:r>
            <a:r>
              <a:rPr sz="1800" spc="-2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12121"/>
                </a:solidFill>
                <a:latin typeface="Arial MT"/>
                <a:cs typeface="Arial MT"/>
              </a:rPr>
              <a:t>Normal</a:t>
            </a:r>
            <a:r>
              <a:rPr sz="1800" spc="-1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212121"/>
                </a:solidFill>
                <a:latin typeface="Arial MT"/>
                <a:cs typeface="Arial MT"/>
              </a:rPr>
              <a:t>Float</a:t>
            </a:r>
            <a:endParaRPr sz="1800">
              <a:latin typeface="Arial MT"/>
              <a:cs typeface="Arial MT"/>
            </a:endParaRPr>
          </a:p>
          <a:p>
            <a:pPr marL="926465" lvl="1" indent="-366395">
              <a:lnSpc>
                <a:spcPct val="100000"/>
              </a:lnSpc>
              <a:buChar char="○"/>
              <a:tabLst>
                <a:tab pos="926465" algn="l"/>
              </a:tabLst>
            </a:pPr>
            <a:r>
              <a:rPr sz="1800" dirty="0">
                <a:solidFill>
                  <a:srgbClr val="212121"/>
                </a:solidFill>
                <a:latin typeface="Arial MT"/>
                <a:cs typeface="Arial MT"/>
              </a:rPr>
              <a:t>Double</a:t>
            </a:r>
            <a:r>
              <a:rPr sz="1800" spc="-4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212121"/>
                </a:solidFill>
                <a:latin typeface="Arial MT"/>
                <a:cs typeface="Arial MT"/>
              </a:rPr>
              <a:t>Quantization</a:t>
            </a:r>
            <a:endParaRPr sz="1800">
              <a:latin typeface="Arial MT"/>
              <a:cs typeface="Arial MT"/>
            </a:endParaRPr>
          </a:p>
          <a:p>
            <a:pPr marL="926465" lvl="1" indent="-366395">
              <a:lnSpc>
                <a:spcPct val="100000"/>
              </a:lnSpc>
              <a:buChar char="○"/>
              <a:tabLst>
                <a:tab pos="926465" algn="l"/>
              </a:tabLst>
            </a:pPr>
            <a:r>
              <a:rPr sz="1800" dirty="0">
                <a:solidFill>
                  <a:srgbClr val="212121"/>
                </a:solidFill>
                <a:latin typeface="Arial MT"/>
                <a:cs typeface="Arial MT"/>
              </a:rPr>
              <a:t>Page</a:t>
            </a:r>
            <a:r>
              <a:rPr sz="1800" spc="-2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212121"/>
                </a:solidFill>
                <a:latin typeface="Arial MT"/>
                <a:cs typeface="Arial MT"/>
              </a:rPr>
              <a:t>Optimizer</a:t>
            </a:r>
            <a:endParaRPr sz="1800">
              <a:latin typeface="Arial MT"/>
              <a:cs typeface="Arial MT"/>
            </a:endParaRPr>
          </a:p>
          <a:p>
            <a:pPr marL="469265" indent="-366395">
              <a:lnSpc>
                <a:spcPct val="100000"/>
              </a:lnSpc>
              <a:buChar char="●"/>
              <a:tabLst>
                <a:tab pos="469265" algn="l"/>
              </a:tabLst>
            </a:pPr>
            <a:r>
              <a:rPr sz="1800" spc="-10" dirty="0">
                <a:solidFill>
                  <a:srgbClr val="212121"/>
                </a:solidFill>
                <a:latin typeface="Arial MT"/>
                <a:cs typeface="Arial MT"/>
              </a:rPr>
              <a:t>4-</a:t>
            </a:r>
            <a:r>
              <a:rPr sz="1800" dirty="0">
                <a:solidFill>
                  <a:srgbClr val="212121"/>
                </a:solidFill>
                <a:latin typeface="Arial MT"/>
                <a:cs typeface="Arial MT"/>
              </a:rPr>
              <a:t>bit</a:t>
            </a:r>
            <a:r>
              <a:rPr sz="1800" spc="-2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12121"/>
                </a:solidFill>
                <a:latin typeface="Arial MT"/>
                <a:cs typeface="Arial MT"/>
              </a:rPr>
              <a:t>storage</a:t>
            </a:r>
            <a:r>
              <a:rPr sz="1800" spc="-2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12121"/>
                </a:solidFill>
                <a:latin typeface="Arial MT"/>
                <a:cs typeface="Arial MT"/>
              </a:rPr>
              <a:t>data</a:t>
            </a:r>
            <a:r>
              <a:rPr sz="1800" spc="-20" dirty="0">
                <a:solidFill>
                  <a:srgbClr val="212121"/>
                </a:solidFill>
                <a:latin typeface="Arial MT"/>
                <a:cs typeface="Arial MT"/>
              </a:rPr>
              <a:t> type</a:t>
            </a:r>
            <a:endParaRPr sz="1800">
              <a:latin typeface="Arial MT"/>
              <a:cs typeface="Arial MT"/>
            </a:endParaRPr>
          </a:p>
          <a:p>
            <a:pPr marL="469265" indent="-366395">
              <a:lnSpc>
                <a:spcPct val="100000"/>
              </a:lnSpc>
              <a:buChar char="●"/>
              <a:tabLst>
                <a:tab pos="469265" algn="l"/>
              </a:tabLst>
            </a:pPr>
            <a:r>
              <a:rPr sz="1800" dirty="0">
                <a:solidFill>
                  <a:srgbClr val="212121"/>
                </a:solidFill>
                <a:latin typeface="Arial MT"/>
                <a:cs typeface="Arial MT"/>
              </a:rPr>
              <a:t>Bfloat16</a:t>
            </a:r>
            <a:r>
              <a:rPr sz="1800" spc="-4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12121"/>
                </a:solidFill>
                <a:latin typeface="Arial MT"/>
                <a:cs typeface="Arial MT"/>
              </a:rPr>
              <a:t>computational</a:t>
            </a:r>
            <a:r>
              <a:rPr sz="1800" spc="-4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12121"/>
                </a:solidFill>
                <a:latin typeface="Arial MT"/>
                <a:cs typeface="Arial MT"/>
              </a:rPr>
              <a:t>data</a:t>
            </a:r>
            <a:r>
              <a:rPr sz="1800" spc="-4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800" spc="-20" dirty="0">
                <a:solidFill>
                  <a:srgbClr val="212121"/>
                </a:solidFill>
                <a:latin typeface="Arial MT"/>
                <a:cs typeface="Arial MT"/>
              </a:rPr>
              <a:t>type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2597A25F-BCAE-70F8-4FE6-623B434589E8}"/>
              </a:ext>
            </a:extLst>
          </p:cNvPr>
          <p:cNvSpPr txBox="1"/>
          <p:nvPr/>
        </p:nvSpPr>
        <p:spPr>
          <a:xfrm>
            <a:off x="875100" y="4301733"/>
            <a:ext cx="8090534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5080" indent="-457200">
              <a:lnSpc>
                <a:spcPct val="100000"/>
              </a:lnSpc>
              <a:spcBef>
                <a:spcPts val="100"/>
              </a:spcBef>
              <a:buFont typeface="MS PGothic"/>
              <a:buChar char="➔"/>
              <a:tabLst>
                <a:tab pos="469900" algn="l"/>
              </a:tabLst>
            </a:pPr>
            <a:r>
              <a:rPr sz="1800" dirty="0">
                <a:solidFill>
                  <a:srgbClr val="212121"/>
                </a:solidFill>
                <a:latin typeface="Arial MT"/>
                <a:cs typeface="Arial MT"/>
              </a:rPr>
              <a:t>Reduces</a:t>
            </a:r>
            <a:r>
              <a:rPr sz="1800" spc="-2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12121"/>
                </a:solidFill>
                <a:latin typeface="Arial MT"/>
                <a:cs typeface="Arial MT"/>
              </a:rPr>
              <a:t>the</a:t>
            </a:r>
            <a:r>
              <a:rPr sz="1800" spc="-1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12121"/>
                </a:solidFill>
                <a:latin typeface="Arial MT"/>
                <a:cs typeface="Arial MT"/>
              </a:rPr>
              <a:t>average</a:t>
            </a:r>
            <a:r>
              <a:rPr sz="1800" spc="-1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12121"/>
                </a:solidFill>
                <a:latin typeface="Arial MT"/>
                <a:cs typeface="Arial MT"/>
              </a:rPr>
              <a:t>memory</a:t>
            </a:r>
            <a:r>
              <a:rPr sz="1800" spc="-1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12121"/>
                </a:solidFill>
                <a:latin typeface="Arial MT"/>
                <a:cs typeface="Arial MT"/>
              </a:rPr>
              <a:t>requirements</a:t>
            </a:r>
            <a:r>
              <a:rPr sz="1800" spc="-1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12121"/>
                </a:solidFill>
                <a:latin typeface="Arial MT"/>
                <a:cs typeface="Arial MT"/>
              </a:rPr>
              <a:t>of</a:t>
            </a:r>
            <a:r>
              <a:rPr sz="1800" spc="-10" dirty="0">
                <a:solidFill>
                  <a:srgbClr val="212121"/>
                </a:solidFill>
                <a:latin typeface="Arial MT"/>
                <a:cs typeface="Arial MT"/>
              </a:rPr>
              <a:t> fine-</a:t>
            </a:r>
            <a:r>
              <a:rPr sz="1800" dirty="0">
                <a:solidFill>
                  <a:srgbClr val="212121"/>
                </a:solidFill>
                <a:latin typeface="Arial MT"/>
                <a:cs typeface="Arial MT"/>
              </a:rPr>
              <a:t>tuning</a:t>
            </a:r>
            <a:r>
              <a:rPr sz="1800" spc="-1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12121"/>
                </a:solidFill>
                <a:latin typeface="Arial MT"/>
                <a:cs typeface="Arial MT"/>
              </a:rPr>
              <a:t>a</a:t>
            </a:r>
            <a:r>
              <a:rPr sz="1800" spc="-1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12121"/>
                </a:solidFill>
                <a:latin typeface="Arial MT"/>
                <a:cs typeface="Arial MT"/>
              </a:rPr>
              <a:t>65B</a:t>
            </a:r>
            <a:r>
              <a:rPr sz="1800" spc="-10" dirty="0">
                <a:solidFill>
                  <a:srgbClr val="212121"/>
                </a:solidFill>
                <a:latin typeface="Arial MT"/>
                <a:cs typeface="Arial MT"/>
              </a:rPr>
              <a:t> parameter </a:t>
            </a:r>
            <a:r>
              <a:rPr sz="1800" dirty="0">
                <a:solidFill>
                  <a:srgbClr val="212121"/>
                </a:solidFill>
                <a:latin typeface="Arial MT"/>
                <a:cs typeface="Arial MT"/>
              </a:rPr>
              <a:t>model</a:t>
            </a:r>
            <a:r>
              <a:rPr sz="1800" spc="-2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12121"/>
                </a:solidFill>
                <a:latin typeface="Arial MT"/>
                <a:cs typeface="Arial MT"/>
              </a:rPr>
              <a:t>from</a:t>
            </a:r>
            <a:r>
              <a:rPr sz="1800" spc="-1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12121"/>
                </a:solidFill>
                <a:latin typeface="Arial MT"/>
                <a:cs typeface="Arial MT"/>
              </a:rPr>
              <a:t>780GB</a:t>
            </a:r>
            <a:r>
              <a:rPr sz="1800" spc="-1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12121"/>
                </a:solidFill>
                <a:latin typeface="Arial MT"/>
                <a:cs typeface="Arial MT"/>
              </a:rPr>
              <a:t>of</a:t>
            </a:r>
            <a:r>
              <a:rPr sz="1800" spc="-1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12121"/>
                </a:solidFill>
                <a:latin typeface="Arial MT"/>
                <a:cs typeface="Arial MT"/>
              </a:rPr>
              <a:t>GPU</a:t>
            </a:r>
            <a:r>
              <a:rPr sz="1800" spc="-1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12121"/>
                </a:solidFill>
                <a:latin typeface="Arial MT"/>
                <a:cs typeface="Arial MT"/>
              </a:rPr>
              <a:t>memory</a:t>
            </a:r>
            <a:r>
              <a:rPr sz="1800" spc="-1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12121"/>
                </a:solidFill>
                <a:latin typeface="Arial MT"/>
                <a:cs typeface="Arial MT"/>
              </a:rPr>
              <a:t>to</a:t>
            </a:r>
            <a:r>
              <a:rPr sz="1800" spc="-1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12121"/>
                </a:solidFill>
                <a:latin typeface="Arial MT"/>
                <a:cs typeface="Arial MT"/>
              </a:rPr>
              <a:t>48GB</a:t>
            </a:r>
            <a:r>
              <a:rPr sz="1800" spc="-1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12121"/>
                </a:solidFill>
                <a:latin typeface="Arial MT"/>
                <a:cs typeface="Arial MT"/>
              </a:rPr>
              <a:t>on</a:t>
            </a:r>
            <a:r>
              <a:rPr sz="1800" spc="-1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12121"/>
                </a:solidFill>
                <a:latin typeface="Arial MT"/>
                <a:cs typeface="Arial MT"/>
              </a:rPr>
              <a:t>a</a:t>
            </a:r>
            <a:r>
              <a:rPr sz="1800" spc="2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800" b="1" dirty="0">
                <a:solidFill>
                  <a:srgbClr val="212121"/>
                </a:solidFill>
                <a:latin typeface="Arial"/>
                <a:cs typeface="Arial"/>
              </a:rPr>
              <a:t>single</a:t>
            </a:r>
            <a:r>
              <a:rPr sz="1800" b="1" spc="-1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800" b="1" spc="-20" dirty="0">
                <a:solidFill>
                  <a:srgbClr val="212121"/>
                </a:solidFill>
                <a:latin typeface="Arial"/>
                <a:cs typeface="Arial"/>
              </a:rPr>
              <a:t>GPU.</a:t>
            </a:r>
            <a:endParaRPr sz="1800">
              <a:latin typeface="Arial"/>
              <a:cs typeface="Arial"/>
            </a:endParaRPr>
          </a:p>
          <a:p>
            <a:pPr marL="469265" indent="-456565">
              <a:lnSpc>
                <a:spcPct val="100000"/>
              </a:lnSpc>
              <a:buFont typeface="MS PGothic"/>
              <a:buChar char="➔"/>
              <a:tabLst>
                <a:tab pos="469265" algn="l"/>
              </a:tabLst>
            </a:pPr>
            <a:r>
              <a:rPr sz="1800" b="1" dirty="0">
                <a:solidFill>
                  <a:srgbClr val="212121"/>
                </a:solidFill>
                <a:latin typeface="Arial"/>
                <a:cs typeface="Arial"/>
              </a:rPr>
              <a:t>Preserving</a:t>
            </a:r>
            <a:r>
              <a:rPr sz="1800" b="1" spc="-2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212121"/>
                </a:solidFill>
                <a:latin typeface="Arial"/>
                <a:cs typeface="Arial"/>
              </a:rPr>
              <a:t>performance</a:t>
            </a:r>
            <a:r>
              <a:rPr sz="1800" b="1" spc="-1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12121"/>
                </a:solidFill>
                <a:latin typeface="Arial MT"/>
                <a:cs typeface="Arial MT"/>
              </a:rPr>
              <a:t>compared</a:t>
            </a:r>
            <a:r>
              <a:rPr sz="1800" spc="-2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12121"/>
                </a:solidFill>
                <a:latin typeface="Arial MT"/>
                <a:cs typeface="Arial MT"/>
              </a:rPr>
              <a:t>to</a:t>
            </a:r>
            <a:r>
              <a:rPr sz="1800" spc="-2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12121"/>
                </a:solidFill>
                <a:latin typeface="Arial MT"/>
                <a:cs typeface="Arial MT"/>
              </a:rPr>
              <a:t>a</a:t>
            </a:r>
            <a:r>
              <a:rPr sz="1800" spc="-2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12121"/>
                </a:solidFill>
                <a:latin typeface="Arial MT"/>
                <a:cs typeface="Arial MT"/>
              </a:rPr>
              <a:t>16-</a:t>
            </a:r>
            <a:r>
              <a:rPr sz="1800" spc="-2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12121"/>
                </a:solidFill>
                <a:latin typeface="Arial MT"/>
                <a:cs typeface="Arial MT"/>
              </a:rPr>
              <a:t>bit</a:t>
            </a:r>
            <a:r>
              <a:rPr sz="1800" spc="-2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12121"/>
                </a:solidFill>
                <a:latin typeface="Arial MT"/>
                <a:cs typeface="Arial MT"/>
              </a:rPr>
              <a:t>fully</a:t>
            </a:r>
            <a:r>
              <a:rPr sz="1800" spc="-2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212121"/>
                </a:solidFill>
                <a:latin typeface="Arial MT"/>
                <a:cs typeface="Arial MT"/>
              </a:rPr>
              <a:t>fine-</a:t>
            </a:r>
            <a:r>
              <a:rPr sz="1800" dirty="0">
                <a:solidFill>
                  <a:srgbClr val="212121"/>
                </a:solidFill>
                <a:latin typeface="Arial MT"/>
                <a:cs typeface="Arial MT"/>
              </a:rPr>
              <a:t>tuned</a:t>
            </a:r>
            <a:r>
              <a:rPr sz="1800" spc="-2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212121"/>
                </a:solidFill>
                <a:latin typeface="Arial MT"/>
                <a:cs typeface="Arial MT"/>
              </a:rPr>
              <a:t>baseline.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7" name="object 5">
            <a:extLst>
              <a:ext uri="{FF2B5EF4-FFF2-40B4-BE49-F238E27FC236}">
                <a16:creationId xmlns:a16="http://schemas.microsoft.com/office/drawing/2014/main" id="{6FAEC02E-8C88-5518-D86E-0B04A5500282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397642" y="1841551"/>
            <a:ext cx="4170208" cy="19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52708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user-5OMUinS2DRg9DUHxNmCh75Xw/0de77cf23bb846ec834131240e4472fb/mnt/data/template_extract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40896" y="64008"/>
            <a:ext cx="292608" cy="2926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4592" y="128016"/>
            <a:ext cx="8046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406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Where LoRA adapters are inserted in a transformer block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8321040" y="137160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D7D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06 · Segment 5</a:t>
            </a:r>
            <a:endParaRPr lang="en-US" sz="750" dirty="0"/>
          </a:p>
        </p:txBody>
      </p:sp>
      <p:sp>
        <p:nvSpPr>
          <p:cNvPr id="5" name="Shape 2"/>
          <p:cNvSpPr/>
          <p:nvPr/>
        </p:nvSpPr>
        <p:spPr>
          <a:xfrm>
            <a:off x="3246120" y="914400"/>
            <a:ext cx="5532120" cy="4297680"/>
          </a:xfrm>
          <a:prstGeom prst="roundRect">
            <a:avLst/>
          </a:prstGeom>
          <a:solidFill>
            <a:srgbClr val="F9F7F1"/>
          </a:solidFill>
          <a:ln w="15240">
            <a:solidFill>
              <a:srgbClr val="A9A0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5166360" y="1024128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4061"/>
                </a:solidFill>
              </a:rPr>
              <a:t>Transformer block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794760" y="1463040"/>
            <a:ext cx="4434840" cy="640080"/>
          </a:xfrm>
          <a:prstGeom prst="roundRect">
            <a:avLst/>
          </a:prstGeom>
          <a:solidFill>
            <a:srgbClr val="DDEBF7"/>
          </a:solidFill>
          <a:ln w="10160">
            <a:solidFill>
              <a:srgbClr val="ADB2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3866389" y="1724914"/>
            <a:ext cx="4215384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4061"/>
                </a:solidFill>
              </a:rPr>
              <a:t>Self-attention projections: q_proj, k_proj, v_proj, o_proj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794760" y="2331720"/>
            <a:ext cx="4434840" cy="502920"/>
          </a:xfrm>
          <a:prstGeom prst="roundRect">
            <a:avLst/>
          </a:prstGeom>
          <a:solidFill>
            <a:srgbClr val="EDE7F8"/>
          </a:solidFill>
          <a:ln w="10160">
            <a:solidFill>
              <a:srgbClr val="ADB2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3904488" y="2505456"/>
            <a:ext cx="4215384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A4D80"/>
                </a:solidFill>
              </a:rPr>
              <a:t>Attention softmax + combine heads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794760" y="3063240"/>
            <a:ext cx="4434840" cy="640080"/>
          </a:xfrm>
          <a:prstGeom prst="roundRect">
            <a:avLst/>
          </a:prstGeom>
          <a:solidFill>
            <a:srgbClr val="DDEED8"/>
          </a:solidFill>
          <a:ln w="10160">
            <a:solidFill>
              <a:srgbClr val="ADB2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3904488" y="3296412"/>
            <a:ext cx="4215384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7694D"/>
                </a:solidFill>
              </a:rPr>
              <a:t>MLP projections: gate/up/down or fc1/fc2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794760" y="3931920"/>
            <a:ext cx="4434840" cy="502920"/>
          </a:xfrm>
          <a:prstGeom prst="roundRect">
            <a:avLst/>
          </a:prstGeom>
          <a:solidFill>
            <a:srgbClr val="F7E8D9"/>
          </a:solidFill>
          <a:ln w="10160">
            <a:solidFill>
              <a:srgbClr val="ADB2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3904488" y="4105656"/>
            <a:ext cx="4215384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65D2C"/>
                </a:solidFill>
              </a:rPr>
              <a:t>Norms, residuals, output state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023360" y="1572768"/>
            <a:ext cx="411480" cy="237744"/>
          </a:xfrm>
          <a:prstGeom prst="roundRect">
            <a:avLst/>
          </a:prstGeom>
          <a:solidFill>
            <a:srgbClr val="F7E8AA"/>
          </a:solidFill>
          <a:ln w="10160">
            <a:solidFill>
              <a:srgbClr val="B998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4105656" y="1627632"/>
            <a:ext cx="246888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D6C00"/>
                </a:solidFill>
              </a:rPr>
              <a:t>q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754880" y="1572768"/>
            <a:ext cx="411480" cy="237744"/>
          </a:xfrm>
          <a:prstGeom prst="roundRect">
            <a:avLst/>
          </a:prstGeom>
          <a:solidFill>
            <a:srgbClr val="F7E8AA"/>
          </a:solidFill>
          <a:ln w="10160">
            <a:solidFill>
              <a:srgbClr val="B998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4837176" y="1627632"/>
            <a:ext cx="246888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D6C00"/>
                </a:solidFill>
              </a:rPr>
              <a:t>k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5486400" y="1572768"/>
            <a:ext cx="411480" cy="237744"/>
          </a:xfrm>
          <a:prstGeom prst="roundRect">
            <a:avLst/>
          </a:prstGeom>
          <a:solidFill>
            <a:srgbClr val="F7E8AA"/>
          </a:solidFill>
          <a:ln w="10160">
            <a:solidFill>
              <a:srgbClr val="B998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5568696" y="1627632"/>
            <a:ext cx="246888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D6C00"/>
                </a:solidFill>
              </a:rPr>
              <a:t>v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6217920" y="1572768"/>
            <a:ext cx="411480" cy="237744"/>
          </a:xfrm>
          <a:prstGeom prst="roundRect">
            <a:avLst/>
          </a:prstGeom>
          <a:solidFill>
            <a:srgbClr val="F7E8AA"/>
          </a:solidFill>
          <a:ln w="10160">
            <a:solidFill>
              <a:srgbClr val="B998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6300216" y="1627632"/>
            <a:ext cx="246888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D6C00"/>
                </a:solidFill>
              </a:rPr>
              <a:t>o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4663440" y="3182112"/>
            <a:ext cx="411480" cy="237744"/>
          </a:xfrm>
          <a:prstGeom prst="roundRect">
            <a:avLst/>
          </a:prstGeom>
          <a:solidFill>
            <a:srgbClr val="D6EAD6"/>
          </a:solidFill>
          <a:ln w="10160">
            <a:solidFill>
              <a:srgbClr val="6B8E7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4745736" y="3236976"/>
            <a:ext cx="347472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7694D"/>
                </a:solidFill>
              </a:rPr>
              <a:t>up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5486400" y="3182112"/>
            <a:ext cx="411480" cy="237744"/>
          </a:xfrm>
          <a:prstGeom prst="roundRect">
            <a:avLst/>
          </a:prstGeom>
          <a:solidFill>
            <a:srgbClr val="D6EAD6"/>
          </a:solidFill>
          <a:ln w="10160">
            <a:solidFill>
              <a:srgbClr val="6B8E7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3"/>
          <p:cNvSpPr/>
          <p:nvPr/>
        </p:nvSpPr>
        <p:spPr>
          <a:xfrm>
            <a:off x="5470652" y="3236976"/>
            <a:ext cx="43891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7694D"/>
                </a:solidFill>
              </a:rPr>
              <a:t>gate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6400800" y="3182112"/>
            <a:ext cx="411480" cy="237744"/>
          </a:xfrm>
          <a:prstGeom prst="roundRect">
            <a:avLst/>
          </a:prstGeom>
          <a:solidFill>
            <a:srgbClr val="D6EAD6"/>
          </a:solidFill>
          <a:ln w="10160">
            <a:solidFill>
              <a:srgbClr val="6B8E7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5"/>
          <p:cNvSpPr/>
          <p:nvPr/>
        </p:nvSpPr>
        <p:spPr>
          <a:xfrm>
            <a:off x="6339586" y="3252724"/>
            <a:ext cx="559054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7694D"/>
                </a:solidFill>
              </a:rPr>
              <a:t>down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292608" y="1051560"/>
            <a:ext cx="2423160" cy="1143000"/>
          </a:xfrm>
          <a:prstGeom prst="roundRect">
            <a:avLst>
              <a:gd name="adj" fmla="val 6400"/>
            </a:avLst>
          </a:prstGeom>
          <a:solidFill>
            <a:srgbClr val="DDEBF7"/>
          </a:solidFill>
          <a:ln w="10160">
            <a:solidFill>
              <a:srgbClr val="C8C1B2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30" name="Text 27"/>
          <p:cNvSpPr/>
          <p:nvPr/>
        </p:nvSpPr>
        <p:spPr>
          <a:xfrm>
            <a:off x="402336" y="1143000"/>
            <a:ext cx="220370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40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Common first choice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402336" y="1325880"/>
            <a:ext cx="2203704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decoder-only LLMs, start by adapting attention projections. q_proj and v_proj are a classic minimal starting point; q/v/o or all attention projections are common when you need more capacity.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292608" y="2423160"/>
            <a:ext cx="2423160" cy="1143000"/>
          </a:xfrm>
          <a:prstGeom prst="roundRect">
            <a:avLst>
              <a:gd name="adj" fmla="val 6400"/>
            </a:avLst>
          </a:prstGeom>
          <a:solidFill>
            <a:srgbClr val="F8EDBE"/>
          </a:solidFill>
          <a:ln w="10160">
            <a:solidFill>
              <a:srgbClr val="C8C1B2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33" name="Text 30"/>
          <p:cNvSpPr/>
          <p:nvPr/>
        </p:nvSpPr>
        <p:spPr>
          <a:xfrm>
            <a:off x="402336" y="2514600"/>
            <a:ext cx="220370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40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QLoRA-style default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402336" y="2697480"/>
            <a:ext cx="2203704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model memory is the bottleneck and you want a stronger adapter, target "all-linear" so LoRA attaches to attention and MLP linear layers throughout the block.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292608" y="3794760"/>
            <a:ext cx="2423160" cy="1143000"/>
          </a:xfrm>
          <a:prstGeom prst="roundRect">
            <a:avLst>
              <a:gd name="adj" fmla="val 6400"/>
            </a:avLst>
          </a:prstGeom>
          <a:solidFill>
            <a:srgbClr val="F7E0D8"/>
          </a:solidFill>
          <a:ln w="10160">
            <a:solidFill>
              <a:srgbClr val="C8C1B2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36" name="Text 33"/>
          <p:cNvSpPr/>
          <p:nvPr/>
        </p:nvSpPr>
        <p:spPr>
          <a:xfrm>
            <a:off x="402336" y="3886200"/>
            <a:ext cx="220370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40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not to expect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402336" y="4069080"/>
            <a:ext cx="2203704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LoRA does not usually target norms, residual additions, or softmax itself. Those operations are numerically important, but not where low-rank weight updates naturally live.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9098280" y="1097280"/>
            <a:ext cx="2834640" cy="1097280"/>
          </a:xfrm>
          <a:prstGeom prst="roundRect">
            <a:avLst>
              <a:gd name="adj" fmla="val 6667"/>
            </a:avLst>
          </a:prstGeom>
          <a:solidFill>
            <a:srgbClr val="DDEED8"/>
          </a:solidFill>
          <a:ln w="10160">
            <a:solidFill>
              <a:srgbClr val="C8C1B2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3200"/>
          </a:p>
        </p:txBody>
      </p:sp>
      <p:sp>
        <p:nvSpPr>
          <p:cNvPr id="39" name="Text 36"/>
          <p:cNvSpPr/>
          <p:nvPr/>
        </p:nvSpPr>
        <p:spPr>
          <a:xfrm>
            <a:off x="9144762" y="1152144"/>
            <a:ext cx="288874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40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Architecture-specific names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9208008" y="1371600"/>
            <a:ext cx="2615184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concept is stable even when module names differ. One family may use q_proj/v_proj/o_proj; another may expose c_attn and c_proj or merged QKV projections.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9098280" y="2423160"/>
            <a:ext cx="2834640" cy="1005840"/>
          </a:xfrm>
          <a:prstGeom prst="roundRect">
            <a:avLst>
              <a:gd name="adj" fmla="val 7273"/>
            </a:avLst>
          </a:prstGeom>
          <a:solidFill>
            <a:srgbClr val="E6DEF7"/>
          </a:solidFill>
          <a:ln w="10160">
            <a:solidFill>
              <a:srgbClr val="C8C1B2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3200"/>
          </a:p>
        </p:txBody>
      </p:sp>
      <p:sp>
        <p:nvSpPr>
          <p:cNvPr id="42" name="Text 39"/>
          <p:cNvSpPr/>
          <p:nvPr/>
        </p:nvSpPr>
        <p:spPr>
          <a:xfrm>
            <a:off x="9208008" y="2514600"/>
            <a:ext cx="26151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40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Practical default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9208008" y="2697480"/>
            <a:ext cx="2615184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you are unsure which names to target, inspect model.named_modules() and identify the linear layers responsible for attention and MLP projections first.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9098280" y="3657600"/>
            <a:ext cx="2834640" cy="1188720"/>
          </a:xfrm>
          <a:prstGeom prst="roundRect">
            <a:avLst>
              <a:gd name="adj" fmla="val 6154"/>
            </a:avLst>
          </a:prstGeom>
          <a:solidFill>
            <a:srgbClr val="F7E8D9"/>
          </a:solidFill>
          <a:ln w="10160">
            <a:solidFill>
              <a:srgbClr val="C8C1B2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3200"/>
          </a:p>
        </p:txBody>
      </p:sp>
      <p:sp>
        <p:nvSpPr>
          <p:cNvPr id="45" name="Text 42"/>
          <p:cNvSpPr/>
          <p:nvPr/>
        </p:nvSpPr>
        <p:spPr>
          <a:xfrm>
            <a:off x="9208008" y="3749040"/>
            <a:ext cx="26151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40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these layers</a:t>
            </a:r>
            <a:endParaRPr lang="en-US" sz="1600" dirty="0"/>
          </a:p>
        </p:txBody>
      </p:sp>
      <p:sp>
        <p:nvSpPr>
          <p:cNvPr id="46" name="Text 43"/>
          <p:cNvSpPr/>
          <p:nvPr/>
        </p:nvSpPr>
        <p:spPr>
          <a:xfrm>
            <a:off x="9208008" y="3931920"/>
            <a:ext cx="2615184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These layers dominate the representational transformations that matter most for task behavior, so low-rank updates here often give the biggest benefit per trainable parameter.</a:t>
            </a:r>
            <a:endParaRPr lang="en-US" sz="1100" dirty="0"/>
          </a:p>
        </p:txBody>
      </p:sp>
      <p:sp>
        <p:nvSpPr>
          <p:cNvPr id="47" name="Text 44"/>
          <p:cNvSpPr/>
          <p:nvPr/>
        </p:nvSpPr>
        <p:spPr>
          <a:xfrm>
            <a:off x="201168" y="6446520"/>
            <a:ext cx="11521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" i="1" dirty="0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Figure synthesized from transformer block structure in [1], LoRA targeting guidance in [2], [6], [7].</a:t>
            </a:r>
            <a:endParaRPr lang="en-US" sz="720" dirty="0"/>
          </a:p>
        </p:txBody>
      </p:sp>
      <p:sp>
        <p:nvSpPr>
          <p:cNvPr id="49" name="Shape 45"/>
          <p:cNvSpPr/>
          <p:nvPr/>
        </p:nvSpPr>
        <p:spPr>
          <a:xfrm>
            <a:off x="109728" y="6702552"/>
            <a:ext cx="36576" cy="36576"/>
          </a:xfrm>
          <a:prstGeom prst="ellipse">
            <a:avLst/>
          </a:prstGeom>
          <a:solidFill>
            <a:srgbClr val="B64A3A"/>
          </a:solidFill>
          <a:ln w="12700">
            <a:solidFill>
              <a:srgbClr val="B64A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Shape 46"/>
          <p:cNvSpPr/>
          <p:nvPr/>
        </p:nvSpPr>
        <p:spPr>
          <a:xfrm>
            <a:off x="201168" y="6702552"/>
            <a:ext cx="36576" cy="36576"/>
          </a:xfrm>
          <a:prstGeom prst="ellipse">
            <a:avLst/>
          </a:prstGeom>
          <a:solidFill>
            <a:srgbClr val="5E8D66"/>
          </a:solidFill>
          <a:ln w="12700">
            <a:solidFill>
              <a:srgbClr val="5E8D6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Shape 47"/>
          <p:cNvSpPr/>
          <p:nvPr/>
        </p:nvSpPr>
        <p:spPr>
          <a:xfrm>
            <a:off x="292608" y="6702552"/>
            <a:ext cx="36576" cy="36576"/>
          </a:xfrm>
          <a:prstGeom prst="ellipse">
            <a:avLst/>
          </a:prstGeom>
          <a:solidFill>
            <a:srgbClr val="E6B833"/>
          </a:solidFill>
          <a:ln w="12700">
            <a:solidFill>
              <a:srgbClr val="E6B8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48"/>
          <p:cNvSpPr/>
          <p:nvPr/>
        </p:nvSpPr>
        <p:spPr>
          <a:xfrm>
            <a:off x="11804904" y="6675120"/>
            <a:ext cx="164592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40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user-5OMUinS2DRg9DUHxNmCh75Xw/0de77cf23bb846ec834131240e4472fb/mnt/data/template_extract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40896" y="64008"/>
            <a:ext cx="292608" cy="2926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4592" y="128016"/>
            <a:ext cx="8046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406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Choosing LoRA hyperparameters and training settings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8321040" y="137160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D7D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06 · Segment 5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365760" y="914400"/>
            <a:ext cx="252374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40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 r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65760" y="1097280"/>
            <a:ext cx="2523744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Higher r increases adaptation capacity but also trainable parameters and memory. Start small; only raise it if the baseline underfits.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291840" y="914400"/>
            <a:ext cx="252374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40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Alpha / scaling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291840" y="1097280"/>
            <a:ext cx="2523744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lora_alpha controls the effective update scale. Keep it consistent with rank and learning rate; too aggressive a scale can destabilize training.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217920" y="914400"/>
            <a:ext cx="252374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40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modules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217920" y="1097280"/>
            <a:ext cx="2523744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target set matters as much as rank. A small rank over the right modules often beats a large rank over the wrong modules.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9144000" y="914400"/>
            <a:ext cx="252374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40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Dropout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9144000" y="1097280"/>
            <a:ext cx="2523744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LoRA dropout is a regularization tool. Use modest values when data is small/noisy; use zero or near zero when data is large and clean.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11480" y="1874520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4061"/>
                </a:solidFill>
              </a:rPr>
              <a:t>Practical first-run defaults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11480" y="2148840"/>
            <a:ext cx="1691640" cy="384048"/>
          </a:xfrm>
          <a:prstGeom prst="rect">
            <a:avLst/>
          </a:prstGeom>
          <a:solidFill>
            <a:srgbClr val="E5E1D6"/>
          </a:solidFill>
          <a:ln w="10160">
            <a:solidFill>
              <a:srgbClr val="B9AF9C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19" name="Text 16"/>
          <p:cNvSpPr/>
          <p:nvPr/>
        </p:nvSpPr>
        <p:spPr>
          <a:xfrm>
            <a:off x="466344" y="2249424"/>
            <a:ext cx="158191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4061"/>
                </a:solidFill>
              </a:rPr>
              <a:t>Scenario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2103120" y="2148840"/>
            <a:ext cx="1143000" cy="384048"/>
          </a:xfrm>
          <a:prstGeom prst="rect">
            <a:avLst/>
          </a:prstGeom>
          <a:solidFill>
            <a:srgbClr val="E5E1D6"/>
          </a:solidFill>
          <a:ln w="10160">
            <a:solidFill>
              <a:srgbClr val="B9AF9C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21" name="Text 18"/>
          <p:cNvSpPr/>
          <p:nvPr/>
        </p:nvSpPr>
        <p:spPr>
          <a:xfrm>
            <a:off x="2157984" y="2249424"/>
            <a:ext cx="103327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4061"/>
                </a:solidFill>
              </a:rPr>
              <a:t>Target modules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3246120" y="2148840"/>
            <a:ext cx="1463040" cy="384048"/>
          </a:xfrm>
          <a:prstGeom prst="rect">
            <a:avLst/>
          </a:prstGeom>
          <a:solidFill>
            <a:srgbClr val="E5E1D6"/>
          </a:solidFill>
          <a:ln w="10160">
            <a:solidFill>
              <a:srgbClr val="B9AF9C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23" name="Text 20"/>
          <p:cNvSpPr/>
          <p:nvPr/>
        </p:nvSpPr>
        <p:spPr>
          <a:xfrm>
            <a:off x="3300984" y="2249424"/>
            <a:ext cx="135331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4061"/>
                </a:solidFill>
              </a:rPr>
              <a:t>Typical r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709160" y="2148840"/>
            <a:ext cx="1920240" cy="384048"/>
          </a:xfrm>
          <a:prstGeom prst="rect">
            <a:avLst/>
          </a:prstGeom>
          <a:solidFill>
            <a:srgbClr val="E5E1D6"/>
          </a:solidFill>
          <a:ln w="10160">
            <a:solidFill>
              <a:srgbClr val="B9AF9C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25" name="Text 22"/>
          <p:cNvSpPr/>
          <p:nvPr/>
        </p:nvSpPr>
        <p:spPr>
          <a:xfrm>
            <a:off x="4764024" y="2249424"/>
            <a:ext cx="181051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4061"/>
                </a:solidFill>
              </a:rPr>
              <a:t>Notes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11480" y="2532888"/>
            <a:ext cx="1691640" cy="384048"/>
          </a:xfrm>
          <a:prstGeom prst="rect">
            <a:avLst/>
          </a:prstGeom>
          <a:solidFill>
            <a:srgbClr val="F6F3EA"/>
          </a:solidFill>
          <a:ln w="7620">
            <a:solidFill>
              <a:srgbClr val="D0C6B7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27" name="Text 24"/>
          <p:cNvSpPr/>
          <p:nvPr/>
        </p:nvSpPr>
        <p:spPr>
          <a:xfrm>
            <a:off x="466344" y="2606040"/>
            <a:ext cx="1581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3333"/>
                </a:solidFill>
              </a:rPr>
              <a:t>Conservative first try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2103120" y="2532888"/>
            <a:ext cx="1143000" cy="384048"/>
          </a:xfrm>
          <a:prstGeom prst="rect">
            <a:avLst/>
          </a:prstGeom>
          <a:solidFill>
            <a:srgbClr val="F6F3EA"/>
          </a:solidFill>
          <a:ln w="7620">
            <a:solidFill>
              <a:srgbClr val="D0C6B7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29" name="Text 26"/>
          <p:cNvSpPr/>
          <p:nvPr/>
        </p:nvSpPr>
        <p:spPr>
          <a:xfrm>
            <a:off x="2157984" y="2606040"/>
            <a:ext cx="10332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3333"/>
                </a:solidFill>
              </a:rPr>
              <a:t>q_proj, v_proj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3246120" y="2532888"/>
            <a:ext cx="1463040" cy="384048"/>
          </a:xfrm>
          <a:prstGeom prst="rect">
            <a:avLst/>
          </a:prstGeom>
          <a:solidFill>
            <a:srgbClr val="F6F3EA"/>
          </a:solidFill>
          <a:ln w="7620">
            <a:solidFill>
              <a:srgbClr val="D0C6B7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31" name="Text 28"/>
          <p:cNvSpPr/>
          <p:nvPr/>
        </p:nvSpPr>
        <p:spPr>
          <a:xfrm>
            <a:off x="3300984" y="2606040"/>
            <a:ext cx="1353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3333"/>
                </a:solidFill>
              </a:rPr>
              <a:t>8–16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4709160" y="2532888"/>
            <a:ext cx="1920240" cy="384048"/>
          </a:xfrm>
          <a:prstGeom prst="rect">
            <a:avLst/>
          </a:prstGeom>
          <a:solidFill>
            <a:srgbClr val="F6F3EA"/>
          </a:solidFill>
          <a:ln w="7620">
            <a:solidFill>
              <a:srgbClr val="D0C6B7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33" name="Text 30"/>
          <p:cNvSpPr/>
          <p:nvPr/>
        </p:nvSpPr>
        <p:spPr>
          <a:xfrm>
            <a:off x="4764024" y="2606040"/>
            <a:ext cx="18105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3333"/>
                </a:solidFill>
              </a:rPr>
              <a:t>Good when you want a cheap baseline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411480" y="2916936"/>
            <a:ext cx="1691640" cy="384048"/>
          </a:xfrm>
          <a:prstGeom prst="rect">
            <a:avLst/>
          </a:prstGeom>
          <a:solidFill>
            <a:srgbClr val="FCFAF4"/>
          </a:solidFill>
          <a:ln w="7620">
            <a:solidFill>
              <a:srgbClr val="D0C6B7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35" name="Text 32"/>
          <p:cNvSpPr/>
          <p:nvPr/>
        </p:nvSpPr>
        <p:spPr>
          <a:xfrm>
            <a:off x="466344" y="2990088"/>
            <a:ext cx="1581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3333"/>
                </a:solidFill>
              </a:rPr>
              <a:t>Stronger attention-only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2103120" y="2916936"/>
            <a:ext cx="1143000" cy="384048"/>
          </a:xfrm>
          <a:prstGeom prst="rect">
            <a:avLst/>
          </a:prstGeom>
          <a:solidFill>
            <a:srgbClr val="FCFAF4"/>
          </a:solidFill>
          <a:ln w="7620">
            <a:solidFill>
              <a:srgbClr val="D0C6B7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37" name="Text 34"/>
          <p:cNvSpPr/>
          <p:nvPr/>
        </p:nvSpPr>
        <p:spPr>
          <a:xfrm>
            <a:off x="2157984" y="2990088"/>
            <a:ext cx="10332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3333"/>
                </a:solidFill>
              </a:rPr>
              <a:t>q, k, v, o</a:t>
            </a:r>
            <a:endParaRPr lang="en-US" sz="1050" dirty="0"/>
          </a:p>
        </p:txBody>
      </p:sp>
      <p:sp>
        <p:nvSpPr>
          <p:cNvPr id="38" name="Shape 35"/>
          <p:cNvSpPr/>
          <p:nvPr/>
        </p:nvSpPr>
        <p:spPr>
          <a:xfrm>
            <a:off x="3246120" y="2916936"/>
            <a:ext cx="1463040" cy="384048"/>
          </a:xfrm>
          <a:prstGeom prst="rect">
            <a:avLst/>
          </a:prstGeom>
          <a:solidFill>
            <a:srgbClr val="FCFAF4"/>
          </a:solidFill>
          <a:ln w="7620">
            <a:solidFill>
              <a:srgbClr val="D0C6B7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39" name="Text 36"/>
          <p:cNvSpPr/>
          <p:nvPr/>
        </p:nvSpPr>
        <p:spPr>
          <a:xfrm>
            <a:off x="3300984" y="2990088"/>
            <a:ext cx="1353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3333"/>
                </a:solidFill>
              </a:rPr>
              <a:t>16–32</a:t>
            </a:r>
            <a:endParaRPr lang="en-US" sz="1050" dirty="0"/>
          </a:p>
        </p:txBody>
      </p:sp>
      <p:sp>
        <p:nvSpPr>
          <p:cNvPr id="40" name="Shape 37"/>
          <p:cNvSpPr/>
          <p:nvPr/>
        </p:nvSpPr>
        <p:spPr>
          <a:xfrm>
            <a:off x="4709160" y="2916936"/>
            <a:ext cx="1920240" cy="384048"/>
          </a:xfrm>
          <a:prstGeom prst="rect">
            <a:avLst/>
          </a:prstGeom>
          <a:solidFill>
            <a:srgbClr val="FCFAF4"/>
          </a:solidFill>
          <a:ln w="7620">
            <a:solidFill>
              <a:srgbClr val="D0C6B7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41" name="Text 38"/>
          <p:cNvSpPr/>
          <p:nvPr/>
        </p:nvSpPr>
        <p:spPr>
          <a:xfrm>
            <a:off x="4764024" y="2990088"/>
            <a:ext cx="18105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3333"/>
                </a:solidFill>
              </a:rPr>
              <a:t>Use when minimal q/v underfits</a:t>
            </a:r>
            <a:endParaRPr lang="en-US" sz="1050" dirty="0"/>
          </a:p>
        </p:txBody>
      </p:sp>
      <p:sp>
        <p:nvSpPr>
          <p:cNvPr id="42" name="Shape 39"/>
          <p:cNvSpPr/>
          <p:nvPr/>
        </p:nvSpPr>
        <p:spPr>
          <a:xfrm>
            <a:off x="411480" y="3300984"/>
            <a:ext cx="1691640" cy="384048"/>
          </a:xfrm>
          <a:prstGeom prst="rect">
            <a:avLst/>
          </a:prstGeom>
          <a:solidFill>
            <a:srgbClr val="F6F3EA"/>
          </a:solidFill>
          <a:ln w="7620">
            <a:solidFill>
              <a:srgbClr val="D0C6B7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43" name="Text 40"/>
          <p:cNvSpPr/>
          <p:nvPr/>
        </p:nvSpPr>
        <p:spPr>
          <a:xfrm>
            <a:off x="466344" y="3374136"/>
            <a:ext cx="1581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3333"/>
                </a:solidFill>
              </a:rPr>
              <a:t>QLoRA-style adaptation</a:t>
            </a:r>
            <a:endParaRPr lang="en-US" sz="1050" dirty="0"/>
          </a:p>
        </p:txBody>
      </p:sp>
      <p:sp>
        <p:nvSpPr>
          <p:cNvPr id="44" name="Shape 41"/>
          <p:cNvSpPr/>
          <p:nvPr/>
        </p:nvSpPr>
        <p:spPr>
          <a:xfrm>
            <a:off x="2103120" y="3300984"/>
            <a:ext cx="1143000" cy="384048"/>
          </a:xfrm>
          <a:prstGeom prst="rect">
            <a:avLst/>
          </a:prstGeom>
          <a:solidFill>
            <a:srgbClr val="F6F3EA"/>
          </a:solidFill>
          <a:ln w="7620">
            <a:solidFill>
              <a:srgbClr val="D0C6B7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45" name="Text 42"/>
          <p:cNvSpPr/>
          <p:nvPr/>
        </p:nvSpPr>
        <p:spPr>
          <a:xfrm>
            <a:off x="2157984" y="3374136"/>
            <a:ext cx="10332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3333"/>
                </a:solidFill>
              </a:rPr>
              <a:t>all-linear</a:t>
            </a:r>
            <a:endParaRPr lang="en-US" sz="1050" dirty="0"/>
          </a:p>
        </p:txBody>
      </p:sp>
      <p:sp>
        <p:nvSpPr>
          <p:cNvPr id="46" name="Shape 43"/>
          <p:cNvSpPr/>
          <p:nvPr/>
        </p:nvSpPr>
        <p:spPr>
          <a:xfrm>
            <a:off x="3246120" y="3300984"/>
            <a:ext cx="1463040" cy="384048"/>
          </a:xfrm>
          <a:prstGeom prst="rect">
            <a:avLst/>
          </a:prstGeom>
          <a:solidFill>
            <a:srgbClr val="F6F3EA"/>
          </a:solidFill>
          <a:ln w="7620">
            <a:solidFill>
              <a:srgbClr val="D0C6B7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47" name="Text 44"/>
          <p:cNvSpPr/>
          <p:nvPr/>
        </p:nvSpPr>
        <p:spPr>
          <a:xfrm>
            <a:off x="3300984" y="3374136"/>
            <a:ext cx="1353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3333"/>
                </a:solidFill>
              </a:rPr>
              <a:t>16–64</a:t>
            </a:r>
            <a:endParaRPr lang="en-US" sz="1050" dirty="0"/>
          </a:p>
        </p:txBody>
      </p:sp>
      <p:sp>
        <p:nvSpPr>
          <p:cNvPr id="48" name="Shape 45"/>
          <p:cNvSpPr/>
          <p:nvPr/>
        </p:nvSpPr>
        <p:spPr>
          <a:xfrm>
            <a:off x="4709160" y="3300984"/>
            <a:ext cx="1920240" cy="384048"/>
          </a:xfrm>
          <a:prstGeom prst="rect">
            <a:avLst/>
          </a:prstGeom>
          <a:solidFill>
            <a:srgbClr val="F6F3EA"/>
          </a:solidFill>
          <a:ln w="7620">
            <a:solidFill>
              <a:srgbClr val="D0C6B7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49" name="Text 46"/>
          <p:cNvSpPr/>
          <p:nvPr/>
        </p:nvSpPr>
        <p:spPr>
          <a:xfrm>
            <a:off x="4764024" y="3374136"/>
            <a:ext cx="18105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3333"/>
                </a:solidFill>
              </a:rPr>
              <a:t>Common when the base is quantized</a:t>
            </a:r>
            <a:endParaRPr lang="en-US" sz="1050" dirty="0"/>
          </a:p>
        </p:txBody>
      </p:sp>
      <p:sp>
        <p:nvSpPr>
          <p:cNvPr id="50" name="Shape 47"/>
          <p:cNvSpPr/>
          <p:nvPr/>
        </p:nvSpPr>
        <p:spPr>
          <a:xfrm>
            <a:off x="411480" y="3685032"/>
            <a:ext cx="1691640" cy="384048"/>
          </a:xfrm>
          <a:prstGeom prst="rect">
            <a:avLst/>
          </a:prstGeom>
          <a:solidFill>
            <a:srgbClr val="FCFAF4"/>
          </a:solidFill>
          <a:ln w="7620">
            <a:solidFill>
              <a:srgbClr val="D0C6B7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51" name="Text 48"/>
          <p:cNvSpPr/>
          <p:nvPr/>
        </p:nvSpPr>
        <p:spPr>
          <a:xfrm>
            <a:off x="466344" y="3758184"/>
            <a:ext cx="1581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3333"/>
                </a:solidFill>
              </a:rPr>
              <a:t>Very small dataset</a:t>
            </a:r>
            <a:endParaRPr lang="en-US" sz="1050" dirty="0"/>
          </a:p>
        </p:txBody>
      </p:sp>
      <p:sp>
        <p:nvSpPr>
          <p:cNvPr id="52" name="Shape 49"/>
          <p:cNvSpPr/>
          <p:nvPr/>
        </p:nvSpPr>
        <p:spPr>
          <a:xfrm>
            <a:off x="2103120" y="3685032"/>
            <a:ext cx="1143000" cy="384048"/>
          </a:xfrm>
          <a:prstGeom prst="rect">
            <a:avLst/>
          </a:prstGeom>
          <a:solidFill>
            <a:srgbClr val="FCFAF4"/>
          </a:solidFill>
          <a:ln w="7620">
            <a:solidFill>
              <a:srgbClr val="D0C6B7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53" name="Text 50"/>
          <p:cNvSpPr/>
          <p:nvPr/>
        </p:nvSpPr>
        <p:spPr>
          <a:xfrm>
            <a:off x="2157984" y="3758184"/>
            <a:ext cx="10332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3333"/>
                </a:solidFill>
              </a:rPr>
              <a:t>minimal targets</a:t>
            </a:r>
            <a:endParaRPr lang="en-US" sz="1050" dirty="0"/>
          </a:p>
        </p:txBody>
      </p:sp>
      <p:sp>
        <p:nvSpPr>
          <p:cNvPr id="54" name="Shape 51"/>
          <p:cNvSpPr/>
          <p:nvPr/>
        </p:nvSpPr>
        <p:spPr>
          <a:xfrm>
            <a:off x="3246120" y="3685032"/>
            <a:ext cx="1463040" cy="384048"/>
          </a:xfrm>
          <a:prstGeom prst="rect">
            <a:avLst/>
          </a:prstGeom>
          <a:solidFill>
            <a:srgbClr val="FCFAF4"/>
          </a:solidFill>
          <a:ln w="7620">
            <a:solidFill>
              <a:srgbClr val="D0C6B7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55" name="Text 52"/>
          <p:cNvSpPr/>
          <p:nvPr/>
        </p:nvSpPr>
        <p:spPr>
          <a:xfrm>
            <a:off x="3300984" y="3758184"/>
            <a:ext cx="1353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3333"/>
                </a:solidFill>
              </a:rPr>
              <a:t>4–16</a:t>
            </a:r>
            <a:endParaRPr lang="en-US" sz="1050" dirty="0"/>
          </a:p>
        </p:txBody>
      </p:sp>
      <p:sp>
        <p:nvSpPr>
          <p:cNvPr id="56" name="Shape 53"/>
          <p:cNvSpPr/>
          <p:nvPr/>
        </p:nvSpPr>
        <p:spPr>
          <a:xfrm>
            <a:off x="4709160" y="3685032"/>
            <a:ext cx="1920240" cy="384048"/>
          </a:xfrm>
          <a:prstGeom prst="rect">
            <a:avLst/>
          </a:prstGeom>
          <a:solidFill>
            <a:srgbClr val="FCFAF4"/>
          </a:solidFill>
          <a:ln w="7620">
            <a:solidFill>
              <a:srgbClr val="D0C6B7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57" name="Text 54"/>
          <p:cNvSpPr/>
          <p:nvPr/>
        </p:nvSpPr>
        <p:spPr>
          <a:xfrm>
            <a:off x="4764024" y="3758184"/>
            <a:ext cx="18105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3333"/>
                </a:solidFill>
              </a:rPr>
              <a:t>Reduce capacity before blaming precision</a:t>
            </a:r>
            <a:endParaRPr lang="en-US" sz="1050" dirty="0"/>
          </a:p>
        </p:txBody>
      </p:sp>
      <p:sp>
        <p:nvSpPr>
          <p:cNvPr id="58" name="Text 55"/>
          <p:cNvSpPr/>
          <p:nvPr/>
        </p:nvSpPr>
        <p:spPr>
          <a:xfrm>
            <a:off x="7406640" y="187452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4061"/>
                </a:solidFill>
              </a:rPr>
              <a:t>Conceptual effect of rank</a:t>
            </a:r>
            <a:endParaRPr lang="en-US" sz="1100" dirty="0"/>
          </a:p>
        </p:txBody>
      </p:sp>
      <p:sp>
        <p:nvSpPr>
          <p:cNvPr id="59" name="Shape 56"/>
          <p:cNvSpPr/>
          <p:nvPr/>
        </p:nvSpPr>
        <p:spPr>
          <a:xfrm>
            <a:off x="7635240" y="4932680"/>
            <a:ext cx="3246120" cy="0"/>
          </a:xfrm>
          <a:prstGeom prst="line">
            <a:avLst/>
          </a:prstGeom>
          <a:noFill/>
          <a:ln w="12700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60" name="Shape 57"/>
          <p:cNvSpPr/>
          <p:nvPr/>
        </p:nvSpPr>
        <p:spPr>
          <a:xfrm>
            <a:off x="7635240" y="2240280"/>
            <a:ext cx="0" cy="2286000"/>
          </a:xfrm>
          <a:prstGeom prst="line">
            <a:avLst/>
          </a:prstGeom>
          <a:noFill/>
          <a:ln w="12700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Text 58"/>
          <p:cNvSpPr/>
          <p:nvPr/>
        </p:nvSpPr>
        <p:spPr>
          <a:xfrm>
            <a:off x="7178040" y="224028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</a:rPr>
              <a:t>Trainable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</a:rPr>
              <a:t>params</a:t>
            </a:r>
            <a:endParaRPr lang="en-US" sz="800" dirty="0"/>
          </a:p>
        </p:txBody>
      </p:sp>
      <p:sp>
        <p:nvSpPr>
          <p:cNvPr id="62" name="Text 59"/>
          <p:cNvSpPr/>
          <p:nvPr/>
        </p:nvSpPr>
        <p:spPr>
          <a:xfrm>
            <a:off x="8458200" y="4978400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55555"/>
                </a:solidFill>
              </a:rPr>
              <a:t>Adapter capacity / fit</a:t>
            </a:r>
            <a:endParaRPr lang="en-US" sz="1050" dirty="0"/>
          </a:p>
        </p:txBody>
      </p:sp>
      <p:sp>
        <p:nvSpPr>
          <p:cNvPr id="63" name="Shape 60"/>
          <p:cNvSpPr/>
          <p:nvPr/>
        </p:nvSpPr>
        <p:spPr>
          <a:xfrm>
            <a:off x="7726680" y="4795520"/>
            <a:ext cx="2926080" cy="0"/>
          </a:xfrm>
          <a:prstGeom prst="line">
            <a:avLst/>
          </a:prstGeom>
          <a:noFill/>
          <a:ln w="25400">
            <a:solidFill>
              <a:srgbClr val="B34A36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64" name="Text 61"/>
          <p:cNvSpPr/>
          <p:nvPr/>
        </p:nvSpPr>
        <p:spPr>
          <a:xfrm>
            <a:off x="8001000" y="2423160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B34A36"/>
                </a:solidFill>
              </a:rPr>
              <a:t>Trainable params ∝ r</a:t>
            </a:r>
            <a:endParaRPr lang="en-US" sz="830" dirty="0"/>
          </a:p>
        </p:txBody>
      </p:sp>
      <p:sp>
        <p:nvSpPr>
          <p:cNvPr id="65" name="Shape 62"/>
          <p:cNvSpPr/>
          <p:nvPr/>
        </p:nvSpPr>
        <p:spPr>
          <a:xfrm>
            <a:off x="7726680" y="4069080"/>
            <a:ext cx="2926080" cy="0"/>
          </a:xfrm>
          <a:prstGeom prst="line">
            <a:avLst/>
          </a:prstGeom>
          <a:noFill/>
          <a:ln w="25400">
            <a:solidFill>
              <a:srgbClr val="4E7D5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6" name="Text 63"/>
          <p:cNvSpPr/>
          <p:nvPr/>
        </p:nvSpPr>
        <p:spPr>
          <a:xfrm>
            <a:off x="8229600" y="3246120"/>
            <a:ext cx="1920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4E7D59"/>
                </a:solidFill>
              </a:rPr>
              <a:t>Task fit improves then saturates</a:t>
            </a:r>
            <a:endParaRPr lang="en-US" sz="830" dirty="0"/>
          </a:p>
        </p:txBody>
      </p:sp>
      <p:sp>
        <p:nvSpPr>
          <p:cNvPr id="67" name="Text 64"/>
          <p:cNvSpPr/>
          <p:nvPr/>
        </p:nvSpPr>
        <p:spPr>
          <a:xfrm>
            <a:off x="7818120" y="4960112"/>
            <a:ext cx="5029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</a:rPr>
              <a:t>small</a:t>
            </a:r>
            <a:endParaRPr lang="en-US" sz="1000" dirty="0"/>
          </a:p>
        </p:txBody>
      </p:sp>
      <p:sp>
        <p:nvSpPr>
          <p:cNvPr id="68" name="Text 65"/>
          <p:cNvSpPr/>
          <p:nvPr/>
        </p:nvSpPr>
        <p:spPr>
          <a:xfrm>
            <a:off x="8778240" y="4960112"/>
            <a:ext cx="5029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</a:rPr>
              <a:t>medium</a:t>
            </a:r>
            <a:endParaRPr lang="en-US" sz="1000" dirty="0"/>
          </a:p>
        </p:txBody>
      </p:sp>
      <p:sp>
        <p:nvSpPr>
          <p:cNvPr id="69" name="Text 66"/>
          <p:cNvSpPr/>
          <p:nvPr/>
        </p:nvSpPr>
        <p:spPr>
          <a:xfrm>
            <a:off x="9738360" y="4960112"/>
            <a:ext cx="5029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</a:rPr>
              <a:t>high</a:t>
            </a:r>
            <a:endParaRPr lang="en-US" sz="1000" dirty="0"/>
          </a:p>
        </p:txBody>
      </p:sp>
      <p:sp>
        <p:nvSpPr>
          <p:cNvPr id="70" name="Shape 67"/>
          <p:cNvSpPr/>
          <p:nvPr/>
        </p:nvSpPr>
        <p:spPr>
          <a:xfrm>
            <a:off x="411480" y="4566920"/>
            <a:ext cx="2971800" cy="1005840"/>
          </a:xfrm>
          <a:prstGeom prst="roundRect">
            <a:avLst>
              <a:gd name="adj" fmla="val 7273"/>
            </a:avLst>
          </a:prstGeom>
          <a:solidFill>
            <a:srgbClr val="F7E0D8"/>
          </a:solidFill>
          <a:ln w="10160">
            <a:solidFill>
              <a:srgbClr val="C8C1B2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800"/>
          </a:p>
        </p:txBody>
      </p:sp>
      <p:sp>
        <p:nvSpPr>
          <p:cNvPr id="71" name="Text 68"/>
          <p:cNvSpPr/>
          <p:nvPr/>
        </p:nvSpPr>
        <p:spPr>
          <a:xfrm>
            <a:off x="521208" y="4658360"/>
            <a:ext cx="2862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40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overtune the adapter first</a:t>
            </a:r>
            <a:endParaRPr lang="en-US" sz="1400" dirty="0"/>
          </a:p>
        </p:txBody>
      </p:sp>
      <p:sp>
        <p:nvSpPr>
          <p:cNvPr id="72" name="Text 69"/>
          <p:cNvSpPr/>
          <p:nvPr/>
        </p:nvSpPr>
        <p:spPr>
          <a:xfrm>
            <a:off x="521208" y="4841240"/>
            <a:ext cx="2752344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 sweeping many ranks and target sets, validate data formatting, prompt template, loss masking, and evaluation protocol. Many “LoRA problems” are really data or objective problems.</a:t>
            </a:r>
            <a:endParaRPr lang="en-US" sz="1050" dirty="0"/>
          </a:p>
        </p:txBody>
      </p:sp>
      <p:sp>
        <p:nvSpPr>
          <p:cNvPr id="73" name="Shape 70"/>
          <p:cNvSpPr/>
          <p:nvPr/>
        </p:nvSpPr>
        <p:spPr>
          <a:xfrm>
            <a:off x="3611880" y="4566920"/>
            <a:ext cx="3108960" cy="1005840"/>
          </a:xfrm>
          <a:prstGeom prst="roundRect">
            <a:avLst>
              <a:gd name="adj" fmla="val 7273"/>
            </a:avLst>
          </a:prstGeom>
          <a:solidFill>
            <a:srgbClr val="F7E8D9"/>
          </a:solidFill>
          <a:ln w="10160">
            <a:solidFill>
              <a:srgbClr val="C8C1B2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800"/>
          </a:p>
        </p:txBody>
      </p:sp>
      <p:sp>
        <p:nvSpPr>
          <p:cNvPr id="74" name="Text 71"/>
          <p:cNvSpPr/>
          <p:nvPr/>
        </p:nvSpPr>
        <p:spPr>
          <a:xfrm>
            <a:off x="3721608" y="4658360"/>
            <a:ext cx="288950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40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Quantized route caveat</a:t>
            </a:r>
            <a:endParaRPr lang="en-US" sz="1400" dirty="0"/>
          </a:p>
        </p:txBody>
      </p:sp>
      <p:sp>
        <p:nvSpPr>
          <p:cNvPr id="75" name="Text 72"/>
          <p:cNvSpPr/>
          <p:nvPr/>
        </p:nvSpPr>
        <p:spPr>
          <a:xfrm>
            <a:off x="3721608" y="4841240"/>
            <a:ext cx="2889504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 a quantized base, memory may push you to QLoRA, but adapter quality still depends heavily on choosing target modules, optimizer settings, and a clean instruction format.</a:t>
            </a:r>
            <a:endParaRPr lang="en-US" sz="1050" dirty="0"/>
          </a:p>
        </p:txBody>
      </p:sp>
      <p:sp>
        <p:nvSpPr>
          <p:cNvPr id="76" name="Shape 73"/>
          <p:cNvSpPr/>
          <p:nvPr/>
        </p:nvSpPr>
        <p:spPr>
          <a:xfrm>
            <a:off x="6949440" y="4566920"/>
            <a:ext cx="4892040" cy="1005840"/>
          </a:xfrm>
          <a:prstGeom prst="roundRect">
            <a:avLst>
              <a:gd name="adj" fmla="val 7273"/>
            </a:avLst>
          </a:prstGeom>
          <a:solidFill>
            <a:srgbClr val="DDEBF7"/>
          </a:solidFill>
          <a:ln w="10160">
            <a:solidFill>
              <a:srgbClr val="C8C1B2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800"/>
          </a:p>
        </p:txBody>
      </p:sp>
      <p:sp>
        <p:nvSpPr>
          <p:cNvPr id="77" name="Text 74"/>
          <p:cNvSpPr/>
          <p:nvPr/>
        </p:nvSpPr>
        <p:spPr>
          <a:xfrm>
            <a:off x="7059168" y="4658360"/>
            <a:ext cx="46725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40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Evaluate the right thing</a:t>
            </a:r>
            <a:endParaRPr lang="en-US" sz="1400" dirty="0"/>
          </a:p>
        </p:txBody>
      </p:sp>
      <p:sp>
        <p:nvSpPr>
          <p:cNvPr id="78" name="Text 75"/>
          <p:cNvSpPr/>
          <p:nvPr/>
        </p:nvSpPr>
        <p:spPr>
          <a:xfrm>
            <a:off x="7059168" y="4841240"/>
            <a:ext cx="4672584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instruction models, inspect both quantitative metrics and actual generations. A rank that looks fine on loss alone may still miss format-following or domain vocabulary behavior.</a:t>
            </a:r>
            <a:endParaRPr lang="en-US" sz="1050" dirty="0"/>
          </a:p>
        </p:txBody>
      </p:sp>
      <p:sp>
        <p:nvSpPr>
          <p:cNvPr id="79" name="Text 76"/>
          <p:cNvSpPr/>
          <p:nvPr/>
        </p:nvSpPr>
        <p:spPr>
          <a:xfrm>
            <a:off x="201168" y="6446520"/>
            <a:ext cx="11521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" i="1" dirty="0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Figure synthesized from [1], [2], [6], [7]. Defaults are starting points, not universal optima.</a:t>
            </a:r>
            <a:endParaRPr lang="en-US" sz="720" dirty="0"/>
          </a:p>
        </p:txBody>
      </p:sp>
      <p:sp>
        <p:nvSpPr>
          <p:cNvPr id="81" name="Shape 77"/>
          <p:cNvSpPr/>
          <p:nvPr/>
        </p:nvSpPr>
        <p:spPr>
          <a:xfrm>
            <a:off x="109728" y="6702552"/>
            <a:ext cx="36576" cy="36576"/>
          </a:xfrm>
          <a:prstGeom prst="ellipse">
            <a:avLst/>
          </a:prstGeom>
          <a:solidFill>
            <a:srgbClr val="B64A3A"/>
          </a:solidFill>
          <a:ln w="12700">
            <a:solidFill>
              <a:srgbClr val="B64A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2" name="Shape 78"/>
          <p:cNvSpPr/>
          <p:nvPr/>
        </p:nvSpPr>
        <p:spPr>
          <a:xfrm>
            <a:off x="201168" y="6702552"/>
            <a:ext cx="36576" cy="36576"/>
          </a:xfrm>
          <a:prstGeom prst="ellipse">
            <a:avLst/>
          </a:prstGeom>
          <a:solidFill>
            <a:srgbClr val="5E8D66"/>
          </a:solidFill>
          <a:ln w="12700">
            <a:solidFill>
              <a:srgbClr val="5E8D6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3" name="Shape 79"/>
          <p:cNvSpPr/>
          <p:nvPr/>
        </p:nvSpPr>
        <p:spPr>
          <a:xfrm>
            <a:off x="292608" y="6702552"/>
            <a:ext cx="36576" cy="36576"/>
          </a:xfrm>
          <a:prstGeom prst="ellipse">
            <a:avLst/>
          </a:prstGeom>
          <a:solidFill>
            <a:srgbClr val="E6B833"/>
          </a:solidFill>
          <a:ln w="12700">
            <a:solidFill>
              <a:srgbClr val="E6B8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4" name="Text 80"/>
          <p:cNvSpPr/>
          <p:nvPr/>
        </p:nvSpPr>
        <p:spPr>
          <a:xfrm>
            <a:off x="11804904" y="6675120"/>
            <a:ext cx="164592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40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>
            <a:extLst>
              <a:ext uri="{FF2B5EF4-FFF2-40B4-BE49-F238E27FC236}">
                <a16:creationId xmlns:a16="http://schemas.microsoft.com/office/drawing/2014/main" id="{8E4785E4-0C78-7845-99EF-96A8E763BC00}"/>
              </a:ext>
            </a:extLst>
          </p:cNvPr>
          <p:cNvSpPr/>
          <p:nvPr/>
        </p:nvSpPr>
        <p:spPr>
          <a:xfrm>
            <a:off x="5012831" y="2539340"/>
            <a:ext cx="4876800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Thank You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7086289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2201</Words>
  <Application>Microsoft Office PowerPoint</Application>
  <PresentationFormat>Widescreen</PresentationFormat>
  <Paragraphs>206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MS PGothic</vt:lpstr>
      <vt:lpstr>Aptos</vt:lpstr>
      <vt:lpstr>Aptos Display</vt:lpstr>
      <vt:lpstr>Arial</vt:lpstr>
      <vt:lpstr>Arial MT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Efficient LLM Fine-tuning using PEFT and LoRA</dc:title>
  <dc:subject>AAAI Week 6 Segment 5</dc:subject>
  <dc:creator>OpenAI</dc:creator>
  <cp:lastModifiedBy>satyajit das</cp:lastModifiedBy>
  <cp:revision>20</cp:revision>
  <dcterms:created xsi:type="dcterms:W3CDTF">2026-04-09T08:53:10Z</dcterms:created>
  <dcterms:modified xsi:type="dcterms:W3CDTF">2026-04-09T17:16:07Z</dcterms:modified>
</cp:coreProperties>
</file>