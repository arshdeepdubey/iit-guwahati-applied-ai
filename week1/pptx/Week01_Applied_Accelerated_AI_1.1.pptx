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503" r:id="rId2"/>
    <p:sldId id="576" r:id="rId3"/>
    <p:sldId id="577" r:id="rId4"/>
    <p:sldId id="578" r:id="rId5"/>
    <p:sldId id="579" r:id="rId6"/>
    <p:sldId id="612" r:id="rId7"/>
    <p:sldId id="613" r:id="rId8"/>
    <p:sldId id="580" r:id="rId9"/>
    <p:sldId id="614" r:id="rId10"/>
    <p:sldId id="616" r:id="rId11"/>
    <p:sldId id="581" r:id="rId12"/>
    <p:sldId id="617" r:id="rId13"/>
    <p:sldId id="582" r:id="rId14"/>
    <p:sldId id="583" r:id="rId15"/>
    <p:sldId id="575" r:id="rId16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18"/>
      <p:bold r:id="rId19"/>
      <p:italic r:id="rId20"/>
      <p:boldItalic r:id="rId21"/>
    </p:embeddedFont>
    <p:embeddedFont>
      <p:font typeface="Helvetica Neue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6" autoAdjust="0"/>
    <p:restoredTop sz="86416" autoAdjust="0"/>
  </p:normalViewPr>
  <p:slideViewPr>
    <p:cSldViewPr snapToGrid="0">
      <p:cViewPr>
        <p:scale>
          <a:sx n="66" d="100"/>
          <a:sy n="66" d="100"/>
        </p:scale>
        <p:origin x="24" y="30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1069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1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itle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Week 01: AI System Hardware &amp; Accelerators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Segment 1: CPU Architecture | Segment 2: Memory Hierarchy | Segment 3: GPU &amp; Accelerators | Segment 4: Interconnects | Segment 5: AI Software 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itle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1: CPU Architecture and AI Workloads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Understanding how CPUs are structured and why AI demands more than a general-purpose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Learning Objectives - Segment 1</a:t>
            </a:r>
          </a:p>
        </p:txBody>
      </p:sp>
      <p:sp>
        <p:nvSpPr>
          <p:cNvPr id="200" name="ObjNum0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1" name="ObjText0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Describe the key microarchitectural components of a modern CPU (pipeline, cache, ALU)</a:t>
            </a:r>
          </a:p>
        </p:txBody>
      </p:sp>
      <p:sp>
        <p:nvSpPr>
          <p:cNvPr id="202" name="ObjNum1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3" name="ObjText1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Instruction-Level Parallelism (ILP) and its limits for AI workloads</a:t>
            </a:r>
          </a:p>
        </p:txBody>
      </p:sp>
      <p:sp>
        <p:nvSpPr>
          <p:cNvPr id="204" name="ObjNum2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5" name="ObjText2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Differentiate latency-optimised (CPU) vs. throughput-optimised (GPU) designs</a:t>
            </a:r>
          </a:p>
        </p:txBody>
      </p:sp>
      <p:sp>
        <p:nvSpPr>
          <p:cNvPr id="206" name="ObjNum3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7" name="ObjText3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Identify why FLOPS, memory bandwidth, and cache capacity are critical AI metrics</a:t>
            </a:r>
          </a:p>
        </p:txBody>
      </p:sp>
      <p:sp>
        <p:nvSpPr>
          <p:cNvPr id="208" name="ObjNum4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09" name="ObjText4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Analyse the von Neumann bottleneck and its impact on DNN inference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CPU Microarchitecture: The Building Blocks</a:t>
            </a:r>
          </a:p>
        </p:txBody>
      </p:sp>
      <p:sp>
        <p:nvSpPr>
          <p:cNvPr id="901" name="Caption901"/>
          <p:cNvSpPr txBox="1"/>
          <p:nvPr/>
        </p:nvSpPr>
        <p:spPr>
          <a:xfrm>
            <a:off x="2778053" y="2731796"/>
            <a:ext cx="763683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1: CPU 5-Stage Pipeline</a:t>
            </a:r>
          </a:p>
        </p:txBody>
      </p:sp>
      <p:sp>
        <p:nvSpPr>
          <p:cNvPr id="4" name="LeftCol">
            <a:extLst>
              <a:ext uri="{FF2B5EF4-FFF2-40B4-BE49-F238E27FC236}">
                <a16:creationId xmlns:a16="http://schemas.microsoft.com/office/drawing/2014/main" id="{94ECE9C5-C981-B7D4-6AE1-C7F6F1B716EB}"/>
              </a:ext>
            </a:extLst>
          </p:cNvPr>
          <p:cNvSpPr txBox="1"/>
          <p:nvPr/>
        </p:nvSpPr>
        <p:spPr>
          <a:xfrm>
            <a:off x="392000" y="1223964"/>
            <a:ext cx="4180000" cy="244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Core Components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Fetch-Decode-Execute-Writeback pipeline stages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Superscalar execution: multiple execution units per cycle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Out-of-Order (OoO) execution for instruction-level parallelism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Branch predictor reduces pipeline stalls on conditional branches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D5D306-605C-12C5-EF09-7339C8913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570" y="882857"/>
            <a:ext cx="3871430" cy="181159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2B61FDD-375C-A4B0-1A31-01DF60E59524}"/>
              </a:ext>
            </a:extLst>
          </p:cNvPr>
          <p:cNvGrpSpPr/>
          <p:nvPr/>
        </p:nvGrpSpPr>
        <p:grpSpPr>
          <a:xfrm>
            <a:off x="2947282" y="3280776"/>
            <a:ext cx="7636834" cy="1756208"/>
            <a:chOff x="2947282" y="3280776"/>
            <a:chExt cx="7636834" cy="1756208"/>
          </a:xfrm>
        </p:grpSpPr>
        <p:pic>
          <p:nvPicPr>
            <p:cNvPr id="1026" name="Picture 2" descr="undefined">
              <a:extLst>
                <a:ext uri="{FF2B5EF4-FFF2-40B4-BE49-F238E27FC236}">
                  <a16:creationId xmlns:a16="http://schemas.microsoft.com/office/drawing/2014/main" id="{0228BE50-F784-289B-CD24-0A5AC8476F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3211" y="3280776"/>
              <a:ext cx="2526518" cy="14749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Caption901">
              <a:extLst>
                <a:ext uri="{FF2B5EF4-FFF2-40B4-BE49-F238E27FC236}">
                  <a16:creationId xmlns:a16="http://schemas.microsoft.com/office/drawing/2014/main" id="{FF5EB267-88B3-64C6-B633-1F75190B8B30}"/>
                </a:ext>
              </a:extLst>
            </p:cNvPr>
            <p:cNvSpPr txBox="1"/>
            <p:nvPr/>
          </p:nvSpPr>
          <p:spPr>
            <a:xfrm>
              <a:off x="2947282" y="4835816"/>
              <a:ext cx="763683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en-US" sz="900" i="1" dirty="0">
                  <a:solidFill>
                    <a:srgbClr val="7F7F7F"/>
                  </a:solidFill>
                  <a:latin typeface="Helvetica Neue"/>
                </a:rPr>
                <a:t>Superscalar - Source: Wikipedia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>
          <a:extLst>
            <a:ext uri="{FF2B5EF4-FFF2-40B4-BE49-F238E27FC236}">
              <a16:creationId xmlns:a16="http://schemas.microsoft.com/office/drawing/2014/main" id="{6F96DC0F-3BD7-E49A-F1A5-6D1422BA4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6AF642-74CF-96DC-FD46-F6A23EA6E866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95E004-AC96-54ED-B68B-9A3C1FF4C8F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>
            <a:extLst>
              <a:ext uri="{FF2B5EF4-FFF2-40B4-BE49-F238E27FC236}">
                <a16:creationId xmlns:a16="http://schemas.microsoft.com/office/drawing/2014/main" id="{C95F8BC0-98C1-20DD-F3DC-0441B1766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CPU Microarchitecture: The Building Blocks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1B691EA0-636C-5359-20ED-B578F6CFEE90}"/>
              </a:ext>
            </a:extLst>
          </p:cNvPr>
          <p:cNvSpPr txBox="1"/>
          <p:nvPr/>
        </p:nvSpPr>
        <p:spPr>
          <a:xfrm>
            <a:off x="552922" y="49364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Patterson &amp; Hennessy, “Computer Organization and Design,” 6th Ed. (2021)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71B1D-7762-28FD-349F-8C90FA1CE2D0}"/>
              </a:ext>
            </a:extLst>
          </p:cNvPr>
          <p:cNvSpPr txBox="1"/>
          <p:nvPr/>
        </p:nvSpPr>
        <p:spPr>
          <a:xfrm>
            <a:off x="451590" y="1123118"/>
            <a:ext cx="7592886" cy="2249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002060"/>
                </a:solidFill>
                <a:latin typeface="Helvetica Neue"/>
              </a:rPr>
              <a:t>Cache Hierarchy (Intel Xeon example)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400" b="0" dirty="0">
                <a:solidFill>
                  <a:srgbClr val="000000"/>
                </a:solidFill>
                <a:latin typeface="Helvetica Neue"/>
              </a:rPr>
              <a:t>L1: ~32 KB per core, ~4 cycle latency, per-core private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400" b="0" dirty="0">
                <a:solidFill>
                  <a:srgbClr val="000000"/>
                </a:solidFill>
                <a:latin typeface="Helvetica Neue"/>
              </a:rPr>
              <a:t>L2: ~256 KB per core, ~12 cycle latency, per-core private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400" b="0" dirty="0">
                <a:solidFill>
                  <a:srgbClr val="000000"/>
                </a:solidFill>
                <a:latin typeface="Helvetica Neue"/>
              </a:rPr>
              <a:t>L3: 30-60 MB shared, ~40 cycle latency, shared across cores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400" b="0" dirty="0">
                <a:solidFill>
                  <a:srgbClr val="000000"/>
                </a:solidFill>
                <a:latin typeface="Helvetica Neue"/>
              </a:rPr>
              <a:t>DRAM: GBs capacity, ~200+ cycle latency (the “memory wall”)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6B7E4-5EDC-BEF2-7B95-397150888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748" y="1553325"/>
            <a:ext cx="2799401" cy="166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56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>
          <a:extLst>
            <a:ext uri="{FF2B5EF4-FFF2-40B4-BE49-F238E27FC236}">
              <a16:creationId xmlns:a16="http://schemas.microsoft.com/office/drawing/2014/main" id="{57AE9D1A-F157-DD52-5306-A0D298EBF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1389B9-499D-E2A1-6783-B8B655146C09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F8C3D-2C88-688A-87F3-2EC1D3C6769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>
            <a:extLst>
              <a:ext uri="{FF2B5EF4-FFF2-40B4-BE49-F238E27FC236}">
                <a16:creationId xmlns:a16="http://schemas.microsoft.com/office/drawing/2014/main" id="{190125DD-9411-47A4-5F87-8B32AEB2E2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CPU Microarchitecture: The Building Blocks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E6B1F211-4FB2-10F1-FD80-CDEDB2252F71}"/>
              </a:ext>
            </a:extLst>
          </p:cNvPr>
          <p:cNvSpPr txBox="1"/>
          <p:nvPr/>
        </p:nvSpPr>
        <p:spPr>
          <a:xfrm>
            <a:off x="623400" y="4923529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Patterson &amp; Hennessy, “Computer Organization and Design,” 6th Ed. (2021)</a:t>
            </a:r>
          </a:p>
        </p:txBody>
      </p:sp>
      <p:sp>
        <p:nvSpPr>
          <p:cNvPr id="4" name="RightCol">
            <a:extLst>
              <a:ext uri="{FF2B5EF4-FFF2-40B4-BE49-F238E27FC236}">
                <a16:creationId xmlns:a16="http://schemas.microsoft.com/office/drawing/2014/main" id="{81A5C928-A507-7224-6048-D666D15E083A}"/>
              </a:ext>
            </a:extLst>
          </p:cNvPr>
          <p:cNvSpPr txBox="1"/>
          <p:nvPr/>
        </p:nvSpPr>
        <p:spPr>
          <a:xfrm>
            <a:off x="472386" y="571750"/>
            <a:ext cx="7459893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endParaRPr lang="en-US" sz="6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Modern CPU Specifications (AI Context)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AMD EPYC 9654: 96 cores, 384 MB L3, 12-ch DDR5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Intel Xeon Max 9480: 60 cores + HBM2e on-package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Peak FP32: ~4-6 TFLOPS (CPU) vs ~1000 TFLOPS (GPU)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Memory BW: ~300 GB/s (CPU DDR5) vs ~3.35 TB/s (H100 HBM3)</a:t>
            </a:r>
          </a:p>
          <a:p>
            <a:pPr marL="0" indent="0">
              <a:lnSpc>
                <a:spcPct val="200000"/>
              </a:lnSpc>
              <a:buNone/>
            </a:pPr>
            <a:endParaRPr lang="en-US" sz="6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Key Insight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CPUs excel at serial, branchy, latency-sensitive workloads.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AI training/inference is a massively parallel GEMM problem.</a:t>
            </a:r>
          </a:p>
        </p:txBody>
      </p:sp>
    </p:spTree>
    <p:extLst>
      <p:ext uri="{BB962C8B-B14F-4D97-AF65-F5344CB8AC3E}">
        <p14:creationId xmlns:p14="http://schemas.microsoft.com/office/powerpoint/2010/main" val="638950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ILP, SIMD, and the Parallelism Gap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623400" y="4923529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Williams, Waterman, Patterson. “Roofline: An Insightful Visual Model.” CACM 2009</a:t>
            </a:r>
          </a:p>
        </p:txBody>
      </p:sp>
      <p:sp>
        <p:nvSpPr>
          <p:cNvPr id="4" name="Content">
            <a:extLst>
              <a:ext uri="{FF2B5EF4-FFF2-40B4-BE49-F238E27FC236}">
                <a16:creationId xmlns:a16="http://schemas.microsoft.com/office/drawing/2014/main" id="{DFACAE9A-BAA8-31DA-752C-403E6454E036}"/>
              </a:ext>
            </a:extLst>
          </p:cNvPr>
          <p:cNvSpPr txBox="1"/>
          <p:nvPr/>
        </p:nvSpPr>
        <p:spPr>
          <a:xfrm>
            <a:off x="311700" y="883529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Instruction-Level Parallelism (ILP)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Superscalar CPUs issue 4-6 instructions per cycle via multiple execution ports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OoO window: ~200-250 instructions (reorder buffer) - inherently limited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Data hazards (RAW, WAR, WAW) and control hazards cap effective ILP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SIMD Extensions: Data-Level Parallelism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SSE (128-bit): 4x FP32 per cycle introduced in 1999 (Pentium III)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AVX-512 (512-bit): 16x FP32 per cycle, key for inference on CPUs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AMX (Intel): Matrix tiles up to 1024 bytes, accelerates GEMM on-chip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Parallelism Gap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 ResNet-50 inference needs ~4 billion multiply-accumulate (MAC) operations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96-core EPYC with AVX-512: ~12 TFLOPS | NVIDIA H100: ~2000 TFLOPS (TF32)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For training LLMs, CPU-only is 100-1000x slower than GPU-based systems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>
          <a:extLst>
            <a:ext uri="{FF2B5EF4-FFF2-40B4-BE49-F238E27FC236}">
              <a16:creationId xmlns:a16="http://schemas.microsoft.com/office/drawing/2014/main" id="{6CAE1C08-DCC6-EC62-DC49-D9952985D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67F9A2-0DD1-DC8B-8CEE-40D386EE923F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9BB24-50D8-F73F-34D2-1D529303590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>
            <a:extLst>
              <a:ext uri="{FF2B5EF4-FFF2-40B4-BE49-F238E27FC236}">
                <a16:creationId xmlns:a16="http://schemas.microsoft.com/office/drawing/2014/main" id="{A3A09229-1FF9-FDED-F4FB-5B3BD0829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ILP, SIMD, and the Parallelism Gap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F09D62A0-A68E-A2E0-E882-5BC9FFF6607D}"/>
              </a:ext>
            </a:extLst>
          </p:cNvPr>
          <p:cNvSpPr txBox="1"/>
          <p:nvPr/>
        </p:nvSpPr>
        <p:spPr>
          <a:xfrm>
            <a:off x="623400" y="4923529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Williams, Waterman, Patterson. “Roofline: An Insightful Visual Model.” CACM 2009</a:t>
            </a:r>
          </a:p>
        </p:txBody>
      </p:sp>
      <p:pic>
        <p:nvPicPr>
          <p:cNvPr id="902" name="Figure2" descr="Fig 2: Roofline Model — CPU vs GPU for AI">
            <a:extLst>
              <a:ext uri="{FF2B5EF4-FFF2-40B4-BE49-F238E27FC236}">
                <a16:creationId xmlns:a16="http://schemas.microsoft.com/office/drawing/2014/main" id="{28C89C06-6AD7-7FC6-EACA-DA8920CCB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2223" y="1311013"/>
            <a:ext cx="4409094" cy="2841461"/>
          </a:xfrm>
          <a:prstGeom prst="rect">
            <a:avLst/>
          </a:prstGeom>
        </p:spPr>
      </p:pic>
      <p:sp>
        <p:nvSpPr>
          <p:cNvPr id="903" name="Caption903">
            <a:extLst>
              <a:ext uri="{FF2B5EF4-FFF2-40B4-BE49-F238E27FC236}">
                <a16:creationId xmlns:a16="http://schemas.microsoft.com/office/drawing/2014/main" id="{0C7B1407-1C77-D86C-6AC5-51DD194823D0}"/>
              </a:ext>
            </a:extLst>
          </p:cNvPr>
          <p:cNvSpPr txBox="1"/>
          <p:nvPr/>
        </p:nvSpPr>
        <p:spPr>
          <a:xfrm>
            <a:off x="3364051" y="4219567"/>
            <a:ext cx="553360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2: Roofline Model — CPU vs GPU for AI</a:t>
            </a:r>
          </a:p>
        </p:txBody>
      </p:sp>
      <p:sp>
        <p:nvSpPr>
          <p:cNvPr id="4" name="Content">
            <a:extLst>
              <a:ext uri="{FF2B5EF4-FFF2-40B4-BE49-F238E27FC236}">
                <a16:creationId xmlns:a16="http://schemas.microsoft.com/office/drawing/2014/main" id="{2B007FFF-B639-E947-AF47-791A49B6AADC}"/>
              </a:ext>
            </a:extLst>
          </p:cNvPr>
          <p:cNvSpPr txBox="1"/>
          <p:nvPr/>
        </p:nvSpPr>
        <p:spPr>
          <a:xfrm>
            <a:off x="311700" y="1311014"/>
            <a:ext cx="395737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Parallelism Gap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 ResNet-50 inference needs ~4 billion multiply-accumulate (MAC) operations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96-core EPYC with AVX-512: ~12 TFLOPS | NVIDIA H100: ~2000 TFLOPS (TF32)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For training LLMs, CPU-only is 100-1000x slower than GPU-based systems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81636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>
          <a:extLst>
            <a:ext uri="{FF2B5EF4-FFF2-40B4-BE49-F238E27FC236}">
              <a16:creationId xmlns:a16="http://schemas.microsoft.com/office/drawing/2014/main" id="{BD578508-0892-769C-D6F7-315CA96B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06BF69-F42F-CCA0-59E6-020231DAF62C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60203D-CB97-ED93-D680-7E7AF689CC4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>
            <a:extLst>
              <a:ext uri="{FF2B5EF4-FFF2-40B4-BE49-F238E27FC236}">
                <a16:creationId xmlns:a16="http://schemas.microsoft.com/office/drawing/2014/main" id="{7DC152A2-9520-93E9-11E2-527E482A91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Von Neumann Bottleneck &amp; the Memory Wall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9530AFF8-3675-F204-359F-456AA775DA30}"/>
              </a:ext>
            </a:extLst>
          </p:cNvPr>
          <p:cNvSpPr txBox="1"/>
          <p:nvPr/>
        </p:nvSpPr>
        <p:spPr>
          <a:xfrm>
            <a:off x="623400" y="4923529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Wulf &amp; McKee, “Hitting the Memory Wall,” ACM SIGARCH 1995; Hennessy &amp; Patterson, Turing Lecture 2018</a:t>
            </a:r>
          </a:p>
        </p:txBody>
      </p:sp>
      <p:sp>
        <p:nvSpPr>
          <p:cNvPr id="7" name="RightCol">
            <a:extLst>
              <a:ext uri="{FF2B5EF4-FFF2-40B4-BE49-F238E27FC236}">
                <a16:creationId xmlns:a16="http://schemas.microsoft.com/office/drawing/2014/main" id="{12352E22-348D-E757-78D3-57376976DE33}"/>
              </a:ext>
            </a:extLst>
          </p:cNvPr>
          <p:cNvSpPr txBox="1"/>
          <p:nvPr/>
        </p:nvSpPr>
        <p:spPr>
          <a:xfrm>
            <a:off x="391400" y="1122127"/>
            <a:ext cx="4180600" cy="33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Arithmetic Intensity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Ratio: FLOPs performed per byte of memory traffic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GEMM (large): ~1000 FLOP/byte - compute bound on GPU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Embedding lookup: ~1 FLOP/byte - memory bound everywhere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Batch Norm, LayerNorm: ~3-5 FLOP/byte - memory bound</a:t>
            </a:r>
          </a:p>
        </p:txBody>
      </p:sp>
      <p:pic>
        <p:nvPicPr>
          <p:cNvPr id="5" name="Figure2" descr="Fig 2: Roofline Model — CPU vs GPU for AI">
            <a:extLst>
              <a:ext uri="{FF2B5EF4-FFF2-40B4-BE49-F238E27FC236}">
                <a16:creationId xmlns:a16="http://schemas.microsoft.com/office/drawing/2014/main" id="{3A1B5B85-953C-E93D-340C-800A8F726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563" y="1222201"/>
            <a:ext cx="4409094" cy="2841461"/>
          </a:xfrm>
          <a:prstGeom prst="rect">
            <a:avLst/>
          </a:prstGeom>
        </p:spPr>
      </p:pic>
      <p:sp>
        <p:nvSpPr>
          <p:cNvPr id="8" name="Caption903">
            <a:extLst>
              <a:ext uri="{FF2B5EF4-FFF2-40B4-BE49-F238E27FC236}">
                <a16:creationId xmlns:a16="http://schemas.microsoft.com/office/drawing/2014/main" id="{BBA718E9-F228-3B57-257A-052E8AE9F4B8}"/>
              </a:ext>
            </a:extLst>
          </p:cNvPr>
          <p:cNvSpPr txBox="1"/>
          <p:nvPr/>
        </p:nvSpPr>
        <p:spPr>
          <a:xfrm>
            <a:off x="3610391" y="4130755"/>
            <a:ext cx="553360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2: Roofline Model — CPU vs GPU for AI</a:t>
            </a:r>
          </a:p>
        </p:txBody>
      </p:sp>
    </p:spTree>
    <p:extLst>
      <p:ext uri="{BB962C8B-B14F-4D97-AF65-F5344CB8AC3E}">
        <p14:creationId xmlns:p14="http://schemas.microsoft.com/office/powerpoint/2010/main" val="1769881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Von Neumann Bottleneck &amp; the Memory Wall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623400" y="4923529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Wulf &amp; McKee, “Hitting the Memory Wall,” ACM SIGARCH 1995; Hennessy &amp; Patterson, Turing Lecture 2018</a:t>
            </a:r>
          </a:p>
        </p:txBody>
      </p:sp>
      <p:sp>
        <p:nvSpPr>
          <p:cNvPr id="4" name="LeftCol">
            <a:extLst>
              <a:ext uri="{FF2B5EF4-FFF2-40B4-BE49-F238E27FC236}">
                <a16:creationId xmlns:a16="http://schemas.microsoft.com/office/drawing/2014/main" id="{65D0F91D-C35E-57F4-7D3A-5B6440B12388}"/>
              </a:ext>
            </a:extLst>
          </p:cNvPr>
          <p:cNvSpPr txBox="1"/>
          <p:nvPr/>
        </p:nvSpPr>
        <p:spPr>
          <a:xfrm>
            <a:off x="311700" y="856537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Von Neumann Architecture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Single shared bus between CPU and memory for both data and instructions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Memory access is serialised; compute units starve while waiting for data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Memory Wall (Wulf &amp; McKee, 1995)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CPU clock speeds grew ~60% per year (1987-2002) - now plateaued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DRAM bandwidth grew ~10% per year - the gap widened catastrophically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Modern DRAM latency ~60 ns; cache miss penalty = 200+ cycles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D4DA86A-7059-90F1-0F8A-020BB7E56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582" y="799965"/>
            <a:ext cx="2720334" cy="1952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ption905">
            <a:extLst>
              <a:ext uri="{FF2B5EF4-FFF2-40B4-BE49-F238E27FC236}">
                <a16:creationId xmlns:a16="http://schemas.microsoft.com/office/drawing/2014/main" id="{62406252-88B9-58F6-0B65-60C5B50B87F3}"/>
              </a:ext>
            </a:extLst>
          </p:cNvPr>
          <p:cNvSpPr txBox="1"/>
          <p:nvPr/>
        </p:nvSpPr>
        <p:spPr>
          <a:xfrm>
            <a:off x="4019293" y="4585432"/>
            <a:ext cx="590353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3: Memory Hierarchy — Latency, Bandwidth &amp; Capacity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570DE2-1DCE-90AF-559D-C2EE7123C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827" y="2662247"/>
            <a:ext cx="3570461" cy="20237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>
          <a:extLst>
            <a:ext uri="{FF2B5EF4-FFF2-40B4-BE49-F238E27FC236}">
              <a16:creationId xmlns:a16="http://schemas.microsoft.com/office/drawing/2014/main" id="{679144E3-776B-5E74-EDBC-2AD8A63DD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7A1BC2-DC17-F7D7-0B6D-89D70B1B47D7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641E51-4FB1-9F79-94FA-CE9546597D1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>
            <a:extLst>
              <a:ext uri="{FF2B5EF4-FFF2-40B4-BE49-F238E27FC236}">
                <a16:creationId xmlns:a16="http://schemas.microsoft.com/office/drawing/2014/main" id="{4A594E21-11CA-9B64-4DC1-D4795C6045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Von Neumann Bottleneck &amp; the Memory Wall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BCBECC30-2747-D980-BD8F-B63F75C74C38}"/>
              </a:ext>
            </a:extLst>
          </p:cNvPr>
          <p:cNvSpPr txBox="1"/>
          <p:nvPr/>
        </p:nvSpPr>
        <p:spPr>
          <a:xfrm>
            <a:off x="623400" y="4923529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Wulf &amp; McKee, “Hitting the Memory Wall,” ACM SIGARCH 1995; Hennessy &amp; Patterson, Turing Lecture 2018</a:t>
            </a:r>
          </a:p>
        </p:txBody>
      </p:sp>
      <p:sp>
        <p:nvSpPr>
          <p:cNvPr id="4" name="LeftCol">
            <a:extLst>
              <a:ext uri="{FF2B5EF4-FFF2-40B4-BE49-F238E27FC236}">
                <a16:creationId xmlns:a16="http://schemas.microsoft.com/office/drawing/2014/main" id="{4EF8E30B-9BA4-AE57-B262-B6250D1FE19E}"/>
              </a:ext>
            </a:extLst>
          </p:cNvPr>
          <p:cNvSpPr txBox="1"/>
          <p:nvPr/>
        </p:nvSpPr>
        <p:spPr>
          <a:xfrm>
            <a:off x="311700" y="856537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Impact on AI Workloads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Transformer attention: O(n²) memory access pattern per layer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LLM inference: memory-bound (load weights each token generation step)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DNN training: compute-bound (large mini-batches fill arithmetic units)</a:t>
            </a:r>
          </a:p>
        </p:txBody>
      </p:sp>
      <p:sp>
        <p:nvSpPr>
          <p:cNvPr id="6" name="Caption905">
            <a:extLst>
              <a:ext uri="{FF2B5EF4-FFF2-40B4-BE49-F238E27FC236}">
                <a16:creationId xmlns:a16="http://schemas.microsoft.com/office/drawing/2014/main" id="{3C302B1A-CA0E-80B9-6500-396CBA756D96}"/>
              </a:ext>
            </a:extLst>
          </p:cNvPr>
          <p:cNvSpPr txBox="1"/>
          <p:nvPr/>
        </p:nvSpPr>
        <p:spPr>
          <a:xfrm>
            <a:off x="3908367" y="3973962"/>
            <a:ext cx="590353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3: Memory Hierarchy — Latency, Bandwidth &amp; Capacity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CDEBD5-E6D2-396C-CA1C-49196245E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774" y="968370"/>
            <a:ext cx="4626869" cy="2622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186AF-5EDB-D5F7-1B64-7A232995DEAC}"/>
              </a:ext>
            </a:extLst>
          </p:cNvPr>
          <p:cNvSpPr txBox="1"/>
          <p:nvPr/>
        </p:nvSpPr>
        <p:spPr>
          <a:xfrm>
            <a:off x="129527" y="3489770"/>
            <a:ext cx="425124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400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For a 70-billion-parameter model in FP16, that is 140 gigabytes of data — loaded every single token generation step. At 400 GB/s bandwidth, that takes 350 milliseconds per token. That is the bottleneck.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66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CPUs in the AI Pipeline: Where They Still Excel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Pre/Post Processing: CPU’s Domain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Data ingestion, tokenisation, and augmentation are branchy and irregular - ideal for CPUs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OpenCV image decoding, librosa audio processing, NLTK/spaCy text parsing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Dataset shuffling, batching, and prefetching managed by CPU DataLoader workers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Model Components That Remain on CPU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Sparse operations (variable-length sequences, dynamic graphs in PyTorch)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Control flow in reinforcement learning environments (step(), reset())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ONNX Runtime on CPU: viable for lightweight models (&lt;10M params) in production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Heterogeneous Computing Philosophy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CPU: orchestration, control flow, serial computations, IO management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GPU/Accelerator: massively parallel tensor operations (GEMM, Conv, Attn)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Always profile before offloading - PCIe transfer overhead can dominate for small ops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Key Metric: Use nvidia-smi to check GPU utilisation; if &lt;60%, CPU is the bottleneck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Rule of Thumb: GPU-CPU data transfer at ~16 GB/s (PCIe 4.0 x16) vs 3.35 TB/s GPU memory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699050" y="4896537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Nsight Systems; Raschka et al., “Machine Learning with PyTorch and Scikit-Learn” (2022)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sz="2000" dirty="0">
                <a:solidFill>
                  <a:schemeClr val="tx1"/>
                </a:solidFill>
              </a:rPr>
              <a:t>Summary: CPU Architecture &amp; AI Workloads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4531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CPUs use deep pipelines, caches, OoO execution, and SIMD for latency-optimised serial computation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The memory wall and von Neumann bottleneck constrain CPU performance for data-heavy AI tasks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SIMD extensions (AVX-512, AMX) partially close the gap but cannot match GPU-scale parallelism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Arithmetic intensity determines whether a workload is compute-bound or memory-bound on any architecture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CPUs remain essential for data preprocessing, orchestration, and sparse/control-flow-heavy tasks in AI pipelines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</TotalTime>
  <Words>1283</Words>
  <Application>Microsoft Office PowerPoint</Application>
  <PresentationFormat>On-screen Show (16:9)</PresentationFormat>
  <Paragraphs>130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Georgia</vt:lpstr>
      <vt:lpstr>Aptos Display</vt:lpstr>
      <vt:lpstr>Helvetica Neue</vt:lpstr>
      <vt:lpstr>Simple Light</vt:lpstr>
      <vt:lpstr>NPTEL</vt:lpstr>
      <vt:lpstr>Week 01: AI System Hardware &amp; Accelerators Segment 1: CPU Architecture | Segment 2: Memory Hierarchy | Segment 3: GPU &amp; Accelerators | Segment 4: Interconnects | Segment 5: AI Software Stack</vt:lpstr>
      <vt:lpstr>Segment 1: CPU Architecture and AI Workloads Understanding how CPUs are structured and why AI demands more than a general-purpose processor</vt:lpstr>
      <vt:lpstr>Learning Objectives - Segment 1</vt:lpstr>
      <vt:lpstr>CPU Microarchitecture: The Building Blocks</vt:lpstr>
      <vt:lpstr>CPU Microarchitecture: The Building Blocks</vt:lpstr>
      <vt:lpstr>CPU Microarchitecture: The Building Blocks</vt:lpstr>
      <vt:lpstr>ILP, SIMD, and the Parallelism Gap</vt:lpstr>
      <vt:lpstr>ILP, SIMD, and the Parallelism Gap</vt:lpstr>
      <vt:lpstr>Von Neumann Bottleneck &amp; the Memory Wall</vt:lpstr>
      <vt:lpstr>Von Neumann Bottleneck &amp; the Memory Wall</vt:lpstr>
      <vt:lpstr>Von Neumann Bottleneck &amp; the Memory Wall</vt:lpstr>
      <vt:lpstr>CPUs in the AI Pipeline: Where They Still Excel</vt:lpstr>
      <vt:lpstr>Summary: CPU Architecture &amp; AI Workloads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84</cp:revision>
  <dcterms:modified xsi:type="dcterms:W3CDTF">2026-03-16T08:57:11Z</dcterms:modified>
</cp:coreProperties>
</file>