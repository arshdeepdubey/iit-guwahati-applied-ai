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503" r:id="rId2"/>
    <p:sldId id="584" r:id="rId3"/>
    <p:sldId id="585" r:id="rId4"/>
    <p:sldId id="586" r:id="rId5"/>
    <p:sldId id="613" r:id="rId6"/>
    <p:sldId id="614" r:id="rId7"/>
    <p:sldId id="615" r:id="rId8"/>
    <p:sldId id="616" r:id="rId9"/>
    <p:sldId id="617" r:id="rId10"/>
    <p:sldId id="588" r:id="rId11"/>
    <p:sldId id="618" r:id="rId12"/>
    <p:sldId id="589" r:id="rId13"/>
    <p:sldId id="590" r:id="rId14"/>
    <p:sldId id="575" r:id="rId15"/>
  </p:sldIdLst>
  <p:sldSz cx="9144000" cy="5143500" type="screen16x9"/>
  <p:notesSz cx="6858000" cy="9144000"/>
  <p:embeddedFontLst>
    <p:embeddedFont>
      <p:font typeface="Georgia" panose="02040502050405020303" pitchFamily="18" charset="0"/>
      <p:regular r:id="rId17"/>
      <p:bold r:id="rId18"/>
      <p:italic r:id="rId19"/>
      <p:boldItalic r:id="rId20"/>
    </p:embeddedFont>
    <p:embeddedFont>
      <p:font typeface="Helvetica Neue" panose="020B060402020202020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806A02D-9255-4416-AC49-59535D0934EA}">
  <a:tblStyle styleId="{D806A02D-9255-4416-AC49-59535D0934E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416" autoAdjust="0"/>
  </p:normalViewPr>
  <p:slideViewPr>
    <p:cSldViewPr snapToGrid="0">
      <p:cViewPr varScale="1">
        <p:scale>
          <a:sx n="85" d="100"/>
          <a:sy n="85" d="100"/>
        </p:scale>
        <p:origin x="738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136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6D6F4C5A-0F16-CAEB-F9A0-89E07EFC7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b9728a67a9_0_0:notes">
            <a:extLst>
              <a:ext uri="{FF2B5EF4-FFF2-40B4-BE49-F238E27FC236}">
                <a16:creationId xmlns:a16="http://schemas.microsoft.com/office/drawing/2014/main" id="{D6E07447-48E4-F260-B870-FFDC4E2B1B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b9728a67a9_0_0:notes">
            <a:extLst>
              <a:ext uri="{FF2B5EF4-FFF2-40B4-BE49-F238E27FC236}">
                <a16:creationId xmlns:a16="http://schemas.microsoft.com/office/drawing/2014/main" id="{7E91C570-1A55-E508-774F-CB03855938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dirty="0"/>
          </a:p>
        </p:txBody>
      </p:sp>
    </p:spTree>
    <p:extLst>
      <p:ext uri="{BB962C8B-B14F-4D97-AF65-F5344CB8AC3E}">
        <p14:creationId xmlns:p14="http://schemas.microsoft.com/office/powerpoint/2010/main" val="28444304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091D6EE-AD7C-B43E-6EBF-0B4A5C39F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c7c36cb48a_0_385:notes">
            <a:extLst>
              <a:ext uri="{FF2B5EF4-FFF2-40B4-BE49-F238E27FC236}">
                <a16:creationId xmlns:a16="http://schemas.microsoft.com/office/drawing/2014/main" id="{C1AC57D6-B898-DA50-56B9-B0E81946F7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c7c36cb48a_0_385:notes">
            <a:extLst>
              <a:ext uri="{FF2B5EF4-FFF2-40B4-BE49-F238E27FC236}">
                <a16:creationId xmlns:a16="http://schemas.microsoft.com/office/drawing/2014/main" id="{9983218A-2FFB-E795-496F-E2CADAA5A7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578849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grpSp>
        <p:nvGrpSpPr>
          <p:cNvPr id="14" name="Google Shape;14;p3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15" name="Google Shape;15;p3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3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3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8" name="Google Shape;18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None/>
              <a:defRPr>
                <a:solidFill>
                  <a:srgbClr val="1D466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056538"/>
            <a:ext cx="8520600" cy="35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3" name="Google Shape;23;p4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24" name="Google Shape;24;p4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4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2" name="Google Shape;82;p11"/>
          <p:cNvSpPr txBox="1">
            <a:spLocks noGrp="1"/>
          </p:cNvSpPr>
          <p:nvPr>
            <p:ph type="body" idx="1"/>
          </p:nvPr>
        </p:nvSpPr>
        <p:spPr>
          <a:xfrm>
            <a:off x="311700" y="3069625"/>
            <a:ext cx="8520600" cy="138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 algn="ctr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84" name="Google Shape;84;p11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85" name="Google Shape;85;p11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1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1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8" name="Google Shape;8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0" y="875425"/>
            <a:ext cx="8520600" cy="152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 b="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401525"/>
            <a:ext cx="8520600" cy="6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Font typeface="Helvetica Neue"/>
              <a:buNone/>
              <a:defRPr sz="2400" b="1">
                <a:solidFill>
                  <a:srgbClr val="1D466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03168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body" idx="1"/>
          </p:nvPr>
        </p:nvSpPr>
        <p:spPr>
          <a:xfrm>
            <a:off x="311700" y="1208738"/>
            <a:ext cx="4270500" cy="336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50" name="Google Shape;50;p7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7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>
            <a:spLocks noGrp="1"/>
          </p:cNvSpPr>
          <p:nvPr>
            <p:ph type="title"/>
          </p:nvPr>
        </p:nvSpPr>
        <p:spPr>
          <a:xfrm>
            <a:off x="311700" y="88000"/>
            <a:ext cx="4270500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None/>
              <a:defRPr>
                <a:solidFill>
                  <a:srgbClr val="1D466B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25122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Font typeface="Helvetica Neue"/>
              <a:buNone/>
              <a:defRPr sz="2400" b="1">
                <a:solidFill>
                  <a:srgbClr val="1D466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Helvetica Neue"/>
              <a:buChar char="●"/>
              <a:defRPr sz="15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Helvetica Neue"/>
              <a:buChar char="○"/>
              <a:defRPr sz="13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Helvetica Neue"/>
              <a:buChar char="■"/>
              <a:defRPr sz="12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Helvetica Neue"/>
              <a:buChar char="●"/>
              <a:defRPr sz="11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○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■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●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○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■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7" r:id="rId3"/>
    <p:sldLayoutId id="2147483660" r:id="rId4"/>
    <p:sldLayoutId id="2147483663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7F8CCE8A-313F-6E36-7C5B-32B2DCBCB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4CAC84-5A4B-F67B-5393-ADA47A8208BD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CB5876-1344-2B3D-88CD-A01C4EB051A6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  <p:sp>
        <p:nvSpPr>
          <p:cNvPr id="10" name="Google Shape;100;p13">
            <a:extLst>
              <a:ext uri="{FF2B5EF4-FFF2-40B4-BE49-F238E27FC236}">
                <a16:creationId xmlns:a16="http://schemas.microsoft.com/office/drawing/2014/main" id="{11AC39AB-8187-B2C4-BCE2-25603F31660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875425"/>
            <a:ext cx="8520600" cy="152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Aptos Display" panose="020B0004020202020204" pitchFamily="34" charset="0"/>
              </a:rPr>
              <a:t>NPTEL</a:t>
            </a:r>
            <a:endParaRPr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sp>
        <p:nvSpPr>
          <p:cNvPr id="11" name="Google Shape;101;p13">
            <a:extLst>
              <a:ext uri="{FF2B5EF4-FFF2-40B4-BE49-F238E27FC236}">
                <a16:creationId xmlns:a16="http://schemas.microsoft.com/office/drawing/2014/main" id="{9BC1CA05-7B56-F729-7729-976FFD62408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1700" y="2401525"/>
            <a:ext cx="8520600" cy="6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" dirty="0">
                <a:solidFill>
                  <a:schemeClr val="tx1"/>
                </a:solidFill>
                <a:latin typeface="Aptos Display" panose="020B0004020202020204" pitchFamily="34" charset="0"/>
              </a:rPr>
              <a:t>Applied Accelerated Artificial Intelligence</a:t>
            </a:r>
            <a:endParaRPr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cxnSp>
        <p:nvCxnSpPr>
          <p:cNvPr id="13" name="Google Shape;103;p13">
            <a:extLst>
              <a:ext uri="{FF2B5EF4-FFF2-40B4-BE49-F238E27FC236}">
                <a16:creationId xmlns:a16="http://schemas.microsoft.com/office/drawing/2014/main" id="{8F67DB8A-D21C-4952-D794-E5E62719C58A}"/>
              </a:ext>
            </a:extLst>
          </p:cNvPr>
          <p:cNvCxnSpPr/>
          <p:nvPr/>
        </p:nvCxnSpPr>
        <p:spPr>
          <a:xfrm>
            <a:off x="790550" y="4169500"/>
            <a:ext cx="7253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Google Shape;104;p13">
            <a:extLst>
              <a:ext uri="{FF2B5EF4-FFF2-40B4-BE49-F238E27FC236}">
                <a16:creationId xmlns:a16="http://schemas.microsoft.com/office/drawing/2014/main" id="{60B22ADA-D87B-5B41-C735-9F7F595D022A}"/>
              </a:ext>
            </a:extLst>
          </p:cNvPr>
          <p:cNvSpPr txBox="1">
            <a:spLocks/>
          </p:cNvSpPr>
          <p:nvPr/>
        </p:nvSpPr>
        <p:spPr>
          <a:xfrm>
            <a:off x="311700" y="3315925"/>
            <a:ext cx="85206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rgbClr val="1D466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111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984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/>
            <a:r>
              <a:rPr lang="en-US" sz="1200" b="0" dirty="0">
                <a:solidFill>
                  <a:schemeClr val="tx1"/>
                </a:solidFill>
                <a:latin typeface="Aptos Display" panose="020B0004020202020204" pitchFamily="34" charset="0"/>
              </a:rPr>
              <a:t>Instructor: Dr. Satyajit Das</a:t>
            </a:r>
          </a:p>
          <a:p>
            <a:pPr marL="0" indent="0"/>
            <a:r>
              <a:rPr lang="en-US" sz="1200" b="0" dirty="0">
                <a:solidFill>
                  <a:schemeClr val="tx1"/>
                </a:solidFill>
                <a:latin typeface="Aptos Display" panose="020B0004020202020204" pitchFamily="34" charset="0"/>
              </a:rPr>
              <a:t>Dept. of Computer Science and Engineering</a:t>
            </a:r>
          </a:p>
          <a:p>
            <a:pPr marL="0" indent="0"/>
            <a:r>
              <a:rPr lang="en-US" sz="1200" b="0" dirty="0">
                <a:solidFill>
                  <a:schemeClr val="tx1"/>
                </a:solidFill>
                <a:latin typeface="Aptos Display" panose="020B0004020202020204" pitchFamily="34" charset="0"/>
              </a:rPr>
              <a:t>Indian Institute of Technology Guwahati, Assam, India</a:t>
            </a:r>
          </a:p>
        </p:txBody>
      </p:sp>
      <p:pic>
        <p:nvPicPr>
          <p:cNvPr id="15" name="Picture 14" descr="A logo with a symbol in the middle  AI-generated content may be incorrect.">
            <a:extLst>
              <a:ext uri="{FF2B5EF4-FFF2-40B4-BE49-F238E27FC236}">
                <a16:creationId xmlns:a16="http://schemas.microsoft.com/office/drawing/2014/main" id="{A76A753D-76B9-B3B1-958A-E7E9C98CF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5824" y="275125"/>
            <a:ext cx="1512351" cy="152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096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9" name="Title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b="1" dirty="0">
                <a:solidFill>
                  <a:schemeClr val="tx1"/>
                </a:solidFill>
              </a:rPr>
              <a:t>Segment 2: Memory Hierarchy, RAM, Storage &amp; Data Movement</a:t>
            </a:r>
          </a:p>
          <a:p>
            <a:pPr lvl="0"/>
            <a:r>
              <a:rPr lang="en-US" b="0" dirty="0">
                <a:solidFill>
                  <a:schemeClr val="tx1"/>
                </a:solidFill>
              </a:rPr>
              <a:t>How data flows from disk to compute units - and why this journey dominates AI system performance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dirty="0">
                <a:solidFill>
                  <a:schemeClr val="tx1"/>
                </a:solidFill>
              </a:rPr>
              <a:t>Learning Objectives - Segment 2</a:t>
            </a:r>
          </a:p>
        </p:txBody>
      </p:sp>
      <p:sp>
        <p:nvSpPr>
          <p:cNvPr id="200" name="ObjNum0"/>
          <p:cNvSpPr txBox="1"/>
          <p:nvPr/>
        </p:nvSpPr>
        <p:spPr>
          <a:xfrm>
            <a:off x="366025" y="1149552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01</a:t>
            </a:r>
          </a:p>
        </p:txBody>
      </p:sp>
      <p:sp>
        <p:nvSpPr>
          <p:cNvPr id="201" name="ObjText0"/>
          <p:cNvSpPr txBox="1"/>
          <p:nvPr/>
        </p:nvSpPr>
        <p:spPr>
          <a:xfrm>
            <a:off x="824742" y="1149552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Map the full data movement path from NVMe storage to GPU compute cores</a:t>
            </a:r>
          </a:p>
        </p:txBody>
      </p:sp>
      <p:sp>
        <p:nvSpPr>
          <p:cNvPr id="202" name="ObjNum1"/>
          <p:cNvSpPr txBox="1"/>
          <p:nvPr/>
        </p:nvSpPr>
        <p:spPr>
          <a:xfrm>
            <a:off x="366025" y="1590779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02</a:t>
            </a:r>
          </a:p>
        </p:txBody>
      </p:sp>
      <p:sp>
        <p:nvSpPr>
          <p:cNvPr id="203" name="ObjText1"/>
          <p:cNvSpPr txBox="1"/>
          <p:nvPr/>
        </p:nvSpPr>
        <p:spPr>
          <a:xfrm>
            <a:off x="824742" y="1590779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Quantify bandwidth and capacity at each level of the memory hierarchy</a:t>
            </a:r>
          </a:p>
        </p:txBody>
      </p:sp>
      <p:sp>
        <p:nvSpPr>
          <p:cNvPr id="204" name="ObjNum2"/>
          <p:cNvSpPr txBox="1"/>
          <p:nvPr/>
        </p:nvSpPr>
        <p:spPr>
          <a:xfrm>
            <a:off x="366025" y="2032006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03</a:t>
            </a:r>
          </a:p>
        </p:txBody>
      </p:sp>
      <p:sp>
        <p:nvSpPr>
          <p:cNvPr id="205" name="ObjText2"/>
          <p:cNvSpPr txBox="1"/>
          <p:nvPr/>
        </p:nvSpPr>
        <p:spPr>
          <a:xfrm>
            <a:off x="824742" y="2032006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Explain HBM (High Bandwidth Memory) and why it is critical for AI accelerators</a:t>
            </a:r>
          </a:p>
        </p:txBody>
      </p:sp>
      <p:sp>
        <p:nvSpPr>
          <p:cNvPr id="206" name="ObjNum3"/>
          <p:cNvSpPr txBox="1"/>
          <p:nvPr/>
        </p:nvSpPr>
        <p:spPr>
          <a:xfrm>
            <a:off x="366025" y="2473233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04</a:t>
            </a:r>
          </a:p>
        </p:txBody>
      </p:sp>
      <p:sp>
        <p:nvSpPr>
          <p:cNvPr id="207" name="ObjText3"/>
          <p:cNvSpPr txBox="1"/>
          <p:nvPr/>
        </p:nvSpPr>
        <p:spPr>
          <a:xfrm>
            <a:off x="824742" y="2473233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Identify bottlenecks in DataLoader pipelines and apply pinned memory optimisation</a:t>
            </a:r>
          </a:p>
        </p:txBody>
      </p:sp>
      <p:sp>
        <p:nvSpPr>
          <p:cNvPr id="208" name="ObjNum4"/>
          <p:cNvSpPr txBox="1"/>
          <p:nvPr/>
        </p:nvSpPr>
        <p:spPr>
          <a:xfrm>
            <a:off x="366025" y="2914460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05</a:t>
            </a:r>
          </a:p>
        </p:txBody>
      </p:sp>
      <p:sp>
        <p:nvSpPr>
          <p:cNvPr id="209" name="ObjText4"/>
          <p:cNvSpPr txBox="1"/>
          <p:nvPr/>
        </p:nvSpPr>
        <p:spPr>
          <a:xfrm>
            <a:off x="824742" y="2914460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Describe NUMA (Non-Uniform Memory Access) effects in multi-socket AI servers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DRAM Fundamentals: DDR, LPDDR, and HBM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Jedec HBM3 Standard JESD238; NVIDIA H100 Tensor Core GPU Architecture Whitepaper (2022)</a:t>
            </a:r>
          </a:p>
        </p:txBody>
      </p:sp>
      <p:sp>
        <p:nvSpPr>
          <p:cNvPr id="4" name="LeftCol">
            <a:extLst>
              <a:ext uri="{FF2B5EF4-FFF2-40B4-BE49-F238E27FC236}">
                <a16:creationId xmlns:a16="http://schemas.microsoft.com/office/drawing/2014/main" id="{91AE9F62-6A40-30DF-BFD7-E40E52AFD814}"/>
              </a:ext>
            </a:extLst>
          </p:cNvPr>
          <p:cNvSpPr txBox="1"/>
          <p:nvPr/>
        </p:nvSpPr>
        <p:spPr>
          <a:xfrm>
            <a:off x="311700" y="856537"/>
            <a:ext cx="41800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DDR SDRAM Architecture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Dynamic: capacitor-based cells; must refresh every ~64 ms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Double Data Rate: transfers on both rising and falling clock edges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DDR5 (2021): 4800-6400 MT/s, 64-bit wide bus, 51.2 GB/s per channel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12-channel EPYC (DDR5): peak ~614 GB/s system bandwidth</a:t>
            </a:r>
          </a:p>
        </p:txBody>
      </p:sp>
      <p:pic>
        <p:nvPicPr>
          <p:cNvPr id="2050" name="Picture 2" descr="DRAM hierarchical architecture | Download Scientific Diagram">
            <a:extLst>
              <a:ext uri="{FF2B5EF4-FFF2-40B4-BE49-F238E27FC236}">
                <a16:creationId xmlns:a16="http://schemas.microsoft.com/office/drawing/2014/main" id="{6097699A-A5B4-9C3C-D87E-8A13EFFF8C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3227" y="792383"/>
            <a:ext cx="3600353" cy="3542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>
          <a:extLst>
            <a:ext uri="{FF2B5EF4-FFF2-40B4-BE49-F238E27FC236}">
              <a16:creationId xmlns:a16="http://schemas.microsoft.com/office/drawing/2014/main" id="{56B51E9F-C539-2DD6-9218-3E481D076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5ECB80A-01BC-B395-DA00-9EC93FED9D7C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453E52-EB1C-2A68-0B31-3DE0E031780A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>
            <a:extLst>
              <a:ext uri="{FF2B5EF4-FFF2-40B4-BE49-F238E27FC236}">
                <a16:creationId xmlns:a16="http://schemas.microsoft.com/office/drawing/2014/main" id="{C9CB800B-C394-3877-2088-F84E4A8F63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DRAM Fundamentals: DDR, LPDDR, and HBM</a:t>
            </a:r>
          </a:p>
        </p:txBody>
      </p:sp>
      <p:sp>
        <p:nvSpPr>
          <p:cNvPr id="4" name="LeftCol">
            <a:extLst>
              <a:ext uri="{FF2B5EF4-FFF2-40B4-BE49-F238E27FC236}">
                <a16:creationId xmlns:a16="http://schemas.microsoft.com/office/drawing/2014/main" id="{F7DEE6FD-9311-50A2-CB88-21F1287B5B3D}"/>
              </a:ext>
            </a:extLst>
          </p:cNvPr>
          <p:cNvSpPr txBox="1"/>
          <p:nvPr/>
        </p:nvSpPr>
        <p:spPr>
          <a:xfrm>
            <a:off x="311700" y="856537"/>
            <a:ext cx="41800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LPDDR (Mobile/Edge AI)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LPDDR5X: 8533 MT/s, lower voltage, used in Apple M-series, Jetson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Apple M2 Ultra: 800 GB/s unified memory bandwidth (LPDDR5)</a:t>
            </a:r>
          </a:p>
          <a:p>
            <a:pPr marL="0" indent="0">
              <a:lnSpc>
                <a:spcPct val="150000"/>
              </a:lnSpc>
              <a:buNone/>
            </a:pPr>
            <a:endParaRPr lang="en-US" sz="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ECC Memory in AI Servers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Single-bit errors corrected, double-bit detected automatically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Critical for long-running training jobs (bit flip = silent data corruption)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~2-4% performance overhead but non-negotiable in production AI</a:t>
            </a:r>
          </a:p>
        </p:txBody>
      </p:sp>
      <p:pic>
        <p:nvPicPr>
          <p:cNvPr id="5" name="Picture 2" descr="DRAM hierarchical architecture | Download Scientific Diagram">
            <a:extLst>
              <a:ext uri="{FF2B5EF4-FFF2-40B4-BE49-F238E27FC236}">
                <a16:creationId xmlns:a16="http://schemas.microsoft.com/office/drawing/2014/main" id="{FEF698F0-5066-50DD-1E50-632201BCE3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3227" y="792383"/>
            <a:ext cx="3600353" cy="3542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690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>
          <a:extLst>
            <a:ext uri="{FF2B5EF4-FFF2-40B4-BE49-F238E27FC236}">
              <a16:creationId xmlns:a16="http://schemas.microsoft.com/office/drawing/2014/main" id="{3FBF2EFB-A4E4-C9FD-4C07-F67F06552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8224C0-5D3F-AE9A-DFD5-21F01F0C2E7B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526775-91B4-AEB9-6A6B-298A93152955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>
            <a:extLst>
              <a:ext uri="{FF2B5EF4-FFF2-40B4-BE49-F238E27FC236}">
                <a16:creationId xmlns:a16="http://schemas.microsoft.com/office/drawing/2014/main" id="{B30FDC58-0549-3705-E4CB-B21CFDBA2C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DRAM Fundamentals: DDR, LPDDR, and HBM</a:t>
            </a:r>
          </a:p>
        </p:txBody>
      </p:sp>
      <p:sp>
        <p:nvSpPr>
          <p:cNvPr id="50" name="Ref">
            <a:extLst>
              <a:ext uri="{FF2B5EF4-FFF2-40B4-BE49-F238E27FC236}">
                <a16:creationId xmlns:a16="http://schemas.microsoft.com/office/drawing/2014/main" id="{0D7A3AFB-B9B0-F9EC-3A0B-02F09735EC4F}"/>
              </a:ext>
            </a:extLst>
          </p:cNvPr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Jedec HBM3 Standard JESD238; NVIDIA H100 Tensor Core GPU Architecture Whitepaper (2022)</a:t>
            </a:r>
          </a:p>
        </p:txBody>
      </p:sp>
      <p:sp>
        <p:nvSpPr>
          <p:cNvPr id="907" name="Caption907">
            <a:extLst>
              <a:ext uri="{FF2B5EF4-FFF2-40B4-BE49-F238E27FC236}">
                <a16:creationId xmlns:a16="http://schemas.microsoft.com/office/drawing/2014/main" id="{B4694B30-AE27-5E47-C2C7-173A908B91F6}"/>
              </a:ext>
            </a:extLst>
          </p:cNvPr>
          <p:cNvSpPr txBox="1"/>
          <p:nvPr/>
        </p:nvSpPr>
        <p:spPr>
          <a:xfrm>
            <a:off x="4251271" y="4381100"/>
            <a:ext cx="540845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Fig 4: HBM3 Stacked Die Architecture on Silicon Interposer</a:t>
            </a:r>
          </a:p>
        </p:txBody>
      </p:sp>
      <p:sp>
        <p:nvSpPr>
          <p:cNvPr id="5" name="RightCol">
            <a:extLst>
              <a:ext uri="{FF2B5EF4-FFF2-40B4-BE49-F238E27FC236}">
                <a16:creationId xmlns:a16="http://schemas.microsoft.com/office/drawing/2014/main" id="{40A84CFE-E34D-1A41-0817-C705847C89A5}"/>
              </a:ext>
            </a:extLst>
          </p:cNvPr>
          <p:cNvSpPr txBox="1"/>
          <p:nvPr/>
        </p:nvSpPr>
        <p:spPr>
          <a:xfrm>
            <a:off x="391400" y="831200"/>
            <a:ext cx="41806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HBM: Game Changer for Accelerators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150" b="0" i="1" dirty="0">
                <a:solidFill>
                  <a:srgbClr val="434343"/>
                </a:solidFill>
                <a:latin typeface="Helvetica Neue"/>
              </a:rPr>
              <a:t>HBM stacks multiple DRAM dies vertically on a silicon interposer:</a:t>
            </a:r>
          </a:p>
          <a:p>
            <a:pPr marL="0" indent="0">
              <a:lnSpc>
                <a:spcPct val="150000"/>
              </a:lnSpc>
              <a:buNone/>
            </a:pPr>
            <a:endParaRPr lang="en-US" sz="600" dirty="0"/>
          </a:p>
          <a:p>
            <a:pPr marL="0" indent="0">
              <a:lnSpc>
                <a:spcPct val="150000"/>
              </a:lnSpc>
              <a:buNone/>
            </a:pPr>
            <a:endParaRPr lang="en-US" sz="600" dirty="0"/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HBM3 (H100): 3.35 TB/s bandwidth, 80 GB capacity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HBM3e (H200): 4.8 TB/s bandwidth, 141 GB capacity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vs GDDR6X (RTX 4090): 1.008 TB/s - still 3x less than HBM3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39677390-7C87-805A-2650-0F050B060B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6765" y="1328599"/>
            <a:ext cx="4306501" cy="2801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866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>
          <a:extLst>
            <a:ext uri="{FF2B5EF4-FFF2-40B4-BE49-F238E27FC236}">
              <a16:creationId xmlns:a16="http://schemas.microsoft.com/office/drawing/2014/main" id="{65F3A254-F9B4-88AE-4202-B859C84C4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CB8AFD-C635-4C4E-11DD-880116AFC8A9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D32A9F-C79A-118A-98C4-63E9D837A193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>
            <a:extLst>
              <a:ext uri="{FF2B5EF4-FFF2-40B4-BE49-F238E27FC236}">
                <a16:creationId xmlns:a16="http://schemas.microsoft.com/office/drawing/2014/main" id="{77AEE493-C546-0ABD-829D-FDCF8D0016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Storage Tiers &amp; the Data Ingestion Pipeline</a:t>
            </a:r>
          </a:p>
        </p:txBody>
      </p:sp>
      <p:sp>
        <p:nvSpPr>
          <p:cNvPr id="50" name="Ref">
            <a:extLst>
              <a:ext uri="{FF2B5EF4-FFF2-40B4-BE49-F238E27FC236}">
                <a16:creationId xmlns:a16="http://schemas.microsoft.com/office/drawing/2014/main" id="{2204BBFE-29B7-49D6-A3BA-1A9B19BF3F43}"/>
              </a:ext>
            </a:extLst>
          </p:cNvPr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PyTorch DataLoader docs; NVIDIA GPUDirect Storage Tech Brief (2022); MLPerf Storage Benchmark</a:t>
            </a:r>
          </a:p>
        </p:txBody>
      </p:sp>
      <p:pic>
        <p:nvPicPr>
          <p:cNvPr id="908" name="Figure5" descr="Fig 5: Bandwidth Comparison across Storage &amp; Memory Tiers">
            <a:extLst>
              <a:ext uri="{FF2B5EF4-FFF2-40B4-BE49-F238E27FC236}">
                <a16:creationId xmlns:a16="http://schemas.microsoft.com/office/drawing/2014/main" id="{DCC29B4A-1049-F4CA-5010-218386DCB0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080" y="772380"/>
            <a:ext cx="4705707" cy="2592983"/>
          </a:xfrm>
          <a:prstGeom prst="rect">
            <a:avLst/>
          </a:prstGeom>
        </p:spPr>
      </p:pic>
      <p:sp>
        <p:nvSpPr>
          <p:cNvPr id="909" name="Caption909">
            <a:extLst>
              <a:ext uri="{FF2B5EF4-FFF2-40B4-BE49-F238E27FC236}">
                <a16:creationId xmlns:a16="http://schemas.microsoft.com/office/drawing/2014/main" id="{F1CCA9DC-F4C9-EAE3-EE04-AE435B2CAC2B}"/>
              </a:ext>
            </a:extLst>
          </p:cNvPr>
          <p:cNvSpPr txBox="1"/>
          <p:nvPr/>
        </p:nvSpPr>
        <p:spPr>
          <a:xfrm>
            <a:off x="3172951" y="3402441"/>
            <a:ext cx="6471815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Fig 5: Bandwidth Comparison across Storage &amp; Memory Tiers</a:t>
            </a:r>
          </a:p>
        </p:txBody>
      </p:sp>
      <p:sp>
        <p:nvSpPr>
          <p:cNvPr id="4" name="Content">
            <a:extLst>
              <a:ext uri="{FF2B5EF4-FFF2-40B4-BE49-F238E27FC236}">
                <a16:creationId xmlns:a16="http://schemas.microsoft.com/office/drawing/2014/main" id="{F9F4CE91-46D4-FE7F-5CF2-39C09DA790EF}"/>
              </a:ext>
            </a:extLst>
          </p:cNvPr>
          <p:cNvSpPr txBox="1"/>
          <p:nvPr/>
        </p:nvSpPr>
        <p:spPr>
          <a:xfrm>
            <a:off x="311700" y="856537"/>
            <a:ext cx="3334680" cy="4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Storage Hierarchy for AI Datasets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HDD (7200 RPM): ~150 MB/s sequential, ideal for cold storage of raw datasets (terabyte scale)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SATA SSD: ~550 MB/s sequential, good for warm data staging buffers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NVMe SSD (PCIe 4.0): ~7 GB/s sequential, 1M+ IOPS - preferred for AI training scratch space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NVMe RAID-0 (8 drives): ~56 GB/s - matches PCIe 4.0 x16 bandwidth (64 GB/s)</a:t>
            </a:r>
          </a:p>
          <a:p>
            <a:pPr marL="0" indent="0">
              <a:lnSpc>
                <a:spcPct val="150000"/>
              </a:lnSpc>
              <a:buNone/>
            </a:pPr>
            <a:endParaRPr lang="en-US" sz="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E0ED5F-2A70-142A-47C1-6DE45B9E59A0}"/>
              </a:ext>
            </a:extLst>
          </p:cNvPr>
          <p:cNvSpPr txBox="1"/>
          <p:nvPr/>
        </p:nvSpPr>
        <p:spPr>
          <a:xfrm>
            <a:off x="3646380" y="3688508"/>
            <a:ext cx="539103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i="1" dirty="0">
                <a:solidFill>
                  <a:srgbClr val="000000"/>
                </a:solidFill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consider a typical ImageNet training job: 1.2 million images, roughly 150 gigabytes total. You need to read through all of them every epoch. At 7 gigabytes per second from </a:t>
            </a:r>
            <a:r>
              <a:rPr lang="en-IN" sz="1050" i="1" dirty="0" err="1">
                <a:solidFill>
                  <a:srgbClr val="000000"/>
                </a:solidFill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NVMe</a:t>
            </a:r>
            <a:r>
              <a:rPr lang="en-IN" sz="1050" i="1" dirty="0">
                <a:solidFill>
                  <a:srgbClr val="000000"/>
                </a:solidFill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, that is about 21 seconds per epoch just for I/O — which is actually fine for large models where the compute time per epoch is minutes.</a:t>
            </a:r>
            <a:endParaRPr lang="en-IN" sz="1050" i="1" dirty="0"/>
          </a:p>
        </p:txBody>
      </p:sp>
    </p:spTree>
    <p:extLst>
      <p:ext uri="{BB962C8B-B14F-4D97-AF65-F5344CB8AC3E}">
        <p14:creationId xmlns:p14="http://schemas.microsoft.com/office/powerpoint/2010/main" val="3106010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>
          <a:extLst>
            <a:ext uri="{FF2B5EF4-FFF2-40B4-BE49-F238E27FC236}">
              <a16:creationId xmlns:a16="http://schemas.microsoft.com/office/drawing/2014/main" id="{136D8667-C8F6-CB6F-3E7C-927A75CA4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1FD225D-C033-A501-186C-AE300ABA25BE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4FBC4D-B0AD-500D-D357-0CCFD618DDEC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>
            <a:extLst>
              <a:ext uri="{FF2B5EF4-FFF2-40B4-BE49-F238E27FC236}">
                <a16:creationId xmlns:a16="http://schemas.microsoft.com/office/drawing/2014/main" id="{CAE781E0-7714-6DCF-0376-B9E5F91A85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Storage Tiers &amp; the Data Ingestion Pipeline</a:t>
            </a:r>
          </a:p>
        </p:txBody>
      </p:sp>
      <p:sp>
        <p:nvSpPr>
          <p:cNvPr id="50" name="Ref">
            <a:extLst>
              <a:ext uri="{FF2B5EF4-FFF2-40B4-BE49-F238E27FC236}">
                <a16:creationId xmlns:a16="http://schemas.microsoft.com/office/drawing/2014/main" id="{6BF714B2-6468-8837-71E1-48B8775B6D55}"/>
              </a:ext>
            </a:extLst>
          </p:cNvPr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PyTorch DataLoader docs; NVIDIA GPUDirect Storage Tech Brief (2022); MLPerf Storage Benchmark</a:t>
            </a:r>
          </a:p>
        </p:txBody>
      </p:sp>
      <p:pic>
        <p:nvPicPr>
          <p:cNvPr id="908" name="Figure5" descr="Fig 5: Bandwidth Comparison across Storage &amp; Memory Tiers">
            <a:extLst>
              <a:ext uri="{FF2B5EF4-FFF2-40B4-BE49-F238E27FC236}">
                <a16:creationId xmlns:a16="http://schemas.microsoft.com/office/drawing/2014/main" id="{B93EC480-3D1D-65A2-596B-59121F074A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4918" y="785929"/>
            <a:ext cx="5327695" cy="2935716"/>
          </a:xfrm>
          <a:prstGeom prst="rect">
            <a:avLst/>
          </a:prstGeom>
        </p:spPr>
      </p:pic>
      <p:sp>
        <p:nvSpPr>
          <p:cNvPr id="909" name="Caption909">
            <a:extLst>
              <a:ext uri="{FF2B5EF4-FFF2-40B4-BE49-F238E27FC236}">
                <a16:creationId xmlns:a16="http://schemas.microsoft.com/office/drawing/2014/main" id="{3B4FE0A8-54C9-1D58-88AB-E694C0373FC4}"/>
              </a:ext>
            </a:extLst>
          </p:cNvPr>
          <p:cNvSpPr txBox="1"/>
          <p:nvPr/>
        </p:nvSpPr>
        <p:spPr>
          <a:xfrm>
            <a:off x="3724918" y="3907306"/>
            <a:ext cx="6471815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Fig 5: Bandwidth Comparison across Storage &amp; Memory Tiers</a:t>
            </a:r>
          </a:p>
        </p:txBody>
      </p:sp>
      <p:sp>
        <p:nvSpPr>
          <p:cNvPr id="5" name="Content">
            <a:extLst>
              <a:ext uri="{FF2B5EF4-FFF2-40B4-BE49-F238E27FC236}">
                <a16:creationId xmlns:a16="http://schemas.microsoft.com/office/drawing/2014/main" id="{147EEFFE-8BF7-3999-420D-F30498B31F71}"/>
              </a:ext>
            </a:extLst>
          </p:cNvPr>
          <p:cNvSpPr txBox="1"/>
          <p:nvPr/>
        </p:nvSpPr>
        <p:spPr>
          <a:xfrm>
            <a:off x="311700" y="856537"/>
            <a:ext cx="3194435" cy="4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n-US" sz="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Data Pipeline Bottleneck Analysis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Typical ImageNet training: 1.2M images, ~150 GB; need &gt;3 GB/s to feed 8x GPUs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PyTorch DataLoader: num_workers controls parallel prefetching processes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Rule: num_workers = 2-4x number of GPUs; pin_memory=True for CUDA transfers</a:t>
            </a:r>
          </a:p>
          <a:p>
            <a:pPr marL="0" indent="0">
              <a:lnSpc>
                <a:spcPct val="150000"/>
              </a:lnSpc>
              <a:buNone/>
            </a:pPr>
            <a:endParaRPr lang="en-US" sz="600" dirty="0"/>
          </a:p>
        </p:txBody>
      </p:sp>
    </p:spTree>
    <p:extLst>
      <p:ext uri="{BB962C8B-B14F-4D97-AF65-F5344CB8AC3E}">
        <p14:creationId xmlns:p14="http://schemas.microsoft.com/office/powerpoint/2010/main" val="1020713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>
          <a:extLst>
            <a:ext uri="{FF2B5EF4-FFF2-40B4-BE49-F238E27FC236}">
              <a16:creationId xmlns:a16="http://schemas.microsoft.com/office/drawing/2014/main" id="{7020F9E6-4379-C1FF-23F0-30619CBDC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25A0134-F450-7016-BE98-9F58D6FCDF4F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51828D-6AE7-AC6D-0D14-1E7460B7E78E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>
            <a:extLst>
              <a:ext uri="{FF2B5EF4-FFF2-40B4-BE49-F238E27FC236}">
                <a16:creationId xmlns:a16="http://schemas.microsoft.com/office/drawing/2014/main" id="{031C15B7-CABE-CF15-59EC-7466848974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Storage Tiers &amp; the Data Ingestion Pipeline</a:t>
            </a:r>
          </a:p>
        </p:txBody>
      </p:sp>
      <p:sp>
        <p:nvSpPr>
          <p:cNvPr id="50" name="Ref">
            <a:extLst>
              <a:ext uri="{FF2B5EF4-FFF2-40B4-BE49-F238E27FC236}">
                <a16:creationId xmlns:a16="http://schemas.microsoft.com/office/drawing/2014/main" id="{9E15C5B1-E5DC-A088-15D5-C59113C7A622}"/>
              </a:ext>
            </a:extLst>
          </p:cNvPr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PyTorch DataLoader docs; NVIDIA GPUDirect Storage Tech Brief (2022); MLPerf Storage Benchmark</a:t>
            </a:r>
          </a:p>
        </p:txBody>
      </p:sp>
      <p:pic>
        <p:nvPicPr>
          <p:cNvPr id="908" name="Figure5" descr="Fig 5: Bandwidth Comparison across Storage &amp; Memory Tiers">
            <a:extLst>
              <a:ext uri="{FF2B5EF4-FFF2-40B4-BE49-F238E27FC236}">
                <a16:creationId xmlns:a16="http://schemas.microsoft.com/office/drawing/2014/main" id="{7CE00535-BECE-BFE9-4FDA-8188AC4C83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4918" y="785929"/>
            <a:ext cx="5327695" cy="2935716"/>
          </a:xfrm>
          <a:prstGeom prst="rect">
            <a:avLst/>
          </a:prstGeom>
        </p:spPr>
      </p:pic>
      <p:sp>
        <p:nvSpPr>
          <p:cNvPr id="909" name="Caption909">
            <a:extLst>
              <a:ext uri="{FF2B5EF4-FFF2-40B4-BE49-F238E27FC236}">
                <a16:creationId xmlns:a16="http://schemas.microsoft.com/office/drawing/2014/main" id="{EDBDCF52-288F-8BFE-44C6-C1D29EEEA535}"/>
              </a:ext>
            </a:extLst>
          </p:cNvPr>
          <p:cNvSpPr txBox="1"/>
          <p:nvPr/>
        </p:nvSpPr>
        <p:spPr>
          <a:xfrm>
            <a:off x="3724918" y="3907306"/>
            <a:ext cx="6471815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Fig 5: Bandwidth Comparison across Storage &amp; Memory Tiers</a:t>
            </a:r>
          </a:p>
        </p:txBody>
      </p:sp>
      <p:sp>
        <p:nvSpPr>
          <p:cNvPr id="5" name="Content">
            <a:extLst>
              <a:ext uri="{FF2B5EF4-FFF2-40B4-BE49-F238E27FC236}">
                <a16:creationId xmlns:a16="http://schemas.microsoft.com/office/drawing/2014/main" id="{6F817790-63DE-560A-7186-66448271D14B}"/>
              </a:ext>
            </a:extLst>
          </p:cNvPr>
          <p:cNvSpPr txBox="1"/>
          <p:nvPr/>
        </p:nvSpPr>
        <p:spPr>
          <a:xfrm>
            <a:off x="311700" y="856537"/>
            <a:ext cx="3194435" cy="4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Network Storage for Distributed AI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NFS/GPFS/Lustre: parallel file systems used in HPC clusters and SLURM environments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WekaFS, VAST Data, DDN EXAScaler: purpose-built for AI training throughput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GPUDirect Storage (GDS): bypass CPU, DMA data directly NVMe → GPU memory</a:t>
            </a:r>
          </a:p>
          <a:p>
            <a:pPr marL="0" indent="0">
              <a:lnSpc>
                <a:spcPct val="150000"/>
              </a:lnSpc>
              <a:buNone/>
            </a:pPr>
            <a:endParaRPr lang="en-US" sz="600" dirty="0"/>
          </a:p>
        </p:txBody>
      </p:sp>
    </p:spTree>
    <p:extLst>
      <p:ext uri="{BB962C8B-B14F-4D97-AF65-F5344CB8AC3E}">
        <p14:creationId xmlns:p14="http://schemas.microsoft.com/office/powerpoint/2010/main" val="1208746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NUMA Architecture in Multi-Socket AI Servers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AMD EPYC 9004 Architecture Guide; NVIDIA DGX H100 System Architecture (2023)</a:t>
            </a:r>
          </a:p>
        </p:txBody>
      </p:sp>
      <p:sp>
        <p:nvSpPr>
          <p:cNvPr id="911" name="Caption911"/>
          <p:cNvSpPr txBox="1"/>
          <p:nvPr/>
        </p:nvSpPr>
        <p:spPr>
          <a:xfrm>
            <a:off x="3625971" y="3807517"/>
            <a:ext cx="576955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Fig 6: NUMA Dual-Socket Server Topology</a:t>
            </a:r>
          </a:p>
        </p:txBody>
      </p:sp>
      <p:pic>
        <p:nvPicPr>
          <p:cNvPr id="919" name="Picture 918">
            <a:extLst>
              <a:ext uri="{FF2B5EF4-FFF2-40B4-BE49-F238E27FC236}">
                <a16:creationId xmlns:a16="http://schemas.microsoft.com/office/drawing/2014/main" id="{1D0736E6-3C15-7C05-6AA2-36EF0A769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9198" y="1111099"/>
            <a:ext cx="4643102" cy="2410967"/>
          </a:xfrm>
          <a:prstGeom prst="rect">
            <a:avLst/>
          </a:prstGeom>
        </p:spPr>
      </p:pic>
      <p:sp>
        <p:nvSpPr>
          <p:cNvPr id="920" name="LeftCol">
            <a:extLst>
              <a:ext uri="{FF2B5EF4-FFF2-40B4-BE49-F238E27FC236}">
                <a16:creationId xmlns:a16="http://schemas.microsoft.com/office/drawing/2014/main" id="{76BE9271-06BB-17A6-6D1C-FB8623ABA57E}"/>
              </a:ext>
            </a:extLst>
          </p:cNvPr>
          <p:cNvSpPr txBox="1"/>
          <p:nvPr/>
        </p:nvSpPr>
        <p:spPr>
          <a:xfrm>
            <a:off x="311700" y="856537"/>
            <a:ext cx="3603952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What is NUMA?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Non-Uniform Memory Access: each socket has local DRAM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Accessing remote (cross-socket) memory adds ~2x latency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AMD EPYC uses NUMA internally even within a single socket (CCX/CCD topology)</a:t>
            </a:r>
          </a:p>
          <a:p>
            <a:pPr marL="0" indent="0">
              <a:lnSpc>
                <a:spcPct val="150000"/>
              </a:lnSpc>
              <a:buNone/>
            </a:pPr>
            <a:endParaRPr lang="en-US" sz="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NUMA in Multi-GPU Servers (DGX H100)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2x CPU sockets, each with 4x GPUs attached via PCIe switches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GPU 0-3 have NUMA affinity to Socket 0 RAM; GPU 4-7 to Socket 1 RAM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Cross-NUMA data transfer: ~400 GB/s (UPI) vs 614 GB/s local bandwidth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>
          <a:extLst>
            <a:ext uri="{FF2B5EF4-FFF2-40B4-BE49-F238E27FC236}">
              <a16:creationId xmlns:a16="http://schemas.microsoft.com/office/drawing/2014/main" id="{76A9606F-85E2-39CE-2EA5-BD8585465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FF9ECB-90BD-03BD-648F-BB2D05CFE275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D0647D-65CB-56DE-9DF9-2E0E80212E6B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>
            <a:extLst>
              <a:ext uri="{FF2B5EF4-FFF2-40B4-BE49-F238E27FC236}">
                <a16:creationId xmlns:a16="http://schemas.microsoft.com/office/drawing/2014/main" id="{E364C5D0-A2B9-44DE-46BB-FF68C85D8C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NUMA Architecture in Multi-Socket AI Servers</a:t>
            </a:r>
          </a:p>
        </p:txBody>
      </p:sp>
      <p:sp>
        <p:nvSpPr>
          <p:cNvPr id="50" name="Ref">
            <a:extLst>
              <a:ext uri="{FF2B5EF4-FFF2-40B4-BE49-F238E27FC236}">
                <a16:creationId xmlns:a16="http://schemas.microsoft.com/office/drawing/2014/main" id="{DB99AA77-B0E5-7FE9-C4F6-AE09FF6C1951}"/>
              </a:ext>
            </a:extLst>
          </p:cNvPr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AMD EPYC 9004 Architecture Guide; NVIDIA DGX H100 System Architecture (2023)</a:t>
            </a:r>
          </a:p>
        </p:txBody>
      </p:sp>
      <p:sp>
        <p:nvSpPr>
          <p:cNvPr id="911" name="Caption911">
            <a:extLst>
              <a:ext uri="{FF2B5EF4-FFF2-40B4-BE49-F238E27FC236}">
                <a16:creationId xmlns:a16="http://schemas.microsoft.com/office/drawing/2014/main" id="{51178E9D-BEAF-28F5-4B12-302ACE1F1102}"/>
              </a:ext>
            </a:extLst>
          </p:cNvPr>
          <p:cNvSpPr txBox="1"/>
          <p:nvPr/>
        </p:nvSpPr>
        <p:spPr>
          <a:xfrm>
            <a:off x="3625971" y="3807517"/>
            <a:ext cx="576955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Fig 6: NUMA Dual-Socket Server Topology</a:t>
            </a:r>
          </a:p>
        </p:txBody>
      </p:sp>
      <p:pic>
        <p:nvPicPr>
          <p:cNvPr id="919" name="Picture 918">
            <a:extLst>
              <a:ext uri="{FF2B5EF4-FFF2-40B4-BE49-F238E27FC236}">
                <a16:creationId xmlns:a16="http://schemas.microsoft.com/office/drawing/2014/main" id="{E67563FC-F4DF-F7E8-85DD-6E4C2C7AF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9198" y="1111099"/>
            <a:ext cx="4643102" cy="2410967"/>
          </a:xfrm>
          <a:prstGeom prst="rect">
            <a:avLst/>
          </a:prstGeom>
        </p:spPr>
      </p:pic>
      <p:sp>
        <p:nvSpPr>
          <p:cNvPr id="4" name="RightCol">
            <a:extLst>
              <a:ext uri="{FF2B5EF4-FFF2-40B4-BE49-F238E27FC236}">
                <a16:creationId xmlns:a16="http://schemas.microsoft.com/office/drawing/2014/main" id="{C42134E7-DECF-5466-10B9-798439AB0C06}"/>
              </a:ext>
            </a:extLst>
          </p:cNvPr>
          <p:cNvSpPr txBox="1"/>
          <p:nvPr/>
        </p:nvSpPr>
        <p:spPr>
          <a:xfrm>
            <a:off x="311700" y="831200"/>
            <a:ext cx="3918101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n-US" sz="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Memory Bandwidth Summary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00" b="0" dirty="0">
                <a:solidFill>
                  <a:srgbClr val="000000"/>
                </a:solidFill>
                <a:latin typeface="Helvetica Neue"/>
              </a:rPr>
              <a:t>DDR5-4800 (1 channel): 38.4 GB/s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00" b="0" dirty="0">
                <a:solidFill>
                  <a:srgbClr val="000000"/>
                </a:solidFill>
                <a:latin typeface="Helvetica Neue"/>
              </a:rPr>
              <a:t>12-ch DDR5 (EPYC): ~460 GB/s per socket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00" b="0" dirty="0">
                <a:solidFill>
                  <a:srgbClr val="000000"/>
                </a:solidFill>
                <a:latin typeface="Helvetica Neue"/>
              </a:rPr>
              <a:t>NVLink 4 (H100): 900 GB/s (bidirectional) GPU-GPU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00" b="0" dirty="0">
                <a:solidFill>
                  <a:srgbClr val="000000"/>
                </a:solidFill>
                <a:latin typeface="Helvetica Neue"/>
              </a:rPr>
              <a:t>PCIe 5.0 x16: 128 GB/s bidirectional (CPU-GPU)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00" b="0" dirty="0">
                <a:solidFill>
                  <a:srgbClr val="000000"/>
                </a:solidFill>
                <a:latin typeface="Helvetica Neue"/>
              </a:rPr>
              <a:t>HBM3 (H100): 3.35 TB/s (GPU on-chip)</a:t>
            </a:r>
          </a:p>
        </p:txBody>
      </p:sp>
    </p:spTree>
    <p:extLst>
      <p:ext uri="{BB962C8B-B14F-4D97-AF65-F5344CB8AC3E}">
        <p14:creationId xmlns:p14="http://schemas.microsoft.com/office/powerpoint/2010/main" val="5619948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Data Movement Costs: The Hidden Performance Tax</a:t>
            </a:r>
          </a:p>
        </p:txBody>
      </p:sp>
      <p:sp>
        <p:nvSpPr>
          <p:cNvPr id="10" name="Content"/>
          <p:cNvSpPr txBox="1"/>
          <p:nvPr/>
        </p:nvSpPr>
        <p:spPr>
          <a:xfrm>
            <a:off x="311700" y="856537"/>
            <a:ext cx="8520600" cy="4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Why Data Movement Matters More Than Compute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Moving 1 byte across PCIe bus costs ~700 pJ of energy vs ~1 pJ for a FP32 MAC on-chip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H100 peak compute: 3.958 PFLOPS (FP8); H100 system bandwidth (PCIe): 128 GB/s - 30,000x gap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Optimal AI system design minimises data movement, maximises data reuse in fast memory</a:t>
            </a:r>
          </a:p>
          <a:p>
            <a:pPr marL="0" indent="0">
              <a:lnSpc>
                <a:spcPct val="150000"/>
              </a:lnSpc>
              <a:buNone/>
            </a:pPr>
            <a:endParaRPr lang="en-US" sz="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Techniques to Reduce Data Movement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Operator Fusion: combine LayerNorm + Dropout + Activation into one GPU kernel (Flash Attention)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Tiling: partition large matrices to fit in L2/SRAM, enabling data reuse without DRAM accesses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Gradient Checkpointing: recompute activations during backward pass instead of storing them all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Prefetching: overlap data transfer with compute using CUDA streams and async copy</a:t>
            </a:r>
          </a:p>
          <a:p>
            <a:pPr marL="0" indent="0">
              <a:lnSpc>
                <a:spcPct val="150000"/>
              </a:lnSpc>
              <a:buNone/>
            </a:pPr>
            <a:endParaRPr lang="en-US" sz="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Quantifying Impact in Practice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Flash Attention v2 (Dao 2022): 3-5x speedup via tiled HBM access - memory, not compute, was the limit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Gradient Accumulation: accumulate gradients over N mini-batches to simulate large batch with small VRAM</a:t>
            </a:r>
          </a:p>
          <a:p>
            <a:pPr marL="285750" indent="-285750">
              <a:lnSpc>
                <a:spcPct val="150000"/>
              </a:lnSpc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Mixed Precision (BF16/FP16): halves memory bandwidth requirement vs FP32 - often 1.5-2x speedup</a:t>
            </a:r>
          </a:p>
          <a:p>
            <a:pPr marL="0" indent="0">
              <a:lnSpc>
                <a:spcPct val="150000"/>
              </a:lnSpc>
              <a:buNone/>
            </a:pPr>
            <a:endParaRPr lang="en-US" sz="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b="0" i="1" dirty="0">
                <a:solidFill>
                  <a:srgbClr val="434343"/>
                </a:solidFill>
                <a:latin typeface="Helvetica Neue"/>
              </a:rPr>
              <a:t>“The free lunch is over for compute. The next frontier is memory-efficient algorithms.”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050" b="0" i="1" dirty="0">
                <a:solidFill>
                  <a:srgbClr val="434343"/>
                </a:solidFill>
                <a:latin typeface="Helvetica Neue"/>
              </a:rPr>
              <a:t>   - Adapted from Sutter (2005), applied to modern AI systems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738046" y="4896537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Dao et al., FlashAttention-2, ICLR 2024; Rajbhandari et al., ZeRO, SC’20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lvl="0" algn="l"/>
            <a:r>
              <a:rPr lang="en-US" dirty="0">
                <a:solidFill>
                  <a:schemeClr val="tx1"/>
                </a:solidFill>
              </a:rPr>
              <a:t>Segment 2 Summary: Memory Hierarchy &amp; Data Movement</a:t>
            </a:r>
          </a:p>
        </p:txBody>
      </p:sp>
      <p:sp>
        <p:nvSpPr>
          <p:cNvPr id="10" name="Content"/>
          <p:cNvSpPr txBox="1"/>
          <p:nvPr/>
        </p:nvSpPr>
        <p:spPr>
          <a:xfrm>
            <a:off x="311700" y="856537"/>
            <a:ext cx="8520600" cy="4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Memory hierarchy spans registers (&lt;1 ns) through DRAM (60 ns) to NVMe (100 us) - latency governs AI pipeline design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HBM3 (3.35 TB/s) vs DDR5 (460 GB/s per socket): on-chip bandwidth is 7x higher - keep hot data in GPU VRAM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NUMA topology determines which CPU cores and memory channels have lowest-latency GPU access - always pin affinity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DataLoader optimisation (pinned memory, num_workers, prefetch) is essential to prevent GPU starvation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Data movement energy cost dwarfs arithmetic cost - operator fusion, tiling, and mixed precision are first-order optimisations</a:t>
            </a:r>
          </a:p>
          <a:p>
            <a:pPr marL="0" indent="0">
              <a:buNone/>
            </a:pPr>
            <a:endParaRPr lang="en-US" sz="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>
          <a:extLst>
            <a:ext uri="{FF2B5EF4-FFF2-40B4-BE49-F238E27FC236}">
              <a16:creationId xmlns:a16="http://schemas.microsoft.com/office/drawing/2014/main" id="{9504B2B0-47A9-5698-7076-399DA624B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9">
            <a:extLst>
              <a:ext uri="{FF2B5EF4-FFF2-40B4-BE49-F238E27FC236}">
                <a16:creationId xmlns:a16="http://schemas.microsoft.com/office/drawing/2014/main" id="{6700D62D-DE44-5D7A-F6DF-775832F9F0A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229" name="Google Shape;229;p29">
            <a:extLst>
              <a:ext uri="{FF2B5EF4-FFF2-40B4-BE49-F238E27FC236}">
                <a16:creationId xmlns:a16="http://schemas.microsoft.com/office/drawing/2014/main" id="{F57A4D2D-D148-6EE2-C13A-BC1246C504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69200"/>
            <a:ext cx="6960900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>
                <a:solidFill>
                  <a:schemeClr val="tx1"/>
                </a:solidFill>
              </a:rPr>
              <a:t>Thank you!</a:t>
            </a:r>
            <a:endParaRPr sz="3000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BFD1A3-5B60-8A3A-F97E-BFFA2CFDD522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3C280A-6A21-7E17-A33F-575D64C1EB37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219813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1853</TotalTime>
  <Words>1324</Words>
  <Application>Microsoft Office PowerPoint</Application>
  <PresentationFormat>On-screen Show (16:9)</PresentationFormat>
  <Paragraphs>122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Georgia</vt:lpstr>
      <vt:lpstr>Aptos Display</vt:lpstr>
      <vt:lpstr>Helvetica Neue</vt:lpstr>
      <vt:lpstr>Simple Light</vt:lpstr>
      <vt:lpstr>NPTEL</vt:lpstr>
      <vt:lpstr>Segment 2: Memory Hierarchy, RAM, Storage &amp; Data Movement How data flows from disk to compute units - and why this journey dominates AI system performance</vt:lpstr>
      <vt:lpstr>Learning Objectives - Segment 2</vt:lpstr>
      <vt:lpstr>DRAM Fundamentals: DDR, LPDDR, and HBM</vt:lpstr>
      <vt:lpstr>DRAM Fundamentals: DDR, LPDDR, and HBM</vt:lpstr>
      <vt:lpstr>DRAM Fundamentals: DDR, LPDDR, and HBM</vt:lpstr>
      <vt:lpstr>Storage Tiers &amp; the Data Ingestion Pipeline</vt:lpstr>
      <vt:lpstr>Storage Tiers &amp; the Data Ingestion Pipeline</vt:lpstr>
      <vt:lpstr>Storage Tiers &amp; the Data Ingestion Pipeline</vt:lpstr>
      <vt:lpstr>NUMA Architecture in Multi-Socket AI Servers</vt:lpstr>
      <vt:lpstr>NUMA Architecture in Multi-Socket AI Servers</vt:lpstr>
      <vt:lpstr>Data Movement Costs: The Hidden Performance Tax</vt:lpstr>
      <vt:lpstr>Segment 2 Summary: Memory Hierarchy &amp; Data Movement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Bachelor of Science (Honours) in Data Science and Artificial Intelligence</dc:title>
  <dc:creator>satyajit das</dc:creator>
  <cp:lastModifiedBy>satyajit das</cp:lastModifiedBy>
  <cp:revision>90</cp:revision>
  <dcterms:modified xsi:type="dcterms:W3CDTF">2026-03-16T09:38:10Z</dcterms:modified>
</cp:coreProperties>
</file>