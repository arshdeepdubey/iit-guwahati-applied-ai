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503" r:id="rId2"/>
    <p:sldId id="598" r:id="rId3"/>
    <p:sldId id="599" r:id="rId4"/>
    <p:sldId id="605" r:id="rId5"/>
    <p:sldId id="601" r:id="rId6"/>
    <p:sldId id="602" r:id="rId7"/>
    <p:sldId id="603" r:id="rId8"/>
    <p:sldId id="604" r:id="rId9"/>
    <p:sldId id="575" r:id="rId10"/>
  </p:sldIdLst>
  <p:sldSz cx="9144000" cy="5143500" type="screen16x9"/>
  <p:notesSz cx="6858000" cy="9144000"/>
  <p:embeddedFontLst>
    <p:embeddedFont>
      <p:font typeface="Helvetica Neue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itle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4: Interconnects - PCIe, NVLink and NVSwitch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The communication fabric that determines whether your multi-GPU cluster runs or crawls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Learning Objectives - Segment 4</a:t>
            </a:r>
          </a:p>
        </p:txBody>
      </p:sp>
      <p:sp>
        <p:nvSpPr>
          <p:cNvPr id="200" name="ObjNum0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1" name="ObjText0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Describe PCIe lane architecture and calculate peak bandwidth for Gen 4 and Gen 5</a:t>
            </a:r>
          </a:p>
        </p:txBody>
      </p:sp>
      <p:sp>
        <p:nvSpPr>
          <p:cNvPr id="202" name="ObjNum1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3" name="ObjText1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Explain why NVLink was invented and quantify its bandwidth advantage over PCIe</a:t>
            </a:r>
          </a:p>
        </p:txBody>
      </p:sp>
      <p:sp>
        <p:nvSpPr>
          <p:cNvPr id="204" name="ObjNum2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5" name="ObjText2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Understand NVSwitch as an all-to-all crossbar enabling full-mesh GPU communication</a:t>
            </a:r>
          </a:p>
        </p:txBody>
      </p:sp>
      <p:sp>
        <p:nvSpPr>
          <p:cNvPr id="206" name="ObjNum3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7" name="ObjText3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Identify the communication primitives used in distributed training (AllReduce, AllGather, ReduceScatter)</a:t>
            </a:r>
          </a:p>
        </p:txBody>
      </p:sp>
      <p:sp>
        <p:nvSpPr>
          <p:cNvPr id="208" name="ObjNum4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09" name="ObjText4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Apply the concept of communication-compute overlap to analyse distributed training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PCIe: The Universal Interconnect</a:t>
            </a:r>
          </a:p>
        </p:txBody>
      </p:sp>
      <p:sp>
        <p:nvSpPr>
          <p:cNvPr id="10" name="LeftCol"/>
          <p:cNvSpPr txBox="1"/>
          <p:nvPr/>
        </p:nvSpPr>
        <p:spPr>
          <a:xfrm>
            <a:off x="311700" y="856537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PCIe Architecture Fundamentals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Point-to-point serial link: lanes carry 1 bit/direction simultaneously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x16 slot: 16 differential pairs transmit/16 receive = 32 wire pairs total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Physical: 8b/10b (Gen1-2) or 128b/130b encoding (Gen3-5) for DC balance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PCIe Bandwidth Progression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PCIe 3.0 x16: 16 GB/s per direction (2017-era GPUs)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PCIe 4.0 x16: 32 GB/s per direction (A100, 2020)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PCIe 5.0 x16: 64 GB/s per direction (H100 PCIe, 2022)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PCIe 6.0 (2023): 128 GB/s per direction with PAM-4 signalling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PCIe Topology in AI Servers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Root Complex (CPU) connects to PCIe switches downstream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Multiple GPUs share switch uplink bandwidth - contention at scale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PCIe peer-to-peer (P2P): GPU-GPU direct without CPU involvement (same switch)</a:t>
            </a:r>
          </a:p>
        </p:txBody>
      </p:sp>
      <p:sp>
        <p:nvSpPr>
          <p:cNvPr id="11" name="RightCol"/>
          <p:cNvSpPr txBox="1"/>
          <p:nvPr/>
        </p:nvSpPr>
        <p:spPr>
          <a:xfrm>
            <a:off x="4651700" y="856537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PCIe Bandwidth vs AI Demand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PCIe 5.0 x16: 64 GB/s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H100 HBM3:  3350 GB/s (52x faster!)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AllReduce (8 GPUs, 7B model FP16):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  Data volume = 2 x (N-1)/N x params x 2 bytes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  ~ 2 x 7/8 x 7B x 2 = 24.5 GB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  At 64 GB/s: ~380 ms (PCIe) vs ~20 ms (NVLink)</a:t>
            </a:r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PCI-SIG PCIe 5.0 Specification (2019); NVIDIA GPUDirect RDMA documentation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1800" b="1" dirty="0">
                <a:solidFill>
                  <a:schemeClr val="tx1"/>
                </a:solidFill>
              </a:rPr>
              <a:t>NVLink and NVSwitch: NVIDIA’s High-Bandwidth Interconnect Fabric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698777" y="4923529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NVIDIA NVLink and NVSwitch Whitepaper (2023); NVIDIA DGX H100 Systems Architecture (2023)</a:t>
            </a:r>
          </a:p>
        </p:txBody>
      </p:sp>
      <p:pic>
        <p:nvPicPr>
          <p:cNvPr id="920" name="Figure11" descr="Fig 11: DGX H100 NVSwitch All-to-All GPU Topolog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413" y="1068209"/>
            <a:ext cx="4200478" cy="2812990"/>
          </a:xfrm>
          <a:prstGeom prst="rect">
            <a:avLst/>
          </a:prstGeom>
        </p:spPr>
      </p:pic>
      <p:sp>
        <p:nvSpPr>
          <p:cNvPr id="921" name="Caption921"/>
          <p:cNvSpPr txBox="1"/>
          <p:nvPr/>
        </p:nvSpPr>
        <p:spPr>
          <a:xfrm>
            <a:off x="4371260" y="3881199"/>
            <a:ext cx="532514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11: DGX H100 NVSwitch All-to-All GPU Topology</a:t>
            </a:r>
          </a:p>
        </p:txBody>
      </p:sp>
      <p:sp>
        <p:nvSpPr>
          <p:cNvPr id="4" name="Content">
            <a:extLst>
              <a:ext uri="{FF2B5EF4-FFF2-40B4-BE49-F238E27FC236}">
                <a16:creationId xmlns:a16="http://schemas.microsoft.com/office/drawing/2014/main" id="{F5A43DD8-478D-77B5-0E1E-D8AB623C97AC}"/>
              </a:ext>
            </a:extLst>
          </p:cNvPr>
          <p:cNvSpPr txBox="1"/>
          <p:nvPr/>
        </p:nvSpPr>
        <p:spPr>
          <a:xfrm>
            <a:off x="311700" y="856537"/>
            <a:ext cx="42603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Why NVLink? The Problem With PCIe at Scale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PCIe 4.0: 32 GB/s bidirectional - insufficient for gradient AllReduce in large model training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NVLink 1.0 (2016, P100): 160 GB/s bidirectional - 5x PCIe 3.0 immediately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NVLink 4.0 (2022, H100): 900 GB/s bidirectional per GPU - 28x PCIe 4.0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NVLink Technical Architecture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Each NVLink 4.0 link: 25 GB/s x 18 links x 2 directions = 900 GB/s per H100 SXM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Differential signal pairs, low latency (&lt;1 us), coherent cache-line transfers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Directly accesses remote GPU HBM as if it were local memory (NUMA-aware)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NVSwitch: From Point-to-Point to Full Mesh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NVSwitch chip (4th Gen): 57.6 TB/s total switching bandwidth, 256 NVLink ports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DGX H100: 8 GPUs connected via 4 NVSwitches in all-to-all fat-tree topology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Any GPU to any other GPU: 900 GB/s - no bandwidth degradation regardless of pair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NVLink Network: extends NVSwitch fabric across nodes via NVLink switches (NVS 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Collective Communication Primitives in Distributed Training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738046" y="49364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Patarasuk &amp; Yuan, “Bandwidth Optimal AllReduce,” 2009; PyTorch DDP Paper, VLDB 2020</a:t>
            </a:r>
          </a:p>
        </p:txBody>
      </p:sp>
      <p:sp>
        <p:nvSpPr>
          <p:cNvPr id="923" name="Caption923"/>
          <p:cNvSpPr txBox="1"/>
          <p:nvPr/>
        </p:nvSpPr>
        <p:spPr>
          <a:xfrm>
            <a:off x="3933195" y="3804394"/>
            <a:ext cx="546159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Fig 12: Ring AllReduce — Bandwidth-Optimal Gradient Sync</a:t>
            </a:r>
          </a:p>
        </p:txBody>
      </p:sp>
      <p:sp>
        <p:nvSpPr>
          <p:cNvPr id="5" name="LeftCol">
            <a:extLst>
              <a:ext uri="{FF2B5EF4-FFF2-40B4-BE49-F238E27FC236}">
                <a16:creationId xmlns:a16="http://schemas.microsoft.com/office/drawing/2014/main" id="{A875A170-230B-BA47-91C9-FD78AC92EA39}"/>
              </a:ext>
            </a:extLst>
          </p:cNvPr>
          <p:cNvSpPr txBox="1"/>
          <p:nvPr/>
        </p:nvSpPr>
        <p:spPr>
          <a:xfrm>
            <a:off x="311700" y="856537"/>
            <a:ext cx="3969788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Core Collectives (NCCL Library)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AllReduce: sum gradients across all GPUs, every GPU gets the full result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ReduceScatter: partial reduce + scatter - each GPU gets 1/N of the reduced tensor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AllGather: each GPU collects pieces from all GPUs to form complete tensor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Broadcast: one GPU sends data to all others (e.g., model init, checkpoint load)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Ring AllReduce Algorithm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Divide gradient tensor into N chunks (N = GPU count)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Phase 1 (ReduceScatter): N-1 steps, each GPU accumulates its chunk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Phase 2 (AllGather): N-1 steps, broadcast accumulated chunks to all GPUs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Total data per GPU: 2 x (N-1)/N x grad_size - near-optimal bandwidth utilisation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NCCL vs MPI vs Gloo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NCCL (NVIDIA): GPU-native, uses NVLink/RDMA, best performance on NVIDIA HW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MPI (OpenMPI): CPU-based, used in HPC, supports heterogeneous clusters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Gloo: CPU fallback in PyTorch DDP, used for CPU-only or debug environments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60FE2B-4C7A-AD6C-C978-87FD06ACA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488" y="1414511"/>
            <a:ext cx="4900560" cy="23898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Network Topologies for Multi-Node AI Clusters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Fat-Tree Topology (Standard Data Centre)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3-tier Clos: ToR (Top of Rack) - Aggregation - Core switches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Full bisection bandwidth: any-to-any GPU communication at full line rate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Oversubscription ratio (2:1, 4:1) reduces cost but creates congestion at scale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Rail-Optimised Topology (NVIDIA Quantum-2 InfiniBand)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Each GPU connected to different spine switch; intra-node uses NVSwitch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Inter-node traffic spreads across multiple spine paths (load balancing)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NVIDIA Quantum-2: 400 Gb/s InfiniBand, 7,500 ports per fabric, &lt;100 ns latency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Torus Networks (Google TPU, Frontier Supercomputer)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3D/4D torus: nodes arranged in multi-dimensional grid with wrap-around edges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TPU v4 Pod: 4096 chips in 3D torus - excellent for collective operations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AMD EPYC Frontier: 3D torus Slingshot-11 network, 200 Gb/s per node port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Choosing Interconnect for Your Cluster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Single-node 8-GPU: NVSwitch topology is sufficient for most training jobs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Multi-node &lt;64 GPUs: 200 Gb/s InfiniBand or RoCEv2 with RDMA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HPC-scale (&gt;1000 GPUs): InfiniBand HDR/NDR or proprietary (NVLink Network, Slingshot)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150" b="0" i="1" dirty="0">
                <a:solidFill>
                  <a:srgbClr val="434343"/>
                </a:solidFill>
                <a:latin typeface="Helvetica Neue"/>
              </a:rPr>
              <a:t>Benchmark: nccl-tests --op allreduce --minbytes 1M --maxbytes 16G to measure effective BW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Besta et al., “Demystifying the MLPerf Training Benchmark,” 2023; Top500.org Frontier System Profile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itleBox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dirty="0">
                <a:solidFill>
                  <a:schemeClr val="tx1"/>
                </a:solidFill>
              </a:rPr>
              <a:t>Segment 4 Summary: Interconnects - PCIe, NVLink &amp; NVSwitch</a:t>
            </a:r>
          </a:p>
        </p:txBody>
      </p:sp>
      <p:sp>
        <p:nvSpPr>
          <p:cNvPr id="10" name="Content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PCIe 5.0 x16 provides 64 GB/s bidirectional - sufficient for single-GPU but a bottleneck for multi-GPU AllReduce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NVLink 4.0 delivers 900 GB/s per H100, with NVSwitch enabling full-mesh all-to-all at full bandwidth for 8-GPU nodes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Ring AllReduce is bandwidth-optimal: 2(N-1)/N x gradient_size per GPU regardless of ring size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NCCL with GPUDirect RDMA overlaps inter-node communication with backward computation via CUDA streams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Cluster topology (fat-tree, rail-optimised, torus) determines scalability - always benchmark with nccl-tests before optimising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1926</TotalTime>
  <Words>1144</Words>
  <Application>Microsoft Office PowerPoint</Application>
  <PresentationFormat>On-screen Show (16:9)</PresentationFormat>
  <Paragraphs>114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Helvetica Neue</vt:lpstr>
      <vt:lpstr>Aptos Display</vt:lpstr>
      <vt:lpstr>Arial</vt:lpstr>
      <vt:lpstr>Simple Light</vt:lpstr>
      <vt:lpstr>NPTEL</vt:lpstr>
      <vt:lpstr>Segment 4: Interconnects - PCIe, NVLink and NVSwitch The communication fabric that determines whether your multi-GPU cluster runs or crawls</vt:lpstr>
      <vt:lpstr>Learning Objectives - Segment 4</vt:lpstr>
      <vt:lpstr>PCIe: The Universal Interconnect</vt:lpstr>
      <vt:lpstr>NVLink and NVSwitch: NVIDIA’s High-Bandwidth Interconnect Fabric</vt:lpstr>
      <vt:lpstr>Collective Communication Primitives in Distributed Training</vt:lpstr>
      <vt:lpstr>Network Topologies for Multi-Node AI Clusters</vt:lpstr>
      <vt:lpstr>Segment 4 Summary: Interconnects - PCIe, NVLink &amp; NVSwitch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satyajit das</dc:creator>
  <cp:lastModifiedBy>satyajit das</cp:lastModifiedBy>
  <cp:revision>101</cp:revision>
  <dcterms:modified xsi:type="dcterms:W3CDTF">2026-03-17T09:51:52Z</dcterms:modified>
</cp:coreProperties>
</file>