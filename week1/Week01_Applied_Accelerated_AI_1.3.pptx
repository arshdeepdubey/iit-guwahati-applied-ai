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503" r:id="rId2"/>
    <p:sldId id="591" r:id="rId3"/>
    <p:sldId id="592" r:id="rId4"/>
    <p:sldId id="593" r:id="rId5"/>
    <p:sldId id="612" r:id="rId6"/>
    <p:sldId id="594" r:id="rId7"/>
    <p:sldId id="595" r:id="rId8"/>
    <p:sldId id="596" r:id="rId9"/>
    <p:sldId id="597" r:id="rId10"/>
    <p:sldId id="575" r:id="rId11"/>
  </p:sldIdLst>
  <p:sldSz cx="9144000" cy="5143500" type="screen16x9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3: GPU Fundamentals &amp; Modern AI Accelerators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Inside the engines of modern AI: from thousands of CUDA cores to Tensor Cores and beyond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3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the SIMT (Single Instruction Multiple Threads) execution model of GPUs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the CUDA thread hierarchy: threads, warps, blocks, and grids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role of Tensor Cores in matrix multiplication acceleration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Compare NVIDIA H100, AMD MI300X, Google TPU v4, and Graphcore IPU architectures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Select appropriate accelerators for training vs. inference workloads based on specifications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GPU Architecture: SIMT and the Streaming Multiprocessor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H100 GPU Architecture Whitepaper (2022); Kirk &amp; Hwu, “Programming Massively Parallel Processors,” 4th Ed.</a:t>
            </a:r>
          </a:p>
        </p:txBody>
      </p:sp>
      <p:pic>
        <p:nvPicPr>
          <p:cNvPr id="912" name="Figure7" descr="Fig 7: H100 Streaming Multiprocessor Architectu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203" y="709252"/>
            <a:ext cx="5526797" cy="3566160"/>
          </a:xfrm>
          <a:prstGeom prst="rect">
            <a:avLst/>
          </a:prstGeom>
        </p:spPr>
      </p:pic>
      <p:sp>
        <p:nvSpPr>
          <p:cNvPr id="913" name="Caption913"/>
          <p:cNvSpPr txBox="1"/>
          <p:nvPr/>
        </p:nvSpPr>
        <p:spPr>
          <a:xfrm>
            <a:off x="3849900" y="4367804"/>
            <a:ext cx="552679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7: H100 Streaming Multiprocessor Architecture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F3657921-D624-1BEC-CD47-305EEAE74FAD}"/>
              </a:ext>
            </a:extLst>
          </p:cNvPr>
          <p:cNvSpPr txBox="1"/>
          <p:nvPr/>
        </p:nvSpPr>
        <p:spPr>
          <a:xfrm>
            <a:off x="311700" y="856537"/>
            <a:ext cx="3413218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SIMT: Single Instruction, Multiple Threads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 executes thousands of threads simultaneously in lockstep groups (warps)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Warp = 32 threads executing the same instruction on different data (SIMD at scale)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Warp divergence: if-else branches cause serialisation - avoid in GPU kernels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Streaming Multiprocessor (SM) - H100 SXM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H100 SXM: 132 SMs, each with 128 CUDA cores (FP32) = 16,896 total CUDA cores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Each SM: 4 Tensor Core units, 256 KB register file, 228 KB shared memory/L1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SM executes 4 warp instructions simultaneously via 4 warp schedulers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CUDA Thread Hierarchy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Thread &lt; Warp (32) &lt; Block (up to 1024) &lt; Grid (millions)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Shared memory is per-block: fast (no cache miss), programmer-managed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Global memory (HBM): accessible by all threads, high latency, high bandwidth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Tensor Cores: Accelerating the GEMM at the Heart of AI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is a Tensor Core?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Specialised fixed-function unit performing D = A*B + C (matrix multiply-accumulate) per cycle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4th Gen Tensor Core (H100): 1 TC performs 256 FP16 MACs per clock cycle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H100 SXM5: 528 Tensor Cores x 256 ops/cycle x 1.98 GHz = ~270 TFLOPS (FP16)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Supported Precisions and Use Cases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FP64: 67 TFLOPS - scientific simulation (double precision), not used in DL training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TF32 (19-bit): 989 TFLOPS - drop-in FP32 replacement for training, no code change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BF16/FP16: 1979 TFLOPS - standard for mixed-precision training (with FP32 master weights)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FP8 (E4M3/E5M2): 3958 TFLOPS - emerging standard for LLM training (Transformer Engine)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INT8/INT4: for quantised inference; INT4 = 7.9 PFLOPS - extreme throughput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Mixed Precision Training (AMP)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Weights stored in FP32 (master copy); forward/backward pass in FP16 via Tensor Cores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Loss scaling prevents FP16 underflow (gradients too small for 16-bit representation)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torch.cuda.amp.autocast() enables automatic mixed precision with one line of code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Key: Tensor Cores are only effective for large matrix shapes - small GEMM sizes underutilise them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Hopper Architecture In-Depth (2022); Micikevicius et al., Mixed Precision Training, ICLR 2018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Tensor Cores: Accelerating the GEMM at the Heart of AI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23400" y="4907184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Hopper Architecture In-Depth (2022); Micikevicius et al., Mixed Precision Training, ICLR 2018</a:t>
            </a:r>
          </a:p>
        </p:txBody>
      </p:sp>
      <p:sp>
        <p:nvSpPr>
          <p:cNvPr id="915" name="Caption915"/>
          <p:cNvSpPr txBox="1"/>
          <p:nvPr/>
        </p:nvSpPr>
        <p:spPr>
          <a:xfrm>
            <a:off x="1214954" y="4416552"/>
            <a:ext cx="62751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8: Tensor Core Precision Modes &amp; TFLOPS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E446E-E021-28F3-27CB-B865A4B04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8" y="746271"/>
            <a:ext cx="5993554" cy="3608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Beyond NVIDIA: AMD, TPU, Graphcore and Custom Accelerators</a:t>
            </a:r>
          </a:p>
        </p:txBody>
      </p:sp>
      <p:sp>
        <p:nvSpPr>
          <p:cNvPr id="10" name="LeftCo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AMD MI300X (2023)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13 chiplets (3nm CDNA3 + 6x HBM3): 1.307 PFLOPS FP16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192 GB HBM3 memory @ 5.3 TB/s - largest GPU VRAM available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ROCm software stack: PyTorch/JAX support via HIP (CUDA portability layer)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Best for LLM inference (huge model fits in single GPU VRAM)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Google TPU v4 (2021)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Custom ASIC: 275 TFLOPS (BF16), 32 GB HBM2e @ 1.2 TB/s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TPU Pod v4: 4096 chips interconnected via custom 3D torus network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Optimal for JAX/XLA workloads (TensorFlow, Flax), not general-purpose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Systolic array architecture: data flows through mesh of MACs without control overhead</a:t>
            </a:r>
          </a:p>
        </p:txBody>
      </p:sp>
      <p:sp>
        <p:nvSpPr>
          <p:cNvPr id="11" name="RightCol"/>
          <p:cNvSpPr txBox="1"/>
          <p:nvPr/>
        </p:nvSpPr>
        <p:spPr>
          <a:xfrm>
            <a:off x="4651700" y="856537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Graphcore IPU (Intelligence Processing Unit)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1472 independent processor tiles with local SRAM (for graph neural networks)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BSP (Bulk Synchronous Parallel): compute phase alternates with communicate phase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Ideal for sparse, irregular workloads (GNNs, symbolic AI) - poor for dense GEMM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AWS Trainium &amp; Inferentia (Custom ASICs)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Trainium2: 190.7 TFLOPS (FP16), optimised for AWS SageMaker training jobs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Inferentia2: 190 TOPS (INT8), purpose-built for low-latency inference serving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Accelerator Selection Guide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Large model training: H100 SXM or MI300X (highest HBM BW)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Cost-efficient training: A100 80GB or H100 PCIe clusters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Low-latency inference: Inferentia2, L40S, or quantised RTX 4090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Batch inference: A10G, L4, T4 (Google Cloud) - best performance/dollar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AMD MI300X Architecture Whitepaper (2023); Google TPU v4 Jouppi et al., ISCA 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GPU Memory Management and VRAM Optimisation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VRAM is the Binding Constraint in LLM Training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GPT-3 (175B params): FP16 weights = 350 GB VRAM; single H100 = 80 GB - needs 5+ GPUs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VRAM usage = weights + gradients + optimiser states + activations (all must fit simultaneously)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Adam optimiser: stores 3 copies per weight (param + momentum + variance) = 3x weight size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ZeRO (Zero Redundancy Optimiser) - Microsoft DeepSpeed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ZeRO-1: shard optimiser states across GPUs - 4x memory reduction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ZeRO-2: shard optimiser states + gradients - 8x memory reduction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ZeRO-3: shard params + gradients + optimiser states - linear scaling with GPU count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ZeRO-Offload: spill optimiser states to CPU RAM - enables 10x larger models on same GPU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Practical VRAM Budgeting Formula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Training memory (bytes) = 16 x model_params (for FP16 + AMP Adam)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Inference memory (bytes) = 2 x model_params (FP16) or 1 x model_params (INT8)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Activation memory per layer proportional to batch_size x seq_len x hidden_dim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Tool: nvidia-smi --query-gpu=memory.used,memory.free --format=csv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Tool: torch.cuda.memory_summary() for detailed per-tensor breakdown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Rajbhandari et al., “ZeRO: Memory Optimizations Toward Training Trillion Parameter Models,” SC’20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3 Summary: GPU Fundamentals &amp; AI Accelerators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GPUs execute thousands of threads in warps (32) via SIMT; occupancy and warp scheduling hide memory latency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Tensor Cores perform matrix MACs per cycle: H100 reaches 3958 TFLOPS (FP8) - 600x vs single CPU core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HBM3 (3.35 TB/s) is the defining bandwidth advantage of the H100; AMD MI300X offers 192 GB / 5.3 TB/s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TPUs (systolic arrays), IPUs (tile-based), and cloud ASICs offer architecture diversity for specific workloads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ZeRO-3 sharding and gradient checkpointing are essential techniques for training beyond single-GPU VRAM limits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1845</TotalTime>
  <Words>1242</Words>
  <Application>Microsoft Office PowerPoint</Application>
  <PresentationFormat>On-screen Show (16:9)</PresentationFormat>
  <Paragraphs>117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Display</vt:lpstr>
      <vt:lpstr>Helvetica Neue</vt:lpstr>
      <vt:lpstr>Arial</vt:lpstr>
      <vt:lpstr>Simple Light</vt:lpstr>
      <vt:lpstr>NPTEL</vt:lpstr>
      <vt:lpstr>Segment 3: GPU Fundamentals &amp; Modern AI Accelerators Inside the engines of modern AI: from thousands of CUDA cores to Tensor Cores and beyond</vt:lpstr>
      <vt:lpstr>Learning Objectives - Segment 3</vt:lpstr>
      <vt:lpstr>GPU Architecture: SIMT and the Streaming Multiprocessor</vt:lpstr>
      <vt:lpstr>Tensor Cores: Accelerating the GEMM at the Heart of AI</vt:lpstr>
      <vt:lpstr>Tensor Cores: Accelerating the GEMM at the Heart of AI</vt:lpstr>
      <vt:lpstr>Beyond NVIDIA: AMD, TPU, Graphcore and Custom Accelerators</vt:lpstr>
      <vt:lpstr>GPU Memory Management and VRAM Optimisation</vt:lpstr>
      <vt:lpstr>Segment 3 Summary: GPU Fundamentals &amp; AI Accelerators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90</cp:revision>
  <dcterms:modified xsi:type="dcterms:W3CDTF">2026-03-17T09:11:21Z</dcterms:modified>
</cp:coreProperties>
</file>