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Week 12: Healthcare AI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Healthcare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5852160" cy="128016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r>
              <a:rPr sz="1300" b="1">
                <a:solidFill>
                  <a:srgbClr val="203050"/>
                </a:solidFill>
                <a:latin typeface="Aptos"/>
              </a:rPr>
              <a:t>Clinical decision support, medical imaging, RAG, agents, validation, and safe demonstration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14600"/>
            <a:ext cx="5669280" cy="4572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r>
              <a:rPr sz="1200" b="0">
                <a:solidFill>
                  <a:srgbClr val="2B9BA6"/>
                </a:solidFill>
                <a:latin typeface="Aptos"/>
              </a:rPr>
              <a:t>Applied Accelerated AI / Advanced GenAI Frameworks</a:t>
            </a:r>
          </a:p>
        </p:txBody>
      </p:sp>
      <p:pic>
        <p:nvPicPr>
          <p:cNvPr id="8" name="Picture 7" descr="wide_infographic_illustration_on_a_white_backgroun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005840"/>
            <a:ext cx="5212080" cy="293335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" y="5349240"/>
            <a:ext cx="10515600" cy="685800"/>
          </a:xfrm>
          <a:prstGeom prst="roundRect">
            <a:avLst/>
          </a:prstGeom>
          <a:solidFill>
            <a:srgbClr val="F7F3DC"/>
          </a:solidFill>
          <a:ln w="12700">
            <a:solidFill>
              <a:srgbClr val="D0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Main idea: healthcare AI is not a chatbot or a model call. It is a safety-critical, auditable decision-support system.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Lecture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972800" cy="50292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88">
                <a:solidFill>
                  <a:srgbClr val="2D2D2D"/>
                </a:solidFill>
                <a:latin typeface="Aptos"/>
              </a:rPr>
              <a:t>Understand healthcare AI as a clinical workflow system, not only as a prediction model.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88">
                <a:solidFill>
                  <a:srgbClr val="2D2D2D"/>
                </a:solidFill>
                <a:latin typeface="Aptos"/>
              </a:rPr>
              <a:t>Distinguish medical imaging, EHR risk prediction, clinical NLP, RAG, and agent-assisted workflows.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88">
                <a:solidFill>
                  <a:srgbClr val="2D2D2D"/>
                </a:solidFill>
                <a:latin typeface="Aptos"/>
              </a:rPr>
              <a:t>Explain why validation, calibration, subgroup evaluation, monitoring, and human oversight are essential.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88">
                <a:solidFill>
                  <a:srgbClr val="2D2D2D"/>
                </a:solidFill>
                <a:latin typeface="Aptos"/>
              </a:rPr>
              <a:t>Understand how standards such as FHIR help exchange structured clinical data.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88">
                <a:solidFill>
                  <a:srgbClr val="2D2D2D"/>
                </a:solidFill>
                <a:latin typeface="Aptos"/>
              </a:rPr>
              <a:t>Prepare students to follow a safe Week 12 demo using a synthetic patient case and guideline-grounded summarization.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88">
                <a:solidFill>
                  <a:srgbClr val="2D2D2D"/>
                </a:solidFill>
                <a:latin typeface="Aptos"/>
              </a:rPr>
              <a:t>Connect healthcare AI to acceleration topics: latency, throughput, privacy boundaries, and deployment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Lecture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097280"/>
          <a:ext cx="10424160" cy="42062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326880"/>
              </a:tblGrid>
              <a:tr h="600891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D2D2D"/>
                          </a:solidFill>
                          <a:latin typeface="Aptos"/>
                        </a:rPr>
                        <a:t>Part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2D2D2D"/>
                          </a:solidFill>
                          <a:latin typeface="Aptos"/>
                        </a:rPr>
                        <a:t>Theme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D2D2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D2D2D"/>
                          </a:solidFill>
                          <a:latin typeface="Aptos"/>
                        </a:rPr>
                        <a:t>Healthcare AI system view and data modalities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D2D2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D2D2D"/>
                          </a:solidFill>
                          <a:latin typeface="Aptos"/>
                        </a:rPr>
                        <a:t>Medical imaging and EHR decision support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D2D2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D2D2D"/>
                          </a:solidFill>
                          <a:latin typeface="Aptos"/>
                        </a:rPr>
                        <a:t>Clinical NLP, RAG, and agent-assisted workflows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D2D2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D2D2D"/>
                          </a:solidFill>
                          <a:latin typeface="Aptos"/>
                        </a:rPr>
                        <a:t>Privacy, governance, validation, and monitoring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D2D2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D2D2D"/>
                          </a:solidFill>
                          <a:latin typeface="Aptos"/>
                        </a:rPr>
                        <a:t>Week 12 demonstration: synthetic case → evidence-grounded clinical note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D2D2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2D2D2D"/>
                          </a:solidFill>
                          <a:latin typeface="Aptos"/>
                        </a:rPr>
                        <a:t>Evaluation, failure modes, and extensions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486400"/>
            <a:ext cx="10424160" cy="5486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The slides are designed so that the live demo becomes understandable after the theory is covered.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Healthcare AI as an end-to-end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System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pic>
        <p:nvPicPr>
          <p:cNvPr id="6" name="Picture 5" descr="wide_infographic_illustration_on_a_white_backgroun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102" y="932688"/>
            <a:ext cx="9293491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Why healthcare AI is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System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492240" cy="493776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Clinical decisions affect patient safety; a wrong output can cause direct harm.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Clinical data are sensitive, incomplete, biased, and collected for care, not for machine learning.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Model outputs must fit into a real workflow: who sees the output, when, and what action follows?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Prediction alone is insufficient; we need explanation, calibration, auditability, and responsibility.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The correct framing is decision support with human review, not autonomous replacement of clinicians.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417320"/>
            <a:ext cx="3794760" cy="1920240"/>
          </a:xfrm>
          <a:prstGeom prst="roundRect">
            <a:avLst/>
          </a:prstGeom>
          <a:solidFill>
            <a:srgbClr val="F7F3DC"/>
          </a:solidFill>
          <a:ln w="12700">
            <a:solidFill>
              <a:srgbClr val="D0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03050"/>
                </a:solidFill>
                <a:latin typeface="Aptos"/>
              </a:rPr>
              <a:t>Clinical AI output should answer: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What evidence supports this?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How uncertain is it?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Who reviews it?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What is logged?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3749039"/>
            <a:ext cx="3794760" cy="12344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03050"/>
                </a:solidFill>
                <a:latin typeface="Aptos"/>
              </a:rPr>
              <a:t>Safety principle: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The system should make the clinician more informed, not less responsible.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Healthcare data modalities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051560"/>
          <a:ext cx="92354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657600"/>
                <a:gridCol w="3657600"/>
              </a:tblGrid>
              <a:tr h="83820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D2D2D"/>
                          </a:solidFill>
                          <a:latin typeface="Aptos"/>
                        </a:rPr>
                        <a:t>Modality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D2D2D"/>
                          </a:solidFill>
                          <a:latin typeface="Aptos"/>
                        </a:rPr>
                        <a:t>Examples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D2D2D"/>
                          </a:solidFill>
                          <a:latin typeface="Aptos"/>
                        </a:rPr>
                        <a:t>AI tasks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Structured EHR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demographics, medications, diagnoses, vitals, labs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risk prediction, cohort selection, quality measures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Clinical text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notes, discharge summaries, radiology reports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summarization, information extraction, question answering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Medical images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X-ray, CT, MRI, ultrasound, pathology slides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classification, detection, segmentation, report assistance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Signals and devices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ECG, ICU waveforms, wearables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arrhythmia detection, early warning, monitoring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Administrative data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claims, appointments, utilization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resource planning, readmission analysis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FHIR: structured exchange for clinical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Data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629400" cy="507492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FHIR stands for Fast Healthcare Interoperability Resources.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It represents healthcare information as modular resources such as Patient, Observation, Condition, MedicationRequest, Encounter, and DiagnosticReport.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FHIR is useful for AI systems because clinical context must be structured, discoverable, and machine-processable.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A clinical agent should usually read from controlled resources rather than scrape arbitrary screens or free text.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In the Week 12 demo, we use a small FHIR-like JSON record to teach the idea without requiring a hospital EHR.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325880"/>
            <a:ext cx="3657600" cy="2194560"/>
          </a:xfrm>
          <a:prstGeom prst="roundRect">
            <a:avLst/>
          </a:prstGeom>
          <a:solidFill>
            <a:srgbClr val="1C2A40"/>
          </a:solidFill>
          <a:ln>
            <a:solidFill>
              <a:srgbClr val="1C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399032"/>
            <a:ext cx="34290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FHIR-like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709928"/>
            <a:ext cx="3337560" cy="1691639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</a:rPr>
              <a:t>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</a:rPr>
              <a:t>  "resourceType": "Observation",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</a:rPr>
              <a:t>  "code": "oxygen-saturation",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</a:rPr>
              <a:t>  "valueQuantity":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</a:rPr>
              <a:t>    "value": 91, "unit": "%"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</a:rPr>
              <a:t>  }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3886200"/>
            <a:ext cx="3657600" cy="91440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Source idea: HL7 FHIR is a standard for exchanging healthcare information electronically.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Medical images: from pixels to clinical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Medical imaging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6629400" cy="475488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Medical imaging data are not ordinary photos; they are acquired through clinical devices and usually stored with rich metadata.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AI pipelines must handle modality, orientation, spacing, acquisition protocol, intensity normalization, and privacy-sensitive metadata.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Common tasks include abnormality detection, organ or lesion segmentation, triage, measurement assistance, and report drafting.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A radiologist or specialist remains central because image findings must be interpreted with clinical context.</a:t>
            </a:r>
          </a:p>
        </p:txBody>
      </p:sp>
      <p:pic>
        <p:nvPicPr>
          <p:cNvPr id="7" name="Picture 6" descr="wide_clean_infographic_illustration_on_a_white_ba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097280"/>
            <a:ext cx="4023360" cy="22643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A patient is multimodal, not single-modal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6583680" cy="484632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A chest X-ray alone may not tell the full story; the patient history, vitals, labs, comorbidities, and medications matter.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A language model may summarize notes, an imaging model may analyze scans, and a risk model may combine structured variables.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Healthcare AI therefore increasingly combines text, images, tables, and time-series signals.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The challenge is controlled integration: more data can help, but it also increases privacy, bias, and validation complexity.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325880"/>
            <a:ext cx="3749039" cy="164592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03050"/>
                </a:solidFill>
                <a:latin typeface="Aptos"/>
              </a:rPr>
              <a:t>Example clinical question: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“Does this patient with cough, fever, hypoxia, diabetes, and chest imaging need outpatient treatment or admission review?”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3182112"/>
            <a:ext cx="3749039" cy="1783080"/>
          </a:xfrm>
          <a:prstGeom prst="roundRect">
            <a:avLst/>
          </a:prstGeom>
          <a:solidFill>
            <a:srgbClr val="F7F3DC"/>
          </a:solidFill>
          <a:ln w="12700">
            <a:solidFill>
              <a:srgbClr val="D0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Model answer must be grounded in: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patient facts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guidelines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local protocols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clinician judgement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Part 1: Medical Imaging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9875520" cy="9144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r>
              <a:rPr sz="1401" b="1">
                <a:solidFill>
                  <a:srgbClr val="203050"/>
                </a:solidFill>
                <a:latin typeface="Aptos"/>
              </a:rPr>
              <a:t>From acquisition and preprocessing to model output, explanation, and specialist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DICOM / metadata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Preprocessing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476" b="1">
                <a:solidFill>
                  <a:srgbClr val="203050"/>
                </a:solidFill>
                <a:latin typeface="Aptos"/>
              </a:rPr>
              <a:t>CNN / transformer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Heatmap / mask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476" b="1">
                <a:solidFill>
                  <a:srgbClr val="203050"/>
                </a:solidFill>
                <a:latin typeface="Aptos"/>
              </a:rPr>
              <a:t>Radiologist review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Medical imaging AI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Medical imaging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pic>
        <p:nvPicPr>
          <p:cNvPr id="6" name="Picture 5" descr="wide_clean_infographic_illustration_on_a_white_ba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102" y="932688"/>
            <a:ext cx="9293491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Common medical imaging AI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Medical imaging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051560"/>
          <a:ext cx="9113520" cy="4434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596640"/>
                <a:gridCol w="3596640"/>
              </a:tblGrid>
              <a:tr h="739139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2D2D2D"/>
                          </a:solidFill>
                          <a:latin typeface="Aptos"/>
                        </a:rPr>
                        <a:t>Task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2D2D2D"/>
                          </a:solidFill>
                          <a:latin typeface="Aptos"/>
                        </a:rPr>
                        <a:t>Output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2D2D2D"/>
                          </a:solidFill>
                          <a:latin typeface="Aptos"/>
                        </a:rPr>
                        <a:t>Example use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</a:tr>
              <a:tr h="73913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2D2D"/>
                          </a:solidFill>
                          <a:latin typeface="Aptos"/>
                        </a:rPr>
                        <a:t>Classification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2D2D"/>
                          </a:solidFill>
                          <a:latin typeface="Aptos"/>
                        </a:rPr>
                        <a:t>image-level label or probability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2D2D"/>
                          </a:solidFill>
                          <a:latin typeface="Aptos"/>
                        </a:rPr>
                        <a:t>pneumonia likely / unlikely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73913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2D2D"/>
                          </a:solidFill>
                          <a:latin typeface="Aptos"/>
                        </a:rPr>
                        <a:t>Detection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2D2D"/>
                          </a:solidFill>
                          <a:latin typeface="Aptos"/>
                        </a:rPr>
                        <a:t>bounding box around finding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2D2D"/>
                          </a:solidFill>
                          <a:latin typeface="Aptos"/>
                        </a:rPr>
                        <a:t>lung nodule, fracture, hemorrhage candidate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73913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2D2D"/>
                          </a:solidFill>
                          <a:latin typeface="Aptos"/>
                        </a:rPr>
                        <a:t>Segmentation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2D2D"/>
                          </a:solidFill>
                          <a:latin typeface="Aptos"/>
                        </a:rPr>
                        <a:t>pixel/voxel mask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2D2D"/>
                          </a:solidFill>
                          <a:latin typeface="Aptos"/>
                        </a:rPr>
                        <a:t>organ volume, tumor boundary, lesion burden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73913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2D2D"/>
                          </a:solidFill>
                          <a:latin typeface="Aptos"/>
                        </a:rPr>
                        <a:t>Triage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2D2D"/>
                          </a:solidFill>
                          <a:latin typeface="Aptos"/>
                        </a:rPr>
                        <a:t>priority flag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2D2D"/>
                          </a:solidFill>
                          <a:latin typeface="Aptos"/>
                        </a:rPr>
                        <a:t>urgent review for suspected stroke or pneumothorax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73913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2D2D"/>
                          </a:solidFill>
                          <a:latin typeface="Aptos"/>
                        </a:rPr>
                        <a:t>Report assistance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2D2D"/>
                          </a:solidFill>
                          <a:latin typeface="Aptos"/>
                        </a:rPr>
                        <a:t>structured impression draft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D2D2D"/>
                          </a:solidFill>
                          <a:latin typeface="Aptos"/>
                        </a:rPr>
                        <a:t>summarize measurements and candidate findings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440680"/>
            <a:ext cx="10515600" cy="777240"/>
          </a:xfrm>
          <a:prstGeom prst="roundRect">
            <a:avLst/>
          </a:prstGeom>
          <a:solidFill>
            <a:srgbClr val="F7F3DC"/>
          </a:solidFill>
          <a:ln w="12700">
            <a:solidFill>
              <a:srgbClr val="D0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Important: “AI detected a region” is not the same as “final diagnosis.” Image findings require clinical interpretation.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Imaging pipeline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Medical imaging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675120" cy="50292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Acquisition: imaging device and protocol determine resolution, field of view, and artifact patterns.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De-identification: remove or transform patient identifiers before research or demo use.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Preprocessing: resampling, windowing, normalization, cropping, and quality checks.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Inference: model produces probability, heatmap, mask, measurement, or draft text.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Review: specialist checks output, clinical context, uncertainty, and possible failure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417320"/>
            <a:ext cx="3657600" cy="246888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B0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03050"/>
                </a:solidFill>
                <a:latin typeface="Aptos"/>
              </a:rPr>
              <a:t>Failure examples: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wrong orientation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scanner protocol shift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out-of-distribution anatomy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artifact mistaken for disease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heatmap looks plausible but is not causal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3886200"/>
            <a:ext cx="3657600" cy="12344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Teaching point: the model is only one stage of the imaging system.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Explanations in medical imaging: useful but limited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Medical imaging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858000" cy="438912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67">
                <a:solidFill>
                  <a:srgbClr val="2D2D2D"/>
                </a:solidFill>
                <a:latin typeface="Aptos"/>
              </a:rPr>
              <a:t>Heatmaps can help clinicians see which image regions influenced a prediction.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67">
                <a:solidFill>
                  <a:srgbClr val="2D2D2D"/>
                </a:solidFill>
                <a:latin typeface="Aptos"/>
              </a:rPr>
              <a:t>But a heatmap is not proof that the model used a medically valid feature.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67">
                <a:solidFill>
                  <a:srgbClr val="2D2D2D"/>
                </a:solidFill>
                <a:latin typeface="Aptos"/>
              </a:rPr>
              <a:t>Explanations must be checked against clinical knowledge, image quality, and possible confounders.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67">
                <a:solidFill>
                  <a:srgbClr val="2D2D2D"/>
                </a:solidFill>
                <a:latin typeface="Aptos"/>
              </a:rPr>
              <a:t>For high-stakes workflows, explanations are supportive artifacts; validation and human review remain necessary.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389888"/>
            <a:ext cx="3383280" cy="123444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Useful question: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“Does the highlighted region correspond to a plausible clinical finding?”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788920"/>
            <a:ext cx="3383280" cy="118872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B0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Dangerous question: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“The heatmap looks medical, so the model must be correct.”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4297680"/>
            <a:ext cx="3383280" cy="1143000"/>
          </a:xfrm>
          <a:prstGeom prst="roundRect">
            <a:avLst/>
          </a:prstGeom>
          <a:solidFill>
            <a:srgbClr val="F7F3DC"/>
          </a:solidFill>
          <a:ln w="12700">
            <a:solidFill>
              <a:srgbClr val="D0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Interpretability is not a substitute for external validation.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Part 2: EHR Risk Prediction and Clinical Decision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9875520" cy="9144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r>
              <a:rPr sz="1401" b="1">
                <a:solidFill>
                  <a:srgbClr val="203050"/>
                </a:solidFill>
                <a:latin typeface="Aptos"/>
              </a:rPr>
              <a:t>From structured data to calibrated predictions, explanations, and clinician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EHR / FHIR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Risk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Calibration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Explanation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Decision support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Clinical decision support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Decision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pic>
        <p:nvPicPr>
          <p:cNvPr id="6" name="Picture 5" descr="a_clean_infographic_diagram_on_white_background_sh_batc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102" y="932688"/>
            <a:ext cx="9293490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EHR risk prediction: what the model usually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Decision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583680" cy="45720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The input is a structured patient context: age, diagnoses, medications, labs, vitals, utilization, and sometimes notes.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The output is usually a probability or risk category: readmission risk, deterioration risk, sepsis risk, adverse event risk, or triage priority.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The model does not “know medicine” in the human sense; it learns statistical patterns from historical data.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The result must be calibrated and interpreted within the intended clinical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325880"/>
            <a:ext cx="3749039" cy="17830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03050"/>
                </a:solidFill>
                <a:latin typeface="Aptos"/>
              </a:rPr>
              <a:t>Example output: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Predicted 30-day readmission risk = 28%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Key factors: recent hospitalization, elevated creatinine, heart failure history.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3383280"/>
            <a:ext cx="3749039" cy="105156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Correct question: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“How should this risk estimate change the care plan?”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4599432"/>
            <a:ext cx="3749039" cy="100584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B0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Incorrect question: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“Can the model decide discharge alone?”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Calibration: probability must mean what it 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6583680" cy="475488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07">
                <a:solidFill>
                  <a:srgbClr val="2D2D2D"/>
                </a:solidFill>
                <a:latin typeface="Aptos"/>
              </a:rPr>
              <a:t>Accuracy alone is not enough for clinical decision support.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07">
                <a:solidFill>
                  <a:srgbClr val="2D2D2D"/>
                </a:solidFill>
                <a:latin typeface="Aptos"/>
              </a:rPr>
              <a:t>If a model assigns 30% risk to many patients, roughly 30% of those patients should experience the outcome in a well-calibrated setting.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07">
                <a:solidFill>
                  <a:srgbClr val="2D2D2D"/>
                </a:solidFill>
                <a:latin typeface="Aptos"/>
              </a:rPr>
              <a:t>Poor calibration can lead to over-treatment, under-treatment, or alarm fatigue.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07">
                <a:solidFill>
                  <a:srgbClr val="2D2D2D"/>
                </a:solidFill>
                <a:latin typeface="Aptos"/>
              </a:rPr>
              <a:t>Calibration should be checked on the target population and monitored after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325880"/>
            <a:ext cx="365760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03050"/>
                </a:solidFill>
                <a:latin typeface="Aptos"/>
              </a:rPr>
              <a:t>Well calibrated: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Predicted risk ≈ observed outcome frequency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514600"/>
            <a:ext cx="3657600" cy="114300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B0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03050"/>
                </a:solidFill>
                <a:latin typeface="Aptos"/>
              </a:rPr>
              <a:t>Poorly calibrated: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Scores are ranked correctly but probabilities are misleading.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3913632"/>
            <a:ext cx="3657600" cy="1143000"/>
          </a:xfrm>
          <a:prstGeom prst="roundRect">
            <a:avLst/>
          </a:prstGeom>
          <a:solidFill>
            <a:srgbClr val="F7F3DC"/>
          </a:solidFill>
          <a:ln w="12700">
            <a:solidFill>
              <a:srgbClr val="D0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03050"/>
                </a:solidFill>
                <a:latin typeface="Aptos"/>
              </a:rPr>
              <a:t>Clinical meaning: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Calibration affects thresholds, resource allocation, and trust.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Explanations for EHR predictions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Decision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720840" cy="484632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Clinicians need to understand why a patient was flagged, at least at the level of key contributing factors.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Explanations can include feature importance, similar cases, abnormal labs, recent events, or rule-based reasons.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Explanations should be clinically meaningful and should not expose misleading correlations as causal facts.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Best practice: show the model output as a draft signal, allow clinician override, and capture the reason.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463040"/>
            <a:ext cx="3657600" cy="114300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Good explanation: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“Risk elevated because of recent admission, rising creatinine, and oxygen requirement.”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926080"/>
            <a:ext cx="3657600" cy="77724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B0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Bad explanation: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“Model says high risk.”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4315968"/>
            <a:ext cx="365760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Clinician action should remain visible and auditable.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Alert fatigue: a systems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Decision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6629400" cy="45720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Even a statistically good model can fail operationally if it produces too many alerts.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Clinicians may ignore alerts if they are frequent, poorly timed, or not actionable.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Thresholds should be chosen based on clinical workflow, resource availability, and harm-benefit tradeoffs.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An AI system must be evaluated not only by AUROC, but also by how it changes real decisions and outcomes.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417320"/>
            <a:ext cx="3657600" cy="109728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03050"/>
                </a:solidFill>
                <a:latin typeface="Aptos"/>
              </a:rPr>
              <a:t>Useful alert: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specific, timely, evidence-linked, and actionable.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2788920"/>
            <a:ext cx="3657600" cy="100584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B0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03050"/>
                </a:solidFill>
                <a:latin typeface="Aptos"/>
              </a:rPr>
              <a:t>Harmful alert: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frequent, vague, late, uncalibrated, or impossible to act 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4114800"/>
            <a:ext cx="3657600" cy="822960"/>
          </a:xfrm>
          <a:prstGeom prst="roundRect">
            <a:avLst/>
          </a:prstGeom>
          <a:solidFill>
            <a:srgbClr val="F7F3DC"/>
          </a:solidFill>
          <a:ln w="12700">
            <a:solidFill>
              <a:srgbClr val="D0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Workflow design is part of model performance.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Part 3: Clinical NLP, RAG, and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9875520" cy="9144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r>
              <a:rPr sz="1401" b="1">
                <a:solidFill>
                  <a:srgbClr val="203050"/>
                </a:solidFill>
                <a:latin typeface="Aptos"/>
              </a:rPr>
              <a:t>Using language models safely for summarization, guideline assistance, and controlled tool use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Clinical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Retrieval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Citations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Tool 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Human review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Clinical NLP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Clinical NLP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051560"/>
          <a:ext cx="95097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657600"/>
                <a:gridCol w="3657600"/>
              </a:tblGrid>
              <a:tr h="7924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D2D2D"/>
                          </a:solidFill>
                          <a:latin typeface="Aptos"/>
                        </a:rPr>
                        <a:t>Task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D2D2D"/>
                          </a:solidFill>
                          <a:latin typeface="Aptos"/>
                        </a:rPr>
                        <a:t>Input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D2D2D"/>
                          </a:solidFill>
                          <a:latin typeface="Aptos"/>
                        </a:rPr>
                        <a:t>Output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Information extraction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notes, reports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problems, medications, symptoms, dates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Summarization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long chart, discharge notes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brief clinical summary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Report drafting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measurements, findings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draft radiology/pathology/discharge text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Question answering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patient chart + guidelines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answer with sources and uncertainty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Coding assistance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clinical documentation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suggested billing/quality codes for human review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Why naive clinical LLM use is unsafe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Clinical NLP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583680" cy="484632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LLMs can produce fluent answers that sound confident even when unsupported.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Clinical facts may be missing, ambiguous, outdated, or contradicted elsewhere in the record.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A model may confuse general medical knowledge with patient-specific evidence.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Privacy-sensitive data should not be sent to unauthorized external services.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Therefore, clinical LLM use should be grounded, constrained, logged, and reviewed.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417320"/>
            <a:ext cx="3749039" cy="192024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B0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03050"/>
                </a:solidFill>
                <a:latin typeface="Aptos"/>
              </a:rPr>
              <a:t>Common failure modes: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hallucinated diagnosis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unsupported treatment suggestion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missing contraindication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outdated guideline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PHI leakage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3703320"/>
            <a:ext cx="3749039" cy="114300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03050"/>
                </a:solidFill>
                <a:latin typeface="Aptos"/>
              </a:rPr>
              <a:t>Safe pattern: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retrieve evidence → draft answer → cite sources → check guardrails → clinician reviews.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RAG for clinical guideline assistance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pic>
        <p:nvPicPr>
          <p:cNvPr id="6" name="Picture 5" descr="wide_infographic_poster_on_a_white_background_show_batc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102" y="932688"/>
            <a:ext cx="9293491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Clinical RAG: what changes compared with a plain LLM?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720840" cy="466344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Retrieval-augmented generation first searches trusted sources such as guidelines, protocols, or institutional documents.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The LLM receives the retrieved passages and should answer using those passages rather than unsupported memory.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The output should include evidence snippets or citations so the clinician can verify the answer.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RAG reduces unsupported answers but does not remove the need for validation, guardrails, and clinician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371600"/>
            <a:ext cx="3520440" cy="132588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B0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03050"/>
                </a:solidFill>
                <a:latin typeface="Aptos"/>
              </a:rPr>
              <a:t>Plain LLM question: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“What antibiotics should I use?”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Risk: answer may be generic or outdated.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3063240"/>
            <a:ext cx="3520440" cy="141732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03050"/>
                </a:solidFill>
                <a:latin typeface="Aptos"/>
              </a:rPr>
              <a:t>RAG question: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“Using these local CAP guideline snippets, draft initial management options and cite the evidence.”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Clinical agents: controlled tool use, not autonomy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pic>
        <p:nvPicPr>
          <p:cNvPr id="6" name="Picture 5" descr="wide_clean_infographic_diagram_on_a_white_backgrou_batch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102" y="932688"/>
            <a:ext cx="9293491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What tools can a clinical agent use?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051560"/>
          <a:ext cx="92354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D2D2D"/>
                          </a:solidFill>
                          <a:latin typeface="Aptos"/>
                        </a:rPr>
                        <a:t>Tool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D2D2D"/>
                          </a:solidFill>
                          <a:latin typeface="Aptos"/>
                        </a:rPr>
                        <a:t>Role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D2D2D"/>
                          </a:solidFill>
                          <a:latin typeface="Aptos"/>
                        </a:rPr>
                        <a:t>Guardrail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FHIR/EHR reader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retrieve patient facts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read-only, authorized data only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Guideline retriever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find evidence and local protocols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source whitelist and citations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Clinical calculator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compute risk scores from explicit inputs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show inputs and formula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Report summarizer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draft concise summaries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no new facts beyond sources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Audit logger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record query, sources, outputs, review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immutable log and versioning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532120"/>
            <a:ext cx="10424160" cy="640080"/>
          </a:xfrm>
          <a:prstGeom prst="roundRect">
            <a:avLst/>
          </a:prstGeom>
          <a:solidFill>
            <a:srgbClr val="F7F3DC"/>
          </a:solidFill>
          <a:ln w="12700">
            <a:solidFill>
              <a:srgbClr val="D0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The most important design choice is capability limitation: the agent should not autonomously diagnose, prescribe, or modify the medical record.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Guardrails for clinical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Agents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972800" cy="498348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81">
                <a:solidFill>
                  <a:srgbClr val="2D2D2D"/>
                </a:solidFill>
                <a:latin typeface="Aptos"/>
              </a:rPr>
              <a:t>Read-only access by default: the agent can retrieve context but cannot silently change the chart.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81">
                <a:solidFill>
                  <a:srgbClr val="2D2D2D"/>
                </a:solidFill>
                <a:latin typeface="Aptos"/>
              </a:rPr>
              <a:t>Source grounding: answers should cite patient facts and guidelines used.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81">
                <a:solidFill>
                  <a:srgbClr val="2D2D2D"/>
                </a:solidFill>
                <a:latin typeface="Aptos"/>
              </a:rPr>
              <a:t>No autonomous treatment: diagnosis, treatment decisions, and orders require clinician action.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81">
                <a:solidFill>
                  <a:srgbClr val="2D2D2D"/>
                </a:solidFill>
                <a:latin typeface="Aptos"/>
              </a:rPr>
              <a:t>Human approval: draft output becomes clinical documentation only after review and edit.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81">
                <a:solidFill>
                  <a:srgbClr val="2D2D2D"/>
                </a:solidFill>
                <a:latin typeface="Aptos"/>
              </a:rPr>
              <a:t>Auditability: log inputs, retrieved sources, tool calls, outputs, reviewer, and final decision.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Safe classroom scenario: synthetic pneumonia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Demo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766560" cy="498348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The demonstration uses a synthetic adult patient case, not real patient data.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The clinical theme is possible community-acquired pneumonia and initial management support.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The system retrieves guideline-like snippets, computes a simple severity score, drafts a summary, and prepares a structured note.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The clinician remains responsible for checking the facts, adapting local treatment, and approving the final note.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The demo is educational; it is not medical advice and should not be used for real patient care.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417320"/>
            <a:ext cx="3520440" cy="132588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03050"/>
                </a:solidFill>
                <a:latin typeface="Aptos"/>
              </a:rPr>
              <a:t>Why synthetic?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It avoids PHI risk and keeps the lecture focused on system design rather than patient privacy incidents.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3154680"/>
            <a:ext cx="3520440" cy="13258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03050"/>
                </a:solidFill>
                <a:latin typeface="Aptos"/>
              </a:rPr>
              <a:t>Why pneumonia?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It gives a clear example of symptoms, vitals, guideline retrieval, risk scoring, and clinician review.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Privacy, security, and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pic>
        <p:nvPicPr>
          <p:cNvPr id="6" name="Picture 5" descr="wide_clean_infographic_on_white_background_about_h_batch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102" y="932688"/>
            <a:ext cx="9293490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Ethical principles for health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972800" cy="507492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591">
                <a:solidFill>
                  <a:srgbClr val="2D2D2D"/>
                </a:solidFill>
                <a:latin typeface="Aptos"/>
              </a:rPr>
              <a:t>Protect autonomy: people and clinicians should not lose meaningful control over health decisions.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591">
                <a:solidFill>
                  <a:srgbClr val="2D2D2D"/>
                </a:solidFill>
                <a:latin typeface="Aptos"/>
              </a:rPr>
              <a:t>Promote safety and well-being: benefits should outweigh risks, and harms must be anticipated.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591">
                <a:solidFill>
                  <a:srgbClr val="2D2D2D"/>
                </a:solidFill>
                <a:latin typeface="Aptos"/>
              </a:rPr>
              <a:t>Ensure transparency and explainability appropriate to the workflow.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591">
                <a:solidFill>
                  <a:srgbClr val="2D2D2D"/>
                </a:solidFill>
                <a:latin typeface="Aptos"/>
              </a:rPr>
              <a:t>Foster responsibility and accountability: someone must own model behavior, monitoring, and incident response.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591">
                <a:solidFill>
                  <a:srgbClr val="2D2D2D"/>
                </a:solidFill>
                <a:latin typeface="Aptos"/>
              </a:rPr>
              <a:t>Ensure inclusiveness and equity by checking subgroup performance and access implications.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591">
                <a:solidFill>
                  <a:srgbClr val="2D2D2D"/>
                </a:solidFill>
                <a:latin typeface="Aptos"/>
              </a:rPr>
              <a:t>Promote responsive and sustainable AI through monitoring, updating, and governance.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Protected health information: practical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972800" cy="50292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97">
                <a:solidFill>
                  <a:srgbClr val="2D2D2D"/>
                </a:solidFill>
                <a:latin typeface="Aptos"/>
              </a:rPr>
              <a:t>Use the minimum data required for the defined purpose.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97">
                <a:solidFill>
                  <a:srgbClr val="2D2D2D"/>
                </a:solidFill>
                <a:latin typeface="Aptos"/>
              </a:rPr>
              <a:t>Remove or transform identifiers when data are used for research, teaching, or development.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97">
                <a:solidFill>
                  <a:srgbClr val="2D2D2D"/>
                </a:solidFill>
                <a:latin typeface="Aptos"/>
              </a:rPr>
              <a:t>Control access based on role and need-to-know.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97">
                <a:solidFill>
                  <a:srgbClr val="2D2D2D"/>
                </a:solidFill>
                <a:latin typeface="Aptos"/>
              </a:rPr>
              <a:t>Encrypt data at rest and in transit when systems are networked.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97">
                <a:solidFill>
                  <a:srgbClr val="2D2D2D"/>
                </a:solidFill>
                <a:latin typeface="Aptos"/>
              </a:rPr>
              <a:t>Log access, model use, generated outputs, and reviewer decisions.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97">
                <a:solidFill>
                  <a:srgbClr val="2D2D2D"/>
                </a:solidFill>
                <a:latin typeface="Aptos"/>
              </a:rPr>
              <a:t>Never put real patient data into an unauthorized model or tool during a classroom demonstration.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Regulatory boundary: intended use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Governance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812280" cy="493776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Whether a software function is a medical device depends heavily on intended use and claims.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Software intended for diagnosis, treatment, mitigation, or prevention may enter medical-device regulation depending on jurisdiction and risk.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General education, administrative assistance, and non-clinical wellness tools may fall into different categories.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Therefore, deployment claims must be precise: “draft support for clinician review” is different from “autonomous diagnosis.”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For classroom slides, we discuss engineering principles, not legal clearance advice.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463040"/>
            <a:ext cx="3520440" cy="105156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03050"/>
                </a:solidFill>
                <a:latin typeface="Aptos"/>
              </a:rPr>
              <a:t>Safe wording for demo: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“Evidence-grounded draft for clinician review.”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2834640"/>
            <a:ext cx="3520440" cy="105156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B0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03050"/>
                </a:solidFill>
                <a:latin typeface="Aptos"/>
              </a:rPr>
              <a:t>Unsafe wording for demo: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“AI diagnoses pneumonia and recommends treatment.”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4251960"/>
            <a:ext cx="3520440" cy="868680"/>
          </a:xfrm>
          <a:prstGeom prst="roundRect">
            <a:avLst/>
          </a:prstGeom>
          <a:solidFill>
            <a:srgbClr val="F7F3DC"/>
          </a:solidFill>
          <a:ln w="12700">
            <a:solidFill>
              <a:srgbClr val="D0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Intended use is a design, documentation, and governance question.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Part 4: Evaluation and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9875520" cy="9144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r>
              <a:rPr sz="1401" b="1">
                <a:solidFill>
                  <a:srgbClr val="203050"/>
                </a:solidFill>
                <a:latin typeface="Aptos"/>
              </a:rPr>
              <a:t>How to prove a healthcare AI system is reliable enough for its intended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Internal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476" b="1">
                <a:solidFill>
                  <a:srgbClr val="203050"/>
                </a:solidFill>
                <a:latin typeface="Aptos"/>
              </a:rPr>
              <a:t>External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Calibration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Fairness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Drift monitoring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Evaluation and monitoring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pic>
        <p:nvPicPr>
          <p:cNvPr id="6" name="Picture 5" descr="wide_infographic_diagram_on_white_background_clea_batch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102" y="932688"/>
            <a:ext cx="9293491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Why external validation is essential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675120" cy="493776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11">
                <a:solidFill>
                  <a:srgbClr val="2D2D2D"/>
                </a:solidFill>
                <a:latin typeface="Aptos"/>
              </a:rPr>
              <a:t>A model can perform well on data from the hospital, scanner, population, or documentation style it was trained on.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11">
                <a:solidFill>
                  <a:srgbClr val="2D2D2D"/>
                </a:solidFill>
                <a:latin typeface="Aptos"/>
              </a:rPr>
              <a:t>Performance may drop when patient mix, equipment, coding practice, disease prevalence, or workflow changes.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11">
                <a:solidFill>
                  <a:srgbClr val="2D2D2D"/>
                </a:solidFill>
                <a:latin typeface="Aptos"/>
              </a:rPr>
              <a:t>External validation tests the model on independent sites or populations before real deployment.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11">
                <a:solidFill>
                  <a:srgbClr val="2D2D2D"/>
                </a:solidFill>
                <a:latin typeface="Aptos"/>
              </a:rPr>
              <a:t>A healthcare AI paper or product should report not only average performance, but also where validation data came from.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417320"/>
            <a:ext cx="3611880" cy="10972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03050"/>
                </a:solidFill>
                <a:latin typeface="Aptos"/>
              </a:rPr>
              <a:t>Internal test: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“Does the model generalize within this development environment?”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834640"/>
            <a:ext cx="3611880" cy="132588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03050"/>
                </a:solidFill>
                <a:latin typeface="Aptos"/>
              </a:rPr>
              <a:t>External test: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“Does the model still work in a different institution, scanner, population, or time period?”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Metrics must match the clinical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051560"/>
          <a:ext cx="932688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657600"/>
                <a:gridCol w="3657600"/>
              </a:tblGrid>
              <a:tr h="81534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D2D2D"/>
                          </a:solidFill>
                          <a:latin typeface="Aptos"/>
                        </a:rPr>
                        <a:t>Task type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D2D2D"/>
                          </a:solidFill>
                          <a:latin typeface="Aptos"/>
                        </a:rPr>
                        <a:t>Common metrics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D2D2D"/>
                          </a:solidFill>
                          <a:latin typeface="Aptos"/>
                        </a:rPr>
                        <a:t>Clinical concern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Binary prediction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AUROC, AUPRC, sensitivity, specificity, PPV, NPV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threshold choice and false alerts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Risk scoring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calibration curve, Brier score, decision curve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probability reliability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Segmentation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Dice, IoU, surface distance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boundary accuracy and measurement error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Text summarization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factual consistency, omissions, hallucinations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does the note preserve clinical facts?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Workflow impact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time saved, action rate, outcomes, override rate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does the system help in practice?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Subgroup performance and fairness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675120" cy="512064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Average performance can hide poor performance for smaller or underrepresented patient groups.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Healthcare datasets may encode historical inequities, access differences, and measurement bias.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Before deployment, evaluate relevant subgroups: sex, age, site, socioeconomic factors, ethnicity where appropriate and legally/ethically collected, device type, and disease stage.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If subgroup performance is poor, the response may be model revision, workflow adjustment, data collection, or avoiding deployment in that setting.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417320"/>
            <a:ext cx="3520440" cy="1097280"/>
          </a:xfrm>
          <a:prstGeom prst="roundRect">
            <a:avLst/>
          </a:prstGeom>
          <a:solidFill>
            <a:srgbClr val="F7F3DC"/>
          </a:solidFill>
          <a:ln w="12700">
            <a:solidFill>
              <a:srgbClr val="D0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03050"/>
                </a:solidFill>
                <a:latin typeface="Aptos"/>
              </a:rPr>
              <a:t>Fairness question: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“Who benefits, who is missed, and who may be harmed?”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926080"/>
            <a:ext cx="3520440" cy="91440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Subgroup analysis is not optional decoration; it is a safety check.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Silent deployment before clinical 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6766560" cy="475488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92">
                <a:solidFill>
                  <a:srgbClr val="2D2D2D"/>
                </a:solidFill>
                <a:latin typeface="Aptos"/>
              </a:rPr>
              <a:t>In silent deployment, the model runs in the background but does not affect patient care decisions.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92">
                <a:solidFill>
                  <a:srgbClr val="2D2D2D"/>
                </a:solidFill>
                <a:latin typeface="Aptos"/>
              </a:rPr>
              <a:t>This allows teams to measure real-world performance, missing data patterns, latency, and alert volume.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92">
                <a:solidFill>
                  <a:srgbClr val="2D2D2D"/>
                </a:solidFill>
                <a:latin typeface="Aptos"/>
              </a:rPr>
              <a:t>It also helps identify workflow mismatches before clinicians start acting on model output.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92">
                <a:solidFill>
                  <a:srgbClr val="2D2D2D"/>
                </a:solidFill>
                <a:latin typeface="Aptos"/>
              </a:rPr>
              <a:t>Silent deployment is especially useful for high-risk models and new clinical environments.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417320"/>
            <a:ext cx="3520440" cy="20116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03050"/>
                </a:solidFill>
                <a:latin typeface="Aptos"/>
              </a:rPr>
              <a:t>Silent run collects: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predictions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inputs available at prediction time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outcomes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latency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missing data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drift signals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3794760"/>
            <a:ext cx="3520440" cy="822960"/>
          </a:xfrm>
          <a:prstGeom prst="roundRect">
            <a:avLst/>
          </a:prstGeom>
          <a:solidFill>
            <a:srgbClr val="F7F3DC"/>
          </a:solidFill>
          <a:ln w="12700">
            <a:solidFill>
              <a:srgbClr val="D0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No patient care should change during this monitoring stage.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Drift and model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858000" cy="50292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Data drift: input distribution changes, for example new device, new documentation practice, or new patient population.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Label drift: the meaning or recording of outcomes changes.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Performance drift: accuracy, calibration, or subgroup performance declines over time.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Maintenance must be controlled: investigate, update, revalidate, approve, version, redeploy, and monitor again.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An uncontrolled model update can be a new risk, not a fix.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417320"/>
            <a:ext cx="3474720" cy="114300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03050"/>
                </a:solidFill>
                <a:latin typeface="Aptos"/>
              </a:rPr>
              <a:t>Monitoring question: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“Is the model still valid for the patients and workflow it is seeing today?”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971800"/>
            <a:ext cx="3474720" cy="1234440"/>
          </a:xfrm>
          <a:prstGeom prst="roundRect">
            <a:avLst/>
          </a:prstGeom>
          <a:solidFill>
            <a:srgbClr val="F7F3DC"/>
          </a:solidFill>
          <a:ln w="12700">
            <a:solidFill>
              <a:srgbClr val="D0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03050"/>
                </a:solidFill>
                <a:latin typeface="Aptos"/>
              </a:rPr>
              <a:t>Update rule: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No retrained model should silently replace the old one without re-evaluation and approval.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Part 5: Week 12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9875520" cy="9144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r>
              <a:rPr sz="1200" b="1">
                <a:solidFill>
                  <a:srgbClr val="203050"/>
                </a:solidFill>
                <a:latin typeface="Aptos"/>
              </a:rPr>
              <a:t>Synthetic patient case → FHIR-like record → guideline retrieval → risk score → structured note → clinician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Synthetic case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FHIR-like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Guidelines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CURB-65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3017520"/>
            <a:ext cx="1965960" cy="10058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203050"/>
                </a:solidFill>
                <a:latin typeface="Aptos"/>
              </a:rPr>
              <a:t>Audit log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Week 12 demo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pic>
        <p:nvPicPr>
          <p:cNvPr id="6" name="Picture 5" descr="a_clean_infographic_slide_style_diagram_on_a_whi_batch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102" y="932688"/>
            <a:ext cx="9293491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What the demo should teach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766560" cy="484632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The demo is not meant to make a real medical recommendation.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It shows how to build a safe pattern for healthcare GenAI: structured data, guideline retrieval, explicit calculator inputs, grounded summarization, human review, and audit logging.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Students should see that the LLM is only one part of the system.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The most important output is not a beautiful paragraph; it is an auditable chain from patient facts and evidence to a clinician-reviewed draft.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325880"/>
            <a:ext cx="3474720" cy="109728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03050"/>
                </a:solidFill>
                <a:latin typeface="Aptos"/>
              </a:rPr>
              <a:t>Demo slogan: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“Generate drafts, not decisions.”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3749039"/>
            <a:ext cx="3474720" cy="1234440"/>
          </a:xfrm>
          <a:prstGeom prst="roundRect">
            <a:avLst/>
          </a:prstGeom>
          <a:solidFill>
            <a:srgbClr val="F7F3DC"/>
          </a:solidFill>
          <a:ln w="12700">
            <a:solidFill>
              <a:srgbClr val="D0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Every AI-generated statement should be traceable to either: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a patient fact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a retrieved guideline snippet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a calculator output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Demo Step 1: synthetic patient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6675120" cy="466344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5">
                <a:solidFill>
                  <a:srgbClr val="2D2D2D"/>
                </a:solidFill>
                <a:latin typeface="Aptos"/>
              </a:rPr>
              <a:t>Create a fictional adult patient case with cough, fever, shortness of breath, mild hypoxia, and comorbidities.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5">
                <a:solidFill>
                  <a:srgbClr val="2D2D2D"/>
                </a:solidFill>
                <a:latin typeface="Aptos"/>
              </a:rPr>
              <a:t>Include only synthetic values so that no real patient information is exposed.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5">
                <a:solidFill>
                  <a:srgbClr val="2D2D2D"/>
                </a:solidFill>
                <a:latin typeface="Aptos"/>
              </a:rPr>
              <a:t>Define the clinical question clearly: possible community-acquired pneumonia and initial management support.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5">
                <a:solidFill>
                  <a:srgbClr val="2D2D2D"/>
                </a:solidFill>
                <a:latin typeface="Aptos"/>
              </a:rPr>
              <a:t>Keep the case deliberately simple enough for students to follow, but realistic enough to require multiple data types.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325880"/>
            <a:ext cx="3657600" cy="17830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03050"/>
                </a:solidFill>
                <a:latin typeface="Aptos"/>
              </a:rPr>
              <a:t>Synthetic case example: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Adult with cough, fever, shortness of breath, oxygen saturation 91%, hypertension, type 2 diabetes, and otherwise stable vitals.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383280"/>
            <a:ext cx="3657600" cy="1371600"/>
          </a:xfrm>
          <a:prstGeom prst="roundRect">
            <a:avLst/>
          </a:prstGeom>
          <a:solidFill>
            <a:srgbClr val="F7F3DC"/>
          </a:solidFill>
          <a:ln w="12700">
            <a:solidFill>
              <a:srgbClr val="D0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03050"/>
                </a:solidFill>
                <a:latin typeface="Aptos"/>
              </a:rPr>
              <a:t>Question: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“What information should be reviewed before deciding outpatient care versus admission review?”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Demo Step 2: FHIR-like patient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492240" cy="484632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34">
                <a:solidFill>
                  <a:srgbClr val="2D2D2D"/>
                </a:solidFill>
                <a:latin typeface="Aptos"/>
              </a:rPr>
              <a:t>Translate the case into a structured JSON bundle inspired by FHIR resources.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34">
                <a:solidFill>
                  <a:srgbClr val="2D2D2D"/>
                </a:solidFill>
                <a:latin typeface="Aptos"/>
              </a:rPr>
              <a:t>The purpose is to show machine-readable patient facts, not to implement a full hospital EHR.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34">
                <a:solidFill>
                  <a:srgbClr val="2D2D2D"/>
                </a:solidFill>
                <a:latin typeface="Aptos"/>
              </a:rPr>
              <a:t>Typical fields: Patient, Condition, MedicationStatement, Observation, Encounter, and clinical question.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34">
                <a:solidFill>
                  <a:srgbClr val="2D2D2D"/>
                </a:solidFill>
                <a:latin typeface="Aptos"/>
              </a:rPr>
              <a:t>This is where students see why structured data is easier to audit than a free-form prompt.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097280"/>
            <a:ext cx="3977639" cy="3474720"/>
          </a:xfrm>
          <a:prstGeom prst="roundRect">
            <a:avLst/>
          </a:prstGeom>
          <a:solidFill>
            <a:srgbClr val="1C2A40"/>
          </a:solidFill>
          <a:ln>
            <a:solidFill>
              <a:srgbClr val="1C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25512" y="1170432"/>
            <a:ext cx="3749039" cy="2286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Illustrative fragment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481328"/>
            <a:ext cx="3657599" cy="29718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{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 "resourceType": "Bundle",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 "entry": [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  {"resourceType":"Patient"},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  {"resourceType":"Condition",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   "code":"type-2-diabetes"},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  {"resourceType":"Observation",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   "code":"oxygen-saturation",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   "value":91, "unit":"%"}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 ]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Demo Step 3: retrieve guideline snippets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675120" cy="484632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34">
                <a:solidFill>
                  <a:srgbClr val="2D2D2D"/>
                </a:solidFill>
                <a:latin typeface="Aptos"/>
              </a:rPr>
              <a:t>The system searches a small trusted guideline collection prepared for the class.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34">
                <a:solidFill>
                  <a:srgbClr val="2D2D2D"/>
                </a:solidFill>
                <a:latin typeface="Aptos"/>
              </a:rPr>
              <a:t>Retrieval should return short snippets relevant to initial evaluation, empiric therapy, severity assessment, and follow-up.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34">
                <a:solidFill>
                  <a:srgbClr val="2D2D2D"/>
                </a:solidFill>
                <a:latin typeface="Aptos"/>
              </a:rPr>
              <a:t>The LLM should not answer from memory alone; it should use these snippets as its grounding context.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34">
                <a:solidFill>
                  <a:srgbClr val="2D2D2D"/>
                </a:solidFill>
                <a:latin typeface="Aptos"/>
              </a:rPr>
              <a:t>Students should inspect which snippets were retrieved before reading the generated summary.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325880"/>
            <a:ext cx="3520440" cy="205740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03050"/>
                </a:solidFill>
                <a:latin typeface="Aptos"/>
              </a:rPr>
              <a:t>Good retrieved evidence: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initial evaluation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chest imaging consideration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empiric therapy principles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severity assessment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return precautions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3703320"/>
            <a:ext cx="3520440" cy="123444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B0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Bad retrieval: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irrelevant disease, pediatric guideline for adult case, outdated protocol, missing source.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Demo Step 4: explicit risk calculator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675120" cy="484632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20">
                <a:solidFill>
                  <a:srgbClr val="2D2D2D"/>
                </a:solidFill>
                <a:latin typeface="Aptos"/>
              </a:rPr>
              <a:t>Use an explicit calculator step rather than asking the LLM to invent a risk category.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20">
                <a:solidFill>
                  <a:srgbClr val="2D2D2D"/>
                </a:solidFill>
                <a:latin typeface="Aptos"/>
              </a:rPr>
              <a:t>The calculator should show its inputs so students can verify them.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20">
                <a:solidFill>
                  <a:srgbClr val="2D2D2D"/>
                </a:solidFill>
                <a:latin typeface="Aptos"/>
              </a:rPr>
              <a:t>For pneumonia, the demo can illustrate a simple severity score such as CURB-65 conceptually.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620">
                <a:solidFill>
                  <a:srgbClr val="2D2D2D"/>
                </a:solidFill>
                <a:latin typeface="Aptos"/>
              </a:rPr>
              <a:t>The calculator output should be treated as one evidence component, not as the whole clinical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325880"/>
            <a:ext cx="3520440" cy="20116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03050"/>
                </a:solidFill>
                <a:latin typeface="Aptos"/>
              </a:rPr>
              <a:t>Calculator transparency: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Confusion?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Urea?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Respiratory rate?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Blood pressure?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Age &gt;= 65?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3611880"/>
            <a:ext cx="3520440" cy="1234440"/>
          </a:xfrm>
          <a:prstGeom prst="roundRect">
            <a:avLst/>
          </a:prstGeom>
          <a:solidFill>
            <a:srgbClr val="F7F3DC"/>
          </a:solidFill>
          <a:ln w="12700">
            <a:solidFill>
              <a:srgbClr val="D0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Teaching point: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If the system cannot show inputs, the risk score should not be trusted.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Demo Step 5: evidence-grounded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720840" cy="475488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92">
                <a:solidFill>
                  <a:srgbClr val="2D2D2D"/>
                </a:solidFill>
                <a:latin typeface="Aptos"/>
              </a:rPr>
              <a:t>The summarizer receives patient facts, retrieved guideline snippets, and calculator output.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92">
                <a:solidFill>
                  <a:srgbClr val="2D2D2D"/>
                </a:solidFill>
                <a:latin typeface="Aptos"/>
              </a:rPr>
              <a:t>The summary should explicitly separate patient-specific facts from guideline-based suggestions.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92">
                <a:solidFill>
                  <a:srgbClr val="2D2D2D"/>
                </a:solidFill>
                <a:latin typeface="Aptos"/>
              </a:rPr>
              <a:t>It should avoid unsupported treatment certainty and should mention need for clinician review.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92">
                <a:solidFill>
                  <a:srgbClr val="2D2D2D"/>
                </a:solidFill>
                <a:latin typeface="Aptos"/>
              </a:rPr>
              <a:t>Every important claim should be traceable to either patient facts or retrieved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188720"/>
            <a:ext cx="3520440" cy="1874519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Good wording: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“Presentation is consistent with possible community-acquired pneumonia; guideline snippets support chest imaging and empiric therapy consideration, with local protocol review.”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3383280"/>
            <a:ext cx="3520440" cy="1097280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B0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Bad wording: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“Patient definitely has pneumonia; start antibiotic X.”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Demo Step 6: structured note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766560" cy="484632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32">
                <a:solidFill>
                  <a:srgbClr val="2D2D2D"/>
                </a:solidFill>
                <a:latin typeface="Aptos"/>
              </a:rPr>
              <a:t>The system produces a structured draft, for example Assessment and Plan.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32">
                <a:solidFill>
                  <a:srgbClr val="2D2D2D"/>
                </a:solidFill>
                <a:latin typeface="Aptos"/>
              </a:rPr>
              <a:t>The draft should mark itself as AI-generated and requiring clinician review.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32">
                <a:solidFill>
                  <a:srgbClr val="2D2D2D"/>
                </a:solidFill>
                <a:latin typeface="Aptos"/>
              </a:rPr>
              <a:t>It should include placeholders where local protocols or missing data must be checked.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32">
                <a:solidFill>
                  <a:srgbClr val="2D2D2D"/>
                </a:solidFill>
                <a:latin typeface="Aptos"/>
              </a:rPr>
              <a:t>The clinician should edit, approve, or reject the draft before it becomes part of any real record.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051560"/>
            <a:ext cx="3886200" cy="3931920"/>
          </a:xfrm>
          <a:prstGeom prst="roundRect">
            <a:avLst/>
          </a:prstGeom>
          <a:solidFill>
            <a:srgbClr val="1C2A40"/>
          </a:solidFill>
          <a:ln>
            <a:solidFill>
              <a:srgbClr val="1C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16952" y="1124712"/>
            <a:ext cx="365760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Draft note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1435607"/>
            <a:ext cx="3566160" cy="34290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Assessment: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- Possible community-acquired pneumonia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- Mild hypoxia; comorbid diabetes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Plan draft: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- confirm vitals and exam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- chest X-ray if clinically indicated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- consider empiric therapy per local protocol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- close follow-up / return precautions</a:t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/>
            </a:r>
          </a:p>
          <a:p>
            <a:pPr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Consolas"/>
              </a:rPr>
              <a:t>Status: requires clinician review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Demo Step 7: clinician review and audit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675120" cy="50292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06">
                <a:solidFill>
                  <a:srgbClr val="2D2D2D"/>
                </a:solidFill>
                <a:latin typeface="Aptos"/>
              </a:rPr>
              <a:t>Clinical review is the moment where responsibility stays with the human professional.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06">
                <a:solidFill>
                  <a:srgbClr val="2D2D2D"/>
                </a:solidFill>
                <a:latin typeface="Aptos"/>
              </a:rPr>
              <a:t>The clinician checks factual accuracy, guideline relevance, missing data, and local protocol alignment.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06">
                <a:solidFill>
                  <a:srgbClr val="2D2D2D"/>
                </a:solidFill>
                <a:latin typeface="Aptos"/>
              </a:rPr>
              <a:t>The audit log records key events: case submitted, records retrieved, guidelines retrieved, calculator executed, summary generated, note drafted, clinician edited, final version approved.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406">
                <a:solidFill>
                  <a:srgbClr val="2D2D2D"/>
                </a:solidFill>
                <a:latin typeface="Aptos"/>
              </a:rPr>
              <a:t>An audit trail makes the workflow inspectable after the fact.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325880"/>
            <a:ext cx="3520440" cy="2468880"/>
          </a:xfrm>
          <a:prstGeom prst="roundRect">
            <a:avLst/>
          </a:prstGeom>
          <a:solidFill>
            <a:srgbClr val="EAF0F6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203050"/>
                </a:solidFill>
                <a:latin typeface="Aptos"/>
              </a:rPr>
              <a:t>Audit log should record: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timestamp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user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tool calls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sources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model output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edits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• approval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4069080"/>
            <a:ext cx="3520440" cy="914400"/>
          </a:xfrm>
          <a:prstGeom prst="roundRect">
            <a:avLst/>
          </a:prstGeom>
          <a:solidFill>
            <a:srgbClr val="F7F3DC"/>
          </a:solidFill>
          <a:ln w="12700">
            <a:solidFill>
              <a:srgbClr val="D0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8900" rIns="88900" tIns="63500" bIns="635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No silent AI output should become clinical documentation.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Suggested live demo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051560"/>
          <a:ext cx="1078992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601200"/>
              </a:tblGrid>
              <a:tr h="5537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D2D2D"/>
                          </a:solidFill>
                          <a:latin typeface="Aptos"/>
                        </a:rPr>
                        <a:t>Step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D2D2D"/>
                          </a:solidFill>
                          <a:latin typeface="Aptos"/>
                        </a:rPr>
                        <a:t>What to show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Open the synthetic case and explain that no real PHI is used.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Show FHIR-like JSON and identify Patient, Condition, Observation fields.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Run guideline retrieval and inspect retrieved snippets.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Run calculator and verify each input.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Generate grounded summary and check sources.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Generate structured note draft and identify review-required sections.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Show clinician review checklist and audit log.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5537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Discuss latency, privacy, and deployment limitations.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Demo commands: simple classroom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6583680" cy="484632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521">
                <a:solidFill>
                  <a:srgbClr val="2D2D2D"/>
                </a:solidFill>
                <a:latin typeface="Aptos"/>
              </a:rPr>
              <a:t>Use the prepared notebook or scripts with synthetic data only.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521">
                <a:solidFill>
                  <a:srgbClr val="2D2D2D"/>
                </a:solidFill>
                <a:latin typeface="Aptos"/>
              </a:rPr>
              <a:t>Run the pipeline step by step rather than hiding everything behind one button.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521">
                <a:solidFill>
                  <a:srgbClr val="2D2D2D"/>
                </a:solidFill>
                <a:latin typeface="Aptos"/>
              </a:rPr>
              <a:t>After each step, pause and ask students what evidence was produced and what still needs human review.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521">
                <a:solidFill>
                  <a:srgbClr val="2D2D2D"/>
                </a:solidFill>
                <a:latin typeface="Aptos"/>
              </a:rPr>
              <a:t>Keep a pre-generated output folder as backup in case the live model call is slow.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051560"/>
            <a:ext cx="3931920" cy="3200400"/>
          </a:xfrm>
          <a:prstGeom prst="roundRect">
            <a:avLst/>
          </a:prstGeom>
          <a:solidFill>
            <a:srgbClr val="1C2A40"/>
          </a:solidFill>
          <a:ln>
            <a:solidFill>
              <a:srgbClr val="1C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71231" y="1124712"/>
            <a:ext cx="3703320" cy="2286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Example command sequence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19" y="1435607"/>
            <a:ext cx="3611879" cy="269748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python prepare_case.py --case synthetic_pneumonia.json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python retrieve_guidelines.py --case outputs/case_fhir.json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python run_calculator.py --case outputs/case_fhir.json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python draft_summary.py --case outputs/case_fhir.json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python draft_note.py --summary outputs/summary.json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python review_audit.py --note outputs/note_draft.json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4572000"/>
            <a:ext cx="3931920" cy="777240"/>
          </a:xfrm>
          <a:prstGeom prst="roundRect">
            <a:avLst/>
          </a:prstGeom>
          <a:solidFill>
            <a:srgbClr val="E7F4F5"/>
          </a:solidFill>
          <a:ln w="12700"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If using a notebook, each command becomes one visible cell.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Demo outputs students should inspect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097280"/>
          <a:ext cx="10698479" cy="47091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138159"/>
              </a:tblGrid>
              <a:tr h="672737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D2D2D"/>
                          </a:solidFill>
                          <a:latin typeface="Aptos"/>
                        </a:rPr>
                        <a:t>Output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D2D2D"/>
                          </a:solidFill>
                          <a:latin typeface="Aptos"/>
                        </a:rPr>
                        <a:t>Purpose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case_fhir.json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structured synthetic patient record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retrieved_guidelines.json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evidence snippets used for grounding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risk_score.json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calculator inputs and score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summary_with_sources.txt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AI draft summary with evidence basis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clinical_note_draft.txt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structured note draft requiring review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audit_log.jsonl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timestamped record of tool calls and approvals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5577840"/>
            <a:ext cx="10241280" cy="548640"/>
          </a:xfrm>
          <a:prstGeom prst="roundRect">
            <a:avLst/>
          </a:prstGeom>
          <a:solidFill>
            <a:srgbClr val="F7F3DC"/>
          </a:solidFill>
          <a:ln w="12700">
            <a:solidFill>
              <a:srgbClr val="D0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>
            <a:normAutofit/>
          </a:bodyPr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2D2D2D"/>
                </a:solidFill>
                <a:latin typeface="Aptos"/>
              </a:rPr>
              <a:t>The best classroom discussion comes from opening the files, not only showing the final paragraph.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Troubleshooting during the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051560"/>
          <a:ext cx="10789920" cy="489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7955280"/>
              </a:tblGrid>
              <a:tr h="69886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D2D2D"/>
                          </a:solidFill>
                          <a:latin typeface="Aptos"/>
                        </a:rPr>
                        <a:t>Problem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2D2D2D"/>
                          </a:solidFill>
                          <a:latin typeface="Aptos"/>
                        </a:rPr>
                        <a:t>Immediate fix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LLM is slow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Use deterministic or cached output; continue explaining the pipeline.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Retriever returns irrelevant snippets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Reduce corpus size, improve query, or manually inspect snippet IDs.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Summary adds unsupported claim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Show guardrail failure and remove the claim during review.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Calculator input missing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Mark as unknown; do not infer silently.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Network unavailable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Use local cached guideline snippets and generated outputs.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Students focus only on the LLM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D2D2D"/>
                          </a:solidFill>
                          <a:latin typeface="Aptos"/>
                        </a:rPr>
                        <a:t>Bring attention back to structured data, retrieval, calculator, review, and audit log.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Class activity: evaluate the draft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Class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972800" cy="475488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900">
                <a:solidFill>
                  <a:srgbClr val="2D2D2D"/>
                </a:solidFill>
                <a:latin typeface="Aptos"/>
              </a:rPr>
              <a:t>Give students the generated summary and the retrieved snippets.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900">
                <a:solidFill>
                  <a:srgbClr val="2D2D2D"/>
                </a:solidFill>
                <a:latin typeface="Aptos"/>
              </a:rPr>
              <a:t>Ask them to mark every sentence as one of three categories: supported by patient facts, supported by guideline snippet, or unsupported.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900">
                <a:solidFill>
                  <a:srgbClr val="2D2D2D"/>
                </a:solidFill>
                <a:latin typeface="Aptos"/>
              </a:rPr>
              <a:t>Ask them to identify any missing information that would matter clinically.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900">
                <a:solidFill>
                  <a:srgbClr val="2D2D2D"/>
                </a:solidFill>
                <a:latin typeface="Aptos"/>
              </a:rPr>
              <a:t>Ask whether the wording makes the AI sound too authoritative.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900">
                <a:solidFill>
                  <a:srgbClr val="2D2D2D"/>
                </a:solidFill>
                <a:latin typeface="Aptos"/>
              </a:rPr>
              <a:t>Finally, ask what should be written in the audit log before clinician approval.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Failure modes to explicitly teach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Failure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051560"/>
          <a:ext cx="10789920" cy="4892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046720"/>
              </a:tblGrid>
              <a:tr h="69886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D2D2D"/>
                          </a:solidFill>
                          <a:latin typeface="Aptos"/>
                        </a:rPr>
                        <a:t>Failure mode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D2D2D"/>
                          </a:solidFill>
                          <a:latin typeface="Aptos"/>
                        </a:rPr>
                        <a:t>Why it matters</a:t>
                      </a:r>
                    </a:p>
                  </a:txBody>
                  <a:tcPr marL="63500" marR="63500" marT="25400" marB="25400">
                    <a:solidFill>
                      <a:srgbClr val="EAF0F6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Missing patient fact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summary may appear complete while omitting key contraindication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Wrong retrieved guideline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answer may be evidence-shaped but clinically irrelevant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Unsupported treatment claim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model oversteps from support to decision-making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Bad calculator input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transparent score becomes misleading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Poor calibration of risk model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probability no longer supports thresholds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  <a:tr h="69886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No audit trail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D2D2D"/>
                          </a:solidFill>
                          <a:latin typeface="Aptos"/>
                        </a:rPr>
                        <a:t>system cannot be investigated after an incident</a:t>
                      </a:r>
                    </a:p>
                  </a:txBody>
                  <a:tcPr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Extensions after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Extensions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972800" cy="493776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64">
                <a:solidFill>
                  <a:srgbClr val="2D2D2D"/>
                </a:solidFill>
                <a:latin typeface="Aptos"/>
              </a:rPr>
              <a:t>Add a second case: heart failure follow-up, diabetes medication review, or discharge summary generation.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64">
                <a:solidFill>
                  <a:srgbClr val="2D2D2D"/>
                </a:solidFill>
                <a:latin typeface="Aptos"/>
              </a:rPr>
              <a:t>Compare plain LLM answer versus RAG-grounded answer with citations.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64">
                <a:solidFill>
                  <a:srgbClr val="2D2D2D"/>
                </a:solidFill>
                <a:latin typeface="Aptos"/>
              </a:rPr>
              <a:t>Add a small local embedding retriever for guideline snippets.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64">
                <a:solidFill>
                  <a:srgbClr val="2D2D2D"/>
                </a:solidFill>
                <a:latin typeface="Aptos"/>
              </a:rPr>
              <a:t>Add an external validation exercise using synthetic cohorts.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64">
                <a:solidFill>
                  <a:srgbClr val="2D2D2D"/>
                </a:solidFill>
                <a:latin typeface="Aptos"/>
              </a:rPr>
              <a:t>Profile latency: retrieval time, model generation time, and total workflow time.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764">
                <a:solidFill>
                  <a:srgbClr val="2D2D2D"/>
                </a:solidFill>
                <a:latin typeface="Aptos"/>
              </a:rPr>
              <a:t>Discuss deployment architectures: hospital network, private cloud, on-device inference, and audit storage.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Final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4114800" cy="41148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r>
              <a:rPr sz="1200" b="1">
                <a:solidFill>
                  <a:srgbClr val="203050"/>
                </a:solidFill>
                <a:latin typeface="Aptos"/>
              </a:rPr>
              <a:t>Healthcare AI workflow: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424160" cy="82296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r>
              <a:rPr sz="1200" b="1">
                <a:solidFill>
                  <a:srgbClr val="2B9BA6"/>
                </a:solidFill>
                <a:latin typeface="Aptos"/>
              </a:rPr>
              <a:t>patient context → structured data → trusted retrieval → model or calculator → evidence-linked draft → clinician review → audit log →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10515600" cy="29718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Detection, prediction, or generation alone is not enough for healthcare deployment.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The system must make uncertainty, evidence, reviewer responsibility, and downstream action visible.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The same concepts from accelerated AI still matter: latency, throughput, memory, privacy, monitoring, and versioning.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300">
                <a:solidFill>
                  <a:srgbClr val="2D2D2D"/>
                </a:solidFill>
                <a:latin typeface="Aptos"/>
              </a:rPr>
              <a:t>The safest teaching message is: healthcare AI should support clinicians with grounded, reviewable, and auditable outputs.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References and source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51560"/>
            <a:ext cx="10972800" cy="5074920"/>
          </a:xfrm>
          <a:prstGeom prst="rect">
            <a:avLst/>
          </a:prstGeom>
          <a:noFill/>
        </p:spPr>
        <p:txBody>
          <a:bodyPr wrap="square" lIns="50800" rIns="50800" tIns="25400" bIns="25400">
            <a:normAutofit/>
          </a:bodyPr>
          <a:lstStyle/>
          <a:p>
            <a:r>
              <a:t>World Health Organization. Ethics and governance of artificial intelligence for health. 2021.</a:t>
            </a:r>
          </a:p>
          <a:p>
            <a:r>
              <a:t>World Health Organization. Ethics and governance of artificial intelligence for health: guidance on large multi-modal models. 2025..</a:t>
            </a:r>
          </a:p>
          <a:p>
            <a:r>
              <a:t>HL7. FHIR overview: standard for exchanging healthcare information electronically.</a:t>
            </a:r>
          </a:p>
          <a:p>
            <a:r>
              <a:t>FDA. AI-enabled device software functions and predetermined change control plan guidance; intended-use and device-software considerations.</a:t>
            </a:r>
          </a:p>
          <a:p>
            <a:r>
              <a:t>NICE/BTS-style pneumonia severity teaching example: CURB-65/CRB-65 as clinical severity tools, used only as an illustrative calculator in this demo.</a:t>
            </a:r>
          </a:p>
          <a:p>
            <a:r>
              <a:t>Course Week 12 demo: synthetic patient case, FHIR-like JSON, retrieval, risk calculator, structured note draft, clinician review, and audit log.</a:t>
            </a:r>
          </a:p>
          <a:p>
            <a:r>
              <a:t>Figures in this deck are AI-generated academic teaching diagrams prepared specifically for this lecture.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9966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03050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2286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2B9BA6"/>
                </a:solidFill>
                <a:latin typeface="Aptos"/>
              </a:rPr>
              <a:t>Week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" y="694944"/>
            <a:ext cx="11292840" cy="18288"/>
          </a:xfrm>
          <a:prstGeom prst="rect">
            <a:avLst/>
          </a:prstGeom>
          <a:solidFill>
            <a:srgbClr val="2B9BA6"/>
          </a:solidFill>
          <a:ln>
            <a:solidFill>
              <a:srgbClr val="2B9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6473952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>
                <a:solidFill>
                  <a:srgbClr val="666666"/>
                </a:solidFill>
                <a:latin typeface="Aptos"/>
              </a:rPr>
              <a:t>Week 12 — Healthcare AI Applications and Clinical Agent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32720" cy="54864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 algn="ctr"/>
            <a:r>
              <a:rPr sz="1208" b="1">
                <a:solidFill>
                  <a:srgbClr val="203050"/>
                </a:solidFill>
                <a:latin typeface="Aptos"/>
              </a:rPr>
              <a:t>Healthcare AI Applications and Clinical Agent Workflows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 lIns="63500" rIns="63500" tIns="38100" bIns="38100">
            <a:normAutofit/>
          </a:bodyPr>
          <a:lstStyle/>
          <a:p>
            <a:pPr algn="ctr"/>
            <a:r>
              <a:rPr sz="1649" b="0">
                <a:solidFill>
                  <a:srgbClr val="2B9BA6"/>
                </a:solidFill>
                <a:latin typeface="Aptos"/>
              </a:rPr>
              <a:t>Ready for the Week 12 demonstration</a:t>
            </a:r>
          </a:p>
        </p:txBody>
      </p:sp>
      <p:pic>
        <p:nvPicPr>
          <p:cNvPr id="8" name="Picture 7" descr="a_clean_infographic_slide_style_diagram_on_a_whi_batch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546" y="3977639"/>
            <a:ext cx="3980603" cy="2240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