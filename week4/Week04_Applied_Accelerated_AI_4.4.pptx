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503" r:id="rId2"/>
    <p:sldId id="598" r:id="rId3"/>
    <p:sldId id="599" r:id="rId4"/>
    <p:sldId id="605" r:id="rId5"/>
    <p:sldId id="600" r:id="rId6"/>
    <p:sldId id="601" r:id="rId7"/>
    <p:sldId id="602" r:id="rId8"/>
    <p:sldId id="603" r:id="rId9"/>
    <p:sldId id="604" r:id="rId10"/>
    <p:sldId id="575" r:id="rId1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elvetica Neue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9" name="Ttl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chemeClr val="tx1"/>
                </a:solidFill>
              </a:rPr>
              <a:t>Segment 4: DataLoader — Feeding the Model Efficiently</a:t>
            </a: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The bridge between your data on disk and your model on GPU — and why getting this right matters as much as the model itself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Learning Objectives — Segment 4</a:t>
            </a:r>
          </a:p>
        </p:txBody>
      </p:sp>
      <p:sp>
        <p:nvSpPr>
          <p:cNvPr id="202" name="N1"/>
          <p:cNvSpPr txBox="1"/>
          <p:nvPr/>
        </p:nvSpPr>
        <p:spPr>
          <a:xfrm>
            <a:off x="366025" y="1149552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01</a:t>
            </a:r>
          </a:p>
        </p:txBody>
      </p:sp>
      <p:sp>
        <p:nvSpPr>
          <p:cNvPr id="203" name="T1"/>
          <p:cNvSpPr txBox="1"/>
          <p:nvPr/>
        </p:nvSpPr>
        <p:spPr>
          <a:xfrm>
            <a:off x="824742" y="1149552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Write a custom torch.utils.data.Dataset for any file format by implementing __len__ and __getitem__</a:t>
            </a:r>
          </a:p>
        </p:txBody>
      </p:sp>
      <p:sp>
        <p:nvSpPr>
          <p:cNvPr id="204" name="N2"/>
          <p:cNvSpPr txBox="1"/>
          <p:nvPr/>
        </p:nvSpPr>
        <p:spPr>
          <a:xfrm>
            <a:off x="366025" y="1590779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02</a:t>
            </a:r>
          </a:p>
        </p:txBody>
      </p:sp>
      <p:sp>
        <p:nvSpPr>
          <p:cNvPr id="205" name="T2"/>
          <p:cNvSpPr txBox="1"/>
          <p:nvPr/>
        </p:nvSpPr>
        <p:spPr>
          <a:xfrm>
            <a:off x="824742" y="1590779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Configure DataLoader correctly: batch_size, shuffle, num_workers, pin_memory, drop_last</a:t>
            </a:r>
          </a:p>
        </p:txBody>
      </p:sp>
      <p:sp>
        <p:nvSpPr>
          <p:cNvPr id="206" name="N3"/>
          <p:cNvSpPr txBox="1"/>
          <p:nvPr/>
        </p:nvSpPr>
        <p:spPr>
          <a:xfrm>
            <a:off x="366025" y="2032006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03</a:t>
            </a:r>
          </a:p>
        </p:txBody>
      </p:sp>
      <p:sp>
        <p:nvSpPr>
          <p:cNvPr id="207" name="T3"/>
          <p:cNvSpPr txBox="1"/>
          <p:nvPr/>
        </p:nvSpPr>
        <p:spPr>
          <a:xfrm>
            <a:off x="824742" y="2032006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Apply torchvision transforms for image preprocessing: normalise, random crop, flip, colour jitter</a:t>
            </a:r>
          </a:p>
        </p:txBody>
      </p:sp>
      <p:sp>
        <p:nvSpPr>
          <p:cNvPr id="208" name="N4"/>
          <p:cNvSpPr txBox="1"/>
          <p:nvPr/>
        </p:nvSpPr>
        <p:spPr>
          <a:xfrm>
            <a:off x="366025" y="2473233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04</a:t>
            </a:r>
          </a:p>
        </p:txBody>
      </p:sp>
      <p:sp>
        <p:nvSpPr>
          <p:cNvPr id="209" name="T4"/>
          <p:cNvSpPr txBox="1"/>
          <p:nvPr/>
        </p:nvSpPr>
        <p:spPr>
          <a:xfrm>
            <a:off x="824742" y="2473233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Diagnose DataLoader bottlenecks using GPU utilisation and simple timing</a:t>
            </a:r>
          </a:p>
        </p:txBody>
      </p:sp>
      <p:sp>
        <p:nvSpPr>
          <p:cNvPr id="210" name="N5"/>
          <p:cNvSpPr txBox="1"/>
          <p:nvPr/>
        </p:nvSpPr>
        <p:spPr>
          <a:xfrm>
            <a:off x="366025" y="2914460"/>
            <a:ext cx="3711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002060"/>
                </a:solidFill>
                <a:latin typeface="Helvetica Neue"/>
              </a:rPr>
              <a:t>05</a:t>
            </a:r>
          </a:p>
        </p:txBody>
      </p:sp>
      <p:sp>
        <p:nvSpPr>
          <p:cNvPr id="211" name="T5"/>
          <p:cNvSpPr txBox="1"/>
          <p:nvPr/>
        </p:nvSpPr>
        <p:spPr>
          <a:xfrm>
            <a:off x="824742" y="2914460"/>
            <a:ext cx="8000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US" sz="1500" dirty="0">
                <a:solidFill>
                  <a:schemeClr val="tx1"/>
                </a:solidFill>
                <a:latin typeface="Helvetica Neue"/>
              </a:rPr>
              <a:t>Understand why the DataLoader can be the single biggest bottleneck in a training job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D33A-B9DB-999D-DC55-70075104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0BADD-8AA8-D5B2-FE26-7A2ABE202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0F7C5-D592-A8E0-16E1-D8291D43C0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pic>
        <p:nvPicPr>
          <p:cNvPr id="1026" name="Picture 2" descr="PyTorch Dataset and DataLoader: Theory, Concepts, and Workflow | by Alok |  Towards AI">
            <a:extLst>
              <a:ext uri="{FF2B5EF4-FFF2-40B4-BE49-F238E27FC236}">
                <a16:creationId xmlns:a16="http://schemas.microsoft.com/office/drawing/2014/main" id="{811BE6B0-C18A-1D91-B2AC-632927E3C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0"/>
            <a:ext cx="86772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87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US" sz="2000" b="1" dirty="0">
                <a:solidFill>
                  <a:schemeClr val="tx1"/>
                </a:solidFill>
              </a:rPr>
              <a:t>torch.utils.data.Dataset: Teaching PyTorch How to Read Your Data</a:t>
            </a:r>
          </a:p>
        </p:txBody>
      </p:sp>
      <p:sp>
        <p:nvSpPr>
          <p:cNvPr id="10" name="L"/>
          <p:cNvSpPr txBox="1"/>
          <p:nvPr/>
        </p:nvSpPr>
        <p:spPr>
          <a:xfrm>
            <a:off x="311700" y="65685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Dataset Contract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Subclass torch.utils.data.Dataset and implement exactly two methods: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__len__(self): returns the total number of samples in the dataset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__getitem__(self, idx): returns one (input, label) pair for integer index idx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PyTorch's DataLoader calls these methods automatically — you never call them directly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Minimal Dataset: Image Classification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PIL import Image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Dataset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ImageDataset(Dataset):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image_paths, labels, transform=None):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self.paths     = image_paths   # list of file paths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self.labels    = labels        # list of integer class IDs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self.transform = transform     # torchvision transforms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len(self.paths)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idx):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img   = Image.open(self.paths[idx]).convert('RGB')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label = self.labels[idx]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if self.transform: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img = self.transform(img)  # returns tensor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img, torch.tensor(label, dtype=torch.long)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642475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Dataset for NLP (tokenised text)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TextDataset(Dataset):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__init__(self, texts, labels, tokenizer, max_len=128):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self.encodings = tokenizer(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texts,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truncation=True,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padding='max_length',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max_length=max_len,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return_tensors='pt',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self.labels = torch.tensor(labels)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len(self.labels)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idx):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item = {k: v[idx] for k,v in self.encodings.items()}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item['labels'] = self.labels[idx]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item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Using torchvision.datasets for Common Benchmarks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torchvision import datasets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 = datasets.CIFAR10(root='data', train=True,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download=True, transform=transform)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test  = datasets.CIFAR10(root='data', train=False,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download=True, transform=test_transform)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Also available: MNIST, ImageNet, COCO, STL10, CelebA, etc.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Dataset and DataLoader Tutorial (pytorch.org/tutorials/beginner/data_loading_tutorial.html)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DataLoader: The Engine That Feeds Your GPU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709436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DataLoader Constructor — Every Parameter Explained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from torch.utils.data import DataLoader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loader = DataLoader(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dataset,                    # your Dataset object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batch_size=32,              # samples per batch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shuffle=True,               # randomise order every epoch (training only)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num_workers=4,              # parallel worker processes for __getitem__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pin_memory=True,            # page-lock CPU memory for faster GPU transfer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drop_last=True,             # discard final batch if smaller than batch_size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persistent_workers=True,    # keep workers alive between epochs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prefetch_factor=2,          # batches to pre-load per worker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Critical Settings You Must Get Right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shuffle=True for training; shuffle=False for validation (order matters for reproducibility)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pin_memory=True: enables direct DMA from CPU RAM to GPU — 2-3x faster than pageable memory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num_workers=0: single-process, safe for debugging. num_workers=4-8: parallel, much faster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drop_last=True: avoids BatchNorm issues with batch size 1 at epoch end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persistent_workers=True: saves 2-5 seconds per epoch by keeping workers alive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How the DataLoader Uses Your Dataset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Each epoch: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1. Sampler generates a shuffled list of indices: [42, 7, 1001, 3, ...]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2. BatchSampler groups them into batches: [[42,7,1001,3], [88,15,...], ...]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3. Worker processes call dataset.__getitem__(idx) for each index in parallel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4. Workers apply transforms, assemble tensors, and place them in a shared memory queue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5. Main process reads batches from queue and yields them to your training loop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Iterating the DataLoader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for epoch in range(num_epochs):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for batch_x, batch_y in train_loader: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batch_x: (batch_size, C, H, W) — already a tensor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batch_y: (batch_size,) — integer labels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batch_x = batch_x.to(device)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batch_y = batch_y.to(device)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# ... training step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DataLoader Source: torch/utils/data/dataloader.py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Image Transforms: Preprocessing Your Data</a:t>
            </a:r>
          </a:p>
        </p:txBody>
      </p:sp>
      <p:sp>
        <p:nvSpPr>
          <p:cNvPr id="10" name="L"/>
          <p:cNvSpPr txBox="1"/>
          <p:nvPr/>
        </p:nvSpPr>
        <p:spPr>
          <a:xfrm>
            <a:off x="281802" y="762400"/>
            <a:ext cx="41800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Transforms?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Raw images from disk: PIL Images, varying sizes, uint8 pixels in range [0, 255]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Model input needs: PyTorch tensor, fixed size, float32, normalised to [-1, 1] or ImageNet stats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Training transforms: add data augmentation to reduce overfitting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Validation/test transforms: only deterministic preprocessing — no random augmentation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Standard Training Transform for ImageNet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torchvision.transforms as T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train_transform = T.Compose([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T.RandomResizedCrop(224,   # crop random region, resize to 224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scale=(0.08, 1.0)),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T.RandomHorizontalFlip(p=0.5),  # 50% chance of flip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T.ColorJitter(               # random colour distortion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brightness=0.4, contrast=0.4,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saturation=0.4, hue=0.1),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T.ToTensor(),                # PIL (H,W,C) -&gt; Tensor (C,H,W), [0,255]-&gt;[0,1]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T.Normalize(                 # subtract ImageNet mean, divide by std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mean=[0.485, 0.456, 0.406],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std=[0.229, 0.224, 0.225]),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Standard Validation Transform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val_transform = T.Compose([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T.Resize(256),               # resize shorter side to 256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T.CenterCrop(224),           # crop centre 224x224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T.ToTensor(),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T.Normalize(mean=[0.485, 0.456, 0.406],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  std=[0.229, 0.224, 0.225]),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</p:txBody>
      </p:sp>
      <p:sp>
        <p:nvSpPr>
          <p:cNvPr id="11" name="R"/>
          <p:cNvSpPr txBox="1"/>
          <p:nvPr/>
        </p:nvSpPr>
        <p:spPr>
          <a:xfrm>
            <a:off x="4651700" y="729436"/>
            <a:ext cx="4180600" cy="4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Why Normalise with ImageNet Statistics?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mean=[0.485, 0.456, 0.406]: the average RGB values across all ImageNet images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std=[0.229, 0.224, 0.225]: the standard deviation of RGB values in ImageNet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Normalising: brings pixel values to approximately N(0, 1) — models train faster and more stably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training on your own dataset: compute mean/std from your training set, not ImageNet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torchvision v2: The Modern API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import torchvision.transforms.v2 as T2</a:t>
            </a:r>
          </a:p>
          <a:p>
            <a:pPr marL="228600" indent="0">
              <a:buNone/>
            </a:pPr>
            <a:endParaRPr lang="en-US" sz="1050" b="0" i="1" dirty="0">
              <a:solidFill>
                <a:srgbClr val="1F3864"/>
              </a:solidFill>
              <a:latin typeface="Consolas"/>
            </a:endParaRP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transform = T2.Compose([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T2.RandomResizedCrop(224),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T2.RandomHorizontalFlip(),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T2.ToDtype(torch.float32,    # handles ToTensor + float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      scale=True),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T2.Normalize(mean, std),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])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v2 transforms operate on tensors, not just PIL — much faster, GPU-compatible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Common Augmentation Techniques and Their Purpose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RandomCrop / RandomResizedCrop: position invariance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RandomHorizontalFlip: left-right symmetry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ColorJitter: lighting condition robustness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RandomRotation: orientation robustness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RandomGrayscale: colour-irrelevant features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CutMix / MixUp: regularisation; improves generalisation</a:t>
            </a:r>
          </a:p>
          <a:p>
            <a:pPr marL="0" indent="0">
              <a:buNone/>
            </a:pPr>
            <a:r>
              <a:rPr lang="en-US" sz="1100" b="0" i="1" dirty="0">
                <a:solidFill>
                  <a:srgbClr val="434343"/>
                </a:solidFill>
                <a:latin typeface="Helvetica Neue"/>
              </a:rPr>
              <a:t>  RandAugment / TrivialAugment: automatic augmentation policies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Shorten &amp; Khoshgoftaar, A Survey on Image Data Augmentation, J Big Data 2019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Diagnosing DataLoader Bottlenecks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636850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The Single Most Important Diagnostic: GPU Utilisation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Open a terminal alongside your training: nvidia-smi dmon -s u -d 1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Watch the SM% column every second. If it oscillates: 0% → 95% → 0% → 95% — your DataLoader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The GPU is finishing batches faster than the DataLoader can deliver the next one — it is starving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Target: GPU SM% sustained above 85% with less than 10% variance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1: The num_workers Sweep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Set num_workers=0 and measure step time. Then increase to 2, 4, 8 and re-measure each time.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step time drops significantly with more workers: preprocessing is the bottleneck — increase workers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step time stops improving after 4-8 workers: GPU compute or I/O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Rule of thumb: start with num_workers = 4 per GPU; cap at physical CPU cores / num_GPUs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2: Check pin_memory Impact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Add pin_memory=True and measure again — should give 1.2-1.5x speedup for GPU-heavy pipelines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no speedup: PCIe transfer is not your bottleneck (compute-bound job)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3: Isolate I/O vs Preprocessing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Benchmark __getitem__ alone: time a loop over dataset without DataLoader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this is slow: storage is the bottleneck — cache processed data or switch to LMDB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this is fast: collation or worker communication is slow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02060"/>
                </a:solidFill>
                <a:latin typeface="Helvetica Neue"/>
              </a:rPr>
              <a:t>Step 4: The Dummy DataLoader Trick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Replace your Dataset with a fast in-memory synthetic dataset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# If training suddenly reaches 95% GPU utilisation, real dataset is the bottleneck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class DummyDataset(Dataset):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__len__(self): return 10000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def __getitem__(self, i):</a:t>
            </a:r>
          </a:p>
          <a:p>
            <a:pPr marL="228600" indent="0">
              <a:buNone/>
            </a:pPr>
            <a:r>
              <a:rPr lang="en-US" sz="1050" b="0" i="1" dirty="0">
                <a:solidFill>
                  <a:srgbClr val="1F3864"/>
                </a:solidFill>
                <a:latin typeface="Consolas"/>
              </a:rPr>
              <a:t>        return torch.randn(3,224,224), torch.tensor(0)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dummy dataset makes GPU utilisation jump to 95%: your real dataset processing is the bottleneck</a:t>
            </a:r>
          </a:p>
          <a:p>
            <a:pPr marL="285750" indent="-285750">
              <a:buFont typeface="Arial"/>
              <a:buChar char="▸"/>
            </a:pPr>
            <a:r>
              <a:rPr lang="en-US" sz="1250" b="0" dirty="0">
                <a:solidFill>
                  <a:srgbClr val="000000"/>
                </a:solidFill>
                <a:latin typeface="Helvetica Neue"/>
              </a:rPr>
              <a:t>If dummy dataset still shows low utilisation: model or GPU is the bottleneck</a:t>
            </a:r>
          </a:p>
        </p:txBody>
      </p:sp>
      <p:sp>
        <p:nvSpPr>
          <p:cNvPr id="50" name="Ref"/>
          <p:cNvSpPr txBox="1"/>
          <p:nvPr/>
        </p:nvSpPr>
        <p:spPr>
          <a:xfrm>
            <a:off x="311700" y="4900000"/>
            <a:ext cx="85206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7F7F7F"/>
                </a:solidFill>
                <a:latin typeface="Helvetica Neue"/>
              </a:rPr>
              <a:t>Ref: PyTorch Performance Tuning Guide (pytorch.org/tutorials/recipes/recipes/tuning_guide.html)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"/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1200" dirty="0"/>
          </a:p>
        </p:txBody>
      </p:sp>
      <p:sp>
        <p:nvSpPr>
          <p:cNvPr id="3" name="R2"/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endParaRPr lang="en-US" sz="500" dirty="0"/>
          </a:p>
        </p:txBody>
      </p:sp>
      <p:sp>
        <p:nvSpPr>
          <p:cNvPr id="100" name="Ttl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b="1" dirty="0">
                <a:solidFill>
                  <a:schemeClr val="tx1"/>
                </a:solidFill>
              </a:rPr>
              <a:t>Segment 4 Summary: DataLoader &amp; Data Pipeline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311700" y="856537"/>
            <a:ext cx="8520600" cy="4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Write a Dataset by subclassing torch.utils.data.Dataset and implementing __len__ and __getitem__. The DataLoader calls these automatically.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DataLoader key settings: shuffle=True (training), num_workers=4-8, pin_memory=True, persistent_workers=True, drop_last=True. Wrong defaults are the #1 source of accidental poor performance.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Training transforms add randomness (RandomCrop, Flip, ColorJitter) to reduce overfitting. Validation transforms are deterministic (Resize + CenterCrop + Normalize only).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Always normalise images with mean and std computed from your training dataset, or use ImageNet statistics [0.485, 0.456, 0.406] when fine-tuning pretrained models.</a:t>
            </a:r>
          </a:p>
          <a:p>
            <a:pPr marL="0" indent="0">
              <a:buNone/>
            </a:pPr>
            <a:endParaRPr lang="en-US" sz="600" dirty="0"/>
          </a:p>
          <a:p>
            <a:pPr marL="285750" indent="-285750">
              <a:buFont typeface="Arial"/>
              <a:buChar char="✓"/>
            </a:pPr>
            <a:r>
              <a:rPr lang="en-US" sz="1400" dirty="0">
                <a:solidFill>
                  <a:srgbClr val="000000"/>
                </a:solidFill>
                <a:latin typeface="Helvetica Neue"/>
              </a:rPr>
              <a:t>GPU SM% oscillation (0% to 95%) indicates DataLoader starvation. Fix by increasing num_workers. Use the dummy dataset trick to isolate whether dataset loading or GPU compute is the bottleneck.</a:t>
            </a:r>
          </a:p>
          <a:p>
            <a:pPr marL="0" indent="0"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2129</Words>
  <Application>Microsoft Office PowerPoint</Application>
  <PresentationFormat>On-screen Show (16:9)</PresentationFormat>
  <Paragraphs>215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 Display</vt:lpstr>
      <vt:lpstr>Consolas</vt:lpstr>
      <vt:lpstr>Helvetica Neue</vt:lpstr>
      <vt:lpstr>Arial</vt:lpstr>
      <vt:lpstr>Simple Light</vt:lpstr>
      <vt:lpstr>NPTEL</vt:lpstr>
      <vt:lpstr>Segment 4: DataLoader — Feeding the Model Efficiently The bridge between your data on disk and your model on GPU — and why getting this right matters as much as the model itself</vt:lpstr>
      <vt:lpstr>Learning Objectives — Segment 4</vt:lpstr>
      <vt:lpstr>PowerPoint Presentation</vt:lpstr>
      <vt:lpstr>torch.utils.data.Dataset: Teaching PyTorch How to Read Your Data</vt:lpstr>
      <vt:lpstr>DataLoader: The Engine That Feeds Your GPU</vt:lpstr>
      <vt:lpstr>Image Transforms: Preprocessing Your Data</vt:lpstr>
      <vt:lpstr>Diagnosing DataLoader Bottlenecks</vt:lpstr>
      <vt:lpstr>Segment 4 Summary: DataLoader &amp; Data Pipeline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61</cp:revision>
  <dcterms:modified xsi:type="dcterms:W3CDTF">2026-03-25T09:26:17Z</dcterms:modified>
</cp:coreProperties>
</file>