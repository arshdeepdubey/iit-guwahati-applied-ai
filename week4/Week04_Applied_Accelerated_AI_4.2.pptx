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503" r:id="rId2"/>
    <p:sldId id="584" r:id="rId3"/>
    <p:sldId id="585" r:id="rId4"/>
    <p:sldId id="586" r:id="rId5"/>
    <p:sldId id="587" r:id="rId6"/>
    <p:sldId id="588" r:id="rId7"/>
    <p:sldId id="592" r:id="rId8"/>
    <p:sldId id="591" r:id="rId9"/>
    <p:sldId id="593" r:id="rId10"/>
    <p:sldId id="589" r:id="rId11"/>
    <p:sldId id="590" r:id="rId12"/>
    <p:sldId id="575" r:id="rId13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15"/>
      <p:bold r:id="rId16"/>
      <p:italic r:id="rId17"/>
      <p:boldItalic r:id="rId18"/>
    </p:embeddedFont>
    <p:embeddedFont>
      <p:font typeface="Helvetica Neue" panose="020B060402020202020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CA7520-CCCE-4E99-8219-DD1C9D6E4396}" v="10" dt="2026-03-12T13:25:02.260"/>
  </p1510:revLst>
</p1510:revInfo>
</file>

<file path=ppt/tableStyles.xml><?xml version="1.0" encoding="utf-8"?>
<a:tblStyleLst xmlns:a="http://schemas.openxmlformats.org/drawingml/2006/main" def="{D806A02D-9255-4416-AC49-59535D0934EA}">
  <a:tblStyle styleId="{D806A02D-9255-4416-AC49-59535D0934E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416" autoAdjust="0"/>
  </p:normalViewPr>
  <p:slideViewPr>
    <p:cSldViewPr snapToGrid="0">
      <p:cViewPr varScale="1">
        <p:scale>
          <a:sx n="85" d="100"/>
          <a:sy n="85" d="100"/>
        </p:scale>
        <p:origin x="738" y="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-136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6D6F4C5A-0F16-CAEB-F9A0-89E07EFC7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b9728a67a9_0_0:notes">
            <a:extLst>
              <a:ext uri="{FF2B5EF4-FFF2-40B4-BE49-F238E27FC236}">
                <a16:creationId xmlns:a16="http://schemas.microsoft.com/office/drawing/2014/main" id="{D6E07447-48E4-F260-B870-FFDC4E2B1B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b9728a67a9_0_0:notes">
            <a:extLst>
              <a:ext uri="{FF2B5EF4-FFF2-40B4-BE49-F238E27FC236}">
                <a16:creationId xmlns:a16="http://schemas.microsoft.com/office/drawing/2014/main" id="{7E91C570-1A55-E508-774F-CB03855938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 dirty="0"/>
          </a:p>
        </p:txBody>
      </p:sp>
    </p:spTree>
    <p:extLst>
      <p:ext uri="{BB962C8B-B14F-4D97-AF65-F5344CB8AC3E}">
        <p14:creationId xmlns:p14="http://schemas.microsoft.com/office/powerpoint/2010/main" val="28444304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091D6EE-AD7C-B43E-6EBF-0B4A5C39F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c7c36cb48a_0_385:notes">
            <a:extLst>
              <a:ext uri="{FF2B5EF4-FFF2-40B4-BE49-F238E27FC236}">
                <a16:creationId xmlns:a16="http://schemas.microsoft.com/office/drawing/2014/main" id="{C1AC57D6-B898-DA50-56B9-B0E81946F7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2c7c36cb48a_0_385:notes">
            <a:extLst>
              <a:ext uri="{FF2B5EF4-FFF2-40B4-BE49-F238E27FC236}">
                <a16:creationId xmlns:a16="http://schemas.microsoft.com/office/drawing/2014/main" id="{9983218A-2FFB-E795-496F-E2CADAA5A7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578849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grpSp>
        <p:nvGrpSpPr>
          <p:cNvPr id="14" name="Google Shape;14;p3"/>
          <p:cNvGrpSpPr/>
          <p:nvPr/>
        </p:nvGrpSpPr>
        <p:grpSpPr>
          <a:xfrm>
            <a:off x="120215" y="4919656"/>
            <a:ext cx="457214" cy="137173"/>
            <a:chOff x="50186" y="6314714"/>
            <a:chExt cx="977580" cy="288300"/>
          </a:xfrm>
        </p:grpSpPr>
        <p:sp>
          <p:nvSpPr>
            <p:cNvPr id="15" name="Google Shape;15;p3"/>
            <p:cNvSpPr/>
            <p:nvPr/>
          </p:nvSpPr>
          <p:spPr>
            <a:xfrm>
              <a:off x="394826" y="6314714"/>
              <a:ext cx="288300" cy="288300"/>
            </a:xfrm>
            <a:prstGeom prst="ellipse">
              <a:avLst/>
            </a:prstGeom>
            <a:solidFill>
              <a:srgbClr val="EB343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3"/>
            <p:cNvSpPr/>
            <p:nvPr/>
          </p:nvSpPr>
          <p:spPr>
            <a:xfrm>
              <a:off x="739466" y="6314714"/>
              <a:ext cx="288300" cy="288300"/>
            </a:xfrm>
            <a:prstGeom prst="ellipse">
              <a:avLst/>
            </a:prstGeom>
            <a:solidFill>
              <a:srgbClr val="C0AE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3"/>
            <p:cNvSpPr/>
            <p:nvPr/>
          </p:nvSpPr>
          <p:spPr>
            <a:xfrm>
              <a:off x="50186" y="6314714"/>
              <a:ext cx="288300" cy="288300"/>
            </a:xfrm>
            <a:prstGeom prst="ellipse">
              <a:avLst/>
            </a:prstGeom>
            <a:solidFill>
              <a:srgbClr val="1D466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8" name="Google Shape;18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0201" y="246300"/>
            <a:ext cx="472100" cy="476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None/>
              <a:defRPr>
                <a:solidFill>
                  <a:srgbClr val="1D466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311700" y="1056538"/>
            <a:ext cx="8520600" cy="35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3" name="Google Shape;23;p4"/>
          <p:cNvGrpSpPr/>
          <p:nvPr/>
        </p:nvGrpSpPr>
        <p:grpSpPr>
          <a:xfrm>
            <a:off x="120215" y="4919656"/>
            <a:ext cx="457214" cy="137173"/>
            <a:chOff x="50186" y="6314714"/>
            <a:chExt cx="977580" cy="288300"/>
          </a:xfrm>
        </p:grpSpPr>
        <p:sp>
          <p:nvSpPr>
            <p:cNvPr id="24" name="Google Shape;24;p4"/>
            <p:cNvSpPr/>
            <p:nvPr/>
          </p:nvSpPr>
          <p:spPr>
            <a:xfrm>
              <a:off x="394826" y="6314714"/>
              <a:ext cx="288300" cy="288300"/>
            </a:xfrm>
            <a:prstGeom prst="ellipse">
              <a:avLst/>
            </a:prstGeom>
            <a:solidFill>
              <a:srgbClr val="EB343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739466" y="6314714"/>
              <a:ext cx="288300" cy="288300"/>
            </a:xfrm>
            <a:prstGeom prst="ellipse">
              <a:avLst/>
            </a:prstGeom>
            <a:solidFill>
              <a:srgbClr val="C0AE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4"/>
            <p:cNvSpPr/>
            <p:nvPr/>
          </p:nvSpPr>
          <p:spPr>
            <a:xfrm>
              <a:off x="50186" y="6314714"/>
              <a:ext cx="288300" cy="288300"/>
            </a:xfrm>
            <a:prstGeom prst="ellipse">
              <a:avLst/>
            </a:prstGeom>
            <a:solidFill>
              <a:srgbClr val="1D466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0201" y="246300"/>
            <a:ext cx="472100" cy="476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2" name="Google Shape;82;p11"/>
          <p:cNvSpPr txBox="1">
            <a:spLocks noGrp="1"/>
          </p:cNvSpPr>
          <p:nvPr>
            <p:ph type="body" idx="1"/>
          </p:nvPr>
        </p:nvSpPr>
        <p:spPr>
          <a:xfrm>
            <a:off x="311700" y="3069625"/>
            <a:ext cx="8520600" cy="138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algn="ctr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1150" algn="ctr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21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83" name="Google Shape;83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84" name="Google Shape;84;p11"/>
          <p:cNvGrpSpPr/>
          <p:nvPr/>
        </p:nvGrpSpPr>
        <p:grpSpPr>
          <a:xfrm>
            <a:off x="120215" y="4919656"/>
            <a:ext cx="457214" cy="137173"/>
            <a:chOff x="50186" y="6314714"/>
            <a:chExt cx="977580" cy="288300"/>
          </a:xfrm>
        </p:grpSpPr>
        <p:sp>
          <p:nvSpPr>
            <p:cNvPr id="85" name="Google Shape;85;p11"/>
            <p:cNvSpPr/>
            <p:nvPr/>
          </p:nvSpPr>
          <p:spPr>
            <a:xfrm>
              <a:off x="394826" y="6314714"/>
              <a:ext cx="288300" cy="288300"/>
            </a:xfrm>
            <a:prstGeom prst="ellipse">
              <a:avLst/>
            </a:prstGeom>
            <a:solidFill>
              <a:srgbClr val="EB343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11"/>
            <p:cNvSpPr/>
            <p:nvPr/>
          </p:nvSpPr>
          <p:spPr>
            <a:xfrm>
              <a:off x="739466" y="6314714"/>
              <a:ext cx="288300" cy="288300"/>
            </a:xfrm>
            <a:prstGeom prst="ellipse">
              <a:avLst/>
            </a:prstGeom>
            <a:solidFill>
              <a:srgbClr val="C0AE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11"/>
            <p:cNvSpPr/>
            <p:nvPr/>
          </p:nvSpPr>
          <p:spPr>
            <a:xfrm>
              <a:off x="50186" y="6314714"/>
              <a:ext cx="288300" cy="288300"/>
            </a:xfrm>
            <a:prstGeom prst="ellipse">
              <a:avLst/>
            </a:prstGeom>
            <a:solidFill>
              <a:srgbClr val="1D466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88" name="Google Shape;8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0201" y="246300"/>
            <a:ext cx="472100" cy="476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0" y="875425"/>
            <a:ext cx="8520600" cy="152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 b="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401525"/>
            <a:ext cx="8520600" cy="60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Font typeface="Helvetica Neue"/>
              <a:buNone/>
              <a:defRPr sz="2400" b="1">
                <a:solidFill>
                  <a:srgbClr val="1D466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03168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body" idx="1"/>
          </p:nvPr>
        </p:nvSpPr>
        <p:spPr>
          <a:xfrm>
            <a:off x="311700" y="1208738"/>
            <a:ext cx="4270500" cy="336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120215" y="4919656"/>
            <a:ext cx="457214" cy="137173"/>
            <a:chOff x="50186" y="6314714"/>
            <a:chExt cx="977580" cy="288300"/>
          </a:xfrm>
        </p:grpSpPr>
        <p:sp>
          <p:nvSpPr>
            <p:cNvPr id="50" name="Google Shape;50;p7"/>
            <p:cNvSpPr/>
            <p:nvPr/>
          </p:nvSpPr>
          <p:spPr>
            <a:xfrm>
              <a:off x="394826" y="6314714"/>
              <a:ext cx="288300" cy="288300"/>
            </a:xfrm>
            <a:prstGeom prst="ellipse">
              <a:avLst/>
            </a:prstGeom>
            <a:solidFill>
              <a:srgbClr val="EB343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7"/>
            <p:cNvSpPr/>
            <p:nvPr/>
          </p:nvSpPr>
          <p:spPr>
            <a:xfrm>
              <a:off x="739466" y="6314714"/>
              <a:ext cx="288300" cy="288300"/>
            </a:xfrm>
            <a:prstGeom prst="ellipse">
              <a:avLst/>
            </a:prstGeom>
            <a:solidFill>
              <a:srgbClr val="C0AE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7"/>
            <p:cNvSpPr/>
            <p:nvPr/>
          </p:nvSpPr>
          <p:spPr>
            <a:xfrm>
              <a:off x="50186" y="6314714"/>
              <a:ext cx="288300" cy="288300"/>
            </a:xfrm>
            <a:prstGeom prst="ellipse">
              <a:avLst/>
            </a:prstGeom>
            <a:solidFill>
              <a:srgbClr val="1D466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3" name="Google Shape;53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0201" y="246300"/>
            <a:ext cx="472100" cy="476907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7"/>
          <p:cNvSpPr txBox="1">
            <a:spLocks noGrp="1"/>
          </p:cNvSpPr>
          <p:nvPr>
            <p:ph type="title"/>
          </p:nvPr>
        </p:nvSpPr>
        <p:spPr>
          <a:xfrm>
            <a:off x="311700" y="88000"/>
            <a:ext cx="4270500" cy="79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None/>
              <a:defRPr>
                <a:solidFill>
                  <a:srgbClr val="1D466B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25122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bg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Font typeface="Helvetica Neue"/>
              <a:buNone/>
              <a:defRPr sz="2400" b="1">
                <a:solidFill>
                  <a:srgbClr val="1D466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Helvetica Neue"/>
              <a:buChar char="●"/>
              <a:defRPr sz="15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Helvetica Neue"/>
              <a:buChar char="○"/>
              <a:defRPr sz="13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Helvetica Neue"/>
              <a:buChar char="■"/>
              <a:defRPr sz="12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Helvetica Neue"/>
              <a:buChar char="●"/>
              <a:defRPr sz="11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○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■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●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○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■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7" r:id="rId3"/>
    <p:sldLayoutId id="2147483660" r:id="rId4"/>
    <p:sldLayoutId id="2147483663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7F8CCE8A-313F-6E36-7C5B-32B2DCBCB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94CAC84-5A4B-F67B-5393-ADA47A8208BD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latin typeface="Aptos Display" panose="020B00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CB5876-1344-2B3D-88CD-A01C4EB051A6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500" dirty="0">
              <a:latin typeface="Aptos Display" panose="020B0004020202020204" pitchFamily="34" charset="0"/>
            </a:endParaRPr>
          </a:p>
        </p:txBody>
      </p:sp>
      <p:sp>
        <p:nvSpPr>
          <p:cNvPr id="10" name="Google Shape;100;p13">
            <a:extLst>
              <a:ext uri="{FF2B5EF4-FFF2-40B4-BE49-F238E27FC236}">
                <a16:creationId xmlns:a16="http://schemas.microsoft.com/office/drawing/2014/main" id="{11AC39AB-8187-B2C4-BCE2-25603F31660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875425"/>
            <a:ext cx="8520600" cy="152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  <a:latin typeface="Aptos Display" panose="020B0004020202020204" pitchFamily="34" charset="0"/>
              </a:rPr>
              <a:t>NPTEL</a:t>
            </a:r>
            <a:endParaRPr dirty="0">
              <a:solidFill>
                <a:schemeClr val="tx1"/>
              </a:solidFill>
              <a:latin typeface="Aptos Display" panose="020B0004020202020204" pitchFamily="34" charset="0"/>
            </a:endParaRPr>
          </a:p>
        </p:txBody>
      </p:sp>
      <p:sp>
        <p:nvSpPr>
          <p:cNvPr id="11" name="Google Shape;101;p13">
            <a:extLst>
              <a:ext uri="{FF2B5EF4-FFF2-40B4-BE49-F238E27FC236}">
                <a16:creationId xmlns:a16="http://schemas.microsoft.com/office/drawing/2014/main" id="{9BC1CA05-7B56-F729-7729-976FFD62408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11700" y="2401525"/>
            <a:ext cx="8520600" cy="60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" dirty="0">
                <a:solidFill>
                  <a:schemeClr val="tx1"/>
                </a:solidFill>
                <a:latin typeface="Aptos Display" panose="020B0004020202020204" pitchFamily="34" charset="0"/>
              </a:rPr>
              <a:t>Applied Accelerated Artificial Intelligence</a:t>
            </a:r>
            <a:endParaRPr dirty="0">
              <a:solidFill>
                <a:schemeClr val="tx1"/>
              </a:solidFill>
              <a:latin typeface="Aptos Display" panose="020B0004020202020204" pitchFamily="34" charset="0"/>
            </a:endParaRPr>
          </a:p>
        </p:txBody>
      </p:sp>
      <p:cxnSp>
        <p:nvCxnSpPr>
          <p:cNvPr id="13" name="Google Shape;103;p13">
            <a:extLst>
              <a:ext uri="{FF2B5EF4-FFF2-40B4-BE49-F238E27FC236}">
                <a16:creationId xmlns:a16="http://schemas.microsoft.com/office/drawing/2014/main" id="{8F67DB8A-D21C-4952-D794-E5E62719C58A}"/>
              </a:ext>
            </a:extLst>
          </p:cNvPr>
          <p:cNvCxnSpPr/>
          <p:nvPr/>
        </p:nvCxnSpPr>
        <p:spPr>
          <a:xfrm>
            <a:off x="790550" y="4169500"/>
            <a:ext cx="7253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Google Shape;104;p13">
            <a:extLst>
              <a:ext uri="{FF2B5EF4-FFF2-40B4-BE49-F238E27FC236}">
                <a16:creationId xmlns:a16="http://schemas.microsoft.com/office/drawing/2014/main" id="{60B22ADA-D87B-5B41-C735-9F7F595D022A}"/>
              </a:ext>
            </a:extLst>
          </p:cNvPr>
          <p:cNvSpPr txBox="1">
            <a:spLocks/>
          </p:cNvSpPr>
          <p:nvPr/>
        </p:nvSpPr>
        <p:spPr>
          <a:xfrm>
            <a:off x="311700" y="3315925"/>
            <a:ext cx="85206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rgbClr val="1D466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111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984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921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921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921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921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921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indent="0"/>
            <a:r>
              <a:rPr lang="en-US" sz="1200" b="0" dirty="0">
                <a:solidFill>
                  <a:schemeClr val="tx1"/>
                </a:solidFill>
                <a:latin typeface="Aptos Display" panose="020B0004020202020204" pitchFamily="34" charset="0"/>
              </a:rPr>
              <a:t>Instructor: Dr. Satyajit Das</a:t>
            </a:r>
          </a:p>
          <a:p>
            <a:pPr marL="0" indent="0"/>
            <a:r>
              <a:rPr lang="en-US" sz="1200" b="0" dirty="0">
                <a:solidFill>
                  <a:schemeClr val="tx1"/>
                </a:solidFill>
                <a:latin typeface="Aptos Display" panose="020B0004020202020204" pitchFamily="34" charset="0"/>
              </a:rPr>
              <a:t>Dept. of Computer Science and Engineering</a:t>
            </a:r>
          </a:p>
          <a:p>
            <a:pPr marL="0" indent="0"/>
            <a:r>
              <a:rPr lang="en-US" sz="1200" b="0" dirty="0">
                <a:solidFill>
                  <a:schemeClr val="tx1"/>
                </a:solidFill>
                <a:latin typeface="Aptos Display" panose="020B0004020202020204" pitchFamily="34" charset="0"/>
              </a:rPr>
              <a:t>Indian Institute of Technology Guwahati, Assam, India</a:t>
            </a:r>
          </a:p>
        </p:txBody>
      </p:sp>
      <p:pic>
        <p:nvPicPr>
          <p:cNvPr id="15" name="Picture 14" descr="A logo with a symbol in the middle  AI-generated content may be incorrect.">
            <a:extLst>
              <a:ext uri="{FF2B5EF4-FFF2-40B4-BE49-F238E27FC236}">
                <a16:creationId xmlns:a16="http://schemas.microsoft.com/office/drawing/2014/main" id="{A76A753D-76B9-B3B1-958A-E7E9C98CF9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5824" y="275125"/>
            <a:ext cx="1512351" cy="152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0962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9" name="Ttl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 b="1" dirty="0">
                <a:solidFill>
                  <a:schemeClr val="tx1"/>
                </a:solidFill>
              </a:rPr>
              <a:t>Segment 2: Building Neural Networks with nn.Module</a:t>
            </a:r>
          </a:p>
          <a:p>
            <a:pPr lvl="0"/>
            <a:r>
              <a:rPr lang="en-US" b="0" dirty="0">
                <a:solidFill>
                  <a:schemeClr val="tx1"/>
                </a:solidFill>
              </a:rPr>
              <a:t>From raw matrix multiplications to well-organised, inspectable, saveable neural network models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tl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b="1" dirty="0">
                <a:solidFill>
                  <a:schemeClr val="tx1"/>
                </a:solidFill>
              </a:rPr>
              <a:t>Learning Objectives — Segment 2</a:t>
            </a:r>
          </a:p>
        </p:txBody>
      </p:sp>
      <p:sp>
        <p:nvSpPr>
          <p:cNvPr id="202" name="N1"/>
          <p:cNvSpPr txBox="1"/>
          <p:nvPr/>
        </p:nvSpPr>
        <p:spPr>
          <a:xfrm>
            <a:off x="366025" y="1149552"/>
            <a:ext cx="3711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2060"/>
                </a:solidFill>
                <a:latin typeface="Helvetica Neue"/>
              </a:rPr>
              <a:t>01</a:t>
            </a:r>
          </a:p>
        </p:txBody>
      </p:sp>
      <p:sp>
        <p:nvSpPr>
          <p:cNvPr id="203" name="T1"/>
          <p:cNvSpPr txBox="1"/>
          <p:nvPr/>
        </p:nvSpPr>
        <p:spPr>
          <a:xfrm>
            <a:off x="824742" y="1149552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1500" dirty="0">
                <a:solidFill>
                  <a:schemeClr val="tx1"/>
                </a:solidFill>
                <a:latin typeface="Helvetica Neue"/>
              </a:rPr>
              <a:t>Explain why torch.nn.Module is the fundamental building block and what it provides over raw tensor operations</a:t>
            </a:r>
          </a:p>
        </p:txBody>
      </p:sp>
      <p:sp>
        <p:nvSpPr>
          <p:cNvPr id="204" name="N2"/>
          <p:cNvSpPr txBox="1"/>
          <p:nvPr/>
        </p:nvSpPr>
        <p:spPr>
          <a:xfrm>
            <a:off x="366025" y="1590779"/>
            <a:ext cx="3711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2060"/>
                </a:solidFill>
                <a:latin typeface="Helvetica Neue"/>
              </a:rPr>
              <a:t>02</a:t>
            </a:r>
          </a:p>
        </p:txBody>
      </p:sp>
      <p:sp>
        <p:nvSpPr>
          <p:cNvPr id="205" name="T2"/>
          <p:cNvSpPr txBox="1"/>
          <p:nvPr/>
        </p:nvSpPr>
        <p:spPr>
          <a:xfrm>
            <a:off x="824742" y="1590779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1500" dirty="0">
                <a:solidFill>
                  <a:schemeClr val="tx1"/>
                </a:solidFill>
                <a:latin typeface="Helvetica Neue"/>
              </a:rPr>
              <a:t>Define a custom neural network by subclassing nn.Module and implementing __init__ and forward methods</a:t>
            </a:r>
          </a:p>
        </p:txBody>
      </p:sp>
      <p:sp>
        <p:nvSpPr>
          <p:cNvPr id="206" name="N3"/>
          <p:cNvSpPr txBox="1"/>
          <p:nvPr/>
        </p:nvSpPr>
        <p:spPr>
          <a:xfrm>
            <a:off x="366025" y="2032006"/>
            <a:ext cx="3711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2060"/>
                </a:solidFill>
                <a:latin typeface="Helvetica Neue"/>
              </a:rPr>
              <a:t>03</a:t>
            </a:r>
          </a:p>
        </p:txBody>
      </p:sp>
      <p:sp>
        <p:nvSpPr>
          <p:cNvPr id="207" name="T3"/>
          <p:cNvSpPr txBox="1"/>
          <p:nvPr/>
        </p:nvSpPr>
        <p:spPr>
          <a:xfrm>
            <a:off x="824742" y="2032006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1500" dirty="0">
                <a:solidFill>
                  <a:schemeClr val="tx1"/>
                </a:solidFill>
                <a:latin typeface="Helvetica Neue"/>
              </a:rPr>
              <a:t>Use built-in layers: nn.Linear, nn.Conv2d, nn.BatchNorm2d, nn.LayerNorm, nn.Dropout, nn.Embedding</a:t>
            </a:r>
          </a:p>
        </p:txBody>
      </p:sp>
      <p:sp>
        <p:nvSpPr>
          <p:cNvPr id="208" name="N4"/>
          <p:cNvSpPr txBox="1"/>
          <p:nvPr/>
        </p:nvSpPr>
        <p:spPr>
          <a:xfrm>
            <a:off x="366025" y="2473233"/>
            <a:ext cx="3711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2060"/>
                </a:solidFill>
                <a:latin typeface="Helvetica Neue"/>
              </a:rPr>
              <a:t>04</a:t>
            </a:r>
          </a:p>
        </p:txBody>
      </p:sp>
      <p:sp>
        <p:nvSpPr>
          <p:cNvPr id="209" name="T4"/>
          <p:cNvSpPr txBox="1"/>
          <p:nvPr/>
        </p:nvSpPr>
        <p:spPr>
          <a:xfrm>
            <a:off x="824742" y="2473233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1500" dirty="0">
                <a:solidFill>
                  <a:schemeClr val="tx1"/>
                </a:solidFill>
                <a:latin typeface="Helvetica Neue"/>
              </a:rPr>
              <a:t>Inspect a model's parameters, named_modules, and compute total parameter count</a:t>
            </a:r>
          </a:p>
        </p:txBody>
      </p:sp>
      <p:sp>
        <p:nvSpPr>
          <p:cNvPr id="210" name="N5"/>
          <p:cNvSpPr txBox="1"/>
          <p:nvPr/>
        </p:nvSpPr>
        <p:spPr>
          <a:xfrm>
            <a:off x="366025" y="2914460"/>
            <a:ext cx="3711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2060"/>
                </a:solidFill>
                <a:latin typeface="Helvetica Neue"/>
              </a:rPr>
              <a:t>05</a:t>
            </a:r>
          </a:p>
        </p:txBody>
      </p:sp>
      <p:sp>
        <p:nvSpPr>
          <p:cNvPr id="211" name="T5"/>
          <p:cNvSpPr txBox="1"/>
          <p:nvPr/>
        </p:nvSpPr>
        <p:spPr>
          <a:xfrm>
            <a:off x="824742" y="2914460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1500" dirty="0">
                <a:solidFill>
                  <a:schemeClr val="tx1"/>
                </a:solidFill>
                <a:latin typeface="Helvetica Neue"/>
              </a:rPr>
              <a:t>Save and load model weights using state_dict, torch.save, and torch.load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tl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b="1" dirty="0">
                <a:solidFill>
                  <a:schemeClr val="tx1"/>
                </a:solidFill>
              </a:rPr>
              <a:t>torch.nn.Module: The Building Block of All Models</a:t>
            </a:r>
          </a:p>
        </p:txBody>
      </p:sp>
      <p:sp>
        <p:nvSpPr>
          <p:cNvPr id="10" name="L"/>
          <p:cNvSpPr txBox="1"/>
          <p:nvPr/>
        </p:nvSpPr>
        <p:spPr>
          <a:xfrm>
            <a:off x="311700" y="762400"/>
            <a:ext cx="4180000" cy="4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Why Not Just Use Tensors?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Raw tensors: you must manually track weights, move them to GPU, save them, load them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nn.Module automates all of this: it is a container that organises parameters, sub-modules, and the forward computation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Composable: any nn.Module can contain other nn.Modules — entire model trees, not just layers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The Two Required Components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import torch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import torch.nn as nn</a:t>
            </a:r>
          </a:p>
          <a:p>
            <a:pPr marL="228600" indent="0">
              <a:buNone/>
            </a:pPr>
            <a:endParaRPr lang="en-US" sz="1050" b="0" i="1" dirty="0">
              <a:solidFill>
                <a:srgbClr val="1F3864"/>
              </a:solidFill>
              <a:latin typeface="Consolas"/>
            </a:endParaRP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class MyLayer(nn.Module):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def __init__(self):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super().__init__()          # ALWAYS call this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self.linear = nn.Linear(4, 3)  # creates W and b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self.relu   = nn.ReLU()</a:t>
            </a:r>
          </a:p>
          <a:p>
            <a:pPr marL="228600" indent="0">
              <a:buNone/>
            </a:pPr>
            <a:endParaRPr lang="en-US" sz="1050" b="0" i="1" dirty="0">
              <a:solidFill>
                <a:srgbClr val="1F3864"/>
              </a:solidFill>
              <a:latin typeface="Consolas"/>
            </a:endParaRP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def forward(self, x):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x = self.linear(x)  # calls linear.forward(x)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return self.relu(x)</a:t>
            </a:r>
          </a:p>
          <a:p>
            <a:pPr marL="228600" indent="0">
              <a:buNone/>
            </a:pPr>
            <a:endParaRPr lang="en-US" sz="1050" b="0" i="1" dirty="0">
              <a:solidFill>
                <a:srgbClr val="1F3864"/>
              </a:solidFill>
              <a:latin typeface="Consolas"/>
            </a:endParaRP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layer = MyLayer()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out   = layer(torch.randn(2, 4))  # calls layer.forward()</a:t>
            </a:r>
          </a:p>
        </p:txBody>
      </p:sp>
      <p:sp>
        <p:nvSpPr>
          <p:cNvPr id="11" name="R"/>
          <p:cNvSpPr txBox="1"/>
          <p:nvPr/>
        </p:nvSpPr>
        <p:spPr>
          <a:xfrm>
            <a:off x="4651700" y="636865"/>
            <a:ext cx="4180600" cy="4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What nn.Module Provides Automatically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Parameter registration: anything assigned as nn.Parameter or nn.Module is tracked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model.parameters(): iterator over all learnable weights across all sub-modules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model.to(device): recursively moves all parameters and buffers to device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model.train() / model.eval(): set training mode (affects Dropout, BatchNorm)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model.state_dict(): ordered dict of all parameter tensors — for saving/loading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nn.Parameter vs Buffers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nn.Parameter: a tensor that IS a learnable weight — appears in parameters()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self.register_buffer('running_mean', torch.zeros(C)): a tensor that is NOT a weight but is saved with the model (e.g. BatchNorm statistics)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Buffers move with .to(device) but are not optimised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Calling the Module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layer(x) calls __call__ which calls forward — NEVER call layer.forward(x) directly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__call__ adds hooks, checks, and other functionality around forward</a:t>
            </a:r>
          </a:p>
        </p:txBody>
      </p:sp>
      <p:sp>
        <p:nvSpPr>
          <p:cNvPr id="50" name="Ref"/>
          <p:cNvSpPr txBox="1"/>
          <p:nvPr/>
        </p:nvSpPr>
        <p:spPr>
          <a:xfrm>
            <a:off x="311700" y="4900000"/>
            <a:ext cx="85206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Ref: PyTorch nn.Module Documentation (pytorch.org/docs/stable/generated/torch.nn.Module.html)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tl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l"/>
            <a:r>
              <a:rPr lang="en-US" sz="2000" b="1" dirty="0">
                <a:solidFill>
                  <a:schemeClr val="tx1"/>
                </a:solidFill>
              </a:rPr>
              <a:t>Built-in Layers: The Vocabulary of Neural Network Design</a:t>
            </a:r>
          </a:p>
        </p:txBody>
      </p:sp>
      <p:sp>
        <p:nvSpPr>
          <p:cNvPr id="10" name="Body"/>
          <p:cNvSpPr txBox="1"/>
          <p:nvPr/>
        </p:nvSpPr>
        <p:spPr>
          <a:xfrm>
            <a:off x="311700" y="709436"/>
            <a:ext cx="8832300" cy="4311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Linear Layers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nn.Linear(in_features, out_features, bias=True): fully connected layer — computes Wx + b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Weights initialised with Kaiming uniform by default (designed for ReLU networks)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nn.LazyLinear: infers in_features on first forward call — convenient for prototyping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Convolutional Layers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nn.Conv2d(in_ch, out_ch, kernel_size, stride=1, padding=0): 2D convolution for images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nn.Conv1d: for sequences (1D signals, text representations)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nn.ConvTranspose2d: transposed convolution (upsampling in generative models)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padding='same': pads input so output has same spatial size as input (PyTorch 1.9+)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Normalisation Layers — Critical for Deep Networks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nn.BatchNorm2d(C): normalises across the batch; has learnable scale (gamma) and shift (beta); uses running statistics at inference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nn.LayerNorm(normalised_shape): normalises across the features of each sample; used in Transformers; works with any batch size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nn.GroupNorm(num_groups, num_channels): compromise between Batch and Layer norm; used in object detection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nn.RMSNorm (PyTorch 2.4+): simplified LayerNorm without mean subtraction; used in Llama, Mistral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Activation Functions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nn.ReLU(): max(0, x) — still common in CNNs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nn.GELU(): Gaussian Error Linear Unit — standard in Transformers (GPT, BERT)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nn.SiLU() / Swish: used in modern LLMs (Llama 2, Phi)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nn.Sigmoid(), nn.Tanh(): use in gates and output layers for probabilities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Regularisation and Sequence Layers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nn.Dropout(p=0.1): randomly zeros p fraction of activations during training; becomes identity at eval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nn.Embedding(num_embeddings, embedding_dim): lookup table; converts integer token IDs to dense vectors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nn.MultiheadAttention(embed_dim, num_heads): full multi-head attention with optional causal masking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nn.TransformerEncoderLayer: complete Pre-LN or Post-LN Transformer block with attention + FFN + norms</a:t>
            </a:r>
          </a:p>
        </p:txBody>
      </p:sp>
      <p:sp>
        <p:nvSpPr>
          <p:cNvPr id="50" name="Ref"/>
          <p:cNvSpPr txBox="1"/>
          <p:nvPr/>
        </p:nvSpPr>
        <p:spPr>
          <a:xfrm>
            <a:off x="311700" y="4900000"/>
            <a:ext cx="85206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Ref: PyTorch nn Module Reference (pytorch.org/docs/stable/nn.html)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tl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l"/>
            <a:r>
              <a:rPr lang="en-US" sz="2000" b="1" dirty="0">
                <a:solidFill>
                  <a:schemeClr val="tx1"/>
                </a:solidFill>
              </a:rPr>
              <a:t>Composing Models with nn.Sequential and Custom Architectures</a:t>
            </a:r>
          </a:p>
        </p:txBody>
      </p:sp>
      <p:sp>
        <p:nvSpPr>
          <p:cNvPr id="10" name="L"/>
          <p:cNvSpPr txBox="1"/>
          <p:nvPr/>
        </p:nvSpPr>
        <p:spPr>
          <a:xfrm>
            <a:off x="309250" y="656850"/>
            <a:ext cx="4180000" cy="4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nn.Sequential: Quick Composition for Simple Networks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model = nn.Sequential(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nn.Linear(784, 256),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nn.ReLU(),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nn.BatchNorm1d(256),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nn.Dropout(0.3),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nn.Linear(256, 10),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Modules executed in order; input of each = output of previous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Limitation: cannot branch, merge, or skip connections</a:t>
            </a:r>
          </a:p>
          <a:p>
            <a:pPr marL="0" indent="0">
              <a:buNone/>
            </a:pPr>
            <a:endParaRPr lang="en-US" sz="600" dirty="0"/>
          </a:p>
        </p:txBody>
      </p:sp>
      <p:sp>
        <p:nvSpPr>
          <p:cNvPr id="50" name="Ref"/>
          <p:cNvSpPr txBox="1"/>
          <p:nvPr/>
        </p:nvSpPr>
        <p:spPr>
          <a:xfrm>
            <a:off x="311700" y="4900000"/>
            <a:ext cx="85206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Ref: PyTorch Save/Load Tutorial (pytorch.org/tutorials/beginner/saving_loading_models.html)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03DBA63-76A8-3EBA-E8CA-A05EDE8DD7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9250" y="656850"/>
            <a:ext cx="1866914" cy="40957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>
          <a:extLst>
            <a:ext uri="{FF2B5EF4-FFF2-40B4-BE49-F238E27FC236}">
              <a16:creationId xmlns:a16="http://schemas.microsoft.com/office/drawing/2014/main" id="{40C7A172-F422-87B2-3488-3625D042F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1">
            <a:extLst>
              <a:ext uri="{FF2B5EF4-FFF2-40B4-BE49-F238E27FC236}">
                <a16:creationId xmlns:a16="http://schemas.microsoft.com/office/drawing/2014/main" id="{CD75B126-DE73-EAAF-91B6-336A592195AB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2">
            <a:extLst>
              <a:ext uri="{FF2B5EF4-FFF2-40B4-BE49-F238E27FC236}">
                <a16:creationId xmlns:a16="http://schemas.microsoft.com/office/drawing/2014/main" id="{A028A1D6-D57D-C256-18B8-A839C1B3E60E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tl">
            <a:extLst>
              <a:ext uri="{FF2B5EF4-FFF2-40B4-BE49-F238E27FC236}">
                <a16:creationId xmlns:a16="http://schemas.microsoft.com/office/drawing/2014/main" id="{D4B28DEE-D0C0-037A-CA2D-828ACEDFEF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l"/>
            <a:r>
              <a:rPr lang="en-US" sz="2000" b="1" dirty="0">
                <a:solidFill>
                  <a:schemeClr val="tx1"/>
                </a:solidFill>
              </a:rPr>
              <a:t>Composing Models with nn.Sequential and Custom Architectures</a:t>
            </a:r>
          </a:p>
        </p:txBody>
      </p:sp>
      <p:sp>
        <p:nvSpPr>
          <p:cNvPr id="10" name="L">
            <a:extLst>
              <a:ext uri="{FF2B5EF4-FFF2-40B4-BE49-F238E27FC236}">
                <a16:creationId xmlns:a16="http://schemas.microsoft.com/office/drawing/2014/main" id="{52BFC7D4-33A9-4459-45A8-9BD51A4C0AA8}"/>
              </a:ext>
            </a:extLst>
          </p:cNvPr>
          <p:cNvSpPr txBox="1"/>
          <p:nvPr/>
        </p:nvSpPr>
        <p:spPr>
          <a:xfrm>
            <a:off x="309250" y="656850"/>
            <a:ext cx="4180000" cy="4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Custom Architecture with Skip Connections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class ResBlock(nn.Module):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def __init__(self, d):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super().__init__()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self.net = nn.Sequential(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    nn.LayerNorm(d),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    nn.Linear(d, d),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    nn.GELU(),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    nn.Linear(d, d),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def forward(self, x):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return x + self.net(x)  # residual connection</a:t>
            </a:r>
          </a:p>
        </p:txBody>
      </p:sp>
      <p:sp>
        <p:nvSpPr>
          <p:cNvPr id="50" name="Ref">
            <a:extLst>
              <a:ext uri="{FF2B5EF4-FFF2-40B4-BE49-F238E27FC236}">
                <a16:creationId xmlns:a16="http://schemas.microsoft.com/office/drawing/2014/main" id="{B30EE9B6-FCEA-0691-8AA9-B00A5B39E960}"/>
              </a:ext>
            </a:extLst>
          </p:cNvPr>
          <p:cNvSpPr txBox="1"/>
          <p:nvPr/>
        </p:nvSpPr>
        <p:spPr>
          <a:xfrm>
            <a:off x="311700" y="4900000"/>
            <a:ext cx="85206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Ref: PyTorch Save/Load Tutorial (pytorch.org/tutorials/beginner/saving_loading_models.html)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3EBFEE2-8482-1380-6459-2FED8C6245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9250" y="976936"/>
            <a:ext cx="4076730" cy="2952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8344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>
          <a:extLst>
            <a:ext uri="{FF2B5EF4-FFF2-40B4-BE49-F238E27FC236}">
              <a16:creationId xmlns:a16="http://schemas.microsoft.com/office/drawing/2014/main" id="{A0461EA7-3CBD-9812-8C23-EF7161897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1">
            <a:extLst>
              <a:ext uri="{FF2B5EF4-FFF2-40B4-BE49-F238E27FC236}">
                <a16:creationId xmlns:a16="http://schemas.microsoft.com/office/drawing/2014/main" id="{65CC1F88-9620-04AD-7A77-3D3D56816A1A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2">
            <a:extLst>
              <a:ext uri="{FF2B5EF4-FFF2-40B4-BE49-F238E27FC236}">
                <a16:creationId xmlns:a16="http://schemas.microsoft.com/office/drawing/2014/main" id="{4C2C7D4A-842D-6CB1-A6CC-66BB6BEB8CA9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tl">
            <a:extLst>
              <a:ext uri="{FF2B5EF4-FFF2-40B4-BE49-F238E27FC236}">
                <a16:creationId xmlns:a16="http://schemas.microsoft.com/office/drawing/2014/main" id="{CF0C307D-1BCE-4C42-19CF-17F6898254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l"/>
            <a:r>
              <a:rPr lang="en-US" sz="2000" b="1" dirty="0">
                <a:solidFill>
                  <a:schemeClr val="tx1"/>
                </a:solidFill>
              </a:rPr>
              <a:t>Composing Models with nn.Sequential and Custom Architectures</a:t>
            </a:r>
          </a:p>
        </p:txBody>
      </p:sp>
      <p:sp>
        <p:nvSpPr>
          <p:cNvPr id="10" name="L">
            <a:extLst>
              <a:ext uri="{FF2B5EF4-FFF2-40B4-BE49-F238E27FC236}">
                <a16:creationId xmlns:a16="http://schemas.microsoft.com/office/drawing/2014/main" id="{6BAF87EF-412C-D8A6-3AB7-299526763C6B}"/>
              </a:ext>
            </a:extLst>
          </p:cNvPr>
          <p:cNvSpPr txBox="1"/>
          <p:nvPr/>
        </p:nvSpPr>
        <p:spPr>
          <a:xfrm>
            <a:off x="309250" y="656850"/>
            <a:ext cx="4180000" cy="4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nn.ModuleList: Dynamic Lists of Modules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self.layers = nn.ModuleList([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nn.Linear(d, d) for _ in range(6)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])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Unlike Python list: modules in ModuleList are tracked by PyTorch</a:t>
            </a:r>
          </a:p>
        </p:txBody>
      </p:sp>
      <p:sp>
        <p:nvSpPr>
          <p:cNvPr id="50" name="Ref">
            <a:extLst>
              <a:ext uri="{FF2B5EF4-FFF2-40B4-BE49-F238E27FC236}">
                <a16:creationId xmlns:a16="http://schemas.microsoft.com/office/drawing/2014/main" id="{A529636F-7B5A-49F2-450E-4B75D1CD5DB6}"/>
              </a:ext>
            </a:extLst>
          </p:cNvPr>
          <p:cNvSpPr txBox="1"/>
          <p:nvPr/>
        </p:nvSpPr>
        <p:spPr>
          <a:xfrm>
            <a:off x="311700" y="4900000"/>
            <a:ext cx="85206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Ref: PyTorch Save/Load Tutorial (pytorch.org/tutorials/beginner/saving_loading_models.html)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8DF8E0-9A11-CA16-61EF-D10223543E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1934" y="857449"/>
            <a:ext cx="2286017" cy="14763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3564728-41B3-8E21-DEDC-0DBD8F35428F}"/>
              </a:ext>
            </a:extLst>
          </p:cNvPr>
          <p:cNvSpPr txBox="1"/>
          <p:nvPr/>
        </p:nvSpPr>
        <p:spPr>
          <a:xfrm>
            <a:off x="1955021" y="2531194"/>
            <a:ext cx="457200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Sequential:- automatic straight-line execution- easiest for simple networks- cannot do skip/branch/merge </a:t>
            </a:r>
            <a:r>
              <a:rPr lang="en-IN" dirty="0" err="1"/>
              <a:t>logicCustom</a:t>
            </a:r>
            <a:r>
              <a:rPr lang="en-IN" dirty="0"/>
              <a:t> </a:t>
            </a:r>
          </a:p>
          <a:p>
            <a:endParaRPr lang="en-IN" dirty="0"/>
          </a:p>
          <a:p>
            <a:r>
              <a:rPr lang="en-IN" dirty="0"/>
              <a:t>Module:- you write forward() yourself- can do residual connections, branching, merging</a:t>
            </a:r>
          </a:p>
          <a:p>
            <a:endParaRPr lang="en-IN" dirty="0"/>
          </a:p>
          <a:p>
            <a:r>
              <a:rPr lang="en-IN" dirty="0" err="1"/>
              <a:t>ModuleList</a:t>
            </a:r>
            <a:r>
              <a:rPr lang="en-IN" dirty="0"/>
              <a:t>:- stores many layers properly- </a:t>
            </a:r>
            <a:r>
              <a:rPr lang="en-IN" dirty="0" err="1"/>
              <a:t>PyTorch</a:t>
            </a:r>
            <a:r>
              <a:rPr lang="en-IN" dirty="0"/>
              <a:t> tracks them- useful for loops and dynamic architectures- does not automatically define execution order like Sequential</a:t>
            </a:r>
          </a:p>
        </p:txBody>
      </p:sp>
    </p:spTree>
    <p:extLst>
      <p:ext uri="{BB962C8B-B14F-4D97-AF65-F5344CB8AC3E}">
        <p14:creationId xmlns:p14="http://schemas.microsoft.com/office/powerpoint/2010/main" val="772453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>
          <a:extLst>
            <a:ext uri="{FF2B5EF4-FFF2-40B4-BE49-F238E27FC236}">
              <a16:creationId xmlns:a16="http://schemas.microsoft.com/office/drawing/2014/main" id="{6EC63269-138B-1E10-D3C0-AB5F07640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1">
            <a:extLst>
              <a:ext uri="{FF2B5EF4-FFF2-40B4-BE49-F238E27FC236}">
                <a16:creationId xmlns:a16="http://schemas.microsoft.com/office/drawing/2014/main" id="{1A9D607E-FD96-7F8A-328D-E4F5A0E6DF64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2">
            <a:extLst>
              <a:ext uri="{FF2B5EF4-FFF2-40B4-BE49-F238E27FC236}">
                <a16:creationId xmlns:a16="http://schemas.microsoft.com/office/drawing/2014/main" id="{A79A3A45-EA35-DFC7-CF6F-4F2539C6FEB0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tl">
            <a:extLst>
              <a:ext uri="{FF2B5EF4-FFF2-40B4-BE49-F238E27FC236}">
                <a16:creationId xmlns:a16="http://schemas.microsoft.com/office/drawing/2014/main" id="{DF0B21C5-505E-65B9-6207-33452898A3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l"/>
            <a:r>
              <a:rPr lang="en-US" sz="2000" b="1" dirty="0">
                <a:solidFill>
                  <a:schemeClr val="tx1"/>
                </a:solidFill>
              </a:rPr>
              <a:t>Composing Models with nn.Sequential and Custom Architectures</a:t>
            </a:r>
          </a:p>
        </p:txBody>
      </p:sp>
      <p:sp>
        <p:nvSpPr>
          <p:cNvPr id="11" name="R">
            <a:extLst>
              <a:ext uri="{FF2B5EF4-FFF2-40B4-BE49-F238E27FC236}">
                <a16:creationId xmlns:a16="http://schemas.microsoft.com/office/drawing/2014/main" id="{96CB3D12-F9F7-B378-B80C-5BFB0281BDBE}"/>
              </a:ext>
            </a:extLst>
          </p:cNvPr>
          <p:cNvSpPr txBox="1"/>
          <p:nvPr/>
        </p:nvSpPr>
        <p:spPr>
          <a:xfrm>
            <a:off x="528485" y="932965"/>
            <a:ext cx="4180600" cy="4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Inspecting Models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model = MyModel()</a:t>
            </a:r>
          </a:p>
          <a:p>
            <a:pPr marL="228600" indent="0">
              <a:buNone/>
            </a:pPr>
            <a:endParaRPr lang="en-US" sz="1050" b="0" i="1" dirty="0">
              <a:solidFill>
                <a:srgbClr val="1F3864"/>
              </a:solidFill>
              <a:latin typeface="Consolas"/>
            </a:endParaRP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# Total parameter count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total = sum(p.numel() for p in model.parameters())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trainable = sum(p.numel() for p in model.parameters()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   if p.requires_grad)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print(f'{total/1e6:.1f}M params, {trainable/1e6:.1f}M trainable')</a:t>
            </a:r>
          </a:p>
          <a:p>
            <a:pPr marL="0" indent="0">
              <a:buNone/>
            </a:pPr>
            <a:endParaRPr lang="en-US" sz="600" dirty="0"/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# Named parameter shapes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for name, p in model.named_parameters():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print(name, p.shape)</a:t>
            </a:r>
          </a:p>
          <a:p>
            <a:pPr marL="0" indent="0">
              <a:buNone/>
            </a:pPr>
            <a:endParaRPr lang="en-US" sz="600" dirty="0"/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# Module tree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print(model)</a:t>
            </a:r>
          </a:p>
        </p:txBody>
      </p:sp>
      <p:sp>
        <p:nvSpPr>
          <p:cNvPr id="50" name="Ref">
            <a:extLst>
              <a:ext uri="{FF2B5EF4-FFF2-40B4-BE49-F238E27FC236}">
                <a16:creationId xmlns:a16="http://schemas.microsoft.com/office/drawing/2014/main" id="{5B05AEEB-ED66-44B9-5DC3-1973E9B4637F}"/>
              </a:ext>
            </a:extLst>
          </p:cNvPr>
          <p:cNvSpPr txBox="1"/>
          <p:nvPr/>
        </p:nvSpPr>
        <p:spPr>
          <a:xfrm>
            <a:off x="311700" y="4900000"/>
            <a:ext cx="85206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Ref: PyTorch Save/Load Tutorial (pytorch.org/tutorials/beginner/saving_loading_models.html)</a:t>
            </a:r>
          </a:p>
        </p:txBody>
      </p:sp>
      <p:sp>
        <p:nvSpPr>
          <p:cNvPr id="4" name="R">
            <a:extLst>
              <a:ext uri="{FF2B5EF4-FFF2-40B4-BE49-F238E27FC236}">
                <a16:creationId xmlns:a16="http://schemas.microsoft.com/office/drawing/2014/main" id="{9876E73F-7B0B-4542-901E-D26EB12A0CF6}"/>
              </a:ext>
            </a:extLst>
          </p:cNvPr>
          <p:cNvSpPr txBox="1"/>
          <p:nvPr/>
        </p:nvSpPr>
        <p:spPr>
          <a:xfrm>
            <a:off x="4748354" y="668615"/>
            <a:ext cx="4180600" cy="4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28600" indent="0">
              <a:buNone/>
            </a:pPr>
            <a:endParaRPr lang="en-US" sz="1050" b="0" i="1" dirty="0">
              <a:solidFill>
                <a:srgbClr val="1F3864"/>
              </a:solidFill>
              <a:latin typeface="Consolas"/>
            </a:endParaRP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Saving and Loading Model Weights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# Save weights only (recommended)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torch.save(model.state_dict(), 'model.pth')</a:t>
            </a:r>
          </a:p>
          <a:p>
            <a:pPr marL="0" indent="0">
              <a:buNone/>
            </a:pPr>
            <a:endParaRPr lang="en-US" sz="600" dirty="0"/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# Load weights into a new model instance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model2 = MyModel()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model2.load_state_dict(torch.load('model.pth'))</a:t>
            </a:r>
          </a:p>
          <a:p>
            <a:pPr marL="0" indent="0">
              <a:buNone/>
            </a:pPr>
            <a:endParaRPr lang="en-US" sz="600" dirty="0"/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Always save state_dict, never the entire model object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Entire model pickle embeds the class definition — breaks when code changes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state_dict is just a dict of tensors — portable and version-stable</a:t>
            </a:r>
          </a:p>
        </p:txBody>
      </p:sp>
    </p:spTree>
    <p:extLst>
      <p:ext uri="{BB962C8B-B14F-4D97-AF65-F5344CB8AC3E}">
        <p14:creationId xmlns:p14="http://schemas.microsoft.com/office/powerpoint/2010/main" val="9555652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tl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b="1" dirty="0">
                <a:solidFill>
                  <a:schemeClr val="tx1"/>
                </a:solidFill>
              </a:rPr>
              <a:t>Defining a Complete Model: A Worked Example</a:t>
            </a:r>
          </a:p>
        </p:txBody>
      </p:sp>
      <p:sp>
        <p:nvSpPr>
          <p:cNvPr id="10" name="L"/>
          <p:cNvSpPr txBox="1"/>
          <p:nvPr/>
        </p:nvSpPr>
        <p:spPr>
          <a:xfrm>
            <a:off x="311700" y="856537"/>
            <a:ext cx="4180000" cy="4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A Complete 3-Layer MLP Classifier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class MLPClassifier(nn.Module):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def __init__(self, input_dim, hidden_dim,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         output_dim, dropout=0.1):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super().__init__()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self.net = nn.Sequential(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    nn.Linear(input_dim, hidden_dim),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    nn.LayerNorm(hidden_dim),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    nn.GELU(),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    nn.Dropout(dropout),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    nn.Linear(hidden_dim, hidden_dim),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    nn.LayerNorm(hidden_dim),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    nn.GELU(),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    nn.Dropout(dropout),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    nn.Linear(hidden_dim, output_dim),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def forward(self, x):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return self.net(x)</a:t>
            </a:r>
          </a:p>
          <a:p>
            <a:pPr marL="0" indent="0">
              <a:buNone/>
            </a:pPr>
            <a:endParaRPr lang="en-US" sz="600" dirty="0"/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model = MLPClassifier(784, 512, 10).to('cuda')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print(model)  # shows full architecture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# 784-&gt;512-&gt;512-&gt;10 = ~800K parameters</a:t>
            </a:r>
          </a:p>
        </p:txBody>
      </p:sp>
      <p:sp>
        <p:nvSpPr>
          <p:cNvPr id="11" name="R"/>
          <p:cNvSpPr txBox="1"/>
          <p:nvPr/>
        </p:nvSpPr>
        <p:spPr>
          <a:xfrm>
            <a:off x="4651700" y="762400"/>
            <a:ext cx="4180600" cy="4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A Mini Transformer for Text Classification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class TextClassifier(nn.Module):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def __init__(self, vocab, d=128, h=4, layers=2):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super().__init__()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self.embed  = nn.Embedding(vocab, d)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self.layers = nn.ModuleList([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    nn.TransformerEncoderLayer(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       d_model=d, nhead=h,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       dim_feedforward=d*4,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       batch_first=True,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       norm_first=True,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    ) for _ in range(layers)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])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self.head = nn.Linear(d, 2)  # binary</a:t>
            </a:r>
          </a:p>
          <a:p>
            <a:pPr marL="228600" indent="0">
              <a:buNone/>
            </a:pPr>
            <a:endParaRPr lang="en-US" sz="1050" b="0" i="1" dirty="0">
              <a:solidFill>
                <a:srgbClr val="1F3864"/>
              </a:solidFill>
              <a:latin typeface="Consolas"/>
            </a:endParaRP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def forward(self, token_ids):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x = self.embed(token_ids)   # (B,T,d)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for layer in self.layers: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    x = layer(x)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return self.head(x.mean(1)) # pool over T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Weight Initialisation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PyTorch default: Kaiming uniform for Linear and Conv (good for ReLU/GELU)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Custom init: model.apply(init_fn) applies a function to every sub-module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def init_weights(m):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if isinstance(m, nn.Linear):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nn.init.xavier_uniform_(m.weight)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nn.init.zeros_(m.bias)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model.apply(init_weights)</a:t>
            </a:r>
          </a:p>
        </p:txBody>
      </p:sp>
      <p:sp>
        <p:nvSpPr>
          <p:cNvPr id="50" name="Ref"/>
          <p:cNvSpPr txBox="1"/>
          <p:nvPr/>
        </p:nvSpPr>
        <p:spPr>
          <a:xfrm>
            <a:off x="311700" y="4900000"/>
            <a:ext cx="85206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Ref: Glorot &amp; Bengio, Understanding Difficulty of Training Deep Feedforward Networks, AISTATS 2010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tl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b="1" dirty="0">
                <a:solidFill>
                  <a:schemeClr val="tx1"/>
                </a:solidFill>
              </a:rPr>
              <a:t>Segment 2 Summary: Building Models with nn.Module</a:t>
            </a:r>
          </a:p>
        </p:txBody>
      </p:sp>
      <p:sp>
        <p:nvSpPr>
          <p:cNvPr id="10" name="Body"/>
          <p:cNvSpPr txBox="1"/>
          <p:nvPr/>
        </p:nvSpPr>
        <p:spPr>
          <a:xfrm>
            <a:off x="311700" y="856537"/>
            <a:ext cx="8520600" cy="4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indent="-285750">
              <a:buFont typeface="Arial"/>
              <a:buChar char="✓"/>
            </a:pPr>
            <a:r>
              <a:rPr lang="en-US" sz="1400" dirty="0">
                <a:solidFill>
                  <a:srgbClr val="000000"/>
                </a:solidFill>
                <a:latin typeface="Helvetica Neue"/>
              </a:rPr>
              <a:t>nn.Module is the fundamental building block: it automatically tracks parameters, enables .to(device), and provides train/eval mode switching — never use raw tensors for weights</a:t>
            </a:r>
          </a:p>
          <a:p>
            <a:pPr marL="0" indent="0">
              <a:buNone/>
            </a:pPr>
            <a:endParaRPr lang="en-US" sz="600" dirty="0"/>
          </a:p>
          <a:p>
            <a:pPr marL="285750" indent="-285750">
              <a:buFont typeface="Arial"/>
              <a:buChar char="✓"/>
            </a:pPr>
            <a:r>
              <a:rPr lang="en-US" sz="1400" dirty="0">
                <a:solidFill>
                  <a:srgbClr val="000000"/>
                </a:solidFill>
                <a:latin typeface="Helvetica Neue"/>
              </a:rPr>
              <a:t>Implement __init__ to define layers and forward to define computation. Always call super().__init__(). Call the model like a function: model(x) — never model.forward(x)</a:t>
            </a:r>
          </a:p>
          <a:p>
            <a:pPr marL="0" indent="0">
              <a:buNone/>
            </a:pPr>
            <a:endParaRPr lang="en-US" sz="600" dirty="0"/>
          </a:p>
          <a:p>
            <a:pPr marL="285750" indent="-285750">
              <a:buFont typeface="Arial"/>
              <a:buChar char="✓"/>
            </a:pPr>
            <a:r>
              <a:rPr lang="en-US" sz="1400" dirty="0">
                <a:solidFill>
                  <a:srgbClr val="000000"/>
                </a:solidFill>
                <a:latin typeface="Helvetica Neue"/>
              </a:rPr>
              <a:t>Essential layers: nn.Linear (MLP), nn.Conv2d (vision), nn.LayerNorm + nn.MultiheadAttention (Transformers), nn.Embedding (NLP), nn.Dropout (regularisation)</a:t>
            </a:r>
          </a:p>
          <a:p>
            <a:pPr marL="0" indent="0">
              <a:buNone/>
            </a:pPr>
            <a:endParaRPr lang="en-US" sz="600" dirty="0"/>
          </a:p>
          <a:p>
            <a:pPr marL="285750" indent="-285750">
              <a:buFont typeface="Arial"/>
              <a:buChar char="✓"/>
            </a:pPr>
            <a:r>
              <a:rPr lang="en-US" sz="1400" dirty="0">
                <a:solidFill>
                  <a:srgbClr val="000000"/>
                </a:solidFill>
                <a:latin typeface="Helvetica Neue"/>
              </a:rPr>
              <a:t>Inspect models with model.parameters() for optimisation, named_parameters() for debugging, model.state_dict() for saving/loading</a:t>
            </a:r>
          </a:p>
          <a:p>
            <a:pPr marL="0" indent="0">
              <a:buNone/>
            </a:pPr>
            <a:endParaRPr lang="en-US" sz="600" dirty="0"/>
          </a:p>
          <a:p>
            <a:pPr marL="285750" indent="-285750">
              <a:buFont typeface="Arial"/>
              <a:buChar char="✓"/>
            </a:pPr>
            <a:r>
              <a:rPr lang="en-US" sz="1400" dirty="0">
                <a:solidFill>
                  <a:srgbClr val="000000"/>
                </a:solidFill>
                <a:latin typeface="Helvetica Neue"/>
              </a:rPr>
              <a:t>Always save and load state_dict, never the entire model object — it is just a dict of tensors and remains portable across code changes and PyTorch versions</a:t>
            </a:r>
          </a:p>
          <a:p>
            <a:pPr marL="0" indent="0">
              <a:buNone/>
            </a:pPr>
            <a:endParaRPr lang="en-US" sz="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>
          <a:extLst>
            <a:ext uri="{FF2B5EF4-FFF2-40B4-BE49-F238E27FC236}">
              <a16:creationId xmlns:a16="http://schemas.microsoft.com/office/drawing/2014/main" id="{9504B2B0-47A9-5698-7076-399DA624B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9">
            <a:extLst>
              <a:ext uri="{FF2B5EF4-FFF2-40B4-BE49-F238E27FC236}">
                <a16:creationId xmlns:a16="http://schemas.microsoft.com/office/drawing/2014/main" id="{6700D62D-DE44-5D7A-F6DF-775832F9F0A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sp>
        <p:nvSpPr>
          <p:cNvPr id="229" name="Google Shape;229;p29">
            <a:extLst>
              <a:ext uri="{FF2B5EF4-FFF2-40B4-BE49-F238E27FC236}">
                <a16:creationId xmlns:a16="http://schemas.microsoft.com/office/drawing/2014/main" id="{F57A4D2D-D148-6EE2-C13A-BC1246C504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069200"/>
            <a:ext cx="6960900" cy="79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>
                <a:solidFill>
                  <a:schemeClr val="tx1"/>
                </a:solidFill>
              </a:rPr>
              <a:t>Thank you!</a:t>
            </a:r>
            <a:endParaRPr sz="3000" dirty="0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BFD1A3-5B60-8A3A-F97E-BFFA2CFDD522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latin typeface="Aptos Display" panose="020B00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3C280A-6A21-7E17-A33F-575D64C1EB37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500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2198134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1777</TotalTime>
  <Words>2216</Words>
  <Application>Microsoft Office PowerPoint</Application>
  <PresentationFormat>On-screen Show (16:9)</PresentationFormat>
  <Paragraphs>221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 Display</vt:lpstr>
      <vt:lpstr>Consolas</vt:lpstr>
      <vt:lpstr>Helvetica Neue</vt:lpstr>
      <vt:lpstr>Arial</vt:lpstr>
      <vt:lpstr>Simple Light</vt:lpstr>
      <vt:lpstr>NPTEL</vt:lpstr>
      <vt:lpstr>Segment 2: Building Neural Networks with nn.Module From raw matrix multiplications to well-organised, inspectable, saveable neural network models</vt:lpstr>
      <vt:lpstr>Learning Objectives — Segment 2</vt:lpstr>
      <vt:lpstr>torch.nn.Module: The Building Block of All Models</vt:lpstr>
      <vt:lpstr>Built-in Layers: The Vocabulary of Neural Network Design</vt:lpstr>
      <vt:lpstr>Composing Models with nn.Sequential and Custom Architectures</vt:lpstr>
      <vt:lpstr>Composing Models with nn.Sequential and Custom Architectures</vt:lpstr>
      <vt:lpstr>Composing Models with nn.Sequential and Custom Architectures</vt:lpstr>
      <vt:lpstr>Composing Models with nn.Sequential and Custom Architectures</vt:lpstr>
      <vt:lpstr>Defining a Complete Model: A Worked Example</vt:lpstr>
      <vt:lpstr>Segment 2 Summary: Building Models with nn.Module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Bachelor of Science (Honours) in Data Science and Artificial Intelligence</dc:title>
  <dc:creator>satyajit das</dc:creator>
  <cp:lastModifiedBy>satyajit das</cp:lastModifiedBy>
  <cp:revision>63</cp:revision>
  <dcterms:modified xsi:type="dcterms:W3CDTF">2026-03-24T05:25:01Z</dcterms:modified>
</cp:coreProperties>
</file>